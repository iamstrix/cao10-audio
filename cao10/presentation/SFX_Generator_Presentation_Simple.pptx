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59565fe-0c10-26b8-8e53-26fdee3314eb}">
          <p14:sldIdLst>
            <p14:sldId id="256"/>
          </p14:sldIdLst>
        </p14:section>
        <p14:section name="The program" id="{ac220e77-d6ff-c381-bad1-288ad4f3e19a}">
          <p14:sldIdLst>
            <p14:sldId id="257"/>
            <p14:sldId id="258"/>
          </p14:sldIdLst>
        </p14:section>
        <p14:section name="Inside the engine" id="{3183babe-f41d-d705-bfbf-5c030608c859}">
          <p14:sldIdLst>
            <p14:sldId id="259"/>
            <p14:sldId id="260"/>
            <p14:sldId id="261"/>
            <p14:sldId id="262"/>
            <p14:sldId id="263"/>
            <p14:sldId id="264"/>
            <p14:sldId id="265"/>
          </p14:sldIdLst>
        </p14:section>
        <p14:section name="Evidence" id="{ecc13324-0592-bc15-6c3d-f67b0d261fb0}">
          <p14:sldIdLst>
            <p14:sldId id="266"/>
            <p14:sldId id="267"/>
            <p14:sldId id="268"/>
          </p14:sldIdLst>
        </p14:section>
        <p14:section name="Close" id="{29db4ad3-22df-251a-1f6c-52be178cc6e0}">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1820"/>
                </a:solidFill>
                <a:latin typeface="+mn-lt"/>
              </a:defRPr>
            </a:pPr>
            <a:r>
              <a:rPr sz="1400" b="0" i="0" u="none" strike="noStrike">
                <a:solidFill>
                  <a:srgbClr val="101820"/>
                </a:solidFill>
                <a:latin typeface="+mn-lt"/>
              </a:rPr>
              <a:t>Time to make 1 second of sound (milliseconds, lower is better)</a:t>
            </a:r>
          </a:p>
        </c:rich>
      </c:tx>
      <c:layout/>
      <c:overlay val="0"/>
    </c:title>
    <c:autoTitleDeleted val="0"/>
    <c:plotArea>
      <c:layout/>
      <c:barChart>
        <c:barDir val="col"/>
        <c:grouping val="clustered"/>
        <c:varyColors val="0"/>
        <c:ser>
          <c:idx val="0"/>
          <c:order val="0"/>
          <c:tx>
            <c:strRef>
              <c:f>Sheet1!$B$1</c:f>
              <c:strCache>
                <c:ptCount val="1"/>
                <c:pt idx="0">
                  <c:v>Our first version</c:v>
                </c:pt>
              </c:strCache>
            </c:strRef>
          </c:tx>
          <c:spPr>
            <a:solidFill>
              <a:srgbClr val="C8483F"/>
            </a:solidFill>
            <a:effectLst/>
          </c:spPr>
          <c:invertIfNegative val="0"/>
          <c:dLbls>
            <c:numFmt formatCode="0.00" sourceLinked="0"/>
            <c:txPr>
              <a:bodyPr/>
              <a:lstStyle/>
              <a:p>
                <a:pPr>
                  <a:defRPr b="0" i="0" strike="noStrike" sz="1000" u="none">
                    <a:solidFill>
                      <a:srgbClr val="2A3B47"/>
                    </a:solidFill>
                    <a:latin typeface="+mn-lt"/>
                  </a:defRPr>
                </a:pPr>
              </a:p>
            </c:txPr>
            <c:showLegendKey val="0"/>
            <c:showVal val="1"/>
            <c:showCatName val="0"/>
            <c:showSerName val="0"/>
            <c:showPercent val="0"/>
            <c:showBubbleSize val="0"/>
            <c:showLeaderLines val="0"/>
          </c:dLbls>
          <c:cat>
            <c:multiLvlStrRef>
              <c:f>Sheet1!$A$2:$A$5</c:f>
              <c:multiLvlStrCache>
                <c:ptCount val="4"/>
                <c:lvl>
                  <c:pt idx="0">
                    <c:v>Square</c:v>
                  </c:pt>
                  <c:pt idx="1">
                    <c:v>Sawtooth</c:v>
                  </c:pt>
                  <c:pt idx="2">
                    <c:v>Triangle</c:v>
                  </c:pt>
                  <c:pt idx="3">
                    <c:v>Noise</c:v>
                  </c:pt>
                </c:lvl>
              </c:multiLvlStrCache>
            </c:multiLvlStrRef>
          </c:cat>
          <c:val>
            <c:numRef>
              <c:f>Sheet1!$B$2:$B$5</c:f>
              <c:numCache>
                <c:formatCode>General</c:formatCode>
                <c:ptCount val="4"/>
                <c:pt idx="0">
                  <c:v>0.35</c:v>
                </c:pt>
                <c:pt idx="1">
                  <c:v>1.58</c:v>
                </c:pt>
                <c:pt idx="2">
                  <c:v>1.68</c:v>
                </c:pt>
                <c:pt idx="3">
                  <c:v>0.33</c:v>
                </c:pt>
              </c:numCache>
            </c:numRef>
          </c:val>
        </c:ser>
        <c:ser>
          <c:idx val="1"/>
          <c:order val="1"/>
          <c:tx>
            <c:strRef>
              <c:f>Sheet1!$C$1</c:f>
              <c:strCache>
                <c:ptCount val="1"/>
                <c:pt idx="0">
                  <c:v>After the one-line change</c:v>
                </c:pt>
              </c:strCache>
            </c:strRef>
          </c:tx>
          <c:spPr>
            <a:solidFill>
              <a:srgbClr val="13836C"/>
            </a:solidFill>
            <a:effectLst/>
          </c:spPr>
          <c:invertIfNegative val="0"/>
          <c:dLbls>
            <c:numFmt formatCode="0.00" sourceLinked="0"/>
            <c:txPr>
              <a:bodyPr/>
              <a:lstStyle/>
              <a:p>
                <a:pPr>
                  <a:defRPr b="0" i="0" strike="noStrike" sz="1000" u="none">
                    <a:solidFill>
                      <a:srgbClr val="2A3B47"/>
                    </a:solidFill>
                    <a:latin typeface="+mn-lt"/>
                  </a:defRPr>
                </a:pPr>
              </a:p>
            </c:txPr>
            <c:showLegendKey val="0"/>
            <c:showVal val="1"/>
            <c:showCatName val="0"/>
            <c:showSerName val="0"/>
            <c:showPercent val="0"/>
            <c:showBubbleSize val="0"/>
            <c:showLeaderLines val="0"/>
          </c:dLbls>
          <c:cat>
            <c:multiLvlStrRef>
              <c:f>Sheet1!$A$2:$A$5</c:f>
              <c:multiLvlStrCache>
                <c:ptCount val="4"/>
                <c:lvl>
                  <c:pt idx="0">
                    <c:v>Square</c:v>
                  </c:pt>
                  <c:pt idx="1">
                    <c:v>Sawtooth</c:v>
                  </c:pt>
                  <c:pt idx="2">
                    <c:v>Triangle</c:v>
                  </c:pt>
                  <c:pt idx="3">
                    <c:v>Noise</c:v>
                  </c:pt>
                </c:lvl>
              </c:multiLvlStrCache>
            </c:multiLvlStrRef>
          </c:cat>
          <c:val>
            <c:numRef>
              <c:f>Sheet1!$C$2:$C$5</c:f>
              <c:numCache>
                <c:formatCode>General</c:formatCode>
                <c:ptCount val="4"/>
                <c:pt idx="0">
                  <c:v>0.26</c:v>
                </c:pt>
                <c:pt idx="1">
                  <c:v>0.35</c:v>
                </c:pt>
                <c:pt idx="2">
                  <c:v>0.4</c:v>
                </c:pt>
                <c:pt idx="3">
                  <c:v>0.24</c:v>
                </c:pt>
              </c:numCache>
            </c:numRef>
          </c:val>
        </c:ser>
        <c:ser>
          <c:idx val="2"/>
          <c:order val="2"/>
          <c:tx>
            <c:strRef>
              <c:f>Sheet1!$D$1</c:f>
              <c:strCache>
                <c:ptCount val="1"/>
                <c:pt idx="0">
                  <c:v>C, optimised</c:v>
                </c:pt>
              </c:strCache>
            </c:strRef>
          </c:tx>
          <c:spPr>
            <a:solidFill>
              <a:srgbClr val="6B7F8E"/>
            </a:solidFill>
            <a:effectLst/>
          </c:spPr>
          <c:invertIfNegative val="0"/>
          <c:dLbls>
            <c:numFmt formatCode="0.00" sourceLinked="0"/>
            <c:txPr>
              <a:bodyPr/>
              <a:lstStyle/>
              <a:p>
                <a:pPr>
                  <a:defRPr b="0" i="0" strike="noStrike" sz="1000" u="none">
                    <a:solidFill>
                      <a:srgbClr val="2A3B47"/>
                    </a:solidFill>
                    <a:latin typeface="+mn-lt"/>
                  </a:defRPr>
                </a:pPr>
              </a:p>
            </c:txPr>
            <c:showLegendKey val="0"/>
            <c:showVal val="1"/>
            <c:showCatName val="0"/>
            <c:showSerName val="0"/>
            <c:showPercent val="0"/>
            <c:showBubbleSize val="0"/>
            <c:showLeaderLines val="0"/>
          </c:dLbls>
          <c:cat>
            <c:multiLvlStrRef>
              <c:f>Sheet1!$A$2:$A$5</c:f>
              <c:multiLvlStrCache>
                <c:ptCount val="4"/>
                <c:lvl>
                  <c:pt idx="0">
                    <c:v>Square</c:v>
                  </c:pt>
                  <c:pt idx="1">
                    <c:v>Sawtooth</c:v>
                  </c:pt>
                  <c:pt idx="2">
                    <c:v>Triangle</c:v>
                  </c:pt>
                  <c:pt idx="3">
                    <c:v>Noise</c:v>
                  </c:pt>
                </c:lvl>
              </c:multiLvlStrCache>
            </c:multiLvlStrRef>
          </c:cat>
          <c:val>
            <c:numRef>
              <c:f>Sheet1!$D$2:$D$5</c:f>
              <c:numCache>
                <c:formatCode>General</c:formatCode>
                <c:ptCount val="4"/>
                <c:pt idx="0">
                  <c:v>0.31</c:v>
                </c:pt>
                <c:pt idx="1">
                  <c:v>0.32</c:v>
                </c:pt>
                <c:pt idx="2">
                  <c:v>0.4</c:v>
                </c:pt>
                <c:pt idx="3">
                  <c:v>0.26</c:v>
                </c:pt>
              </c:numCache>
            </c:numRef>
          </c:val>
        </c:ser>
        <c:ser>
          <c:idx val="3"/>
          <c:order val="3"/>
          <c:tx>
            <c:strRef>
              <c:f>Sheet1!$E$1</c:f>
              <c:strCache>
                <c:ptCount val="1"/>
                <c:pt idx="0">
                  <c:v>C, not optimised</c:v>
                </c:pt>
              </c:strCache>
            </c:strRef>
          </c:tx>
          <c:spPr>
            <a:solidFill>
              <a:srgbClr val="B8C4CC"/>
            </a:solidFill>
            <a:effectLst/>
          </c:spPr>
          <c:invertIfNegative val="0"/>
          <c:dLbls>
            <c:numFmt formatCode="0.00" sourceLinked="0"/>
            <c:txPr>
              <a:bodyPr/>
              <a:lstStyle/>
              <a:p>
                <a:pPr>
                  <a:defRPr b="0" i="0" strike="noStrike" sz="1000" u="none">
                    <a:solidFill>
                      <a:srgbClr val="2A3B47"/>
                    </a:solidFill>
                    <a:latin typeface="+mn-lt"/>
                  </a:defRPr>
                </a:pPr>
              </a:p>
            </c:txPr>
            <c:showLegendKey val="0"/>
            <c:showVal val="1"/>
            <c:showCatName val="0"/>
            <c:showSerName val="0"/>
            <c:showPercent val="0"/>
            <c:showBubbleSize val="0"/>
            <c:showLeaderLines val="0"/>
          </c:dLbls>
          <c:cat>
            <c:multiLvlStrRef>
              <c:f>Sheet1!$A$2:$A$5</c:f>
              <c:multiLvlStrCache>
                <c:ptCount val="4"/>
                <c:lvl>
                  <c:pt idx="0">
                    <c:v>Square</c:v>
                  </c:pt>
                  <c:pt idx="1">
                    <c:v>Sawtooth</c:v>
                  </c:pt>
                  <c:pt idx="2">
                    <c:v>Triangle</c:v>
                  </c:pt>
                  <c:pt idx="3">
                    <c:v>Noise</c:v>
                  </c:pt>
                </c:lvl>
              </c:multiLvlStrCache>
            </c:multiLvlStrRef>
          </c:cat>
          <c:val>
            <c:numRef>
              <c:f>Sheet1!$E$2:$E$5</c:f>
              <c:numCache>
                <c:formatCode>General</c:formatCode>
                <c:ptCount val="4"/>
                <c:pt idx="0">
                  <c:v>0.94</c:v>
                </c:pt>
                <c:pt idx="1">
                  <c:v>1.71</c:v>
                </c:pt>
                <c:pt idx="2">
                  <c:v>2.05</c:v>
                </c:pt>
                <c:pt idx="3">
                  <c:v>0.96</c:v>
                </c:pt>
              </c:numCache>
            </c:numRef>
          </c:val>
        </c:ser>
        <c:dLbls>
          <c:numFmt formatCode="0.00" sourceLinked="0"/>
          <c:txPr>
            <a:bodyPr/>
            <a:lstStyle/>
            <a:p>
              <a:pPr>
                <a:defRPr b="0" i="0" strike="noStrike" sz="1000" u="none">
                  <a:solidFill>
                    <a:srgbClr val="2A3B4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A3B47"/>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9525" cap="flat">
              <a:solidFill>
                <a:srgbClr val="DDE3E7"/>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F8E"/>
                </a:solidFill>
                <a:latin typeface="+mn-lt"/>
              </a:defRPr>
            </a:pPr>
            <a:endParaRPr lang="en-US"/>
          </a:p>
        </c:txPr>
        <c:crossAx val="2094734554"/>
        <c:crosses val="autoZero"/>
        <c:crossBetween val="between"/>
        <c:majorUnit val="0.5"/>
      </c:valAx>
      <c:spPr>
        <a:noFill/>
        <a:ln>
          <a:noFill/>
        </a:ln>
        <a:effectLst/>
      </c:spPr>
    </c:plotArea>
    <c:legend>
      <c:legendPos val="t"/>
      <c:overlay val="0"/>
      <c:txPr>
        <a:bodyPr/>
        <a:lstStyle/>
        <a:p>
          <a:pPr>
            <a:defRPr sz="1200">
              <a:solidFill>
                <a:srgbClr val="10182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Our project is a sound-effect generator for retro-style video games. Think of the coin sound in Mario, or a laser in an old arcade game. You pick a sound, adjust it with sliders, and the program builds that sound from scratch. The interesting part is that the piece that actually calculates the sound is written in Assembly. Assembly is the lowest-level programming language there is. It's basically the processor's own instructions, written out by hand. Python only handles the window and the buttons. [Point at the four lines at the bottom] Those are the four basic sound shapes our engine can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you see when you use it. There are seven presets, like Coin, Laser and Explosion, plus a Randomize button. Each slider changes one ingredient of the sound: how high or low it is, whether the pitch slides up or down, a little wobble, how long it lasts, and how loud it is. Every time you move something, the sound is rebuilt instantly, the picture of the wave updates, and you can play it or save it as a normal audio file. A bit of background on how digital sound works: a sound is just a long list of numbers. Each number says how far the speaker should push out at that moment. We make 44,100 of those numbers for every second of sound, which is CD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so I'll go slowly. Think of a restaurant. [Point left] The Python window is the waiter. It takes your order from the sliders. [Point middle] This middle piece is the order slip. It writes your choices down in a fixed format the kitchen understands. [Point right] And the Assembly engine is the kitchen. It actually cooks the sound. [Point at the five steps] Every click goes through the same five steps: ask the engine how long the sound will be, set aside space for it, fill that space with the sound, wrap it up as an audio file, then show it and play it. We also wrote the exact same recipe a second time in C, which is a more everyday programming language. The app never uses that copy. It's our answer key. We use it to check that the Assembly gets every single number right, and to compare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and Assembly don't speak the same language, so they need a shared form to fill in. [Point at the row of boxes] This is that form. It has eleven boxes in a fixed order: things like which wave shape, the starting pitch, how long the fade-out is, and the volume. Every box is exactly the same size, so the whole form is 44 bytes. A byte is just the basic unit of computer memory. The Assembly side doesn't know any of the names. It only knows positions. It's like saying 'look at the seventh box' instead of 'look at the fade-in time'. That's why we wrote this layout three times, once per language, and they have to match perfectly. And if anything on the form is out of range or doesn't make sense, the engine refuses to make the sound and just reports an error. It never crashes."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engine does exactly three jobs. [Point at each box in turn] One: tell me how long this sound will be. Two: actually make the sound. Three: turn it into a proper audio file. Windows has strict rules about how programs pass information to each other: where each piece of information goes, and where the answer comes back. We follow those rules exactly. [Point at the bottom] The bottom part is about good manners. The processor has a small number of super-fast storage slots. Windows says some of them are yours to scribble on, and some you have to hand back exactly as you found them. Our engine only ever uses the ones it's allowed to scribble on, so it never has to back anything up. We also wrote a separate test that checks we really do leave the others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program. The engine runs one loop, and every lap of the loop produces one of those numbers we talked about. So it runs 44,100 times for every second of sound. [Run your hand along the seven steps] On each lap it does seven small jobs. One: nudge the pitch up or down a tiny bit if the sound is meant to slide. If it slides too low, the sound just ends early. Two: add a small wobble to the pitch, called vibrato. Three: move forward through the wave. Four: work out the shape: square, sawtooth, triangle or noise. Five: apply the volume fade, meaning fade in, hold, fade out. Six: convert it into the number format audio files use. Seven: save it and go round again. The important values stay inside the processor the whole time instead of going back and forth to memory, and that's why it's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get four different shapes? We keep track of one number called the phase. The easiest way to picture it is a clock hand. It starts at the top, goes round, and after one full lap it's back at the start. Every wave shape is just a simple rule for turning the clock position into a height. [Point at each drawing] Square: high for the first half of the lap, low for the second half. Sawtooth: a steady ramp up, then a drop. Triangle: up, then back down. Noise: a random height that changes once every lap. The nice thing is that changing the pitch only changes how fast the clock hand moves, so pitch slides and wobbles stay smooth."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six problems that a normal programming language solves for you behind the scenes. In Assembly, we had to solve them ourselves. [Point at each box as you go] One, bad input. If someone sends a value that isn't even a real number, comparisons behave strangely, so we added an extra check that catches it. Two, no power button. The processor has no built-in way to do 'two to the power of something', which pitch slides need, so we used a short maths shortcut. It's accurate because each step is tiny. Three, the clock hand. We cap the pitch at 20,000 vibrations a second, so the hand can never skip more than one lap at a time. Four, making numbers positive. There's no built-in way to do that for decimals, so we use a trick that switches off the minus sign directly. Five, too loud. If a value goes over the maximum, we clip it at the maximum instead of letting it wrap round to a big negative number, which would make a nasty click. Six, random but repeatable. Our noise uses a tiny random-number recipe, so the same starting number always gives exactly the same sound. That's what lets us 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the engine keep its working data while it runs? Only two places. One is the processor's own storage slots. The other is one small scratch area, 152 bytes, that it borrows while it works and gives back when it's done. Think of a sticky note you throw away afterwards. [Point at the diagram] Windows is fussy about the size and position of that scratch area, and 152 is the number that fits its rules. Because the engine doesn't keep anything permanently, lots of parts of a program can use it at the same time without getting in each other's way. We tested a hundred at once. The whole engine file is tiny, about 5.6 kilobytes, and it doesn't depend on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job is turning all those numbers into a real audio file, a WAV file, the kind any media player can open. A WAV file starts with a short label that tells the player things like 'this is CD quality, one channel'. [Point at the strip] That label is the same every time except for two numbers, highlighted here, which say how big the file is. So the engine copies a ready-made label, fills in those two numbers, puts the sound right after it, and that's a finished file. Python then plays it or saves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know it actually works? Remember the answer-key copy written in C. We made 10,000 random sounds plus 20 hand-picked ones, including every preset, and compared every single number from our Assembly with the answer key. That's about 1.28 million checks. Our requirement allowed a tiny difference of one; we got zero differences. We also tried to break it. We fed it bad values, checked it never writes outside the space it was given, checked the audio file label one byte at a time, and checked that a tone meant to be 441 vibrations a second really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speed. We timed how long it takes to make one second of sound, did that a thousand times, and took the middle result. [Point at the chart] Our goal was under 5 milliseconds, which is five thousandths of a second. Every shape beats that easily. Here's the interesting part. [Point at the red bars] Our first version was noticeably slower than the C version on two of the shapes, sawtooth and triangle. We dug into why, and it came down to one single line of code. That line copied a number in a way that made the processor wait for the previous sample to completely finish before it could start the next one. It's like a queue where nobody can move until the person in front is done. We swapped that line for a different copying instruction that doesn't cause the wait. [Point at the green bars] Those two shapes got about four and a half times faster, roughly the same speed as C, and all 1.28 million correctness checks still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want to be upfront about what we haven't proven yet. All our timings come from one laptop. We haven't done a proper listening test with other people, so we're not claiming the presets sound perfect to everyone. The noise sound is a little muffled, which was a trade-off we chose to keep things simple. And the speed-up from that one-line change was measured in one session, so we'd want to repeat it on another computer. [Point right] These are our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it working." [Click Coin] "That's a short beep that slides up in pitch, like picking up a coin." [Click Laser] "This one slides down fast, which gives you the laser sound." [Click Explosion] "This is noise that drops in pitch with a long fade-out." [Press Randomize twice] "Randomize sets every slider to something random, and the sound is rebuilt instantly." [Click Save WAV] "And this saves it as a normal audio file. [Point at the bar at the bottom] Down here it shows how long the sound is and how many milliseconds our engine took to make it. Thank you.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1088136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3291840"/>
            <a:ext cx="10881360" cy="822960"/>
          </a:xfrm>
          <a:prstGeom prst="rect">
            <a:avLst/>
          </a:prstGeom>
          <a:noFill/>
          <a:ln/>
        </p:spPr>
        <p:txBody>
          <a:bodyPr wrap="square" rtlCol="0"/>
          <a:lstStyle>
            <a:lvl1pPr indent="0" marL="0">
              <a:buNone/>
              <a:defRPr lang="en-US" sz="2000" dirty="0">
                <a:solidFill>
                  <a:schemeClr val="accent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CA010 · Procedural SFX Generator in Assembly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10881360" cy="1737360"/>
          </a:xfrm>
          <a:prstGeom prst="rect">
            <a:avLst/>
          </a:prstGeom>
          <a:noFill/>
          <a:ln/>
        </p:spPr>
        <p:txBody>
          <a:bodyPr wrap="square" lIns="0" tIns="0" rIns="0" bIns="0" rtlCol="0" anchor="b"/>
          <a:lstStyle/>
          <a:p>
            <a:pPr algn="l" indent="0" marL="0">
              <a:buNone/>
            </a:pPr>
            <a:r>
              <a:rPr lang="en-US" sz="4400" b="1" dirty="0">
                <a:solidFill>
                  <a:schemeClr val="bg1"/>
                </a:solidFill>
              </a:rPr>
              <a:t>Retro Game Sound Effects,</a:t>
            </a:r>
            <a:endParaRPr lang="en-US" sz="4400" dirty="0"/>
          </a:p>
          <a:p>
            <a:pPr algn="l" indent="0" marL="0">
              <a:buNone/>
            </a:pPr>
            <a:r>
              <a:rPr lang="en-US" sz="4400" b="1" dirty="0">
                <a:solidFill>
                  <a:schemeClr val="bg1"/>
                </a:solidFill>
              </a:rPr>
              <a:t>Built in Assembly</a:t>
            </a:r>
            <a:endParaRPr lang="en-US" sz="4400" dirty="0"/>
          </a:p>
        </p:txBody>
      </p:sp>
      <p:sp>
        <p:nvSpPr>
          <p:cNvPr id="3" name="Text 0"/>
          <p:cNvSpPr/>
          <p:nvPr>
            <p:ph idx="101" type="body" hasCustomPrompt="1"/>
          </p:nvPr>
        </p:nvSpPr>
        <p:spPr>
          <a:xfrm>
            <a:off x="640080" y="3291840"/>
            <a:ext cx="10881360" cy="822960"/>
          </a:xfrm>
          <a:prstGeom prst="rect">
            <a:avLst/>
          </a:prstGeom>
          <a:noFill/>
          <a:ln/>
        </p:spPr>
        <p:txBody>
          <a:bodyPr wrap="square" lIns="0" tIns="0" rIns="0" bIns="0" rtlCol="0" anchor="t"/>
          <a:lstStyle/>
          <a:p>
            <a:pPr indent="0" marL="0">
              <a:buNone/>
            </a:pPr>
            <a:r>
              <a:rPr lang="en-US" sz="2000" dirty="0">
                <a:solidFill>
                  <a:schemeClr val="accent2"/>
                </a:solidFill>
              </a:rPr>
              <a:t>The part that calculates every sound is hand-written in Assembly. Python just draws the window.</a:t>
            </a:r>
            <a:endParaRPr lang="en-US" sz="2000" dirty="0"/>
          </a:p>
        </p:txBody>
      </p:sp>
      <p:sp>
        <p:nvSpPr>
          <p:cNvPr id="4" name="Shape 2"/>
          <p:cNvSpPr/>
          <p:nvPr/>
        </p:nvSpPr>
        <p:spPr>
          <a:xfrm>
            <a:off x="640080" y="4572000"/>
            <a:ext cx="457200" cy="0"/>
          </a:xfrm>
          <a:prstGeom prst="line">
            <a:avLst/>
          </a:prstGeom>
          <a:noFill/>
          <a:ln w="38100">
            <a:solidFill>
              <a:srgbClr val="58DBBC"/>
            </a:solidFill>
            <a:prstDash val="solid"/>
          </a:ln>
        </p:spPr>
      </p:sp>
      <p:sp>
        <p:nvSpPr>
          <p:cNvPr id="5" name="Shape 3"/>
          <p:cNvSpPr/>
          <p:nvPr/>
        </p:nvSpPr>
        <p:spPr>
          <a:xfrm>
            <a:off x="1097280" y="4572000"/>
            <a:ext cx="0" cy="640080"/>
          </a:xfrm>
          <a:prstGeom prst="line">
            <a:avLst/>
          </a:prstGeom>
          <a:noFill/>
          <a:ln w="38100">
            <a:solidFill>
              <a:srgbClr val="58DBBC"/>
            </a:solidFill>
            <a:prstDash val="solid"/>
          </a:ln>
        </p:spPr>
      </p:sp>
      <p:sp>
        <p:nvSpPr>
          <p:cNvPr id="6" name="Shape 4"/>
          <p:cNvSpPr/>
          <p:nvPr/>
        </p:nvSpPr>
        <p:spPr>
          <a:xfrm>
            <a:off x="1097280" y="5212080"/>
            <a:ext cx="457200" cy="0"/>
          </a:xfrm>
          <a:prstGeom prst="line">
            <a:avLst/>
          </a:prstGeom>
          <a:noFill/>
          <a:ln w="38100">
            <a:solidFill>
              <a:srgbClr val="58DBBC"/>
            </a:solidFill>
            <a:prstDash val="solid"/>
          </a:ln>
        </p:spPr>
      </p:sp>
      <p:sp>
        <p:nvSpPr>
          <p:cNvPr id="7" name="Shape 5"/>
          <p:cNvSpPr/>
          <p:nvPr/>
        </p:nvSpPr>
        <p:spPr>
          <a:xfrm>
            <a:off x="1554480" y="4572000"/>
            <a:ext cx="0" cy="640080"/>
          </a:xfrm>
          <a:prstGeom prst="line">
            <a:avLst/>
          </a:prstGeom>
          <a:noFill/>
          <a:ln w="38100">
            <a:solidFill>
              <a:srgbClr val="58DBBC"/>
            </a:solidFill>
            <a:prstDash val="solid"/>
          </a:ln>
        </p:spPr>
      </p:sp>
      <p:sp>
        <p:nvSpPr>
          <p:cNvPr id="8" name="Shape 6"/>
          <p:cNvSpPr/>
          <p:nvPr/>
        </p:nvSpPr>
        <p:spPr>
          <a:xfrm>
            <a:off x="1554480" y="4572000"/>
            <a:ext cx="0" cy="0"/>
          </a:xfrm>
          <a:prstGeom prst="line">
            <a:avLst/>
          </a:prstGeom>
          <a:noFill/>
          <a:ln w="38100">
            <a:solidFill>
              <a:srgbClr val="58DBBC"/>
            </a:solidFill>
            <a:prstDash val="solid"/>
          </a:ln>
        </p:spPr>
      </p:sp>
      <p:sp>
        <p:nvSpPr>
          <p:cNvPr id="9" name="Shape 7"/>
          <p:cNvSpPr/>
          <p:nvPr/>
        </p:nvSpPr>
        <p:spPr>
          <a:xfrm>
            <a:off x="1554480" y="4572000"/>
            <a:ext cx="457200" cy="0"/>
          </a:xfrm>
          <a:prstGeom prst="line">
            <a:avLst/>
          </a:prstGeom>
          <a:noFill/>
          <a:ln w="38100">
            <a:solidFill>
              <a:srgbClr val="58DBBC"/>
            </a:solidFill>
            <a:prstDash val="solid"/>
          </a:ln>
        </p:spPr>
      </p:sp>
      <p:sp>
        <p:nvSpPr>
          <p:cNvPr id="10" name="Shape 8"/>
          <p:cNvSpPr/>
          <p:nvPr/>
        </p:nvSpPr>
        <p:spPr>
          <a:xfrm>
            <a:off x="2011680" y="4572000"/>
            <a:ext cx="0" cy="640080"/>
          </a:xfrm>
          <a:prstGeom prst="line">
            <a:avLst/>
          </a:prstGeom>
          <a:noFill/>
          <a:ln w="38100">
            <a:solidFill>
              <a:srgbClr val="58DBBC"/>
            </a:solidFill>
            <a:prstDash val="solid"/>
          </a:ln>
        </p:spPr>
      </p:sp>
      <p:sp>
        <p:nvSpPr>
          <p:cNvPr id="11" name="Shape 9"/>
          <p:cNvSpPr/>
          <p:nvPr/>
        </p:nvSpPr>
        <p:spPr>
          <a:xfrm>
            <a:off x="2011680" y="5212080"/>
            <a:ext cx="457200" cy="0"/>
          </a:xfrm>
          <a:prstGeom prst="line">
            <a:avLst/>
          </a:prstGeom>
          <a:noFill/>
          <a:ln w="38100">
            <a:solidFill>
              <a:srgbClr val="58DBBC"/>
            </a:solidFill>
            <a:prstDash val="solid"/>
          </a:ln>
        </p:spPr>
      </p:sp>
      <p:sp>
        <p:nvSpPr>
          <p:cNvPr id="12" name="Shape 10"/>
          <p:cNvSpPr/>
          <p:nvPr/>
        </p:nvSpPr>
        <p:spPr>
          <a:xfrm>
            <a:off x="2468880" y="4572000"/>
            <a:ext cx="0" cy="640080"/>
          </a:xfrm>
          <a:prstGeom prst="line">
            <a:avLst/>
          </a:prstGeom>
          <a:noFill/>
          <a:ln w="38100">
            <a:solidFill>
              <a:srgbClr val="58DBBC"/>
            </a:solidFill>
            <a:prstDash val="solid"/>
          </a:ln>
        </p:spPr>
      </p:sp>
      <p:sp>
        <p:nvSpPr>
          <p:cNvPr id="13" name="Shape 11"/>
          <p:cNvSpPr/>
          <p:nvPr/>
        </p:nvSpPr>
        <p:spPr>
          <a:xfrm>
            <a:off x="2468880" y="4572000"/>
            <a:ext cx="0" cy="0"/>
          </a:xfrm>
          <a:prstGeom prst="line">
            <a:avLst/>
          </a:prstGeom>
          <a:noFill/>
          <a:ln w="38100">
            <a:solidFill>
              <a:srgbClr val="58DBBC"/>
            </a:solidFill>
            <a:prstDash val="solid"/>
          </a:ln>
        </p:spPr>
      </p:sp>
      <p:sp>
        <p:nvSpPr>
          <p:cNvPr id="14" name="Shape 12"/>
          <p:cNvSpPr/>
          <p:nvPr/>
        </p:nvSpPr>
        <p:spPr>
          <a:xfrm>
            <a:off x="2468880" y="4572000"/>
            <a:ext cx="457200" cy="0"/>
          </a:xfrm>
          <a:prstGeom prst="line">
            <a:avLst/>
          </a:prstGeom>
          <a:noFill/>
          <a:ln w="38100">
            <a:solidFill>
              <a:srgbClr val="58DBBC"/>
            </a:solidFill>
            <a:prstDash val="solid"/>
          </a:ln>
        </p:spPr>
      </p:sp>
      <p:sp>
        <p:nvSpPr>
          <p:cNvPr id="15" name="Shape 13"/>
          <p:cNvSpPr/>
          <p:nvPr/>
        </p:nvSpPr>
        <p:spPr>
          <a:xfrm>
            <a:off x="2926080" y="4572000"/>
            <a:ext cx="0" cy="640080"/>
          </a:xfrm>
          <a:prstGeom prst="line">
            <a:avLst/>
          </a:prstGeom>
          <a:noFill/>
          <a:ln w="38100">
            <a:solidFill>
              <a:srgbClr val="58DBBC"/>
            </a:solidFill>
            <a:prstDash val="solid"/>
          </a:ln>
        </p:spPr>
      </p:sp>
      <p:sp>
        <p:nvSpPr>
          <p:cNvPr id="16" name="Shape 14"/>
          <p:cNvSpPr/>
          <p:nvPr/>
        </p:nvSpPr>
        <p:spPr>
          <a:xfrm>
            <a:off x="2926080" y="5212080"/>
            <a:ext cx="457200" cy="0"/>
          </a:xfrm>
          <a:prstGeom prst="line">
            <a:avLst/>
          </a:prstGeom>
          <a:noFill/>
          <a:ln w="38100">
            <a:solidFill>
              <a:srgbClr val="58DBBC"/>
            </a:solidFill>
            <a:prstDash val="solid"/>
          </a:ln>
        </p:spPr>
      </p:sp>
      <p:sp>
        <p:nvSpPr>
          <p:cNvPr id="17" name="Shape 15"/>
          <p:cNvSpPr/>
          <p:nvPr/>
        </p:nvSpPr>
        <p:spPr>
          <a:xfrm flipV="1">
            <a:off x="3611880" y="4572000"/>
            <a:ext cx="914400" cy="640080"/>
          </a:xfrm>
          <a:prstGeom prst="line">
            <a:avLst/>
          </a:prstGeom>
          <a:noFill/>
          <a:ln w="38100">
            <a:solidFill>
              <a:srgbClr val="58DBBC"/>
            </a:solidFill>
            <a:prstDash val="solid"/>
          </a:ln>
        </p:spPr>
      </p:sp>
      <p:sp>
        <p:nvSpPr>
          <p:cNvPr id="18" name="Shape 16"/>
          <p:cNvSpPr/>
          <p:nvPr/>
        </p:nvSpPr>
        <p:spPr>
          <a:xfrm>
            <a:off x="4526280" y="4572000"/>
            <a:ext cx="0" cy="640080"/>
          </a:xfrm>
          <a:prstGeom prst="line">
            <a:avLst/>
          </a:prstGeom>
          <a:noFill/>
          <a:ln w="38100">
            <a:solidFill>
              <a:srgbClr val="58DBBC"/>
            </a:solidFill>
            <a:prstDash val="solid"/>
          </a:ln>
        </p:spPr>
      </p:sp>
      <p:sp>
        <p:nvSpPr>
          <p:cNvPr id="19" name="Shape 17"/>
          <p:cNvSpPr/>
          <p:nvPr/>
        </p:nvSpPr>
        <p:spPr>
          <a:xfrm>
            <a:off x="4526280" y="5212080"/>
            <a:ext cx="0" cy="0"/>
          </a:xfrm>
          <a:prstGeom prst="line">
            <a:avLst/>
          </a:prstGeom>
          <a:noFill/>
          <a:ln w="38100">
            <a:solidFill>
              <a:srgbClr val="58DBBC"/>
            </a:solidFill>
            <a:prstDash val="solid"/>
          </a:ln>
        </p:spPr>
      </p:sp>
      <p:sp>
        <p:nvSpPr>
          <p:cNvPr id="20" name="Shape 18"/>
          <p:cNvSpPr/>
          <p:nvPr/>
        </p:nvSpPr>
        <p:spPr>
          <a:xfrm flipV="1">
            <a:off x="4526280" y="4572000"/>
            <a:ext cx="914400" cy="640080"/>
          </a:xfrm>
          <a:prstGeom prst="line">
            <a:avLst/>
          </a:prstGeom>
          <a:noFill/>
          <a:ln w="38100">
            <a:solidFill>
              <a:srgbClr val="58DBBC"/>
            </a:solidFill>
            <a:prstDash val="solid"/>
          </a:ln>
        </p:spPr>
      </p:sp>
      <p:sp>
        <p:nvSpPr>
          <p:cNvPr id="21" name="Shape 19"/>
          <p:cNvSpPr/>
          <p:nvPr/>
        </p:nvSpPr>
        <p:spPr>
          <a:xfrm>
            <a:off x="5440680" y="4572000"/>
            <a:ext cx="0" cy="640080"/>
          </a:xfrm>
          <a:prstGeom prst="line">
            <a:avLst/>
          </a:prstGeom>
          <a:noFill/>
          <a:ln w="38100">
            <a:solidFill>
              <a:srgbClr val="58DBBC"/>
            </a:solidFill>
            <a:prstDash val="solid"/>
          </a:ln>
        </p:spPr>
      </p:sp>
      <p:sp>
        <p:nvSpPr>
          <p:cNvPr id="22" name="Shape 20"/>
          <p:cNvSpPr/>
          <p:nvPr/>
        </p:nvSpPr>
        <p:spPr>
          <a:xfrm>
            <a:off x="5440680" y="5212080"/>
            <a:ext cx="0" cy="0"/>
          </a:xfrm>
          <a:prstGeom prst="line">
            <a:avLst/>
          </a:prstGeom>
          <a:noFill/>
          <a:ln w="38100">
            <a:solidFill>
              <a:srgbClr val="58DBBC"/>
            </a:solidFill>
            <a:prstDash val="solid"/>
          </a:ln>
        </p:spPr>
      </p:sp>
      <p:sp>
        <p:nvSpPr>
          <p:cNvPr id="23" name="Shape 21"/>
          <p:cNvSpPr/>
          <p:nvPr/>
        </p:nvSpPr>
        <p:spPr>
          <a:xfrm flipV="1">
            <a:off x="5440680" y="4572000"/>
            <a:ext cx="914400" cy="640080"/>
          </a:xfrm>
          <a:prstGeom prst="line">
            <a:avLst/>
          </a:prstGeom>
          <a:noFill/>
          <a:ln w="38100">
            <a:solidFill>
              <a:srgbClr val="58DBBC"/>
            </a:solidFill>
            <a:prstDash val="solid"/>
          </a:ln>
        </p:spPr>
      </p:sp>
      <p:sp>
        <p:nvSpPr>
          <p:cNvPr id="24" name="Shape 22"/>
          <p:cNvSpPr/>
          <p:nvPr/>
        </p:nvSpPr>
        <p:spPr>
          <a:xfrm flipV="1">
            <a:off x="6583680" y="4572000"/>
            <a:ext cx="457200" cy="640080"/>
          </a:xfrm>
          <a:prstGeom prst="line">
            <a:avLst/>
          </a:prstGeom>
          <a:noFill/>
          <a:ln w="38100">
            <a:solidFill>
              <a:srgbClr val="58DBBC"/>
            </a:solidFill>
            <a:prstDash val="solid"/>
          </a:ln>
        </p:spPr>
      </p:sp>
      <p:sp>
        <p:nvSpPr>
          <p:cNvPr id="25" name="Shape 23"/>
          <p:cNvSpPr/>
          <p:nvPr/>
        </p:nvSpPr>
        <p:spPr>
          <a:xfrm>
            <a:off x="7040880" y="4572000"/>
            <a:ext cx="457200" cy="640080"/>
          </a:xfrm>
          <a:prstGeom prst="line">
            <a:avLst/>
          </a:prstGeom>
          <a:noFill/>
          <a:ln w="38100">
            <a:solidFill>
              <a:srgbClr val="58DBBC"/>
            </a:solidFill>
            <a:prstDash val="solid"/>
          </a:ln>
        </p:spPr>
      </p:sp>
      <p:sp>
        <p:nvSpPr>
          <p:cNvPr id="26" name="Shape 24"/>
          <p:cNvSpPr/>
          <p:nvPr/>
        </p:nvSpPr>
        <p:spPr>
          <a:xfrm>
            <a:off x="7498080" y="5212080"/>
            <a:ext cx="0" cy="0"/>
          </a:xfrm>
          <a:prstGeom prst="line">
            <a:avLst/>
          </a:prstGeom>
          <a:noFill/>
          <a:ln w="38100">
            <a:solidFill>
              <a:srgbClr val="58DBBC"/>
            </a:solidFill>
            <a:prstDash val="solid"/>
          </a:ln>
        </p:spPr>
      </p:sp>
      <p:sp>
        <p:nvSpPr>
          <p:cNvPr id="27" name="Shape 25"/>
          <p:cNvSpPr/>
          <p:nvPr/>
        </p:nvSpPr>
        <p:spPr>
          <a:xfrm flipV="1">
            <a:off x="7498080" y="4572000"/>
            <a:ext cx="457200" cy="640080"/>
          </a:xfrm>
          <a:prstGeom prst="line">
            <a:avLst/>
          </a:prstGeom>
          <a:noFill/>
          <a:ln w="38100">
            <a:solidFill>
              <a:srgbClr val="58DBBC"/>
            </a:solidFill>
            <a:prstDash val="solid"/>
          </a:ln>
        </p:spPr>
      </p:sp>
      <p:sp>
        <p:nvSpPr>
          <p:cNvPr id="28" name="Shape 26"/>
          <p:cNvSpPr/>
          <p:nvPr/>
        </p:nvSpPr>
        <p:spPr>
          <a:xfrm>
            <a:off x="7955280" y="4572000"/>
            <a:ext cx="457200" cy="640080"/>
          </a:xfrm>
          <a:prstGeom prst="line">
            <a:avLst/>
          </a:prstGeom>
          <a:noFill/>
          <a:ln w="38100">
            <a:solidFill>
              <a:srgbClr val="58DBBC"/>
            </a:solidFill>
            <a:prstDash val="solid"/>
          </a:ln>
        </p:spPr>
      </p:sp>
      <p:sp>
        <p:nvSpPr>
          <p:cNvPr id="29" name="Shape 27"/>
          <p:cNvSpPr/>
          <p:nvPr/>
        </p:nvSpPr>
        <p:spPr>
          <a:xfrm>
            <a:off x="8412480" y="5212080"/>
            <a:ext cx="0" cy="0"/>
          </a:xfrm>
          <a:prstGeom prst="line">
            <a:avLst/>
          </a:prstGeom>
          <a:noFill/>
          <a:ln w="38100">
            <a:solidFill>
              <a:srgbClr val="58DBBC"/>
            </a:solidFill>
            <a:prstDash val="solid"/>
          </a:ln>
        </p:spPr>
      </p:sp>
      <p:sp>
        <p:nvSpPr>
          <p:cNvPr id="30" name="Shape 28"/>
          <p:cNvSpPr/>
          <p:nvPr/>
        </p:nvSpPr>
        <p:spPr>
          <a:xfrm flipV="1">
            <a:off x="8412480" y="4572000"/>
            <a:ext cx="457200" cy="640080"/>
          </a:xfrm>
          <a:prstGeom prst="line">
            <a:avLst/>
          </a:prstGeom>
          <a:noFill/>
          <a:ln w="38100">
            <a:solidFill>
              <a:srgbClr val="58DBBC"/>
            </a:solidFill>
            <a:prstDash val="solid"/>
          </a:ln>
        </p:spPr>
      </p:sp>
      <p:sp>
        <p:nvSpPr>
          <p:cNvPr id="31" name="Shape 29"/>
          <p:cNvSpPr/>
          <p:nvPr/>
        </p:nvSpPr>
        <p:spPr>
          <a:xfrm>
            <a:off x="8869680" y="4572000"/>
            <a:ext cx="457200" cy="640080"/>
          </a:xfrm>
          <a:prstGeom prst="line">
            <a:avLst/>
          </a:prstGeom>
          <a:noFill/>
          <a:ln w="38100">
            <a:solidFill>
              <a:srgbClr val="58DBBC"/>
            </a:solidFill>
            <a:prstDash val="solid"/>
          </a:ln>
        </p:spPr>
      </p:sp>
      <p:sp>
        <p:nvSpPr>
          <p:cNvPr id="32" name="Shape 30"/>
          <p:cNvSpPr/>
          <p:nvPr/>
        </p:nvSpPr>
        <p:spPr>
          <a:xfrm>
            <a:off x="9555480" y="4700016"/>
            <a:ext cx="163830" cy="0"/>
          </a:xfrm>
          <a:prstGeom prst="line">
            <a:avLst/>
          </a:prstGeom>
          <a:noFill/>
          <a:ln w="38100">
            <a:solidFill>
              <a:srgbClr val="58DBBC"/>
            </a:solidFill>
            <a:prstDash val="solid"/>
          </a:ln>
        </p:spPr>
      </p:sp>
      <p:sp>
        <p:nvSpPr>
          <p:cNvPr id="33" name="Shape 31"/>
          <p:cNvSpPr/>
          <p:nvPr/>
        </p:nvSpPr>
        <p:spPr>
          <a:xfrm>
            <a:off x="9719310" y="4700016"/>
            <a:ext cx="0" cy="448056"/>
          </a:xfrm>
          <a:prstGeom prst="line">
            <a:avLst/>
          </a:prstGeom>
          <a:noFill/>
          <a:ln w="38100">
            <a:solidFill>
              <a:srgbClr val="58DBBC"/>
            </a:solidFill>
            <a:prstDash val="solid"/>
          </a:ln>
        </p:spPr>
      </p:sp>
      <p:sp>
        <p:nvSpPr>
          <p:cNvPr id="34" name="Shape 32"/>
          <p:cNvSpPr/>
          <p:nvPr/>
        </p:nvSpPr>
        <p:spPr>
          <a:xfrm>
            <a:off x="9719310" y="5148072"/>
            <a:ext cx="163830" cy="0"/>
          </a:xfrm>
          <a:prstGeom prst="line">
            <a:avLst/>
          </a:prstGeom>
          <a:noFill/>
          <a:ln w="38100">
            <a:solidFill>
              <a:srgbClr val="58DBBC"/>
            </a:solidFill>
            <a:prstDash val="solid"/>
          </a:ln>
        </p:spPr>
      </p:sp>
      <p:sp>
        <p:nvSpPr>
          <p:cNvPr id="35" name="Shape 33"/>
          <p:cNvSpPr/>
          <p:nvPr/>
        </p:nvSpPr>
        <p:spPr>
          <a:xfrm>
            <a:off x="9883140" y="4796028"/>
            <a:ext cx="0" cy="352044"/>
          </a:xfrm>
          <a:prstGeom prst="line">
            <a:avLst/>
          </a:prstGeom>
          <a:noFill/>
          <a:ln w="38100">
            <a:solidFill>
              <a:srgbClr val="58DBBC"/>
            </a:solidFill>
            <a:prstDash val="solid"/>
          </a:ln>
        </p:spPr>
      </p:sp>
      <p:sp>
        <p:nvSpPr>
          <p:cNvPr id="36" name="Shape 34"/>
          <p:cNvSpPr/>
          <p:nvPr/>
        </p:nvSpPr>
        <p:spPr>
          <a:xfrm>
            <a:off x="9883140" y="4796028"/>
            <a:ext cx="163830" cy="0"/>
          </a:xfrm>
          <a:prstGeom prst="line">
            <a:avLst/>
          </a:prstGeom>
          <a:noFill/>
          <a:ln w="38100">
            <a:solidFill>
              <a:srgbClr val="58DBBC"/>
            </a:solidFill>
            <a:prstDash val="solid"/>
          </a:ln>
        </p:spPr>
      </p:sp>
      <p:sp>
        <p:nvSpPr>
          <p:cNvPr id="37" name="Shape 35"/>
          <p:cNvSpPr/>
          <p:nvPr/>
        </p:nvSpPr>
        <p:spPr>
          <a:xfrm>
            <a:off x="10046970" y="4796028"/>
            <a:ext cx="0" cy="224028"/>
          </a:xfrm>
          <a:prstGeom prst="line">
            <a:avLst/>
          </a:prstGeom>
          <a:noFill/>
          <a:ln w="38100">
            <a:solidFill>
              <a:srgbClr val="58DBBC"/>
            </a:solidFill>
            <a:prstDash val="solid"/>
          </a:ln>
        </p:spPr>
      </p:sp>
      <p:sp>
        <p:nvSpPr>
          <p:cNvPr id="38" name="Shape 36"/>
          <p:cNvSpPr/>
          <p:nvPr/>
        </p:nvSpPr>
        <p:spPr>
          <a:xfrm>
            <a:off x="10046970" y="5020056"/>
            <a:ext cx="163830" cy="0"/>
          </a:xfrm>
          <a:prstGeom prst="line">
            <a:avLst/>
          </a:prstGeom>
          <a:noFill/>
          <a:ln w="38100">
            <a:solidFill>
              <a:srgbClr val="58DBBC"/>
            </a:solidFill>
            <a:prstDash val="solid"/>
          </a:ln>
        </p:spPr>
      </p:sp>
      <p:sp>
        <p:nvSpPr>
          <p:cNvPr id="39" name="Shape 37"/>
          <p:cNvSpPr/>
          <p:nvPr/>
        </p:nvSpPr>
        <p:spPr>
          <a:xfrm>
            <a:off x="10210800" y="4604004"/>
            <a:ext cx="0" cy="416052"/>
          </a:xfrm>
          <a:prstGeom prst="line">
            <a:avLst/>
          </a:prstGeom>
          <a:noFill/>
          <a:ln w="38100">
            <a:solidFill>
              <a:srgbClr val="58DBBC"/>
            </a:solidFill>
            <a:prstDash val="solid"/>
          </a:ln>
        </p:spPr>
      </p:sp>
      <p:sp>
        <p:nvSpPr>
          <p:cNvPr id="40" name="Shape 38"/>
          <p:cNvSpPr/>
          <p:nvPr/>
        </p:nvSpPr>
        <p:spPr>
          <a:xfrm>
            <a:off x="10210800" y="4604004"/>
            <a:ext cx="163830" cy="0"/>
          </a:xfrm>
          <a:prstGeom prst="line">
            <a:avLst/>
          </a:prstGeom>
          <a:noFill/>
          <a:ln w="38100">
            <a:solidFill>
              <a:srgbClr val="58DBBC"/>
            </a:solidFill>
            <a:prstDash val="solid"/>
          </a:ln>
        </p:spPr>
      </p:sp>
      <p:sp>
        <p:nvSpPr>
          <p:cNvPr id="41" name="Shape 39"/>
          <p:cNvSpPr/>
          <p:nvPr/>
        </p:nvSpPr>
        <p:spPr>
          <a:xfrm>
            <a:off x="10374630" y="4604004"/>
            <a:ext cx="0" cy="320040"/>
          </a:xfrm>
          <a:prstGeom prst="line">
            <a:avLst/>
          </a:prstGeom>
          <a:noFill/>
          <a:ln w="38100">
            <a:solidFill>
              <a:srgbClr val="58DBBC"/>
            </a:solidFill>
            <a:prstDash val="solid"/>
          </a:ln>
        </p:spPr>
      </p:sp>
      <p:sp>
        <p:nvSpPr>
          <p:cNvPr id="42" name="Shape 40"/>
          <p:cNvSpPr/>
          <p:nvPr/>
        </p:nvSpPr>
        <p:spPr>
          <a:xfrm>
            <a:off x="10374630" y="4924044"/>
            <a:ext cx="163830" cy="0"/>
          </a:xfrm>
          <a:prstGeom prst="line">
            <a:avLst/>
          </a:prstGeom>
          <a:noFill/>
          <a:ln w="38100">
            <a:solidFill>
              <a:srgbClr val="58DBBC"/>
            </a:solidFill>
            <a:prstDash val="solid"/>
          </a:ln>
        </p:spPr>
      </p:sp>
      <p:sp>
        <p:nvSpPr>
          <p:cNvPr id="43" name="Shape 41"/>
          <p:cNvSpPr/>
          <p:nvPr/>
        </p:nvSpPr>
        <p:spPr>
          <a:xfrm>
            <a:off x="10538460" y="4924044"/>
            <a:ext cx="0" cy="256032"/>
          </a:xfrm>
          <a:prstGeom prst="line">
            <a:avLst/>
          </a:prstGeom>
          <a:noFill/>
          <a:ln w="38100">
            <a:solidFill>
              <a:srgbClr val="58DBBC"/>
            </a:solidFill>
            <a:prstDash val="solid"/>
          </a:ln>
        </p:spPr>
      </p:sp>
      <p:sp>
        <p:nvSpPr>
          <p:cNvPr id="44" name="Shape 42"/>
          <p:cNvSpPr/>
          <p:nvPr/>
        </p:nvSpPr>
        <p:spPr>
          <a:xfrm>
            <a:off x="10538460" y="5180076"/>
            <a:ext cx="163830" cy="0"/>
          </a:xfrm>
          <a:prstGeom prst="line">
            <a:avLst/>
          </a:prstGeom>
          <a:noFill/>
          <a:ln w="38100">
            <a:solidFill>
              <a:srgbClr val="58DBBC"/>
            </a:solidFill>
            <a:prstDash val="solid"/>
          </a:ln>
        </p:spPr>
      </p:sp>
      <p:sp>
        <p:nvSpPr>
          <p:cNvPr id="45" name="Shape 43"/>
          <p:cNvSpPr/>
          <p:nvPr/>
        </p:nvSpPr>
        <p:spPr>
          <a:xfrm>
            <a:off x="10702290" y="4668012"/>
            <a:ext cx="0" cy="512064"/>
          </a:xfrm>
          <a:prstGeom prst="line">
            <a:avLst/>
          </a:prstGeom>
          <a:noFill/>
          <a:ln w="38100">
            <a:solidFill>
              <a:srgbClr val="58DBBC"/>
            </a:solidFill>
            <a:prstDash val="solid"/>
          </a:ln>
        </p:spPr>
      </p:sp>
      <p:sp>
        <p:nvSpPr>
          <p:cNvPr id="46" name="Shape 44"/>
          <p:cNvSpPr/>
          <p:nvPr/>
        </p:nvSpPr>
        <p:spPr>
          <a:xfrm>
            <a:off x="10702290" y="4668012"/>
            <a:ext cx="163830" cy="0"/>
          </a:xfrm>
          <a:prstGeom prst="line">
            <a:avLst/>
          </a:prstGeom>
          <a:noFill/>
          <a:ln w="38100">
            <a:solidFill>
              <a:srgbClr val="58DBBC"/>
            </a:solidFill>
            <a:prstDash val="solid"/>
          </a:ln>
        </p:spPr>
      </p:sp>
      <p:sp>
        <p:nvSpPr>
          <p:cNvPr id="47" name="Shape 45"/>
          <p:cNvSpPr/>
          <p:nvPr/>
        </p:nvSpPr>
        <p:spPr>
          <a:xfrm>
            <a:off x="10866120" y="4668012"/>
            <a:ext cx="0" cy="288036"/>
          </a:xfrm>
          <a:prstGeom prst="line">
            <a:avLst/>
          </a:prstGeom>
          <a:noFill/>
          <a:ln w="38100">
            <a:solidFill>
              <a:srgbClr val="58DBBC"/>
            </a:solidFill>
            <a:prstDash val="solid"/>
          </a:ln>
        </p:spPr>
      </p:sp>
      <p:sp>
        <p:nvSpPr>
          <p:cNvPr id="48" name="Shape 46"/>
          <p:cNvSpPr/>
          <p:nvPr/>
        </p:nvSpPr>
        <p:spPr>
          <a:xfrm>
            <a:off x="10866120" y="4956048"/>
            <a:ext cx="163830" cy="0"/>
          </a:xfrm>
          <a:prstGeom prst="line">
            <a:avLst/>
          </a:prstGeom>
          <a:noFill/>
          <a:ln w="38100">
            <a:solidFill>
              <a:srgbClr val="58DBBC"/>
            </a:solidFill>
            <a:prstDash val="solid"/>
          </a:ln>
        </p:spPr>
      </p:sp>
      <p:sp>
        <p:nvSpPr>
          <p:cNvPr id="49" name="Shape 47"/>
          <p:cNvSpPr/>
          <p:nvPr/>
        </p:nvSpPr>
        <p:spPr>
          <a:xfrm>
            <a:off x="11029950" y="4764024"/>
            <a:ext cx="0" cy="192024"/>
          </a:xfrm>
          <a:prstGeom prst="line">
            <a:avLst/>
          </a:prstGeom>
          <a:noFill/>
          <a:ln w="38100">
            <a:solidFill>
              <a:srgbClr val="58DBBC"/>
            </a:solidFill>
            <a:prstDash val="solid"/>
          </a:ln>
        </p:spPr>
      </p:sp>
      <p:sp>
        <p:nvSpPr>
          <p:cNvPr id="50" name="Shape 48"/>
          <p:cNvSpPr/>
          <p:nvPr/>
        </p:nvSpPr>
        <p:spPr>
          <a:xfrm>
            <a:off x="11029950" y="4764024"/>
            <a:ext cx="163830" cy="0"/>
          </a:xfrm>
          <a:prstGeom prst="line">
            <a:avLst/>
          </a:prstGeom>
          <a:noFill/>
          <a:ln w="38100">
            <a:solidFill>
              <a:srgbClr val="58DBBC"/>
            </a:solidFill>
            <a:prstDash val="solid"/>
          </a:ln>
        </p:spPr>
      </p:sp>
      <p:sp>
        <p:nvSpPr>
          <p:cNvPr id="51" name="Shape 49"/>
          <p:cNvSpPr/>
          <p:nvPr/>
        </p:nvSpPr>
        <p:spPr>
          <a:xfrm>
            <a:off x="11193780" y="4764024"/>
            <a:ext cx="0" cy="320040"/>
          </a:xfrm>
          <a:prstGeom prst="line">
            <a:avLst/>
          </a:prstGeom>
          <a:noFill/>
          <a:ln w="38100">
            <a:solidFill>
              <a:srgbClr val="58DBBC"/>
            </a:solidFill>
            <a:prstDash val="solid"/>
          </a:ln>
        </p:spPr>
      </p:sp>
      <p:sp>
        <p:nvSpPr>
          <p:cNvPr id="52" name="Shape 50"/>
          <p:cNvSpPr/>
          <p:nvPr/>
        </p:nvSpPr>
        <p:spPr>
          <a:xfrm>
            <a:off x="11193780" y="5084064"/>
            <a:ext cx="163830" cy="0"/>
          </a:xfrm>
          <a:prstGeom prst="line">
            <a:avLst/>
          </a:prstGeom>
          <a:noFill/>
          <a:ln w="38100">
            <a:solidFill>
              <a:srgbClr val="58DBBC"/>
            </a:solidFill>
            <a:prstDash val="solid"/>
          </a:ln>
        </p:spPr>
      </p:sp>
      <p:sp>
        <p:nvSpPr>
          <p:cNvPr id="53" name="Shape 51"/>
          <p:cNvSpPr/>
          <p:nvPr/>
        </p:nvSpPr>
        <p:spPr>
          <a:xfrm>
            <a:off x="11357610" y="4860036"/>
            <a:ext cx="0" cy="224028"/>
          </a:xfrm>
          <a:prstGeom prst="line">
            <a:avLst/>
          </a:prstGeom>
          <a:noFill/>
          <a:ln w="38100">
            <a:solidFill>
              <a:srgbClr val="58DBBC"/>
            </a:solidFill>
            <a:prstDash val="solid"/>
          </a:ln>
        </p:spPr>
      </p:sp>
      <p:sp>
        <p:nvSpPr>
          <p:cNvPr id="54" name="Shape 52"/>
          <p:cNvSpPr/>
          <p:nvPr/>
        </p:nvSpPr>
        <p:spPr>
          <a:xfrm>
            <a:off x="11357610" y="4860036"/>
            <a:ext cx="163830" cy="0"/>
          </a:xfrm>
          <a:prstGeom prst="line">
            <a:avLst/>
          </a:prstGeom>
          <a:noFill/>
          <a:ln w="38100">
            <a:solidFill>
              <a:srgbClr val="58DBBC"/>
            </a:solidFill>
            <a:prstDash val="solid"/>
          </a:ln>
        </p:spPr>
      </p:sp>
      <p:sp>
        <p:nvSpPr>
          <p:cNvPr id="55" name="Text 53"/>
          <p:cNvSpPr txBox="1"/>
          <p:nvPr/>
        </p:nvSpPr>
        <p:spPr>
          <a:xfrm>
            <a:off x="640080" y="5623560"/>
            <a:ext cx="10881360" cy="320040"/>
          </a:xfrm>
          <a:prstGeom prst="rect">
            <a:avLst/>
          </a:prstGeom>
          <a:noFill/>
          <a:ln/>
        </p:spPr>
        <p:txBody>
          <a:bodyPr wrap="square" lIns="0" tIns="0" rIns="0" bIns="0" rtlCol="0" anchor="t"/>
          <a:lstStyle/>
          <a:p>
            <a:pPr indent="0" marL="0">
              <a:buNone/>
            </a:pPr>
            <a:r>
              <a:rPr lang="en-US" sz="1400" dirty="0">
                <a:solidFill>
                  <a:schemeClr val="bg1"/>
                </a:solidFill>
              </a:rPr>
              <a:t>Allein Edward Miranda · Jan Emil Stenland · Jose Gian M. Tubera · Ray A. Nicolas</a:t>
            </a:r>
            <a:endParaRPr lang="en-US" sz="1400" dirty="0"/>
          </a:p>
        </p:txBody>
      </p:sp>
      <p:sp>
        <p:nvSpPr>
          <p:cNvPr id="56" name="Text 54"/>
          <p:cNvSpPr txBox="1"/>
          <p:nvPr/>
        </p:nvSpPr>
        <p:spPr>
          <a:xfrm>
            <a:off x="640080" y="5989320"/>
            <a:ext cx="10881360" cy="320040"/>
          </a:xfrm>
          <a:prstGeom prst="rect">
            <a:avLst/>
          </a:prstGeom>
          <a:noFill/>
          <a:ln/>
        </p:spPr>
        <p:txBody>
          <a:bodyPr wrap="square" lIns="0" tIns="0" rIns="0" bIns="0" rtlCol="0" anchor="t"/>
          <a:lstStyle/>
          <a:p>
            <a:pPr indent="0" marL="0">
              <a:buNone/>
            </a:pPr>
            <a:r>
              <a:rPr lang="en-US" sz="1200" dirty="0">
                <a:solidFill>
                  <a:schemeClr val="accent5"/>
                </a:solidFill>
              </a:rPr>
              <a:t>CA010 Computer Architecture and Organization · College of Computer Studies, Angeles University Foundation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Pick a sound, move a slider, and it's rebuilt instantly</a:t>
            </a:r>
            <a:endParaRPr lang="en-US" sz="2800" dirty="0"/>
          </a:p>
        </p:txBody>
      </p:sp>
      <p:sp>
        <p:nvSpPr>
          <p:cNvPr id="4" name="Text 1"/>
          <p:cNvSpPr txBox="1"/>
          <p:nvPr/>
        </p:nvSpPr>
        <p:spPr>
          <a:xfrm>
            <a:off x="548640" y="1463040"/>
            <a:ext cx="5486400" cy="365760"/>
          </a:xfrm>
          <a:prstGeom prst="rect">
            <a:avLst/>
          </a:prstGeom>
          <a:noFill/>
          <a:ln/>
        </p:spPr>
        <p:txBody>
          <a:bodyPr wrap="square" lIns="0" tIns="0" rIns="0" bIns="0" rtlCol="0" anchor="t"/>
          <a:lstStyle/>
          <a:p>
            <a:pPr indent="0" marL="0">
              <a:buNone/>
            </a:pPr>
            <a:r>
              <a:rPr lang="en-US" sz="1800" b="1" dirty="0">
                <a:solidFill>
                  <a:schemeClr val="accent1"/>
                </a:solidFill>
              </a:rPr>
              <a:t>Presets</a:t>
            </a:r>
            <a:endParaRPr lang="en-US" sz="1800" dirty="0"/>
          </a:p>
        </p:txBody>
      </p:sp>
      <p:sp>
        <p:nvSpPr>
          <p:cNvPr id="5" name="Shape 2"/>
          <p:cNvSpPr/>
          <p:nvPr/>
        </p:nvSpPr>
        <p:spPr>
          <a:xfrm>
            <a:off x="548640" y="1920240"/>
            <a:ext cx="1325880" cy="502920"/>
          </a:xfrm>
          <a:prstGeom prst="roundRect">
            <a:avLst>
              <a:gd name="adj" fmla="val 49091"/>
            </a:avLst>
          </a:prstGeom>
          <a:solidFill>
            <a:schemeClr val="tx1"/>
          </a:solidFill>
          <a:ln/>
        </p:spPr>
      </p:sp>
      <p:sp>
        <p:nvSpPr>
          <p:cNvPr id="6" name="Text 3"/>
          <p:cNvSpPr txBox="1"/>
          <p:nvPr/>
        </p:nvSpPr>
        <p:spPr>
          <a:xfrm>
            <a:off x="548640" y="1920240"/>
            <a:ext cx="1325880" cy="502920"/>
          </a:xfrm>
          <a:prstGeom prst="rect">
            <a:avLst/>
          </a:prstGeom>
          <a:noFill/>
          <a:ln/>
        </p:spPr>
        <p:txBody>
          <a:bodyPr wrap="square" lIns="0" tIns="0" rIns="0" bIns="0" rtlCol="0" anchor="ctr"/>
          <a:lstStyle/>
          <a:p>
            <a:pPr algn="ctr" indent="0" marL="0">
              <a:buNone/>
            </a:pPr>
            <a:r>
              <a:rPr lang="en-US" sz="1400" b="1" dirty="0">
                <a:solidFill>
                  <a:schemeClr val="accent2"/>
                </a:solidFill>
              </a:rPr>
              <a:t>Coin</a:t>
            </a:r>
            <a:endParaRPr lang="en-US" sz="1400" dirty="0"/>
          </a:p>
        </p:txBody>
      </p:sp>
      <p:sp>
        <p:nvSpPr>
          <p:cNvPr id="7" name="Shape 4"/>
          <p:cNvSpPr/>
          <p:nvPr/>
        </p:nvSpPr>
        <p:spPr>
          <a:xfrm>
            <a:off x="2011680" y="1920240"/>
            <a:ext cx="1325880" cy="502920"/>
          </a:xfrm>
          <a:prstGeom prst="roundRect">
            <a:avLst>
              <a:gd name="adj" fmla="val 49091"/>
            </a:avLst>
          </a:prstGeom>
          <a:solidFill>
            <a:schemeClr val="tx1"/>
          </a:solidFill>
          <a:ln/>
        </p:spPr>
      </p:sp>
      <p:sp>
        <p:nvSpPr>
          <p:cNvPr id="8" name="Text 5"/>
          <p:cNvSpPr txBox="1"/>
          <p:nvPr/>
        </p:nvSpPr>
        <p:spPr>
          <a:xfrm>
            <a:off x="2011680" y="1920240"/>
            <a:ext cx="1325880" cy="502920"/>
          </a:xfrm>
          <a:prstGeom prst="rect">
            <a:avLst/>
          </a:prstGeom>
          <a:noFill/>
          <a:ln/>
        </p:spPr>
        <p:txBody>
          <a:bodyPr wrap="square" lIns="0" tIns="0" rIns="0" bIns="0" rtlCol="0" anchor="ctr"/>
          <a:lstStyle/>
          <a:p>
            <a:pPr algn="ctr" indent="0" marL="0">
              <a:buNone/>
            </a:pPr>
            <a:r>
              <a:rPr lang="en-US" sz="1400" b="1" dirty="0">
                <a:solidFill>
                  <a:schemeClr val="accent2"/>
                </a:solidFill>
              </a:rPr>
              <a:t>Laser</a:t>
            </a:r>
            <a:endParaRPr lang="en-US" sz="1400" dirty="0"/>
          </a:p>
        </p:txBody>
      </p:sp>
      <p:sp>
        <p:nvSpPr>
          <p:cNvPr id="9" name="Shape 6"/>
          <p:cNvSpPr/>
          <p:nvPr/>
        </p:nvSpPr>
        <p:spPr>
          <a:xfrm>
            <a:off x="3474720" y="1920240"/>
            <a:ext cx="1325880" cy="502920"/>
          </a:xfrm>
          <a:prstGeom prst="roundRect">
            <a:avLst>
              <a:gd name="adj" fmla="val 49091"/>
            </a:avLst>
          </a:prstGeom>
          <a:solidFill>
            <a:schemeClr val="tx1"/>
          </a:solidFill>
          <a:ln/>
        </p:spPr>
      </p:sp>
      <p:sp>
        <p:nvSpPr>
          <p:cNvPr id="10" name="Text 7"/>
          <p:cNvSpPr txBox="1"/>
          <p:nvPr/>
        </p:nvSpPr>
        <p:spPr>
          <a:xfrm>
            <a:off x="3474720" y="1920240"/>
            <a:ext cx="1325880" cy="502920"/>
          </a:xfrm>
          <a:prstGeom prst="rect">
            <a:avLst/>
          </a:prstGeom>
          <a:noFill/>
          <a:ln/>
        </p:spPr>
        <p:txBody>
          <a:bodyPr wrap="square" lIns="0" tIns="0" rIns="0" bIns="0" rtlCol="0" anchor="ctr"/>
          <a:lstStyle/>
          <a:p>
            <a:pPr algn="ctr" indent="0" marL="0">
              <a:buNone/>
            </a:pPr>
            <a:r>
              <a:rPr lang="en-US" sz="1400" b="1" dirty="0">
                <a:solidFill>
                  <a:schemeClr val="accent2"/>
                </a:solidFill>
              </a:rPr>
              <a:t>Explosion</a:t>
            </a:r>
            <a:endParaRPr lang="en-US" sz="1400" dirty="0"/>
          </a:p>
        </p:txBody>
      </p:sp>
      <p:sp>
        <p:nvSpPr>
          <p:cNvPr id="11" name="Shape 8"/>
          <p:cNvSpPr/>
          <p:nvPr/>
        </p:nvSpPr>
        <p:spPr>
          <a:xfrm>
            <a:off x="4937760" y="1920240"/>
            <a:ext cx="1325880" cy="502920"/>
          </a:xfrm>
          <a:prstGeom prst="roundRect">
            <a:avLst>
              <a:gd name="adj" fmla="val 49091"/>
            </a:avLst>
          </a:prstGeom>
          <a:solidFill>
            <a:schemeClr val="tx1"/>
          </a:solidFill>
          <a:ln/>
        </p:spPr>
      </p:sp>
      <p:sp>
        <p:nvSpPr>
          <p:cNvPr id="12" name="Text 9"/>
          <p:cNvSpPr txBox="1"/>
          <p:nvPr/>
        </p:nvSpPr>
        <p:spPr>
          <a:xfrm>
            <a:off x="4937760" y="1920240"/>
            <a:ext cx="1325880" cy="502920"/>
          </a:xfrm>
          <a:prstGeom prst="rect">
            <a:avLst/>
          </a:prstGeom>
          <a:noFill/>
          <a:ln/>
        </p:spPr>
        <p:txBody>
          <a:bodyPr wrap="square" lIns="0" tIns="0" rIns="0" bIns="0" rtlCol="0" anchor="ctr"/>
          <a:lstStyle/>
          <a:p>
            <a:pPr algn="ctr" indent="0" marL="0">
              <a:buNone/>
            </a:pPr>
            <a:r>
              <a:rPr lang="en-US" sz="1400" b="1" dirty="0">
                <a:solidFill>
                  <a:schemeClr val="accent2"/>
                </a:solidFill>
              </a:rPr>
              <a:t>Jump</a:t>
            </a:r>
            <a:endParaRPr lang="en-US" sz="1400" dirty="0"/>
          </a:p>
        </p:txBody>
      </p:sp>
      <p:sp>
        <p:nvSpPr>
          <p:cNvPr id="13" name="Shape 10"/>
          <p:cNvSpPr/>
          <p:nvPr/>
        </p:nvSpPr>
        <p:spPr>
          <a:xfrm>
            <a:off x="548640" y="2606040"/>
            <a:ext cx="1325880" cy="502920"/>
          </a:xfrm>
          <a:prstGeom prst="roundRect">
            <a:avLst>
              <a:gd name="adj" fmla="val 49091"/>
            </a:avLst>
          </a:prstGeom>
          <a:solidFill>
            <a:schemeClr val="tx1"/>
          </a:solidFill>
          <a:ln/>
        </p:spPr>
      </p:sp>
      <p:sp>
        <p:nvSpPr>
          <p:cNvPr id="14" name="Text 11"/>
          <p:cNvSpPr txBox="1"/>
          <p:nvPr/>
        </p:nvSpPr>
        <p:spPr>
          <a:xfrm>
            <a:off x="548640" y="2606040"/>
            <a:ext cx="1325880" cy="502920"/>
          </a:xfrm>
          <a:prstGeom prst="rect">
            <a:avLst/>
          </a:prstGeom>
          <a:noFill/>
          <a:ln/>
        </p:spPr>
        <p:txBody>
          <a:bodyPr wrap="square" lIns="0" tIns="0" rIns="0" bIns="0" rtlCol="0" anchor="ctr"/>
          <a:lstStyle/>
          <a:p>
            <a:pPr algn="ctr" indent="0" marL="0">
              <a:buNone/>
            </a:pPr>
            <a:r>
              <a:rPr lang="en-US" sz="1400" b="1" dirty="0">
                <a:solidFill>
                  <a:schemeClr val="accent2"/>
                </a:solidFill>
              </a:rPr>
              <a:t>Hit</a:t>
            </a:r>
            <a:endParaRPr lang="en-US" sz="1400" dirty="0"/>
          </a:p>
        </p:txBody>
      </p:sp>
      <p:sp>
        <p:nvSpPr>
          <p:cNvPr id="15" name="Shape 12"/>
          <p:cNvSpPr/>
          <p:nvPr/>
        </p:nvSpPr>
        <p:spPr>
          <a:xfrm>
            <a:off x="2011680" y="2606040"/>
            <a:ext cx="1325880" cy="502920"/>
          </a:xfrm>
          <a:prstGeom prst="roundRect">
            <a:avLst>
              <a:gd name="adj" fmla="val 49091"/>
            </a:avLst>
          </a:prstGeom>
          <a:solidFill>
            <a:schemeClr val="tx1"/>
          </a:solidFill>
          <a:ln/>
        </p:spPr>
      </p:sp>
      <p:sp>
        <p:nvSpPr>
          <p:cNvPr id="16" name="Text 13"/>
          <p:cNvSpPr txBox="1"/>
          <p:nvPr/>
        </p:nvSpPr>
        <p:spPr>
          <a:xfrm>
            <a:off x="2011680" y="2606040"/>
            <a:ext cx="1325880" cy="502920"/>
          </a:xfrm>
          <a:prstGeom prst="rect">
            <a:avLst/>
          </a:prstGeom>
          <a:noFill/>
          <a:ln/>
        </p:spPr>
        <p:txBody>
          <a:bodyPr wrap="square" lIns="0" tIns="0" rIns="0" bIns="0" rtlCol="0" anchor="ctr"/>
          <a:lstStyle/>
          <a:p>
            <a:pPr algn="ctr" indent="0" marL="0">
              <a:buNone/>
            </a:pPr>
            <a:r>
              <a:rPr lang="en-US" sz="1400" b="1" dirty="0">
                <a:solidFill>
                  <a:schemeClr val="accent2"/>
                </a:solidFill>
              </a:rPr>
              <a:t>Power-Up</a:t>
            </a:r>
            <a:endParaRPr lang="en-US" sz="1400" dirty="0"/>
          </a:p>
        </p:txBody>
      </p:sp>
      <p:sp>
        <p:nvSpPr>
          <p:cNvPr id="17" name="Shape 14"/>
          <p:cNvSpPr/>
          <p:nvPr/>
        </p:nvSpPr>
        <p:spPr>
          <a:xfrm>
            <a:off x="3474720" y="2606040"/>
            <a:ext cx="1325880" cy="502920"/>
          </a:xfrm>
          <a:prstGeom prst="roundRect">
            <a:avLst>
              <a:gd name="adj" fmla="val 49091"/>
            </a:avLst>
          </a:prstGeom>
          <a:solidFill>
            <a:schemeClr val="tx1"/>
          </a:solidFill>
          <a:ln/>
        </p:spPr>
      </p:sp>
      <p:sp>
        <p:nvSpPr>
          <p:cNvPr id="18" name="Text 15"/>
          <p:cNvSpPr txBox="1"/>
          <p:nvPr/>
        </p:nvSpPr>
        <p:spPr>
          <a:xfrm>
            <a:off x="3474720" y="2606040"/>
            <a:ext cx="1325880" cy="502920"/>
          </a:xfrm>
          <a:prstGeom prst="rect">
            <a:avLst/>
          </a:prstGeom>
          <a:noFill/>
          <a:ln/>
        </p:spPr>
        <p:txBody>
          <a:bodyPr wrap="square" lIns="0" tIns="0" rIns="0" bIns="0" rtlCol="0" anchor="ctr"/>
          <a:lstStyle/>
          <a:p>
            <a:pPr algn="ctr" indent="0" marL="0">
              <a:buNone/>
            </a:pPr>
            <a:r>
              <a:rPr lang="en-US" sz="1400" b="1" dirty="0">
                <a:solidFill>
                  <a:schemeClr val="accent2"/>
                </a:solidFill>
              </a:rPr>
              <a:t>Blip</a:t>
            </a:r>
            <a:endParaRPr lang="en-US" sz="1400" dirty="0"/>
          </a:p>
        </p:txBody>
      </p:sp>
      <p:sp>
        <p:nvSpPr>
          <p:cNvPr id="19" name="Shape 16"/>
          <p:cNvSpPr/>
          <p:nvPr/>
        </p:nvSpPr>
        <p:spPr>
          <a:xfrm>
            <a:off x="4937760" y="2606040"/>
            <a:ext cx="1325880" cy="502920"/>
          </a:xfrm>
          <a:prstGeom prst="roundRect">
            <a:avLst>
              <a:gd name="adj" fmla="val 49091"/>
            </a:avLst>
          </a:prstGeom>
          <a:solidFill>
            <a:schemeClr val="accent3"/>
          </a:solidFill>
          <a:ln/>
        </p:spPr>
      </p:sp>
      <p:sp>
        <p:nvSpPr>
          <p:cNvPr id="20" name="Text 17"/>
          <p:cNvSpPr txBox="1"/>
          <p:nvPr/>
        </p:nvSpPr>
        <p:spPr>
          <a:xfrm>
            <a:off x="4937760" y="2606040"/>
            <a:ext cx="1325880" cy="502920"/>
          </a:xfrm>
          <a:prstGeom prst="rect">
            <a:avLst/>
          </a:prstGeom>
          <a:noFill/>
          <a:ln/>
        </p:spPr>
        <p:txBody>
          <a:bodyPr wrap="square" lIns="0" tIns="0" rIns="0" bIns="0" rtlCol="0" anchor="ctr"/>
          <a:lstStyle/>
          <a:p>
            <a:pPr algn="ctr" indent="0" marL="0">
              <a:buNone/>
            </a:pPr>
            <a:r>
              <a:rPr lang="en-US" sz="1400" b="1" dirty="0">
                <a:solidFill>
                  <a:schemeClr val="tx1"/>
                </a:solidFill>
              </a:rPr>
              <a:t>Randomize</a:t>
            </a:r>
            <a:endParaRPr lang="en-US" sz="1400" dirty="0"/>
          </a:p>
        </p:txBody>
      </p:sp>
      <p:sp>
        <p:nvSpPr>
          <p:cNvPr id="21" name="Text 18"/>
          <p:cNvSpPr txBox="1"/>
          <p:nvPr/>
        </p:nvSpPr>
        <p:spPr>
          <a:xfrm>
            <a:off x="548640" y="3429000"/>
            <a:ext cx="5486400" cy="365760"/>
          </a:xfrm>
          <a:prstGeom prst="rect">
            <a:avLst/>
          </a:prstGeom>
          <a:noFill/>
          <a:ln/>
        </p:spPr>
        <p:txBody>
          <a:bodyPr wrap="square" lIns="0" tIns="0" rIns="0" bIns="0" rtlCol="0" anchor="t"/>
          <a:lstStyle/>
          <a:p>
            <a:pPr indent="0" marL="0">
              <a:buNone/>
            </a:pPr>
            <a:r>
              <a:rPr lang="en-US" sz="1800" b="1" dirty="0">
                <a:solidFill>
                  <a:schemeClr val="accent1"/>
                </a:solidFill>
              </a:rPr>
              <a:t>What the sliders change</a:t>
            </a:r>
            <a:endParaRPr lang="en-US" sz="1800" dirty="0"/>
          </a:p>
        </p:txBody>
      </p:sp>
      <p:sp>
        <p:nvSpPr>
          <p:cNvPr id="22" name="Text 19"/>
          <p:cNvSpPr txBox="1"/>
          <p:nvPr/>
        </p:nvSpPr>
        <p:spPr>
          <a:xfrm>
            <a:off x="548640" y="3840480"/>
            <a:ext cx="5669280" cy="20116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Shape: square, sawtooth, triangle or noise</a:t>
            </a:r>
            <a:endParaRPr lang="en-US" sz="1600" dirty="0"/>
          </a:p>
          <a:p>
            <a:pPr marL="342900" indent="-342900">
              <a:spcAft>
                <a:spcPts val="600"/>
              </a:spcAft>
              <a:buSzPct val="100000"/>
              <a:buChar char="•"/>
            </a:pPr>
            <a:r>
              <a:rPr lang="en-US" sz="1600" dirty="0">
                <a:solidFill>
                  <a:schemeClr val="tx1"/>
                </a:solidFill>
              </a:rPr>
              <a:t>Pitch: how high, which way it slides, a little wobble</a:t>
            </a:r>
            <a:endParaRPr lang="en-US" sz="1600" dirty="0"/>
          </a:p>
          <a:p>
            <a:pPr marL="342900" indent="-342900">
              <a:spcAft>
                <a:spcPts val="600"/>
              </a:spcAft>
              <a:buSzPct val="100000"/>
              <a:buChar char="•"/>
            </a:pPr>
            <a:r>
              <a:rPr lang="en-US" sz="1600" dirty="0">
                <a:solidFill>
                  <a:schemeClr val="tx1"/>
                </a:solidFill>
              </a:rPr>
              <a:t>Timing: fade in, hold, fade out</a:t>
            </a:r>
            <a:endParaRPr lang="en-US" sz="1600" dirty="0"/>
          </a:p>
          <a:p>
            <a:pPr marL="342900" indent="-342900">
              <a:spcAft>
                <a:spcPts val="600"/>
              </a:spcAft>
              <a:buSzPct val="100000"/>
              <a:buChar char="•"/>
            </a:pPr>
            <a:r>
              <a:rPr lang="en-US" sz="1600" dirty="0">
                <a:solidFill>
                  <a:schemeClr val="tx1"/>
                </a:solidFill>
              </a:rPr>
              <a:t>Volume</a:t>
            </a:r>
            <a:endParaRPr lang="en-US" sz="1600" dirty="0"/>
          </a:p>
        </p:txBody>
      </p:sp>
      <p:sp>
        <p:nvSpPr>
          <p:cNvPr id="23" name="card"/>
          <p:cNvSpPr/>
          <p:nvPr/>
        </p:nvSpPr>
        <p:spPr>
          <a:xfrm>
            <a:off x="6858000" y="1463040"/>
            <a:ext cx="4754880" cy="1325880"/>
          </a:xfrm>
          <a:prstGeom prst="roundRect">
            <a:avLst>
              <a:gd name="adj" fmla="val 5517"/>
            </a:avLst>
          </a:prstGeom>
          <a:solidFill>
            <a:schemeClr val="bg2"/>
          </a:solidFill>
          <a:ln/>
        </p:spPr>
      </p:sp>
      <p:sp>
        <p:nvSpPr>
          <p:cNvPr id="24" name="Text 21"/>
          <p:cNvSpPr txBox="1"/>
          <p:nvPr/>
        </p:nvSpPr>
        <p:spPr>
          <a:xfrm>
            <a:off x="7132320" y="1600200"/>
            <a:ext cx="4297680" cy="73152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4</a:t>
            </a:r>
            <a:endParaRPr lang="en-US" sz="4000" dirty="0"/>
          </a:p>
        </p:txBody>
      </p:sp>
      <p:sp>
        <p:nvSpPr>
          <p:cNvPr id="25" name="Text 22"/>
          <p:cNvSpPr txBox="1"/>
          <p:nvPr/>
        </p:nvSpPr>
        <p:spPr>
          <a:xfrm>
            <a:off x="7132320" y="2331720"/>
            <a:ext cx="4297680" cy="365760"/>
          </a:xfrm>
          <a:prstGeom prst="rect">
            <a:avLst/>
          </a:prstGeom>
          <a:noFill/>
          <a:ln/>
        </p:spPr>
        <p:txBody>
          <a:bodyPr wrap="square" lIns="0" tIns="0" rIns="0" bIns="0" rtlCol="0" anchor="t"/>
          <a:lstStyle/>
          <a:p>
            <a:pPr indent="0" marL="0">
              <a:buNone/>
            </a:pPr>
            <a:r>
              <a:rPr lang="en-US" sz="1400" dirty="0">
                <a:solidFill>
                  <a:schemeClr val="accent5"/>
                </a:solidFill>
              </a:rPr>
              <a:t>sound shapes</a:t>
            </a:r>
            <a:endParaRPr lang="en-US" sz="1400" dirty="0"/>
          </a:p>
        </p:txBody>
      </p:sp>
      <p:sp>
        <p:nvSpPr>
          <p:cNvPr id="26" name="card"/>
          <p:cNvSpPr/>
          <p:nvPr/>
        </p:nvSpPr>
        <p:spPr>
          <a:xfrm>
            <a:off x="6858000" y="2971800"/>
            <a:ext cx="4754880" cy="1325880"/>
          </a:xfrm>
          <a:prstGeom prst="roundRect">
            <a:avLst>
              <a:gd name="adj" fmla="val 5517"/>
            </a:avLst>
          </a:prstGeom>
          <a:solidFill>
            <a:schemeClr val="bg2"/>
          </a:solidFill>
          <a:ln/>
        </p:spPr>
      </p:sp>
      <p:sp>
        <p:nvSpPr>
          <p:cNvPr id="27" name="Text 24"/>
          <p:cNvSpPr txBox="1"/>
          <p:nvPr/>
        </p:nvSpPr>
        <p:spPr>
          <a:xfrm>
            <a:off x="7132320" y="3108960"/>
            <a:ext cx="4297680" cy="73152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44,100</a:t>
            </a:r>
            <a:endParaRPr lang="en-US" sz="4000" dirty="0"/>
          </a:p>
        </p:txBody>
      </p:sp>
      <p:sp>
        <p:nvSpPr>
          <p:cNvPr id="28" name="Text 25"/>
          <p:cNvSpPr txBox="1"/>
          <p:nvPr/>
        </p:nvSpPr>
        <p:spPr>
          <a:xfrm>
            <a:off x="7132320" y="3840480"/>
            <a:ext cx="4297680" cy="365760"/>
          </a:xfrm>
          <a:prstGeom prst="rect">
            <a:avLst/>
          </a:prstGeom>
          <a:noFill/>
          <a:ln/>
        </p:spPr>
        <p:txBody>
          <a:bodyPr wrap="square" lIns="0" tIns="0" rIns="0" bIns="0" rtlCol="0" anchor="t"/>
          <a:lstStyle/>
          <a:p>
            <a:pPr indent="0" marL="0">
              <a:buNone/>
            </a:pPr>
            <a:r>
              <a:rPr lang="en-US" sz="1400" dirty="0">
                <a:solidFill>
                  <a:schemeClr val="accent5"/>
                </a:solidFill>
              </a:rPr>
              <a:t>numbers per second of sound (CD quality)</a:t>
            </a:r>
            <a:endParaRPr lang="en-US" sz="1400" dirty="0"/>
          </a:p>
        </p:txBody>
      </p:sp>
      <p:sp>
        <p:nvSpPr>
          <p:cNvPr id="29" name="card"/>
          <p:cNvSpPr/>
          <p:nvPr/>
        </p:nvSpPr>
        <p:spPr>
          <a:xfrm>
            <a:off x="6858000" y="4480560"/>
            <a:ext cx="4754880" cy="1325880"/>
          </a:xfrm>
          <a:prstGeom prst="roundRect">
            <a:avLst>
              <a:gd name="adj" fmla="val 5517"/>
            </a:avLst>
          </a:prstGeom>
          <a:solidFill>
            <a:schemeClr val="bg2"/>
          </a:solidFill>
          <a:ln/>
        </p:spPr>
      </p:sp>
      <p:sp>
        <p:nvSpPr>
          <p:cNvPr id="30" name="Text 27"/>
          <p:cNvSpPr txBox="1"/>
          <p:nvPr/>
        </p:nvSpPr>
        <p:spPr>
          <a:xfrm>
            <a:off x="7132320" y="4617720"/>
            <a:ext cx="4297680" cy="73152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5 s</a:t>
            </a:r>
            <a:endParaRPr lang="en-US" sz="4000" dirty="0"/>
          </a:p>
        </p:txBody>
      </p:sp>
      <p:sp>
        <p:nvSpPr>
          <p:cNvPr id="31" name="Text 28"/>
          <p:cNvSpPr txBox="1"/>
          <p:nvPr/>
        </p:nvSpPr>
        <p:spPr>
          <a:xfrm>
            <a:off x="7132320" y="5349240"/>
            <a:ext cx="4297680" cy="365760"/>
          </a:xfrm>
          <a:prstGeom prst="rect">
            <a:avLst/>
          </a:prstGeom>
          <a:noFill/>
          <a:ln/>
        </p:spPr>
        <p:txBody>
          <a:bodyPr wrap="square" lIns="0" tIns="0" rIns="0" bIns="0" rtlCol="0" anchor="t"/>
          <a:lstStyle/>
          <a:p>
            <a:pPr indent="0" marL="0">
              <a:buNone/>
            </a:pPr>
            <a:r>
              <a:rPr lang="en-US" sz="1400" dirty="0">
                <a:solidFill>
                  <a:schemeClr val="accent5"/>
                </a:solidFill>
              </a:rPr>
              <a:t>longest possible sound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Three parts: the window, the go-between, and the engine</a:t>
            </a:r>
            <a:endParaRPr lang="en-US" sz="2800" dirty="0"/>
          </a:p>
        </p:txBody>
      </p:sp>
      <p:sp>
        <p:nvSpPr>
          <p:cNvPr id="4" name="card"/>
          <p:cNvSpPr/>
          <p:nvPr/>
        </p:nvSpPr>
        <p:spPr>
          <a:xfrm>
            <a:off x="548640" y="1508760"/>
            <a:ext cx="3291840" cy="2011680"/>
          </a:xfrm>
          <a:prstGeom prst="roundRect">
            <a:avLst>
              <a:gd name="adj" fmla="val 3636"/>
            </a:avLst>
          </a:prstGeom>
          <a:solidFill>
            <a:schemeClr val="bg2"/>
          </a:solidFill>
          <a:ln/>
        </p:spPr>
      </p:sp>
      <p:sp>
        <p:nvSpPr>
          <p:cNvPr id="5" name="Text 2"/>
          <p:cNvSpPr txBox="1"/>
          <p:nvPr/>
        </p:nvSpPr>
        <p:spPr>
          <a:xfrm>
            <a:off x="822960" y="1691640"/>
            <a:ext cx="2743200" cy="45720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The window</a:t>
            </a:r>
            <a:endParaRPr lang="en-US" sz="2200" dirty="0"/>
          </a:p>
        </p:txBody>
      </p:sp>
      <p:sp>
        <p:nvSpPr>
          <p:cNvPr id="6" name="Text 3"/>
          <p:cNvSpPr txBox="1"/>
          <p:nvPr/>
        </p:nvSpPr>
        <p:spPr>
          <a:xfrm>
            <a:off x="822960" y="2148840"/>
            <a:ext cx="2743200" cy="320040"/>
          </a:xfrm>
          <a:prstGeom prst="rect">
            <a:avLst/>
          </a:prstGeom>
          <a:noFill/>
          <a:ln/>
        </p:spPr>
        <p:txBody>
          <a:bodyPr wrap="square" lIns="0" tIns="0" rIns="0" bIns="0" rtlCol="0" anchor="t"/>
          <a:lstStyle/>
          <a:p>
            <a:pPr indent="0" marL="0">
              <a:buNone/>
            </a:pPr>
            <a:r>
              <a:rPr lang="en-US" sz="1400" b="1" dirty="0">
                <a:solidFill>
                  <a:schemeClr val="accent1"/>
                </a:solidFill>
              </a:rPr>
              <a:t>Python · the waiter</a:t>
            </a:r>
            <a:endParaRPr lang="en-US" sz="1400" dirty="0"/>
          </a:p>
        </p:txBody>
      </p:sp>
      <p:sp>
        <p:nvSpPr>
          <p:cNvPr id="7" name="Text 4"/>
          <p:cNvSpPr txBox="1"/>
          <p:nvPr/>
        </p:nvSpPr>
        <p:spPr>
          <a:xfrm>
            <a:off x="822960" y="2560320"/>
            <a:ext cx="2743200" cy="868680"/>
          </a:xfrm>
          <a:prstGeom prst="rect">
            <a:avLst/>
          </a:prstGeom>
          <a:noFill/>
          <a:ln/>
        </p:spPr>
        <p:txBody>
          <a:bodyPr wrap="square" lIns="0" tIns="0" rIns="0" bIns="0" rtlCol="0" anchor="t"/>
          <a:lstStyle/>
          <a:p>
            <a:pPr indent="0" marL="0">
              <a:buNone/>
            </a:pPr>
            <a:r>
              <a:rPr lang="en-US" sz="1400" dirty="0">
                <a:solidFill>
                  <a:schemeClr val="tx1"/>
                </a:solidFill>
              </a:rPr>
              <a:t>Sliders, buttons, the wave picture, play and save</a:t>
            </a:r>
            <a:endParaRPr lang="en-US" sz="1400" dirty="0"/>
          </a:p>
        </p:txBody>
      </p:sp>
      <p:sp>
        <p:nvSpPr>
          <p:cNvPr id="8" name="Shape 5"/>
          <p:cNvSpPr/>
          <p:nvPr/>
        </p:nvSpPr>
        <p:spPr>
          <a:xfrm>
            <a:off x="3886200" y="2514600"/>
            <a:ext cx="548640" cy="0"/>
          </a:xfrm>
          <a:prstGeom prst="line">
            <a:avLst/>
          </a:prstGeom>
          <a:noFill/>
          <a:ln w="25400">
            <a:solidFill>
              <a:schemeClr val="accent5"/>
            </a:solidFill>
            <a:prstDash val="solid"/>
            <a:tailEnd type="triangle"/>
          </a:ln>
        </p:spPr>
      </p:sp>
      <p:sp>
        <p:nvSpPr>
          <p:cNvPr id="9" name="card"/>
          <p:cNvSpPr/>
          <p:nvPr/>
        </p:nvSpPr>
        <p:spPr>
          <a:xfrm>
            <a:off x="4480560" y="1508760"/>
            <a:ext cx="3291840" cy="2011680"/>
          </a:xfrm>
          <a:prstGeom prst="roundRect">
            <a:avLst>
              <a:gd name="adj" fmla="val 3636"/>
            </a:avLst>
          </a:prstGeom>
          <a:solidFill>
            <a:schemeClr val="bg2"/>
          </a:solidFill>
          <a:ln/>
        </p:spPr>
      </p:sp>
      <p:sp>
        <p:nvSpPr>
          <p:cNvPr id="10" name="Text 7"/>
          <p:cNvSpPr txBox="1"/>
          <p:nvPr/>
        </p:nvSpPr>
        <p:spPr>
          <a:xfrm>
            <a:off x="4754880" y="1691640"/>
            <a:ext cx="2743200" cy="45720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The go-between</a:t>
            </a:r>
            <a:endParaRPr lang="en-US" sz="2200" dirty="0"/>
          </a:p>
        </p:txBody>
      </p:sp>
      <p:sp>
        <p:nvSpPr>
          <p:cNvPr id="11" name="Text 8"/>
          <p:cNvSpPr txBox="1"/>
          <p:nvPr/>
        </p:nvSpPr>
        <p:spPr>
          <a:xfrm>
            <a:off x="4754880" y="2148840"/>
            <a:ext cx="2743200" cy="320040"/>
          </a:xfrm>
          <a:prstGeom prst="rect">
            <a:avLst/>
          </a:prstGeom>
          <a:noFill/>
          <a:ln/>
        </p:spPr>
        <p:txBody>
          <a:bodyPr wrap="square" lIns="0" tIns="0" rIns="0" bIns="0" rtlCol="0" anchor="t"/>
          <a:lstStyle/>
          <a:p>
            <a:pPr indent="0" marL="0">
              <a:buNone/>
            </a:pPr>
            <a:r>
              <a:rPr lang="en-US" sz="1400" b="1" dirty="0">
                <a:solidFill>
                  <a:schemeClr val="accent1"/>
                </a:solidFill>
              </a:rPr>
              <a:t>Python · the order slip</a:t>
            </a:r>
            <a:endParaRPr lang="en-US" sz="1400" dirty="0"/>
          </a:p>
        </p:txBody>
      </p:sp>
      <p:sp>
        <p:nvSpPr>
          <p:cNvPr id="12" name="Text 9"/>
          <p:cNvSpPr txBox="1"/>
          <p:nvPr/>
        </p:nvSpPr>
        <p:spPr>
          <a:xfrm>
            <a:off x="4754880" y="2560320"/>
            <a:ext cx="2743200" cy="868680"/>
          </a:xfrm>
          <a:prstGeom prst="rect">
            <a:avLst/>
          </a:prstGeom>
          <a:noFill/>
          <a:ln/>
        </p:spPr>
        <p:txBody>
          <a:bodyPr wrap="square" lIns="0" tIns="0" rIns="0" bIns="0" rtlCol="0" anchor="t"/>
          <a:lstStyle/>
          <a:p>
            <a:pPr indent="0" marL="0">
              <a:buNone/>
            </a:pPr>
            <a:r>
              <a:rPr lang="en-US" sz="1400" dirty="0">
                <a:solidFill>
                  <a:schemeClr val="tx1"/>
                </a:solidFill>
              </a:rPr>
              <a:t>Packs your slider settings into a fixed form and hands it over</a:t>
            </a:r>
            <a:endParaRPr lang="en-US" sz="1400" dirty="0"/>
          </a:p>
        </p:txBody>
      </p:sp>
      <p:sp>
        <p:nvSpPr>
          <p:cNvPr id="13" name="Shape 10"/>
          <p:cNvSpPr/>
          <p:nvPr/>
        </p:nvSpPr>
        <p:spPr>
          <a:xfrm>
            <a:off x="7818120" y="2514600"/>
            <a:ext cx="548640" cy="0"/>
          </a:xfrm>
          <a:prstGeom prst="line">
            <a:avLst/>
          </a:prstGeom>
          <a:noFill/>
          <a:ln w="25400">
            <a:solidFill>
              <a:schemeClr val="accent5"/>
            </a:solidFill>
            <a:prstDash val="solid"/>
            <a:tailEnd type="triangle"/>
          </a:ln>
        </p:spPr>
      </p:sp>
      <p:sp>
        <p:nvSpPr>
          <p:cNvPr id="14" name="card"/>
          <p:cNvSpPr/>
          <p:nvPr/>
        </p:nvSpPr>
        <p:spPr>
          <a:xfrm>
            <a:off x="8412480" y="1508760"/>
            <a:ext cx="3291840" cy="2011680"/>
          </a:xfrm>
          <a:prstGeom prst="roundRect">
            <a:avLst>
              <a:gd name="adj" fmla="val 3636"/>
            </a:avLst>
          </a:prstGeom>
          <a:solidFill>
            <a:schemeClr val="tx1"/>
          </a:solidFill>
          <a:ln/>
        </p:spPr>
      </p:sp>
      <p:sp>
        <p:nvSpPr>
          <p:cNvPr id="15" name="Text 12"/>
          <p:cNvSpPr txBox="1"/>
          <p:nvPr/>
        </p:nvSpPr>
        <p:spPr>
          <a:xfrm>
            <a:off x="8686800" y="1691640"/>
            <a:ext cx="2743200" cy="45720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The engine</a:t>
            </a:r>
            <a:endParaRPr lang="en-US" sz="2200" dirty="0"/>
          </a:p>
        </p:txBody>
      </p:sp>
      <p:sp>
        <p:nvSpPr>
          <p:cNvPr id="16" name="Text 13"/>
          <p:cNvSpPr txBox="1"/>
          <p:nvPr/>
        </p:nvSpPr>
        <p:spPr>
          <a:xfrm>
            <a:off x="8686800" y="2148840"/>
            <a:ext cx="2743200" cy="320040"/>
          </a:xfrm>
          <a:prstGeom prst="rect">
            <a:avLst/>
          </a:prstGeom>
          <a:noFill/>
          <a:ln/>
        </p:spPr>
        <p:txBody>
          <a:bodyPr wrap="square" lIns="0" tIns="0" rIns="0" bIns="0" rtlCol="0" anchor="t"/>
          <a:lstStyle/>
          <a:p>
            <a:pPr indent="0" marL="0">
              <a:buNone/>
            </a:pPr>
            <a:r>
              <a:rPr lang="en-US" sz="1400" b="1" dirty="0">
                <a:solidFill>
                  <a:schemeClr val="accent2"/>
                </a:solidFill>
              </a:rPr>
              <a:t>Assembly · the kitchen</a:t>
            </a:r>
            <a:endParaRPr lang="en-US" sz="1400" dirty="0"/>
          </a:p>
        </p:txBody>
      </p:sp>
      <p:sp>
        <p:nvSpPr>
          <p:cNvPr id="17" name="Text 14"/>
          <p:cNvSpPr txBox="1"/>
          <p:nvPr/>
        </p:nvSpPr>
        <p:spPr>
          <a:xfrm>
            <a:off x="8686800" y="2560320"/>
            <a:ext cx="2743200" cy="868680"/>
          </a:xfrm>
          <a:prstGeom prst="rect">
            <a:avLst/>
          </a:prstGeom>
          <a:noFill/>
          <a:ln/>
        </p:spPr>
        <p:txBody>
          <a:bodyPr wrap="square" lIns="0" tIns="0" rIns="0" bIns="0" rtlCol="0" anchor="t"/>
          <a:lstStyle/>
          <a:p>
            <a:pPr indent="0" marL="0">
              <a:buNone/>
            </a:pPr>
            <a:r>
              <a:rPr lang="en-US" sz="1400" dirty="0">
                <a:solidFill>
                  <a:schemeClr val="bg1"/>
                </a:solidFill>
              </a:rPr>
              <a:t>Calculates every number of the sound and builds the audio file</a:t>
            </a:r>
            <a:endParaRPr lang="en-US" sz="1400" dirty="0"/>
          </a:p>
        </p:txBody>
      </p:sp>
      <p:sp>
        <p:nvSpPr>
          <p:cNvPr id="18" name="Text 15"/>
          <p:cNvSpPr txBox="1"/>
          <p:nvPr/>
        </p:nvSpPr>
        <p:spPr>
          <a:xfrm>
            <a:off x="548640" y="3886200"/>
            <a:ext cx="7315200" cy="365760"/>
          </a:xfrm>
          <a:prstGeom prst="rect">
            <a:avLst/>
          </a:prstGeom>
          <a:noFill/>
          <a:ln/>
        </p:spPr>
        <p:txBody>
          <a:bodyPr wrap="square" lIns="0" tIns="0" rIns="0" bIns="0" rtlCol="0" anchor="t"/>
          <a:lstStyle/>
          <a:p>
            <a:pPr indent="0" marL="0">
              <a:buNone/>
            </a:pPr>
            <a:r>
              <a:rPr lang="en-US" sz="1800" b="1" dirty="0">
                <a:solidFill>
                  <a:schemeClr val="accent1"/>
                </a:solidFill>
              </a:rPr>
              <a:t>What happens every time you click</a:t>
            </a:r>
            <a:endParaRPr lang="en-US" sz="1800" dirty="0"/>
          </a:p>
        </p:txBody>
      </p:sp>
      <p:sp>
        <p:nvSpPr>
          <p:cNvPr id="19" name="Shape 16"/>
          <p:cNvSpPr/>
          <p:nvPr/>
        </p:nvSpPr>
        <p:spPr>
          <a:xfrm>
            <a:off x="548640" y="4434840"/>
            <a:ext cx="457200" cy="457200"/>
          </a:xfrm>
          <a:prstGeom prst="ellipse">
            <a:avLst/>
          </a:prstGeom>
          <a:solidFill>
            <a:schemeClr val="accent1"/>
          </a:solidFill>
          <a:ln/>
        </p:spPr>
      </p:sp>
      <p:sp>
        <p:nvSpPr>
          <p:cNvPr id="20" name="Text 17"/>
          <p:cNvSpPr txBox="1"/>
          <p:nvPr/>
        </p:nvSpPr>
        <p:spPr>
          <a:xfrm>
            <a:off x="548640" y="4434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1" name="Text 18"/>
          <p:cNvSpPr txBox="1"/>
          <p:nvPr/>
        </p:nvSpPr>
        <p:spPr>
          <a:xfrm>
            <a:off x="1097280" y="4434840"/>
            <a:ext cx="1645920" cy="457200"/>
          </a:xfrm>
          <a:prstGeom prst="rect">
            <a:avLst/>
          </a:prstGeom>
          <a:noFill/>
          <a:ln/>
        </p:spPr>
        <p:txBody>
          <a:bodyPr wrap="square" lIns="0" tIns="0" rIns="0" bIns="0" rtlCol="0" anchor="ctr"/>
          <a:lstStyle/>
          <a:p>
            <a:pPr indent="0" marL="0">
              <a:buNone/>
            </a:pPr>
            <a:r>
              <a:rPr lang="en-US" sz="1400" b="1" dirty="0">
                <a:solidFill>
                  <a:schemeClr val="tx1"/>
                </a:solidFill>
              </a:rPr>
              <a:t>Ask how long</a:t>
            </a:r>
            <a:endParaRPr lang="en-US" sz="1400" dirty="0"/>
          </a:p>
        </p:txBody>
      </p:sp>
      <p:sp>
        <p:nvSpPr>
          <p:cNvPr id="22" name="Shape 19"/>
          <p:cNvSpPr/>
          <p:nvPr/>
        </p:nvSpPr>
        <p:spPr>
          <a:xfrm>
            <a:off x="2816352" y="4434840"/>
            <a:ext cx="457200" cy="457200"/>
          </a:xfrm>
          <a:prstGeom prst="ellipse">
            <a:avLst/>
          </a:prstGeom>
          <a:solidFill>
            <a:schemeClr val="accent1"/>
          </a:solidFill>
          <a:ln/>
        </p:spPr>
      </p:sp>
      <p:sp>
        <p:nvSpPr>
          <p:cNvPr id="23" name="Text 20"/>
          <p:cNvSpPr txBox="1"/>
          <p:nvPr/>
        </p:nvSpPr>
        <p:spPr>
          <a:xfrm>
            <a:off x="2816352" y="4434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4" name="Text 21"/>
          <p:cNvSpPr txBox="1"/>
          <p:nvPr/>
        </p:nvSpPr>
        <p:spPr>
          <a:xfrm>
            <a:off x="3364992" y="4434840"/>
            <a:ext cx="1645920" cy="457200"/>
          </a:xfrm>
          <a:prstGeom prst="rect">
            <a:avLst/>
          </a:prstGeom>
          <a:noFill/>
          <a:ln/>
        </p:spPr>
        <p:txBody>
          <a:bodyPr wrap="square" lIns="0" tIns="0" rIns="0" bIns="0" rtlCol="0" anchor="ctr"/>
          <a:lstStyle/>
          <a:p>
            <a:pPr indent="0" marL="0">
              <a:buNone/>
            </a:pPr>
            <a:r>
              <a:rPr lang="en-US" sz="1400" b="1" dirty="0">
                <a:solidFill>
                  <a:schemeClr val="tx1"/>
                </a:solidFill>
              </a:rPr>
              <a:t>Make room</a:t>
            </a:r>
            <a:endParaRPr lang="en-US" sz="1400" dirty="0"/>
          </a:p>
        </p:txBody>
      </p:sp>
      <p:sp>
        <p:nvSpPr>
          <p:cNvPr id="25" name="Shape 22"/>
          <p:cNvSpPr/>
          <p:nvPr/>
        </p:nvSpPr>
        <p:spPr>
          <a:xfrm>
            <a:off x="5084064" y="4434840"/>
            <a:ext cx="457200" cy="457200"/>
          </a:xfrm>
          <a:prstGeom prst="ellipse">
            <a:avLst/>
          </a:prstGeom>
          <a:solidFill>
            <a:schemeClr val="accent1"/>
          </a:solidFill>
          <a:ln/>
        </p:spPr>
      </p:sp>
      <p:sp>
        <p:nvSpPr>
          <p:cNvPr id="26" name="Text 23"/>
          <p:cNvSpPr txBox="1"/>
          <p:nvPr/>
        </p:nvSpPr>
        <p:spPr>
          <a:xfrm>
            <a:off x="5084064" y="4434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7" name="Text 24"/>
          <p:cNvSpPr txBox="1"/>
          <p:nvPr/>
        </p:nvSpPr>
        <p:spPr>
          <a:xfrm>
            <a:off x="5632704" y="4434840"/>
            <a:ext cx="1645920" cy="457200"/>
          </a:xfrm>
          <a:prstGeom prst="rect">
            <a:avLst/>
          </a:prstGeom>
          <a:noFill/>
          <a:ln/>
        </p:spPr>
        <p:txBody>
          <a:bodyPr wrap="square" lIns="0" tIns="0" rIns="0" bIns="0" rtlCol="0" anchor="ctr"/>
          <a:lstStyle/>
          <a:p>
            <a:pPr indent="0" marL="0">
              <a:buNone/>
            </a:pPr>
            <a:r>
              <a:rPr lang="en-US" sz="1400" b="1" dirty="0">
                <a:solidFill>
                  <a:schemeClr val="tx1"/>
                </a:solidFill>
              </a:rPr>
              <a:t>Make the sound</a:t>
            </a:r>
            <a:endParaRPr lang="en-US" sz="1400" dirty="0"/>
          </a:p>
        </p:txBody>
      </p:sp>
      <p:sp>
        <p:nvSpPr>
          <p:cNvPr id="28" name="Shape 25"/>
          <p:cNvSpPr/>
          <p:nvPr/>
        </p:nvSpPr>
        <p:spPr>
          <a:xfrm>
            <a:off x="7351776" y="4434840"/>
            <a:ext cx="457200" cy="457200"/>
          </a:xfrm>
          <a:prstGeom prst="ellipse">
            <a:avLst/>
          </a:prstGeom>
          <a:solidFill>
            <a:schemeClr val="accent1"/>
          </a:solidFill>
          <a:ln/>
        </p:spPr>
      </p:sp>
      <p:sp>
        <p:nvSpPr>
          <p:cNvPr id="29" name="Text 26"/>
          <p:cNvSpPr txBox="1"/>
          <p:nvPr/>
        </p:nvSpPr>
        <p:spPr>
          <a:xfrm>
            <a:off x="7351776" y="4434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0" name="Text 27"/>
          <p:cNvSpPr txBox="1"/>
          <p:nvPr/>
        </p:nvSpPr>
        <p:spPr>
          <a:xfrm>
            <a:off x="7900416" y="4434840"/>
            <a:ext cx="1645920" cy="457200"/>
          </a:xfrm>
          <a:prstGeom prst="rect">
            <a:avLst/>
          </a:prstGeom>
          <a:noFill/>
          <a:ln/>
        </p:spPr>
        <p:txBody>
          <a:bodyPr wrap="square" lIns="0" tIns="0" rIns="0" bIns="0" rtlCol="0" anchor="ctr"/>
          <a:lstStyle/>
          <a:p>
            <a:pPr indent="0" marL="0">
              <a:buNone/>
            </a:pPr>
            <a:r>
              <a:rPr lang="en-US" sz="1400" b="1" dirty="0">
                <a:solidFill>
                  <a:schemeClr val="tx1"/>
                </a:solidFill>
              </a:rPr>
              <a:t>Wrap as a WAV file</a:t>
            </a:r>
            <a:endParaRPr lang="en-US" sz="1400" dirty="0"/>
          </a:p>
        </p:txBody>
      </p:sp>
      <p:sp>
        <p:nvSpPr>
          <p:cNvPr id="31" name="Shape 28"/>
          <p:cNvSpPr/>
          <p:nvPr/>
        </p:nvSpPr>
        <p:spPr>
          <a:xfrm>
            <a:off x="9619488" y="4434840"/>
            <a:ext cx="457200" cy="457200"/>
          </a:xfrm>
          <a:prstGeom prst="ellipse">
            <a:avLst/>
          </a:prstGeom>
          <a:solidFill>
            <a:schemeClr val="accent1"/>
          </a:solidFill>
          <a:ln/>
        </p:spPr>
      </p:sp>
      <p:sp>
        <p:nvSpPr>
          <p:cNvPr id="32" name="Text 29"/>
          <p:cNvSpPr txBox="1"/>
          <p:nvPr/>
        </p:nvSpPr>
        <p:spPr>
          <a:xfrm>
            <a:off x="9619488" y="4434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3" name="Text 30"/>
          <p:cNvSpPr txBox="1"/>
          <p:nvPr/>
        </p:nvSpPr>
        <p:spPr>
          <a:xfrm>
            <a:off x="10168128" y="4434840"/>
            <a:ext cx="1645920" cy="457200"/>
          </a:xfrm>
          <a:prstGeom prst="rect">
            <a:avLst/>
          </a:prstGeom>
          <a:noFill/>
          <a:ln/>
        </p:spPr>
        <p:txBody>
          <a:bodyPr wrap="square" lIns="0" tIns="0" rIns="0" bIns="0" rtlCol="0" anchor="ctr"/>
          <a:lstStyle/>
          <a:p>
            <a:pPr indent="0" marL="0">
              <a:buNone/>
            </a:pPr>
            <a:r>
              <a:rPr lang="en-US" sz="1400" b="1" dirty="0">
                <a:solidFill>
                  <a:schemeClr val="tx1"/>
                </a:solidFill>
              </a:rPr>
              <a:t>Show, play, save</a:t>
            </a:r>
            <a:endParaRPr lang="en-US" sz="1400" dirty="0"/>
          </a:p>
        </p:txBody>
      </p:sp>
      <p:sp>
        <p:nvSpPr>
          <p:cNvPr id="34" name="card"/>
          <p:cNvSpPr/>
          <p:nvPr/>
        </p:nvSpPr>
        <p:spPr>
          <a:xfrm>
            <a:off x="548640" y="5257800"/>
            <a:ext cx="11064240" cy="868680"/>
          </a:xfrm>
          <a:prstGeom prst="roundRect">
            <a:avLst>
              <a:gd name="adj" fmla="val 8421"/>
            </a:avLst>
          </a:prstGeom>
          <a:solidFill>
            <a:schemeClr val="bg2"/>
          </a:solidFill>
          <a:ln/>
        </p:spPr>
      </p:sp>
      <p:sp>
        <p:nvSpPr>
          <p:cNvPr id="35" name="Text 32"/>
          <p:cNvSpPr txBox="1"/>
          <p:nvPr/>
        </p:nvSpPr>
        <p:spPr>
          <a:xfrm>
            <a:off x="822960" y="5257800"/>
            <a:ext cx="10515600" cy="868680"/>
          </a:xfrm>
          <a:prstGeom prst="rect">
            <a:avLst/>
          </a:prstGeom>
          <a:noFill/>
          <a:ln/>
        </p:spPr>
        <p:txBody>
          <a:bodyPr wrap="square" lIns="0" tIns="0" rIns="0" bIns="0" rtlCol="0" anchor="ctr"/>
          <a:lstStyle/>
          <a:p>
            <a:pPr indent="0" marL="0">
              <a:buNone/>
            </a:pPr>
            <a:r>
              <a:rPr lang="en-US" sz="1500" b="1" dirty="0">
                <a:solidFill>
                  <a:schemeClr val="tx1"/>
                </a:solidFill>
              </a:rPr>
              <a:t>Also built: </a:t>
            </a:r>
            <a:pPr indent="0" marL="0">
              <a:buNone/>
            </a:pPr>
            <a:r>
              <a:rPr lang="en-US" sz="1500" dirty="0">
                <a:solidFill>
                  <a:schemeClr val="tx1"/>
                </a:solidFill>
              </a:rPr>
              <a:t>the same recipe written in C, a more everyday language. The app never uses it. It's our answer key for testing and our speed comparison.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Python and Assembly share one 11-box form</a:t>
            </a:r>
            <a:endParaRPr lang="en-US" sz="2800" dirty="0"/>
          </a:p>
        </p:txBody>
      </p:sp>
      <p:sp>
        <p:nvSpPr>
          <p:cNvPr id="4" name="Shape 1"/>
          <p:cNvSpPr/>
          <p:nvPr/>
        </p:nvSpPr>
        <p:spPr>
          <a:xfrm>
            <a:off x="548640" y="1600200"/>
            <a:ext cx="950976" cy="1737360"/>
          </a:xfrm>
          <a:prstGeom prst="rect">
            <a:avLst/>
          </a:prstGeom>
          <a:solidFill>
            <a:schemeClr val="tx1"/>
          </a:solidFill>
          <a:ln/>
        </p:spPr>
      </p:sp>
      <p:sp>
        <p:nvSpPr>
          <p:cNvPr id="5" name="Text 2"/>
          <p:cNvSpPr txBox="1"/>
          <p:nvPr/>
        </p:nvSpPr>
        <p:spPr>
          <a:xfrm>
            <a:off x="621792" y="1691640"/>
            <a:ext cx="822960" cy="320040"/>
          </a:xfrm>
          <a:prstGeom prst="rect">
            <a:avLst/>
          </a:prstGeom>
          <a:noFill/>
          <a:ln/>
        </p:spPr>
        <p:txBody>
          <a:bodyPr wrap="square" lIns="0" tIns="0" rIns="0" bIns="0" rtlCol="0" anchor="t"/>
          <a:lstStyle/>
          <a:p>
            <a:pPr indent="0" marL="0">
              <a:buNone/>
            </a:pPr>
            <a:r>
              <a:rPr lang="en-US" sz="1600" b="1" dirty="0">
                <a:solidFill>
                  <a:schemeClr val="accent2"/>
                </a:solidFill>
              </a:rPr>
              <a:t>1</a:t>
            </a:r>
            <a:endParaRPr lang="en-US" sz="1600" dirty="0"/>
          </a:p>
        </p:txBody>
      </p:sp>
      <p:sp>
        <p:nvSpPr>
          <p:cNvPr id="6" name="Text 3"/>
          <p:cNvSpPr txBox="1"/>
          <p:nvPr/>
        </p:nvSpPr>
        <p:spPr>
          <a:xfrm>
            <a:off x="603504" y="2057400"/>
            <a:ext cx="896112" cy="594360"/>
          </a:xfrm>
          <a:prstGeom prst="rect">
            <a:avLst/>
          </a:prstGeom>
          <a:noFill/>
          <a:ln/>
        </p:spPr>
        <p:txBody>
          <a:bodyPr wrap="square" lIns="0" tIns="0" rIns="0" bIns="0" rtlCol="0" anchor="t"/>
          <a:lstStyle/>
          <a:p>
            <a:pPr indent="0" marL="0">
              <a:buNone/>
            </a:pPr>
            <a:r>
              <a:rPr lang="en-US" sz="1200" b="1" dirty="0">
                <a:solidFill>
                  <a:schemeClr val="bg1"/>
                </a:solidFill>
              </a:rPr>
              <a:t>Shape</a:t>
            </a:r>
            <a:endParaRPr lang="en-US" sz="1200" dirty="0"/>
          </a:p>
        </p:txBody>
      </p:sp>
      <p:sp>
        <p:nvSpPr>
          <p:cNvPr id="7" name="Text 4"/>
          <p:cNvSpPr txBox="1"/>
          <p:nvPr/>
        </p:nvSpPr>
        <p:spPr>
          <a:xfrm>
            <a:off x="603504" y="2697480"/>
            <a:ext cx="896112" cy="594360"/>
          </a:xfrm>
          <a:prstGeom prst="rect">
            <a:avLst/>
          </a:prstGeom>
          <a:noFill/>
          <a:ln/>
        </p:spPr>
        <p:txBody>
          <a:bodyPr wrap="square" lIns="0" tIns="0" rIns="0" bIns="0" rtlCol="0" anchor="t"/>
          <a:lstStyle/>
          <a:p>
            <a:pPr indent="0" marL="0">
              <a:buNone/>
            </a:pPr>
            <a:r>
              <a:rPr lang="en-US" sz="1100" dirty="0">
                <a:solidFill>
                  <a:schemeClr val="bg2"/>
                </a:solidFill>
              </a:rPr>
              <a:t>4 choices</a:t>
            </a:r>
            <a:endParaRPr lang="en-US" sz="1100" dirty="0"/>
          </a:p>
        </p:txBody>
      </p:sp>
      <p:sp>
        <p:nvSpPr>
          <p:cNvPr id="8" name="Shape 5"/>
          <p:cNvSpPr/>
          <p:nvPr/>
        </p:nvSpPr>
        <p:spPr>
          <a:xfrm>
            <a:off x="1554480" y="1600200"/>
            <a:ext cx="950976" cy="1737360"/>
          </a:xfrm>
          <a:prstGeom prst="rect">
            <a:avLst/>
          </a:prstGeom>
          <a:solidFill>
            <a:schemeClr val="tx1"/>
          </a:solidFill>
          <a:ln/>
        </p:spPr>
      </p:sp>
      <p:sp>
        <p:nvSpPr>
          <p:cNvPr id="9" name="Text 6"/>
          <p:cNvSpPr txBox="1"/>
          <p:nvPr/>
        </p:nvSpPr>
        <p:spPr>
          <a:xfrm>
            <a:off x="1627632" y="1691640"/>
            <a:ext cx="822960" cy="320040"/>
          </a:xfrm>
          <a:prstGeom prst="rect">
            <a:avLst/>
          </a:prstGeom>
          <a:noFill/>
          <a:ln/>
        </p:spPr>
        <p:txBody>
          <a:bodyPr wrap="square" lIns="0" tIns="0" rIns="0" bIns="0" rtlCol="0" anchor="t"/>
          <a:lstStyle/>
          <a:p>
            <a:pPr indent="0" marL="0">
              <a:buNone/>
            </a:pPr>
            <a:r>
              <a:rPr lang="en-US" sz="1600" b="1" dirty="0">
                <a:solidFill>
                  <a:schemeClr val="accent2"/>
                </a:solidFill>
              </a:rPr>
              <a:t>2</a:t>
            </a:r>
            <a:endParaRPr lang="en-US" sz="1600" dirty="0"/>
          </a:p>
        </p:txBody>
      </p:sp>
      <p:sp>
        <p:nvSpPr>
          <p:cNvPr id="10" name="Text 7"/>
          <p:cNvSpPr txBox="1"/>
          <p:nvPr/>
        </p:nvSpPr>
        <p:spPr>
          <a:xfrm>
            <a:off x="1609344" y="2057400"/>
            <a:ext cx="896112" cy="594360"/>
          </a:xfrm>
          <a:prstGeom prst="rect">
            <a:avLst/>
          </a:prstGeom>
          <a:noFill/>
          <a:ln/>
        </p:spPr>
        <p:txBody>
          <a:bodyPr wrap="square" lIns="0" tIns="0" rIns="0" bIns="0" rtlCol="0" anchor="t"/>
          <a:lstStyle/>
          <a:p>
            <a:pPr indent="0" marL="0">
              <a:buNone/>
            </a:pPr>
            <a:r>
              <a:rPr lang="en-US" sz="1200" b="1" dirty="0">
                <a:solidFill>
                  <a:schemeClr val="bg1"/>
                </a:solidFill>
              </a:rPr>
              <a:t>Start pitch</a:t>
            </a:r>
            <a:endParaRPr lang="en-US" sz="1200" dirty="0"/>
          </a:p>
        </p:txBody>
      </p:sp>
      <p:sp>
        <p:nvSpPr>
          <p:cNvPr id="11" name="Text 8"/>
          <p:cNvSpPr txBox="1"/>
          <p:nvPr/>
        </p:nvSpPr>
        <p:spPr>
          <a:xfrm>
            <a:off x="1609344" y="2697480"/>
            <a:ext cx="896112" cy="594360"/>
          </a:xfrm>
          <a:prstGeom prst="rect">
            <a:avLst/>
          </a:prstGeom>
          <a:noFill/>
          <a:ln/>
        </p:spPr>
        <p:txBody>
          <a:bodyPr wrap="square" lIns="0" tIns="0" rIns="0" bIns="0" rtlCol="0" anchor="t"/>
          <a:lstStyle/>
          <a:p>
            <a:pPr indent="0" marL="0">
              <a:buNone/>
            </a:pPr>
            <a:r>
              <a:rPr lang="en-US" sz="1100" dirty="0">
                <a:solidFill>
                  <a:schemeClr val="bg2"/>
                </a:solidFill>
              </a:rPr>
              <a:t>20–4,000 Hz</a:t>
            </a:r>
            <a:endParaRPr lang="en-US" sz="1100" dirty="0"/>
          </a:p>
        </p:txBody>
      </p:sp>
      <p:sp>
        <p:nvSpPr>
          <p:cNvPr id="12" name="Shape 9"/>
          <p:cNvSpPr/>
          <p:nvPr/>
        </p:nvSpPr>
        <p:spPr>
          <a:xfrm>
            <a:off x="2560320" y="1600200"/>
            <a:ext cx="950976" cy="1737360"/>
          </a:xfrm>
          <a:prstGeom prst="rect">
            <a:avLst/>
          </a:prstGeom>
          <a:solidFill>
            <a:schemeClr val="tx1"/>
          </a:solidFill>
          <a:ln/>
        </p:spPr>
      </p:sp>
      <p:sp>
        <p:nvSpPr>
          <p:cNvPr id="13" name="Text 10"/>
          <p:cNvSpPr txBox="1"/>
          <p:nvPr/>
        </p:nvSpPr>
        <p:spPr>
          <a:xfrm>
            <a:off x="2633472" y="1691640"/>
            <a:ext cx="822960" cy="320040"/>
          </a:xfrm>
          <a:prstGeom prst="rect">
            <a:avLst/>
          </a:prstGeom>
          <a:noFill/>
          <a:ln/>
        </p:spPr>
        <p:txBody>
          <a:bodyPr wrap="square" lIns="0" tIns="0" rIns="0" bIns="0" rtlCol="0" anchor="t"/>
          <a:lstStyle/>
          <a:p>
            <a:pPr indent="0" marL="0">
              <a:buNone/>
            </a:pPr>
            <a:r>
              <a:rPr lang="en-US" sz="1600" b="1" dirty="0">
                <a:solidFill>
                  <a:schemeClr val="accent2"/>
                </a:solidFill>
              </a:rPr>
              <a:t>3</a:t>
            </a:r>
            <a:endParaRPr lang="en-US" sz="1600" dirty="0"/>
          </a:p>
        </p:txBody>
      </p:sp>
      <p:sp>
        <p:nvSpPr>
          <p:cNvPr id="14" name="Text 11"/>
          <p:cNvSpPr txBox="1"/>
          <p:nvPr/>
        </p:nvSpPr>
        <p:spPr>
          <a:xfrm>
            <a:off x="2615184" y="2057400"/>
            <a:ext cx="896112" cy="594360"/>
          </a:xfrm>
          <a:prstGeom prst="rect">
            <a:avLst/>
          </a:prstGeom>
          <a:noFill/>
          <a:ln/>
        </p:spPr>
        <p:txBody>
          <a:bodyPr wrap="square" lIns="0" tIns="0" rIns="0" bIns="0" rtlCol="0" anchor="t"/>
          <a:lstStyle/>
          <a:p>
            <a:pPr indent="0" marL="0">
              <a:buNone/>
            </a:pPr>
            <a:r>
              <a:rPr lang="en-US" sz="1200" b="1" dirty="0">
                <a:solidFill>
                  <a:schemeClr val="bg1"/>
                </a:solidFill>
              </a:rPr>
              <a:t>Pitch slide</a:t>
            </a:r>
            <a:endParaRPr lang="en-US" sz="1200" dirty="0"/>
          </a:p>
        </p:txBody>
      </p:sp>
      <p:sp>
        <p:nvSpPr>
          <p:cNvPr id="15" name="Text 12"/>
          <p:cNvSpPr txBox="1"/>
          <p:nvPr/>
        </p:nvSpPr>
        <p:spPr>
          <a:xfrm>
            <a:off x="2615184" y="2697480"/>
            <a:ext cx="896112" cy="594360"/>
          </a:xfrm>
          <a:prstGeom prst="rect">
            <a:avLst/>
          </a:prstGeom>
          <a:noFill/>
          <a:ln/>
        </p:spPr>
        <p:txBody>
          <a:bodyPr wrap="square" lIns="0" tIns="0" rIns="0" bIns="0" rtlCol="0" anchor="t"/>
          <a:lstStyle/>
          <a:p>
            <a:pPr indent="0" marL="0">
              <a:buNone/>
            </a:pPr>
            <a:r>
              <a:rPr lang="en-US" sz="1100" dirty="0">
                <a:solidFill>
                  <a:schemeClr val="bg2"/>
                </a:solidFill>
              </a:rPr>
              <a:t>up or down</a:t>
            </a:r>
            <a:endParaRPr lang="en-US" sz="1100" dirty="0"/>
          </a:p>
        </p:txBody>
      </p:sp>
      <p:sp>
        <p:nvSpPr>
          <p:cNvPr id="16" name="Shape 13"/>
          <p:cNvSpPr/>
          <p:nvPr/>
        </p:nvSpPr>
        <p:spPr>
          <a:xfrm>
            <a:off x="3566160" y="1600200"/>
            <a:ext cx="950976" cy="1737360"/>
          </a:xfrm>
          <a:prstGeom prst="rect">
            <a:avLst/>
          </a:prstGeom>
          <a:solidFill>
            <a:schemeClr val="tx1"/>
          </a:solidFill>
          <a:ln/>
        </p:spPr>
      </p:sp>
      <p:sp>
        <p:nvSpPr>
          <p:cNvPr id="17" name="Text 14"/>
          <p:cNvSpPr txBox="1"/>
          <p:nvPr/>
        </p:nvSpPr>
        <p:spPr>
          <a:xfrm>
            <a:off x="3639312" y="1691640"/>
            <a:ext cx="822960" cy="320040"/>
          </a:xfrm>
          <a:prstGeom prst="rect">
            <a:avLst/>
          </a:prstGeom>
          <a:noFill/>
          <a:ln/>
        </p:spPr>
        <p:txBody>
          <a:bodyPr wrap="square" lIns="0" tIns="0" rIns="0" bIns="0" rtlCol="0" anchor="t"/>
          <a:lstStyle/>
          <a:p>
            <a:pPr indent="0" marL="0">
              <a:buNone/>
            </a:pPr>
            <a:r>
              <a:rPr lang="en-US" sz="1600" b="1" dirty="0">
                <a:solidFill>
                  <a:schemeClr val="accent2"/>
                </a:solidFill>
              </a:rPr>
              <a:t>4</a:t>
            </a:r>
            <a:endParaRPr lang="en-US" sz="1600" dirty="0"/>
          </a:p>
        </p:txBody>
      </p:sp>
      <p:sp>
        <p:nvSpPr>
          <p:cNvPr id="18" name="Text 15"/>
          <p:cNvSpPr txBox="1"/>
          <p:nvPr/>
        </p:nvSpPr>
        <p:spPr>
          <a:xfrm>
            <a:off x="3621024" y="2057400"/>
            <a:ext cx="896112" cy="594360"/>
          </a:xfrm>
          <a:prstGeom prst="rect">
            <a:avLst/>
          </a:prstGeom>
          <a:noFill/>
          <a:ln/>
        </p:spPr>
        <p:txBody>
          <a:bodyPr wrap="square" lIns="0" tIns="0" rIns="0" bIns="0" rtlCol="0" anchor="t"/>
          <a:lstStyle/>
          <a:p>
            <a:pPr indent="0" marL="0">
              <a:buNone/>
            </a:pPr>
            <a:r>
              <a:rPr lang="en-US" sz="1200" b="1" dirty="0">
                <a:solidFill>
                  <a:schemeClr val="bg1"/>
                </a:solidFill>
              </a:rPr>
              <a:t>Lowest pitch</a:t>
            </a:r>
            <a:endParaRPr lang="en-US" sz="1200" dirty="0"/>
          </a:p>
        </p:txBody>
      </p:sp>
      <p:sp>
        <p:nvSpPr>
          <p:cNvPr id="19" name="Text 16"/>
          <p:cNvSpPr txBox="1"/>
          <p:nvPr/>
        </p:nvSpPr>
        <p:spPr>
          <a:xfrm>
            <a:off x="3621024" y="2697480"/>
            <a:ext cx="896112" cy="594360"/>
          </a:xfrm>
          <a:prstGeom prst="rect">
            <a:avLst/>
          </a:prstGeom>
          <a:noFill/>
          <a:ln/>
        </p:spPr>
        <p:txBody>
          <a:bodyPr wrap="square" lIns="0" tIns="0" rIns="0" bIns="0" rtlCol="0" anchor="t"/>
          <a:lstStyle/>
          <a:p>
            <a:pPr indent="0" marL="0">
              <a:buNone/>
            </a:pPr>
            <a:r>
              <a:rPr lang="en-US" sz="1100" dirty="0">
                <a:solidFill>
                  <a:schemeClr val="bg2"/>
                </a:solidFill>
              </a:rPr>
              <a:t>20–1,000 Hz</a:t>
            </a:r>
            <a:endParaRPr lang="en-US" sz="1100" dirty="0"/>
          </a:p>
        </p:txBody>
      </p:sp>
      <p:sp>
        <p:nvSpPr>
          <p:cNvPr id="20" name="Shape 17"/>
          <p:cNvSpPr/>
          <p:nvPr/>
        </p:nvSpPr>
        <p:spPr>
          <a:xfrm>
            <a:off x="4572000" y="1600200"/>
            <a:ext cx="950976" cy="1737360"/>
          </a:xfrm>
          <a:prstGeom prst="rect">
            <a:avLst/>
          </a:prstGeom>
          <a:solidFill>
            <a:schemeClr val="tx1"/>
          </a:solidFill>
          <a:ln/>
        </p:spPr>
      </p:sp>
      <p:sp>
        <p:nvSpPr>
          <p:cNvPr id="21" name="Text 18"/>
          <p:cNvSpPr txBox="1"/>
          <p:nvPr/>
        </p:nvSpPr>
        <p:spPr>
          <a:xfrm>
            <a:off x="4645152" y="1691640"/>
            <a:ext cx="822960" cy="320040"/>
          </a:xfrm>
          <a:prstGeom prst="rect">
            <a:avLst/>
          </a:prstGeom>
          <a:noFill/>
          <a:ln/>
        </p:spPr>
        <p:txBody>
          <a:bodyPr wrap="square" lIns="0" tIns="0" rIns="0" bIns="0" rtlCol="0" anchor="t"/>
          <a:lstStyle/>
          <a:p>
            <a:pPr indent="0" marL="0">
              <a:buNone/>
            </a:pPr>
            <a:r>
              <a:rPr lang="en-US" sz="1600" b="1" dirty="0">
                <a:solidFill>
                  <a:schemeClr val="accent2"/>
                </a:solidFill>
              </a:rPr>
              <a:t>5</a:t>
            </a:r>
            <a:endParaRPr lang="en-US" sz="1600" dirty="0"/>
          </a:p>
        </p:txBody>
      </p:sp>
      <p:sp>
        <p:nvSpPr>
          <p:cNvPr id="22" name="Text 19"/>
          <p:cNvSpPr txBox="1"/>
          <p:nvPr/>
        </p:nvSpPr>
        <p:spPr>
          <a:xfrm>
            <a:off x="4626864" y="2057400"/>
            <a:ext cx="896112" cy="594360"/>
          </a:xfrm>
          <a:prstGeom prst="rect">
            <a:avLst/>
          </a:prstGeom>
          <a:noFill/>
          <a:ln/>
        </p:spPr>
        <p:txBody>
          <a:bodyPr wrap="square" lIns="0" tIns="0" rIns="0" bIns="0" rtlCol="0" anchor="t"/>
          <a:lstStyle/>
          <a:p>
            <a:pPr indent="0" marL="0">
              <a:buNone/>
            </a:pPr>
            <a:r>
              <a:rPr lang="en-US" sz="1200" b="1" dirty="0">
                <a:solidFill>
                  <a:schemeClr val="bg1"/>
                </a:solidFill>
              </a:rPr>
              <a:t>Wobble amount</a:t>
            </a:r>
            <a:endParaRPr lang="en-US" sz="1200" dirty="0"/>
          </a:p>
        </p:txBody>
      </p:sp>
      <p:sp>
        <p:nvSpPr>
          <p:cNvPr id="23" name="Text 20"/>
          <p:cNvSpPr txBox="1"/>
          <p:nvPr/>
        </p:nvSpPr>
        <p:spPr>
          <a:xfrm>
            <a:off x="4626864" y="2697480"/>
            <a:ext cx="896112" cy="594360"/>
          </a:xfrm>
          <a:prstGeom prst="rect">
            <a:avLst/>
          </a:prstGeom>
          <a:noFill/>
          <a:ln/>
        </p:spPr>
        <p:txBody>
          <a:bodyPr wrap="square" lIns="0" tIns="0" rIns="0" bIns="0" rtlCol="0" anchor="t"/>
          <a:lstStyle/>
          <a:p>
            <a:pPr indent="0" marL="0">
              <a:buNone/>
            </a:pPr>
            <a:r>
              <a:rPr lang="en-US" sz="1100" dirty="0">
                <a:solidFill>
                  <a:schemeClr val="bg2"/>
                </a:solidFill>
              </a:rPr>
              <a:t>0–50%</a:t>
            </a:r>
            <a:endParaRPr lang="en-US" sz="1100" dirty="0"/>
          </a:p>
        </p:txBody>
      </p:sp>
      <p:sp>
        <p:nvSpPr>
          <p:cNvPr id="24" name="Shape 21"/>
          <p:cNvSpPr/>
          <p:nvPr/>
        </p:nvSpPr>
        <p:spPr>
          <a:xfrm>
            <a:off x="5577840" y="1600200"/>
            <a:ext cx="950976" cy="1737360"/>
          </a:xfrm>
          <a:prstGeom prst="rect">
            <a:avLst/>
          </a:prstGeom>
          <a:solidFill>
            <a:schemeClr val="tx1"/>
          </a:solidFill>
          <a:ln/>
        </p:spPr>
      </p:sp>
      <p:sp>
        <p:nvSpPr>
          <p:cNvPr id="25" name="Text 22"/>
          <p:cNvSpPr txBox="1"/>
          <p:nvPr/>
        </p:nvSpPr>
        <p:spPr>
          <a:xfrm>
            <a:off x="5650992" y="1691640"/>
            <a:ext cx="822960" cy="320040"/>
          </a:xfrm>
          <a:prstGeom prst="rect">
            <a:avLst/>
          </a:prstGeom>
          <a:noFill/>
          <a:ln/>
        </p:spPr>
        <p:txBody>
          <a:bodyPr wrap="square" lIns="0" tIns="0" rIns="0" bIns="0" rtlCol="0" anchor="t"/>
          <a:lstStyle/>
          <a:p>
            <a:pPr indent="0" marL="0">
              <a:buNone/>
            </a:pPr>
            <a:r>
              <a:rPr lang="en-US" sz="1600" b="1" dirty="0">
                <a:solidFill>
                  <a:schemeClr val="accent2"/>
                </a:solidFill>
              </a:rPr>
              <a:t>6</a:t>
            </a:r>
            <a:endParaRPr lang="en-US" sz="1600" dirty="0"/>
          </a:p>
        </p:txBody>
      </p:sp>
      <p:sp>
        <p:nvSpPr>
          <p:cNvPr id="26" name="Text 23"/>
          <p:cNvSpPr txBox="1"/>
          <p:nvPr/>
        </p:nvSpPr>
        <p:spPr>
          <a:xfrm>
            <a:off x="5632704" y="2057400"/>
            <a:ext cx="896112" cy="594360"/>
          </a:xfrm>
          <a:prstGeom prst="rect">
            <a:avLst/>
          </a:prstGeom>
          <a:noFill/>
          <a:ln/>
        </p:spPr>
        <p:txBody>
          <a:bodyPr wrap="square" lIns="0" tIns="0" rIns="0" bIns="0" rtlCol="0" anchor="t"/>
          <a:lstStyle/>
          <a:p>
            <a:pPr indent="0" marL="0">
              <a:buNone/>
            </a:pPr>
            <a:r>
              <a:rPr lang="en-US" sz="1200" b="1" dirty="0">
                <a:solidFill>
                  <a:schemeClr val="bg1"/>
                </a:solidFill>
              </a:rPr>
              <a:t>Wobble speed</a:t>
            </a:r>
            <a:endParaRPr lang="en-US" sz="1200" dirty="0"/>
          </a:p>
        </p:txBody>
      </p:sp>
      <p:sp>
        <p:nvSpPr>
          <p:cNvPr id="27" name="Text 24"/>
          <p:cNvSpPr txBox="1"/>
          <p:nvPr/>
        </p:nvSpPr>
        <p:spPr>
          <a:xfrm>
            <a:off x="5632704" y="2697480"/>
            <a:ext cx="896112" cy="594360"/>
          </a:xfrm>
          <a:prstGeom prst="rect">
            <a:avLst/>
          </a:prstGeom>
          <a:noFill/>
          <a:ln/>
        </p:spPr>
        <p:txBody>
          <a:bodyPr wrap="square" lIns="0" tIns="0" rIns="0" bIns="0" rtlCol="0" anchor="t"/>
          <a:lstStyle/>
          <a:p>
            <a:pPr indent="0" marL="0">
              <a:buNone/>
            </a:pPr>
            <a:r>
              <a:rPr lang="en-US" sz="1100" dirty="0">
                <a:solidFill>
                  <a:schemeClr val="bg2"/>
                </a:solidFill>
              </a:rPr>
              <a:t>0–30 per second</a:t>
            </a:r>
            <a:endParaRPr lang="en-US" sz="1100" dirty="0"/>
          </a:p>
        </p:txBody>
      </p:sp>
      <p:sp>
        <p:nvSpPr>
          <p:cNvPr id="28" name="Shape 25"/>
          <p:cNvSpPr/>
          <p:nvPr/>
        </p:nvSpPr>
        <p:spPr>
          <a:xfrm>
            <a:off x="6583680" y="1600200"/>
            <a:ext cx="950976" cy="1737360"/>
          </a:xfrm>
          <a:prstGeom prst="rect">
            <a:avLst/>
          </a:prstGeom>
          <a:solidFill>
            <a:schemeClr val="accent3"/>
          </a:solidFill>
          <a:ln/>
        </p:spPr>
      </p:sp>
      <p:sp>
        <p:nvSpPr>
          <p:cNvPr id="29" name="Text 26"/>
          <p:cNvSpPr txBox="1"/>
          <p:nvPr/>
        </p:nvSpPr>
        <p:spPr>
          <a:xfrm>
            <a:off x="6656832" y="1691640"/>
            <a:ext cx="822960" cy="320040"/>
          </a:xfrm>
          <a:prstGeom prst="rect">
            <a:avLst/>
          </a:prstGeom>
          <a:noFill/>
          <a:ln/>
        </p:spPr>
        <p:txBody>
          <a:bodyPr wrap="square" lIns="0" tIns="0" rIns="0" bIns="0" rtlCol="0" anchor="t"/>
          <a:lstStyle/>
          <a:p>
            <a:pPr indent="0" marL="0">
              <a:buNone/>
            </a:pPr>
            <a:r>
              <a:rPr lang="en-US" sz="1600" b="1" dirty="0">
                <a:solidFill>
                  <a:schemeClr val="tx1"/>
                </a:solidFill>
              </a:rPr>
              <a:t>7</a:t>
            </a:r>
            <a:endParaRPr lang="en-US" sz="1600" dirty="0"/>
          </a:p>
        </p:txBody>
      </p:sp>
      <p:sp>
        <p:nvSpPr>
          <p:cNvPr id="30" name="Text 27"/>
          <p:cNvSpPr txBox="1"/>
          <p:nvPr/>
        </p:nvSpPr>
        <p:spPr>
          <a:xfrm>
            <a:off x="6638544" y="2057400"/>
            <a:ext cx="896112" cy="594360"/>
          </a:xfrm>
          <a:prstGeom prst="rect">
            <a:avLst/>
          </a:prstGeom>
          <a:noFill/>
          <a:ln/>
        </p:spPr>
        <p:txBody>
          <a:bodyPr wrap="square" lIns="0" tIns="0" rIns="0" bIns="0" rtlCol="0" anchor="t"/>
          <a:lstStyle/>
          <a:p>
            <a:pPr indent="0" marL="0">
              <a:buNone/>
            </a:pPr>
            <a:r>
              <a:rPr lang="en-US" sz="1200" b="1" dirty="0">
                <a:solidFill>
                  <a:schemeClr val="tx1"/>
                </a:solidFill>
              </a:rPr>
              <a:t>Fade in</a:t>
            </a:r>
            <a:endParaRPr lang="en-US" sz="1200" dirty="0"/>
          </a:p>
        </p:txBody>
      </p:sp>
      <p:sp>
        <p:nvSpPr>
          <p:cNvPr id="31" name="Text 28"/>
          <p:cNvSpPr txBox="1"/>
          <p:nvPr/>
        </p:nvSpPr>
        <p:spPr>
          <a:xfrm>
            <a:off x="6638544" y="2697480"/>
            <a:ext cx="896112" cy="594360"/>
          </a:xfrm>
          <a:prstGeom prst="rect">
            <a:avLst/>
          </a:prstGeom>
          <a:noFill/>
          <a:ln/>
        </p:spPr>
        <p:txBody>
          <a:bodyPr wrap="square" lIns="0" tIns="0" rIns="0" bIns="0" rtlCol="0" anchor="t"/>
          <a:lstStyle/>
          <a:p>
            <a:pPr indent="0" marL="0">
              <a:buNone/>
            </a:pPr>
            <a:r>
              <a:rPr lang="en-US" sz="1100" dirty="0">
                <a:solidFill>
                  <a:schemeClr val="tx1"/>
                </a:solidFill>
              </a:rPr>
              <a:t>0–2 s</a:t>
            </a:r>
            <a:endParaRPr lang="en-US" sz="1100" dirty="0"/>
          </a:p>
        </p:txBody>
      </p:sp>
      <p:sp>
        <p:nvSpPr>
          <p:cNvPr id="32" name="Shape 29"/>
          <p:cNvSpPr/>
          <p:nvPr/>
        </p:nvSpPr>
        <p:spPr>
          <a:xfrm>
            <a:off x="7589520" y="1600200"/>
            <a:ext cx="950976" cy="1737360"/>
          </a:xfrm>
          <a:prstGeom prst="rect">
            <a:avLst/>
          </a:prstGeom>
          <a:solidFill>
            <a:schemeClr val="tx1"/>
          </a:solidFill>
          <a:ln/>
        </p:spPr>
      </p:sp>
      <p:sp>
        <p:nvSpPr>
          <p:cNvPr id="33" name="Text 30"/>
          <p:cNvSpPr txBox="1"/>
          <p:nvPr/>
        </p:nvSpPr>
        <p:spPr>
          <a:xfrm>
            <a:off x="7662672" y="1691640"/>
            <a:ext cx="822960" cy="320040"/>
          </a:xfrm>
          <a:prstGeom prst="rect">
            <a:avLst/>
          </a:prstGeom>
          <a:noFill/>
          <a:ln/>
        </p:spPr>
        <p:txBody>
          <a:bodyPr wrap="square" lIns="0" tIns="0" rIns="0" bIns="0" rtlCol="0" anchor="t"/>
          <a:lstStyle/>
          <a:p>
            <a:pPr indent="0" marL="0">
              <a:buNone/>
            </a:pPr>
            <a:r>
              <a:rPr lang="en-US" sz="1600" b="1" dirty="0">
                <a:solidFill>
                  <a:schemeClr val="accent2"/>
                </a:solidFill>
              </a:rPr>
              <a:t>8</a:t>
            </a:r>
            <a:endParaRPr lang="en-US" sz="1600" dirty="0"/>
          </a:p>
        </p:txBody>
      </p:sp>
      <p:sp>
        <p:nvSpPr>
          <p:cNvPr id="34" name="Text 31"/>
          <p:cNvSpPr txBox="1"/>
          <p:nvPr/>
        </p:nvSpPr>
        <p:spPr>
          <a:xfrm>
            <a:off x="7644384" y="2057400"/>
            <a:ext cx="896112" cy="594360"/>
          </a:xfrm>
          <a:prstGeom prst="rect">
            <a:avLst/>
          </a:prstGeom>
          <a:noFill/>
          <a:ln/>
        </p:spPr>
        <p:txBody>
          <a:bodyPr wrap="square" lIns="0" tIns="0" rIns="0" bIns="0" rtlCol="0" anchor="t"/>
          <a:lstStyle/>
          <a:p>
            <a:pPr indent="0" marL="0">
              <a:buNone/>
            </a:pPr>
            <a:r>
              <a:rPr lang="en-US" sz="1200" b="1" dirty="0">
                <a:solidFill>
                  <a:schemeClr val="bg1"/>
                </a:solidFill>
              </a:rPr>
              <a:t>Hold</a:t>
            </a:r>
            <a:endParaRPr lang="en-US" sz="1200" dirty="0"/>
          </a:p>
        </p:txBody>
      </p:sp>
      <p:sp>
        <p:nvSpPr>
          <p:cNvPr id="35" name="Text 32"/>
          <p:cNvSpPr txBox="1"/>
          <p:nvPr/>
        </p:nvSpPr>
        <p:spPr>
          <a:xfrm>
            <a:off x="7644384" y="2697480"/>
            <a:ext cx="896112" cy="594360"/>
          </a:xfrm>
          <a:prstGeom prst="rect">
            <a:avLst/>
          </a:prstGeom>
          <a:noFill/>
          <a:ln/>
        </p:spPr>
        <p:txBody>
          <a:bodyPr wrap="square" lIns="0" tIns="0" rIns="0" bIns="0" rtlCol="0" anchor="t"/>
          <a:lstStyle/>
          <a:p>
            <a:pPr indent="0" marL="0">
              <a:buNone/>
            </a:pPr>
            <a:r>
              <a:rPr lang="en-US" sz="1100" dirty="0">
                <a:solidFill>
                  <a:schemeClr val="bg2"/>
                </a:solidFill>
              </a:rPr>
              <a:t>0–2 s</a:t>
            </a:r>
            <a:endParaRPr lang="en-US" sz="1100" dirty="0"/>
          </a:p>
        </p:txBody>
      </p:sp>
      <p:sp>
        <p:nvSpPr>
          <p:cNvPr id="36" name="Shape 33"/>
          <p:cNvSpPr/>
          <p:nvPr/>
        </p:nvSpPr>
        <p:spPr>
          <a:xfrm>
            <a:off x="8595360" y="1600200"/>
            <a:ext cx="950976" cy="1737360"/>
          </a:xfrm>
          <a:prstGeom prst="rect">
            <a:avLst/>
          </a:prstGeom>
          <a:solidFill>
            <a:schemeClr val="tx1"/>
          </a:solidFill>
          <a:ln/>
        </p:spPr>
      </p:sp>
      <p:sp>
        <p:nvSpPr>
          <p:cNvPr id="37" name="Text 34"/>
          <p:cNvSpPr txBox="1"/>
          <p:nvPr/>
        </p:nvSpPr>
        <p:spPr>
          <a:xfrm>
            <a:off x="8668512" y="1691640"/>
            <a:ext cx="822960" cy="320040"/>
          </a:xfrm>
          <a:prstGeom prst="rect">
            <a:avLst/>
          </a:prstGeom>
          <a:noFill/>
          <a:ln/>
        </p:spPr>
        <p:txBody>
          <a:bodyPr wrap="square" lIns="0" tIns="0" rIns="0" bIns="0" rtlCol="0" anchor="t"/>
          <a:lstStyle/>
          <a:p>
            <a:pPr indent="0" marL="0">
              <a:buNone/>
            </a:pPr>
            <a:r>
              <a:rPr lang="en-US" sz="1600" b="1" dirty="0">
                <a:solidFill>
                  <a:schemeClr val="accent2"/>
                </a:solidFill>
              </a:rPr>
              <a:t>9</a:t>
            </a:r>
            <a:endParaRPr lang="en-US" sz="1600" dirty="0"/>
          </a:p>
        </p:txBody>
      </p:sp>
      <p:sp>
        <p:nvSpPr>
          <p:cNvPr id="38" name="Text 35"/>
          <p:cNvSpPr txBox="1"/>
          <p:nvPr/>
        </p:nvSpPr>
        <p:spPr>
          <a:xfrm>
            <a:off x="8650224" y="2057400"/>
            <a:ext cx="896112" cy="594360"/>
          </a:xfrm>
          <a:prstGeom prst="rect">
            <a:avLst/>
          </a:prstGeom>
          <a:noFill/>
          <a:ln/>
        </p:spPr>
        <p:txBody>
          <a:bodyPr wrap="square" lIns="0" tIns="0" rIns="0" bIns="0" rtlCol="0" anchor="t"/>
          <a:lstStyle/>
          <a:p>
            <a:pPr indent="0" marL="0">
              <a:buNone/>
            </a:pPr>
            <a:r>
              <a:rPr lang="en-US" sz="1200" b="1" dirty="0">
                <a:solidFill>
                  <a:schemeClr val="bg1"/>
                </a:solidFill>
              </a:rPr>
              <a:t>Fade out</a:t>
            </a:r>
            <a:endParaRPr lang="en-US" sz="1200" dirty="0"/>
          </a:p>
        </p:txBody>
      </p:sp>
      <p:sp>
        <p:nvSpPr>
          <p:cNvPr id="39" name="Text 36"/>
          <p:cNvSpPr txBox="1"/>
          <p:nvPr/>
        </p:nvSpPr>
        <p:spPr>
          <a:xfrm>
            <a:off x="8650224" y="2697480"/>
            <a:ext cx="896112" cy="594360"/>
          </a:xfrm>
          <a:prstGeom prst="rect">
            <a:avLst/>
          </a:prstGeom>
          <a:noFill/>
          <a:ln/>
        </p:spPr>
        <p:txBody>
          <a:bodyPr wrap="square" lIns="0" tIns="0" rIns="0" bIns="0" rtlCol="0" anchor="t"/>
          <a:lstStyle/>
          <a:p>
            <a:pPr indent="0" marL="0">
              <a:buNone/>
            </a:pPr>
            <a:r>
              <a:rPr lang="en-US" sz="1100" dirty="0">
                <a:solidFill>
                  <a:schemeClr val="bg2"/>
                </a:solidFill>
              </a:rPr>
              <a:t>0–3 s</a:t>
            </a:r>
            <a:endParaRPr lang="en-US" sz="1100" dirty="0"/>
          </a:p>
        </p:txBody>
      </p:sp>
      <p:sp>
        <p:nvSpPr>
          <p:cNvPr id="40" name="Shape 37"/>
          <p:cNvSpPr/>
          <p:nvPr/>
        </p:nvSpPr>
        <p:spPr>
          <a:xfrm>
            <a:off x="9601200" y="1600200"/>
            <a:ext cx="950976" cy="1737360"/>
          </a:xfrm>
          <a:prstGeom prst="rect">
            <a:avLst/>
          </a:prstGeom>
          <a:solidFill>
            <a:schemeClr val="tx1"/>
          </a:solidFill>
          <a:ln/>
        </p:spPr>
      </p:sp>
      <p:sp>
        <p:nvSpPr>
          <p:cNvPr id="41" name="Text 38"/>
          <p:cNvSpPr txBox="1"/>
          <p:nvPr/>
        </p:nvSpPr>
        <p:spPr>
          <a:xfrm>
            <a:off x="9674352" y="1691640"/>
            <a:ext cx="822960" cy="320040"/>
          </a:xfrm>
          <a:prstGeom prst="rect">
            <a:avLst/>
          </a:prstGeom>
          <a:noFill/>
          <a:ln/>
        </p:spPr>
        <p:txBody>
          <a:bodyPr wrap="square" lIns="0" tIns="0" rIns="0" bIns="0" rtlCol="0" anchor="t"/>
          <a:lstStyle/>
          <a:p>
            <a:pPr indent="0" marL="0">
              <a:buNone/>
            </a:pPr>
            <a:r>
              <a:rPr lang="en-US" sz="1600" b="1" dirty="0">
                <a:solidFill>
                  <a:schemeClr val="accent2"/>
                </a:solidFill>
              </a:rPr>
              <a:t>10</a:t>
            </a:r>
            <a:endParaRPr lang="en-US" sz="1600" dirty="0"/>
          </a:p>
        </p:txBody>
      </p:sp>
      <p:sp>
        <p:nvSpPr>
          <p:cNvPr id="42" name="Text 39"/>
          <p:cNvSpPr txBox="1"/>
          <p:nvPr/>
        </p:nvSpPr>
        <p:spPr>
          <a:xfrm>
            <a:off x="9656064" y="2057400"/>
            <a:ext cx="896112" cy="594360"/>
          </a:xfrm>
          <a:prstGeom prst="rect">
            <a:avLst/>
          </a:prstGeom>
          <a:noFill/>
          <a:ln/>
        </p:spPr>
        <p:txBody>
          <a:bodyPr wrap="square" lIns="0" tIns="0" rIns="0" bIns="0" rtlCol="0" anchor="t"/>
          <a:lstStyle/>
          <a:p>
            <a:pPr indent="0" marL="0">
              <a:buNone/>
            </a:pPr>
            <a:r>
              <a:rPr lang="en-US" sz="1200" b="1" dirty="0">
                <a:solidFill>
                  <a:schemeClr val="bg1"/>
                </a:solidFill>
              </a:rPr>
              <a:t>Volume</a:t>
            </a:r>
            <a:endParaRPr lang="en-US" sz="1200" dirty="0"/>
          </a:p>
        </p:txBody>
      </p:sp>
      <p:sp>
        <p:nvSpPr>
          <p:cNvPr id="43" name="Text 40"/>
          <p:cNvSpPr txBox="1"/>
          <p:nvPr/>
        </p:nvSpPr>
        <p:spPr>
          <a:xfrm>
            <a:off x="9656064" y="2697480"/>
            <a:ext cx="896112" cy="594360"/>
          </a:xfrm>
          <a:prstGeom prst="rect">
            <a:avLst/>
          </a:prstGeom>
          <a:noFill/>
          <a:ln/>
        </p:spPr>
        <p:txBody>
          <a:bodyPr wrap="square" lIns="0" tIns="0" rIns="0" bIns="0" rtlCol="0" anchor="t"/>
          <a:lstStyle/>
          <a:p>
            <a:pPr indent="0" marL="0">
              <a:buNone/>
            </a:pPr>
            <a:r>
              <a:rPr lang="en-US" sz="1100" dirty="0">
                <a:solidFill>
                  <a:schemeClr val="bg2"/>
                </a:solidFill>
              </a:rPr>
              <a:t>0–100%</a:t>
            </a:r>
            <a:endParaRPr lang="en-US" sz="1100" dirty="0"/>
          </a:p>
        </p:txBody>
      </p:sp>
      <p:sp>
        <p:nvSpPr>
          <p:cNvPr id="44" name="Shape 41"/>
          <p:cNvSpPr/>
          <p:nvPr/>
        </p:nvSpPr>
        <p:spPr>
          <a:xfrm>
            <a:off x="10607040" y="1600200"/>
            <a:ext cx="950976" cy="1737360"/>
          </a:xfrm>
          <a:prstGeom prst="rect">
            <a:avLst/>
          </a:prstGeom>
          <a:solidFill>
            <a:schemeClr val="tx1"/>
          </a:solidFill>
          <a:ln/>
        </p:spPr>
      </p:sp>
      <p:sp>
        <p:nvSpPr>
          <p:cNvPr id="45" name="Text 42"/>
          <p:cNvSpPr txBox="1"/>
          <p:nvPr/>
        </p:nvSpPr>
        <p:spPr>
          <a:xfrm>
            <a:off x="10680192" y="1691640"/>
            <a:ext cx="822960" cy="320040"/>
          </a:xfrm>
          <a:prstGeom prst="rect">
            <a:avLst/>
          </a:prstGeom>
          <a:noFill/>
          <a:ln/>
        </p:spPr>
        <p:txBody>
          <a:bodyPr wrap="square" lIns="0" tIns="0" rIns="0" bIns="0" rtlCol="0" anchor="t"/>
          <a:lstStyle/>
          <a:p>
            <a:pPr indent="0" marL="0">
              <a:buNone/>
            </a:pPr>
            <a:r>
              <a:rPr lang="en-US" sz="1600" b="1" dirty="0">
                <a:solidFill>
                  <a:schemeClr val="accent2"/>
                </a:solidFill>
              </a:rPr>
              <a:t>11</a:t>
            </a:r>
            <a:endParaRPr lang="en-US" sz="1600" dirty="0"/>
          </a:p>
        </p:txBody>
      </p:sp>
      <p:sp>
        <p:nvSpPr>
          <p:cNvPr id="46" name="Text 43"/>
          <p:cNvSpPr txBox="1"/>
          <p:nvPr/>
        </p:nvSpPr>
        <p:spPr>
          <a:xfrm>
            <a:off x="10661904" y="2057400"/>
            <a:ext cx="896112" cy="594360"/>
          </a:xfrm>
          <a:prstGeom prst="rect">
            <a:avLst/>
          </a:prstGeom>
          <a:noFill/>
          <a:ln/>
        </p:spPr>
        <p:txBody>
          <a:bodyPr wrap="square" lIns="0" tIns="0" rIns="0" bIns="0" rtlCol="0" anchor="t"/>
          <a:lstStyle/>
          <a:p>
            <a:pPr indent="0" marL="0">
              <a:buNone/>
            </a:pPr>
            <a:r>
              <a:rPr lang="en-US" sz="1200" b="1" dirty="0">
                <a:solidFill>
                  <a:schemeClr val="bg1"/>
                </a:solidFill>
              </a:rPr>
              <a:t>Noise seed</a:t>
            </a:r>
            <a:endParaRPr lang="en-US" sz="1200" dirty="0"/>
          </a:p>
        </p:txBody>
      </p:sp>
      <p:sp>
        <p:nvSpPr>
          <p:cNvPr id="47" name="Text 44"/>
          <p:cNvSpPr txBox="1"/>
          <p:nvPr/>
        </p:nvSpPr>
        <p:spPr>
          <a:xfrm>
            <a:off x="10661904" y="2697480"/>
            <a:ext cx="896112" cy="594360"/>
          </a:xfrm>
          <a:prstGeom prst="rect">
            <a:avLst/>
          </a:prstGeom>
          <a:noFill/>
          <a:ln/>
        </p:spPr>
        <p:txBody>
          <a:bodyPr wrap="square" lIns="0" tIns="0" rIns="0" bIns="0" rtlCol="0" anchor="t"/>
          <a:lstStyle/>
          <a:p>
            <a:pPr indent="0" marL="0">
              <a:buNone/>
            </a:pPr>
            <a:r>
              <a:rPr lang="en-US" sz="1100" dirty="0">
                <a:solidFill>
                  <a:schemeClr val="bg2"/>
                </a:solidFill>
              </a:rPr>
              <a:t>any number but 0</a:t>
            </a:r>
            <a:endParaRPr lang="en-US" sz="1100" dirty="0"/>
          </a:p>
        </p:txBody>
      </p:sp>
      <p:sp>
        <p:nvSpPr>
          <p:cNvPr id="48" name="Text 45"/>
          <p:cNvSpPr txBox="1"/>
          <p:nvPr/>
        </p:nvSpPr>
        <p:spPr>
          <a:xfrm>
            <a:off x="548640" y="3474720"/>
            <a:ext cx="11064240" cy="365760"/>
          </a:xfrm>
          <a:prstGeom prst="rect">
            <a:avLst/>
          </a:prstGeom>
          <a:noFill/>
          <a:ln/>
        </p:spPr>
        <p:txBody>
          <a:bodyPr wrap="square" lIns="0" tIns="0" rIns="0" bIns="0" rtlCol="0" anchor="t"/>
          <a:lstStyle/>
          <a:p>
            <a:pPr indent="0" marL="0">
              <a:buNone/>
            </a:pPr>
            <a:r>
              <a:rPr lang="en-US" sz="1400" dirty="0">
                <a:solidFill>
                  <a:schemeClr val="accent5"/>
                </a:solidFill>
              </a:rPr>
              <a:t>Every box is the same size (4 bytes), so the whole form is 44 bytes. Assembly finds a box by its position, like “box 7”, not by its name.</a:t>
            </a:r>
            <a:endParaRPr lang="en-US" sz="1400" dirty="0"/>
          </a:p>
        </p:txBody>
      </p:sp>
      <p:sp>
        <p:nvSpPr>
          <p:cNvPr id="49" name="Text 46"/>
          <p:cNvSpPr txBox="1"/>
          <p:nvPr/>
        </p:nvSpPr>
        <p:spPr>
          <a:xfrm>
            <a:off x="548640" y="4023360"/>
            <a:ext cx="7315200" cy="365760"/>
          </a:xfrm>
          <a:prstGeom prst="rect">
            <a:avLst/>
          </a:prstGeom>
          <a:noFill/>
          <a:ln/>
        </p:spPr>
        <p:txBody>
          <a:bodyPr wrap="square" lIns="0" tIns="0" rIns="0" bIns="0" rtlCol="0" anchor="t"/>
          <a:lstStyle/>
          <a:p>
            <a:pPr indent="0" marL="0">
              <a:buNone/>
            </a:pPr>
            <a:r>
              <a:rPr lang="en-US" sz="1800" b="1" dirty="0">
                <a:solidFill>
                  <a:schemeClr val="accent1"/>
                </a:solidFill>
              </a:rPr>
              <a:t>Written three times, and all three must match exactly</a:t>
            </a:r>
            <a:endParaRPr lang="en-US" sz="1800" dirty="0"/>
          </a:p>
        </p:txBody>
      </p:sp>
      <p:sp>
        <p:nvSpPr>
          <p:cNvPr id="50" name="card"/>
          <p:cNvSpPr/>
          <p:nvPr/>
        </p:nvSpPr>
        <p:spPr>
          <a:xfrm>
            <a:off x="548640" y="4526280"/>
            <a:ext cx="2331720" cy="1463040"/>
          </a:xfrm>
          <a:prstGeom prst="roundRect">
            <a:avLst>
              <a:gd name="adj" fmla="val 5000"/>
            </a:avLst>
          </a:prstGeom>
          <a:solidFill>
            <a:schemeClr val="bg2"/>
          </a:solidFill>
          <a:ln/>
        </p:spPr>
      </p:sp>
      <p:sp>
        <p:nvSpPr>
          <p:cNvPr id="51" name="Text 48"/>
          <p:cNvSpPr txBox="1"/>
          <p:nvPr/>
        </p:nvSpPr>
        <p:spPr>
          <a:xfrm>
            <a:off x="777240" y="4709160"/>
            <a:ext cx="1920240" cy="411480"/>
          </a:xfrm>
          <a:prstGeom prst="rect">
            <a:avLst/>
          </a:prstGeom>
          <a:noFill/>
          <a:ln/>
        </p:spPr>
        <p:txBody>
          <a:bodyPr wrap="square" lIns="0" tIns="0" rIns="0" bIns="0" rtlCol="0" anchor="t"/>
          <a:lstStyle/>
          <a:p>
            <a:pPr indent="0" marL="0">
              <a:buNone/>
            </a:pPr>
            <a:r>
              <a:rPr lang="en-US" sz="1700" b="1" dirty="0">
                <a:solidFill>
                  <a:schemeClr val="tx1"/>
                </a:solidFill>
              </a:rPr>
              <a:t>Assembly version</a:t>
            </a:r>
            <a:endParaRPr lang="en-US" sz="1700" dirty="0"/>
          </a:p>
        </p:txBody>
      </p:sp>
      <p:sp>
        <p:nvSpPr>
          <p:cNvPr id="52" name="Text 49"/>
          <p:cNvSpPr txBox="1"/>
          <p:nvPr/>
        </p:nvSpPr>
        <p:spPr>
          <a:xfrm>
            <a:off x="777240" y="5166360"/>
            <a:ext cx="1920240" cy="548640"/>
          </a:xfrm>
          <a:prstGeom prst="rect">
            <a:avLst/>
          </a:prstGeom>
          <a:noFill/>
          <a:ln/>
        </p:spPr>
        <p:txBody>
          <a:bodyPr wrap="square" lIns="0" tIns="0" rIns="0" bIns="0" rtlCol="0" anchor="t"/>
          <a:lstStyle/>
          <a:p>
            <a:pPr indent="0" marL="0">
              <a:buNone/>
            </a:pPr>
            <a:r>
              <a:rPr lang="en-US" sz="1400" dirty="0">
                <a:solidFill>
                  <a:schemeClr val="accent5"/>
                </a:solidFill>
              </a:rPr>
              <a:t>Used by the engine</a:t>
            </a:r>
            <a:endParaRPr lang="en-US" sz="1400" dirty="0"/>
          </a:p>
        </p:txBody>
      </p:sp>
      <p:sp>
        <p:nvSpPr>
          <p:cNvPr id="53" name="card"/>
          <p:cNvSpPr/>
          <p:nvPr/>
        </p:nvSpPr>
        <p:spPr>
          <a:xfrm>
            <a:off x="3063240" y="4526280"/>
            <a:ext cx="2331720" cy="1463040"/>
          </a:xfrm>
          <a:prstGeom prst="roundRect">
            <a:avLst>
              <a:gd name="adj" fmla="val 5000"/>
            </a:avLst>
          </a:prstGeom>
          <a:solidFill>
            <a:schemeClr val="bg2"/>
          </a:solidFill>
          <a:ln/>
        </p:spPr>
      </p:sp>
      <p:sp>
        <p:nvSpPr>
          <p:cNvPr id="54" name="Text 51"/>
          <p:cNvSpPr txBox="1"/>
          <p:nvPr/>
        </p:nvSpPr>
        <p:spPr>
          <a:xfrm>
            <a:off x="3291840" y="4709160"/>
            <a:ext cx="1920240" cy="411480"/>
          </a:xfrm>
          <a:prstGeom prst="rect">
            <a:avLst/>
          </a:prstGeom>
          <a:noFill/>
          <a:ln/>
        </p:spPr>
        <p:txBody>
          <a:bodyPr wrap="square" lIns="0" tIns="0" rIns="0" bIns="0" rtlCol="0" anchor="t"/>
          <a:lstStyle/>
          <a:p>
            <a:pPr indent="0" marL="0">
              <a:buNone/>
            </a:pPr>
            <a:r>
              <a:rPr lang="en-US" sz="1700" b="1" dirty="0">
                <a:solidFill>
                  <a:schemeClr val="tx1"/>
                </a:solidFill>
              </a:rPr>
              <a:t>C version</a:t>
            </a:r>
            <a:endParaRPr lang="en-US" sz="1700" dirty="0"/>
          </a:p>
        </p:txBody>
      </p:sp>
      <p:sp>
        <p:nvSpPr>
          <p:cNvPr id="55" name="Text 52"/>
          <p:cNvSpPr txBox="1"/>
          <p:nvPr/>
        </p:nvSpPr>
        <p:spPr>
          <a:xfrm>
            <a:off x="3291840" y="5166360"/>
            <a:ext cx="1920240" cy="548640"/>
          </a:xfrm>
          <a:prstGeom prst="rect">
            <a:avLst/>
          </a:prstGeom>
          <a:noFill/>
          <a:ln/>
        </p:spPr>
        <p:txBody>
          <a:bodyPr wrap="square" lIns="0" tIns="0" rIns="0" bIns="0" rtlCol="0" anchor="t"/>
          <a:lstStyle/>
          <a:p>
            <a:pPr indent="0" marL="0">
              <a:buNone/>
            </a:pPr>
            <a:r>
              <a:rPr lang="en-US" sz="1400" dirty="0">
                <a:solidFill>
                  <a:schemeClr val="accent5"/>
                </a:solidFill>
              </a:rPr>
              <a:t>Used by the answer key</a:t>
            </a:r>
            <a:endParaRPr lang="en-US" sz="1400" dirty="0"/>
          </a:p>
        </p:txBody>
      </p:sp>
      <p:sp>
        <p:nvSpPr>
          <p:cNvPr id="56" name="card"/>
          <p:cNvSpPr/>
          <p:nvPr/>
        </p:nvSpPr>
        <p:spPr>
          <a:xfrm>
            <a:off x="5577840" y="4526280"/>
            <a:ext cx="2331720" cy="1463040"/>
          </a:xfrm>
          <a:prstGeom prst="roundRect">
            <a:avLst>
              <a:gd name="adj" fmla="val 5000"/>
            </a:avLst>
          </a:prstGeom>
          <a:solidFill>
            <a:schemeClr val="bg2"/>
          </a:solidFill>
          <a:ln/>
        </p:spPr>
      </p:sp>
      <p:sp>
        <p:nvSpPr>
          <p:cNvPr id="57" name="Text 54"/>
          <p:cNvSpPr txBox="1"/>
          <p:nvPr/>
        </p:nvSpPr>
        <p:spPr>
          <a:xfrm>
            <a:off x="5806440" y="4709160"/>
            <a:ext cx="1920240" cy="411480"/>
          </a:xfrm>
          <a:prstGeom prst="rect">
            <a:avLst/>
          </a:prstGeom>
          <a:noFill/>
          <a:ln/>
        </p:spPr>
        <p:txBody>
          <a:bodyPr wrap="square" lIns="0" tIns="0" rIns="0" bIns="0" rtlCol="0" anchor="t"/>
          <a:lstStyle/>
          <a:p>
            <a:pPr indent="0" marL="0">
              <a:buNone/>
            </a:pPr>
            <a:r>
              <a:rPr lang="en-US" sz="1700" b="1" dirty="0">
                <a:solidFill>
                  <a:schemeClr val="tx1"/>
                </a:solidFill>
              </a:rPr>
              <a:t>Python version</a:t>
            </a:r>
            <a:endParaRPr lang="en-US" sz="1700" dirty="0"/>
          </a:p>
        </p:txBody>
      </p:sp>
      <p:sp>
        <p:nvSpPr>
          <p:cNvPr id="58" name="Text 55"/>
          <p:cNvSpPr txBox="1"/>
          <p:nvPr/>
        </p:nvSpPr>
        <p:spPr>
          <a:xfrm>
            <a:off x="5806440" y="5166360"/>
            <a:ext cx="1920240" cy="548640"/>
          </a:xfrm>
          <a:prstGeom prst="rect">
            <a:avLst/>
          </a:prstGeom>
          <a:noFill/>
          <a:ln/>
        </p:spPr>
        <p:txBody>
          <a:bodyPr wrap="square" lIns="0" tIns="0" rIns="0" bIns="0" rtlCol="0" anchor="t"/>
          <a:lstStyle/>
          <a:p>
            <a:pPr indent="0" marL="0">
              <a:buNone/>
            </a:pPr>
            <a:r>
              <a:rPr lang="en-US" sz="1400" dirty="0">
                <a:solidFill>
                  <a:schemeClr val="accent5"/>
                </a:solidFill>
              </a:rPr>
              <a:t>Used by the window</a:t>
            </a:r>
            <a:endParaRPr lang="en-US" sz="1400" dirty="0"/>
          </a:p>
        </p:txBody>
      </p:sp>
      <p:sp>
        <p:nvSpPr>
          <p:cNvPr id="59" name="card"/>
          <p:cNvSpPr/>
          <p:nvPr/>
        </p:nvSpPr>
        <p:spPr>
          <a:xfrm>
            <a:off x="8092440" y="4526280"/>
            <a:ext cx="3520440" cy="1463040"/>
          </a:xfrm>
          <a:prstGeom prst="roundRect">
            <a:avLst>
              <a:gd name="adj" fmla="val 5000"/>
            </a:avLst>
          </a:prstGeom>
          <a:solidFill>
            <a:schemeClr val="tx1"/>
          </a:solidFill>
          <a:ln/>
        </p:spPr>
      </p:sp>
      <p:sp>
        <p:nvSpPr>
          <p:cNvPr id="60" name="Text 57"/>
          <p:cNvSpPr txBox="1"/>
          <p:nvPr/>
        </p:nvSpPr>
        <p:spPr>
          <a:xfrm>
            <a:off x="8321040" y="4681728"/>
            <a:ext cx="3108960" cy="365760"/>
          </a:xfrm>
          <a:prstGeom prst="rect">
            <a:avLst/>
          </a:prstGeom>
          <a:noFill/>
          <a:ln/>
        </p:spPr>
        <p:txBody>
          <a:bodyPr wrap="square" lIns="0" tIns="0" rIns="0" bIns="0" rtlCol="0" anchor="t"/>
          <a:lstStyle/>
          <a:p>
            <a:pPr indent="0" marL="0">
              <a:buNone/>
            </a:pPr>
            <a:r>
              <a:rPr lang="en-US" sz="1700" b="1" dirty="0">
                <a:solidFill>
                  <a:schemeClr val="accent2"/>
                </a:solidFill>
              </a:rPr>
              <a:t>Bad settings?</a:t>
            </a:r>
            <a:endParaRPr lang="en-US" sz="1700" dirty="0"/>
          </a:p>
        </p:txBody>
      </p:sp>
      <p:sp>
        <p:nvSpPr>
          <p:cNvPr id="61" name="Text 58"/>
          <p:cNvSpPr txBox="1"/>
          <p:nvPr/>
        </p:nvSpPr>
        <p:spPr>
          <a:xfrm>
            <a:off x="8321040" y="5074920"/>
            <a:ext cx="3154680" cy="868680"/>
          </a:xfrm>
          <a:prstGeom prst="rect">
            <a:avLst/>
          </a:prstGeom>
          <a:noFill/>
          <a:ln/>
        </p:spPr>
        <p:txBody>
          <a:bodyPr wrap="square" lIns="0" tIns="0" rIns="0" bIns="0" rtlCol="0" anchor="t"/>
          <a:lstStyle/>
          <a:p>
            <a:pPr indent="0" marL="0">
              <a:buNone/>
            </a:pPr>
            <a:r>
              <a:rPr lang="en-US" sz="1300" dirty="0">
                <a:solidFill>
                  <a:schemeClr val="bg1"/>
                </a:solidFill>
              </a:rPr>
              <a:t>If anything is out of range or not a real number, the engine refuses and reports an error. It never crashes.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The engine does three jobs, following Windows' rules</a:t>
            </a:r>
            <a:endParaRPr lang="en-US" sz="2800" dirty="0"/>
          </a:p>
        </p:txBody>
      </p:sp>
      <p:sp>
        <p:nvSpPr>
          <p:cNvPr id="4" name="card"/>
          <p:cNvSpPr/>
          <p:nvPr/>
        </p:nvSpPr>
        <p:spPr>
          <a:xfrm>
            <a:off x="548640" y="1508760"/>
            <a:ext cx="3566160" cy="2514600"/>
          </a:xfrm>
          <a:prstGeom prst="roundRect">
            <a:avLst>
              <a:gd name="adj" fmla="val 2909"/>
            </a:avLst>
          </a:prstGeom>
          <a:solidFill>
            <a:schemeClr val="bg2"/>
          </a:solidFill>
          <a:ln/>
        </p:spPr>
      </p:sp>
      <p:sp>
        <p:nvSpPr>
          <p:cNvPr id="5" name="Shape 2"/>
          <p:cNvSpPr/>
          <p:nvPr/>
        </p:nvSpPr>
        <p:spPr>
          <a:xfrm>
            <a:off x="777240" y="1691640"/>
            <a:ext cx="457200" cy="457200"/>
          </a:xfrm>
          <a:prstGeom prst="ellipse">
            <a:avLst/>
          </a:prstGeom>
          <a:solidFill>
            <a:schemeClr val="accent1"/>
          </a:solidFill>
          <a:ln/>
        </p:spPr>
      </p:sp>
      <p:sp>
        <p:nvSpPr>
          <p:cNvPr id="6" name="Text 3"/>
          <p:cNvSpPr txBox="1"/>
          <p:nvPr/>
        </p:nvSpPr>
        <p:spPr>
          <a:xfrm>
            <a:off x="777240" y="16916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371600" y="1691640"/>
            <a:ext cx="2560320" cy="457200"/>
          </a:xfrm>
          <a:prstGeom prst="rect">
            <a:avLst/>
          </a:prstGeom>
          <a:noFill/>
          <a:ln/>
        </p:spPr>
        <p:txBody>
          <a:bodyPr wrap="square" lIns="0" tIns="0" rIns="0" bIns="0" rtlCol="0" anchor="ctr"/>
          <a:lstStyle/>
          <a:p>
            <a:pPr indent="0" marL="0">
              <a:buNone/>
            </a:pPr>
            <a:r>
              <a:rPr lang="en-US" sz="2000" b="1" dirty="0">
                <a:solidFill>
                  <a:schemeClr val="accent1"/>
                </a:solidFill>
              </a:rPr>
              <a:t>How long?</a:t>
            </a:r>
            <a:endParaRPr lang="en-US" sz="2000" dirty="0"/>
          </a:p>
        </p:txBody>
      </p:sp>
      <p:sp>
        <p:nvSpPr>
          <p:cNvPr id="8" name="Text 5"/>
          <p:cNvSpPr txBox="1"/>
          <p:nvPr/>
        </p:nvSpPr>
        <p:spPr>
          <a:xfrm>
            <a:off x="777240" y="2331720"/>
            <a:ext cx="3154680" cy="822960"/>
          </a:xfrm>
          <a:prstGeom prst="rect">
            <a:avLst/>
          </a:prstGeom>
          <a:noFill/>
          <a:ln/>
        </p:spPr>
        <p:txBody>
          <a:bodyPr wrap="square" lIns="0" tIns="0" rIns="0" bIns="0" rtlCol="0" anchor="t"/>
          <a:lstStyle/>
          <a:p>
            <a:pPr indent="0" marL="0">
              <a:buNone/>
            </a:pPr>
            <a:r>
              <a:rPr lang="en-US" sz="1500" dirty="0">
                <a:solidFill>
                  <a:schemeClr val="tx1"/>
                </a:solidFill>
              </a:rPr>
              <a:t>Checks every setting, then works out how many numbers the sound needs</a:t>
            </a:r>
            <a:endParaRPr lang="en-US" sz="1500" dirty="0"/>
          </a:p>
        </p:txBody>
      </p:sp>
      <p:sp>
        <p:nvSpPr>
          <p:cNvPr id="9" name="Text 6"/>
          <p:cNvSpPr txBox="1"/>
          <p:nvPr/>
        </p:nvSpPr>
        <p:spPr>
          <a:xfrm>
            <a:off x="777240" y="3246120"/>
            <a:ext cx="3154680" cy="640080"/>
          </a:xfrm>
          <a:prstGeom prst="rect">
            <a:avLst/>
          </a:prstGeom>
          <a:noFill/>
          <a:ln/>
        </p:spPr>
        <p:txBody>
          <a:bodyPr wrap="square" lIns="0" tIns="0" rIns="0" bIns="0" rtlCol="0" anchor="t"/>
          <a:lstStyle/>
          <a:p>
            <a:pPr indent="0" marL="0">
              <a:buNone/>
            </a:pPr>
            <a:r>
              <a:rPr lang="en-US" sz="1400" b="1" dirty="0">
                <a:solidFill>
                  <a:schemeClr val="tx2"/>
                </a:solidFill>
              </a:rPr>
              <a:t>Gives back: </a:t>
            </a:r>
            <a:pPr indent="0" marL="0">
              <a:buNone/>
            </a:pPr>
            <a:r>
              <a:rPr lang="en-US" sz="1400" dirty="0">
                <a:solidFill>
                  <a:schemeClr val="tx2"/>
                </a:solidFill>
              </a:rPr>
              <a:t>the length, or 0 if something's wrong</a:t>
            </a:r>
            <a:endParaRPr lang="en-US" sz="1400" dirty="0"/>
          </a:p>
        </p:txBody>
      </p:sp>
      <p:sp>
        <p:nvSpPr>
          <p:cNvPr id="10" name="card"/>
          <p:cNvSpPr/>
          <p:nvPr/>
        </p:nvSpPr>
        <p:spPr>
          <a:xfrm>
            <a:off x="4297680" y="1508760"/>
            <a:ext cx="3566160" cy="2514600"/>
          </a:xfrm>
          <a:prstGeom prst="roundRect">
            <a:avLst>
              <a:gd name="adj" fmla="val 2909"/>
            </a:avLst>
          </a:prstGeom>
          <a:solidFill>
            <a:schemeClr val="bg2"/>
          </a:solidFill>
          <a:ln/>
        </p:spPr>
      </p:sp>
      <p:sp>
        <p:nvSpPr>
          <p:cNvPr id="11" name="Shape 8"/>
          <p:cNvSpPr/>
          <p:nvPr/>
        </p:nvSpPr>
        <p:spPr>
          <a:xfrm>
            <a:off x="4526280" y="1691640"/>
            <a:ext cx="457200" cy="457200"/>
          </a:xfrm>
          <a:prstGeom prst="ellipse">
            <a:avLst/>
          </a:prstGeom>
          <a:solidFill>
            <a:schemeClr val="accent1"/>
          </a:solidFill>
          <a:ln/>
        </p:spPr>
      </p:sp>
      <p:sp>
        <p:nvSpPr>
          <p:cNvPr id="12" name="Text 9"/>
          <p:cNvSpPr txBox="1"/>
          <p:nvPr/>
        </p:nvSpPr>
        <p:spPr>
          <a:xfrm>
            <a:off x="4526280" y="16916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0"/>
          <p:cNvSpPr txBox="1"/>
          <p:nvPr/>
        </p:nvSpPr>
        <p:spPr>
          <a:xfrm>
            <a:off x="5120640" y="1691640"/>
            <a:ext cx="2560320" cy="457200"/>
          </a:xfrm>
          <a:prstGeom prst="rect">
            <a:avLst/>
          </a:prstGeom>
          <a:noFill/>
          <a:ln/>
        </p:spPr>
        <p:txBody>
          <a:bodyPr wrap="square" lIns="0" tIns="0" rIns="0" bIns="0" rtlCol="0" anchor="ctr"/>
          <a:lstStyle/>
          <a:p>
            <a:pPr indent="0" marL="0">
              <a:buNone/>
            </a:pPr>
            <a:r>
              <a:rPr lang="en-US" sz="2000" b="1" dirty="0">
                <a:solidFill>
                  <a:schemeClr val="accent1"/>
                </a:solidFill>
              </a:rPr>
              <a:t>Make the sound</a:t>
            </a:r>
            <a:endParaRPr lang="en-US" sz="2000" dirty="0"/>
          </a:p>
        </p:txBody>
      </p:sp>
      <p:sp>
        <p:nvSpPr>
          <p:cNvPr id="14" name="Text 11"/>
          <p:cNvSpPr txBox="1"/>
          <p:nvPr/>
        </p:nvSpPr>
        <p:spPr>
          <a:xfrm>
            <a:off x="4526280" y="2331720"/>
            <a:ext cx="3154680" cy="822960"/>
          </a:xfrm>
          <a:prstGeom prst="rect">
            <a:avLst/>
          </a:prstGeom>
          <a:noFill/>
          <a:ln/>
        </p:spPr>
        <p:txBody>
          <a:bodyPr wrap="square" lIns="0" tIns="0" rIns="0" bIns="0" rtlCol="0" anchor="t"/>
          <a:lstStyle/>
          <a:p>
            <a:pPr indent="0" marL="0">
              <a:buNone/>
            </a:pPr>
            <a:r>
              <a:rPr lang="en-US" sz="1500" dirty="0">
                <a:solidFill>
                  <a:schemeClr val="tx1"/>
                </a:solidFill>
              </a:rPr>
              <a:t>Runs the main loop and fills in every number of the sound</a:t>
            </a:r>
            <a:endParaRPr lang="en-US" sz="1500" dirty="0"/>
          </a:p>
        </p:txBody>
      </p:sp>
      <p:sp>
        <p:nvSpPr>
          <p:cNvPr id="15" name="Text 12"/>
          <p:cNvSpPr txBox="1"/>
          <p:nvPr/>
        </p:nvSpPr>
        <p:spPr>
          <a:xfrm>
            <a:off x="4526280" y="3246120"/>
            <a:ext cx="3154680" cy="640080"/>
          </a:xfrm>
          <a:prstGeom prst="rect">
            <a:avLst/>
          </a:prstGeom>
          <a:noFill/>
          <a:ln/>
        </p:spPr>
        <p:txBody>
          <a:bodyPr wrap="square" lIns="0" tIns="0" rIns="0" bIns="0" rtlCol="0" anchor="t"/>
          <a:lstStyle/>
          <a:p>
            <a:pPr indent="0" marL="0">
              <a:buNone/>
            </a:pPr>
            <a:r>
              <a:rPr lang="en-US" sz="1400" b="1" dirty="0">
                <a:solidFill>
                  <a:schemeClr val="tx2"/>
                </a:solidFill>
              </a:rPr>
              <a:t>Gives back: </a:t>
            </a:r>
            <a:pPr indent="0" marL="0">
              <a:buNone/>
            </a:pPr>
            <a:r>
              <a:rPr lang="en-US" sz="1400" dirty="0">
                <a:solidFill>
                  <a:schemeClr val="tx2"/>
                </a:solidFill>
              </a:rPr>
              <a:t>how many numbers it made</a:t>
            </a:r>
            <a:endParaRPr lang="en-US" sz="1400" dirty="0"/>
          </a:p>
        </p:txBody>
      </p:sp>
      <p:sp>
        <p:nvSpPr>
          <p:cNvPr id="16" name="card"/>
          <p:cNvSpPr/>
          <p:nvPr/>
        </p:nvSpPr>
        <p:spPr>
          <a:xfrm>
            <a:off x="8046720" y="1508760"/>
            <a:ext cx="3566160" cy="2514600"/>
          </a:xfrm>
          <a:prstGeom prst="roundRect">
            <a:avLst>
              <a:gd name="adj" fmla="val 2909"/>
            </a:avLst>
          </a:prstGeom>
          <a:solidFill>
            <a:schemeClr val="bg2"/>
          </a:solidFill>
          <a:ln/>
        </p:spPr>
      </p:sp>
      <p:sp>
        <p:nvSpPr>
          <p:cNvPr id="17" name="Shape 14"/>
          <p:cNvSpPr/>
          <p:nvPr/>
        </p:nvSpPr>
        <p:spPr>
          <a:xfrm>
            <a:off x="8275320" y="1691640"/>
            <a:ext cx="457200" cy="457200"/>
          </a:xfrm>
          <a:prstGeom prst="ellipse">
            <a:avLst/>
          </a:prstGeom>
          <a:solidFill>
            <a:schemeClr val="accent1"/>
          </a:solidFill>
          <a:ln/>
        </p:spPr>
      </p:sp>
      <p:sp>
        <p:nvSpPr>
          <p:cNvPr id="18" name="Text 15"/>
          <p:cNvSpPr txBox="1"/>
          <p:nvPr/>
        </p:nvSpPr>
        <p:spPr>
          <a:xfrm>
            <a:off x="8275320" y="16916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6"/>
          <p:cNvSpPr txBox="1"/>
          <p:nvPr/>
        </p:nvSpPr>
        <p:spPr>
          <a:xfrm>
            <a:off x="8869680" y="1691640"/>
            <a:ext cx="2560320" cy="457200"/>
          </a:xfrm>
          <a:prstGeom prst="rect">
            <a:avLst/>
          </a:prstGeom>
          <a:noFill/>
          <a:ln/>
        </p:spPr>
        <p:txBody>
          <a:bodyPr wrap="square" lIns="0" tIns="0" rIns="0" bIns="0" rtlCol="0" anchor="ctr"/>
          <a:lstStyle/>
          <a:p>
            <a:pPr indent="0" marL="0">
              <a:buNone/>
            </a:pPr>
            <a:r>
              <a:rPr lang="en-US" sz="2000" b="1" dirty="0">
                <a:solidFill>
                  <a:schemeClr val="accent1"/>
                </a:solidFill>
              </a:rPr>
              <a:t>Make the file</a:t>
            </a:r>
            <a:endParaRPr lang="en-US" sz="2000" dirty="0"/>
          </a:p>
        </p:txBody>
      </p:sp>
      <p:sp>
        <p:nvSpPr>
          <p:cNvPr id="20" name="Text 17"/>
          <p:cNvSpPr txBox="1"/>
          <p:nvPr/>
        </p:nvSpPr>
        <p:spPr>
          <a:xfrm>
            <a:off x="8275320" y="2331720"/>
            <a:ext cx="3154680" cy="822960"/>
          </a:xfrm>
          <a:prstGeom prst="rect">
            <a:avLst/>
          </a:prstGeom>
          <a:noFill/>
          <a:ln/>
        </p:spPr>
        <p:txBody>
          <a:bodyPr wrap="square" lIns="0" tIns="0" rIns="0" bIns="0" rtlCol="0" anchor="t"/>
          <a:lstStyle/>
          <a:p>
            <a:pPr indent="0" marL="0">
              <a:buNone/>
            </a:pPr>
            <a:r>
              <a:rPr lang="en-US" sz="1500" dirty="0">
                <a:solidFill>
                  <a:schemeClr val="tx1"/>
                </a:solidFill>
              </a:rPr>
              <a:t>Puts the audio-file label in front of the sound</a:t>
            </a:r>
            <a:endParaRPr lang="en-US" sz="1500" dirty="0"/>
          </a:p>
        </p:txBody>
      </p:sp>
      <p:sp>
        <p:nvSpPr>
          <p:cNvPr id="21" name="Text 18"/>
          <p:cNvSpPr txBox="1"/>
          <p:nvPr/>
        </p:nvSpPr>
        <p:spPr>
          <a:xfrm>
            <a:off x="8275320" y="3246120"/>
            <a:ext cx="3154680" cy="640080"/>
          </a:xfrm>
          <a:prstGeom prst="rect">
            <a:avLst/>
          </a:prstGeom>
          <a:noFill/>
          <a:ln/>
        </p:spPr>
        <p:txBody>
          <a:bodyPr wrap="square" lIns="0" tIns="0" rIns="0" bIns="0" rtlCol="0" anchor="t"/>
          <a:lstStyle/>
          <a:p>
            <a:pPr indent="0" marL="0">
              <a:buNone/>
            </a:pPr>
            <a:r>
              <a:rPr lang="en-US" sz="1400" b="1" dirty="0">
                <a:solidFill>
                  <a:schemeClr val="tx2"/>
                </a:solidFill>
              </a:rPr>
              <a:t>Gives back: </a:t>
            </a:r>
            <a:pPr indent="0" marL="0">
              <a:buNone/>
            </a:pPr>
            <a:r>
              <a:rPr lang="en-US" sz="1400" dirty="0">
                <a:solidFill>
                  <a:schemeClr val="tx2"/>
                </a:solidFill>
              </a:rPr>
              <a:t>the size of the finished file</a:t>
            </a:r>
            <a:endParaRPr lang="en-US" sz="1400" dirty="0"/>
          </a:p>
        </p:txBody>
      </p:sp>
      <p:sp>
        <p:nvSpPr>
          <p:cNvPr id="22" name="Text 19"/>
          <p:cNvSpPr txBox="1"/>
          <p:nvPr/>
        </p:nvSpPr>
        <p:spPr>
          <a:xfrm>
            <a:off x="548640" y="4160520"/>
            <a:ext cx="10972800" cy="320040"/>
          </a:xfrm>
          <a:prstGeom prst="rect">
            <a:avLst/>
          </a:prstGeom>
          <a:noFill/>
          <a:ln/>
        </p:spPr>
        <p:txBody>
          <a:bodyPr wrap="square" lIns="0" tIns="0" rIns="0" bIns="0" rtlCol="0" anchor="t"/>
          <a:lstStyle/>
          <a:p>
            <a:pPr indent="0" marL="0">
              <a:buNone/>
            </a:pPr>
            <a:r>
              <a:rPr lang="en-US" sz="1400" i="1" dirty="0">
                <a:solidFill>
                  <a:schemeClr val="accent5"/>
                </a:solidFill>
              </a:rPr>
              <a:t>Zero always means “something went wrong”.</a:t>
            </a:r>
            <a:endParaRPr lang="en-US" sz="1400" dirty="0"/>
          </a:p>
        </p:txBody>
      </p:sp>
      <p:sp>
        <p:nvSpPr>
          <p:cNvPr id="23" name="card"/>
          <p:cNvSpPr/>
          <p:nvPr/>
        </p:nvSpPr>
        <p:spPr>
          <a:xfrm>
            <a:off x="548640" y="4663440"/>
            <a:ext cx="5394960" cy="1417320"/>
          </a:xfrm>
          <a:prstGeom prst="roundRect">
            <a:avLst>
              <a:gd name="adj" fmla="val 5161"/>
            </a:avLst>
          </a:prstGeom>
          <a:solidFill>
            <a:schemeClr val="tx1"/>
          </a:solidFill>
          <a:ln/>
        </p:spPr>
      </p:sp>
      <p:sp>
        <p:nvSpPr>
          <p:cNvPr id="24" name="Text 21"/>
          <p:cNvSpPr txBox="1"/>
          <p:nvPr/>
        </p:nvSpPr>
        <p:spPr>
          <a:xfrm>
            <a:off x="777240" y="4800600"/>
            <a:ext cx="4937760" cy="365760"/>
          </a:xfrm>
          <a:prstGeom prst="rect">
            <a:avLst/>
          </a:prstGeom>
          <a:noFill/>
          <a:ln/>
        </p:spPr>
        <p:txBody>
          <a:bodyPr wrap="square" lIns="0" tIns="0" rIns="0" bIns="0" rtlCol="0" anchor="t"/>
          <a:lstStyle/>
          <a:p>
            <a:pPr indent="0" marL="0">
              <a:buNone/>
            </a:pPr>
            <a:r>
              <a:rPr lang="en-US" sz="1700" b="1" dirty="0">
                <a:solidFill>
                  <a:schemeClr val="accent2"/>
                </a:solidFill>
              </a:rPr>
              <a:t>Slots we're allowed to scribble on</a:t>
            </a:r>
            <a:endParaRPr lang="en-US" sz="1700" dirty="0"/>
          </a:p>
        </p:txBody>
      </p:sp>
      <p:sp>
        <p:nvSpPr>
          <p:cNvPr id="25" name="Text 22"/>
          <p:cNvSpPr txBox="1"/>
          <p:nvPr/>
        </p:nvSpPr>
        <p:spPr>
          <a:xfrm>
            <a:off x="777240" y="5212080"/>
            <a:ext cx="4983480" cy="731520"/>
          </a:xfrm>
          <a:prstGeom prst="rect">
            <a:avLst/>
          </a:prstGeom>
          <a:noFill/>
          <a:ln/>
        </p:spPr>
        <p:txBody>
          <a:bodyPr wrap="square" lIns="0" tIns="0" rIns="0" bIns="0" rtlCol="0" anchor="t"/>
          <a:lstStyle/>
          <a:p>
            <a:pPr indent="0" marL="0">
              <a:buNone/>
            </a:pPr>
            <a:r>
              <a:rPr lang="en-US" sz="1400" dirty="0">
                <a:solidFill>
                  <a:schemeClr val="bg1"/>
                </a:solidFill>
              </a:rPr>
              <a:t>The processor's fast storage slots that Windows lets us change. The engine only uses these.</a:t>
            </a:r>
            <a:endParaRPr lang="en-US" sz="1400" dirty="0"/>
          </a:p>
        </p:txBody>
      </p:sp>
      <p:sp>
        <p:nvSpPr>
          <p:cNvPr id="26" name="card"/>
          <p:cNvSpPr/>
          <p:nvPr/>
        </p:nvSpPr>
        <p:spPr>
          <a:xfrm>
            <a:off x="6217920" y="4663440"/>
            <a:ext cx="5394960" cy="1417320"/>
          </a:xfrm>
          <a:prstGeom prst="roundRect">
            <a:avLst>
              <a:gd name="adj" fmla="val 5161"/>
            </a:avLst>
          </a:prstGeom>
          <a:solidFill>
            <a:schemeClr val="bg2"/>
          </a:solidFill>
          <a:ln/>
        </p:spPr>
      </p:sp>
      <p:sp>
        <p:nvSpPr>
          <p:cNvPr id="27" name="Text 24"/>
          <p:cNvSpPr txBox="1"/>
          <p:nvPr/>
        </p:nvSpPr>
        <p:spPr>
          <a:xfrm>
            <a:off x="6446520" y="4800600"/>
            <a:ext cx="4937760" cy="365760"/>
          </a:xfrm>
          <a:prstGeom prst="rect">
            <a:avLst/>
          </a:prstGeom>
          <a:noFill/>
          <a:ln/>
        </p:spPr>
        <p:txBody>
          <a:bodyPr wrap="square" lIns="0" tIns="0" rIns="0" bIns="0" rtlCol="0" anchor="t"/>
          <a:lstStyle/>
          <a:p>
            <a:pPr indent="0" marL="0">
              <a:buNone/>
            </a:pPr>
            <a:r>
              <a:rPr lang="en-US" sz="1700" b="1" dirty="0">
                <a:solidFill>
                  <a:schemeClr val="accent4"/>
                </a:solidFill>
              </a:rPr>
              <a:t>Slots we must hand back untouched</a:t>
            </a:r>
            <a:endParaRPr lang="en-US" sz="1700" dirty="0"/>
          </a:p>
        </p:txBody>
      </p:sp>
      <p:sp>
        <p:nvSpPr>
          <p:cNvPr id="28" name="Text 25"/>
          <p:cNvSpPr txBox="1"/>
          <p:nvPr/>
        </p:nvSpPr>
        <p:spPr>
          <a:xfrm>
            <a:off x="6446520" y="5212080"/>
            <a:ext cx="4983480" cy="731520"/>
          </a:xfrm>
          <a:prstGeom prst="rect">
            <a:avLst/>
          </a:prstGeom>
          <a:noFill/>
          <a:ln/>
        </p:spPr>
        <p:txBody>
          <a:bodyPr wrap="square" lIns="0" tIns="0" rIns="0" bIns="0" rtlCol="0" anchor="t"/>
          <a:lstStyle/>
          <a:p>
            <a:pPr indent="0" marL="0">
              <a:buNone/>
            </a:pPr>
            <a:r>
              <a:rPr lang="en-US" sz="1400" dirty="0">
                <a:solidFill>
                  <a:schemeClr val="tx1"/>
                </a:solidFill>
              </a:rPr>
              <a:t>The engine never touches these, so it never has to back anything up. A separate test proves it.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Every number in the sound goes through the same 7 steps</a:t>
            </a:r>
            <a:endParaRPr lang="en-US" sz="2800" dirty="0"/>
          </a:p>
        </p:txBody>
      </p:sp>
      <p:sp>
        <p:nvSpPr>
          <p:cNvPr id="4" name="Shape 1"/>
          <p:cNvSpPr/>
          <p:nvPr/>
        </p:nvSpPr>
        <p:spPr>
          <a:xfrm>
            <a:off x="1188720" y="1783080"/>
            <a:ext cx="894806" cy="0"/>
          </a:xfrm>
          <a:prstGeom prst="line">
            <a:avLst/>
          </a:prstGeom>
          <a:noFill/>
          <a:ln w="19050">
            <a:solidFill>
              <a:srgbClr val="6B7F8E"/>
            </a:solidFill>
            <a:prstDash val="solid"/>
            <a:tailEnd type="triangle"/>
          </a:ln>
        </p:spPr>
      </p:sp>
      <p:sp>
        <p:nvSpPr>
          <p:cNvPr id="5" name="Shape 2"/>
          <p:cNvSpPr/>
          <p:nvPr/>
        </p:nvSpPr>
        <p:spPr>
          <a:xfrm>
            <a:off x="548640" y="1508760"/>
            <a:ext cx="548640" cy="548640"/>
          </a:xfrm>
          <a:prstGeom prst="ellipse">
            <a:avLst/>
          </a:prstGeom>
          <a:solidFill>
            <a:schemeClr val="accent1"/>
          </a:solidFill>
          <a:ln/>
        </p:spPr>
      </p:sp>
      <p:sp>
        <p:nvSpPr>
          <p:cNvPr id="6" name="Text 3"/>
          <p:cNvSpPr txBox="1"/>
          <p:nvPr/>
        </p:nvSpPr>
        <p:spPr>
          <a:xfrm>
            <a:off x="548640"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548640" y="2194560"/>
            <a:ext cx="1470878" cy="685800"/>
          </a:xfrm>
          <a:prstGeom prst="rect">
            <a:avLst/>
          </a:prstGeom>
          <a:noFill/>
          <a:ln/>
        </p:spPr>
        <p:txBody>
          <a:bodyPr wrap="square" lIns="0" tIns="0" rIns="0" bIns="0" rtlCol="0" anchor="t"/>
          <a:lstStyle/>
          <a:p>
            <a:pPr indent="0" marL="0">
              <a:buNone/>
            </a:pPr>
            <a:r>
              <a:rPr lang="en-US" sz="1600" b="1" dirty="0">
                <a:solidFill>
                  <a:schemeClr val="tx1"/>
                </a:solidFill>
              </a:rPr>
              <a:t>Slide the pitch</a:t>
            </a:r>
            <a:endParaRPr lang="en-US" sz="1600" dirty="0"/>
          </a:p>
        </p:txBody>
      </p:sp>
      <p:sp>
        <p:nvSpPr>
          <p:cNvPr id="8" name="Text 5"/>
          <p:cNvSpPr txBox="1"/>
          <p:nvPr/>
        </p:nvSpPr>
        <p:spPr>
          <a:xfrm>
            <a:off x="548640" y="2926080"/>
            <a:ext cx="1443446" cy="1097280"/>
          </a:xfrm>
          <a:prstGeom prst="rect">
            <a:avLst/>
          </a:prstGeom>
          <a:noFill/>
          <a:ln/>
        </p:spPr>
        <p:txBody>
          <a:bodyPr wrap="square" lIns="0" tIns="0" rIns="0" bIns="0" rtlCol="0" anchor="t"/>
          <a:lstStyle/>
          <a:p>
            <a:pPr indent="0" marL="0">
              <a:buNone/>
            </a:pPr>
            <a:r>
              <a:rPr lang="en-US" sz="1400" dirty="0">
                <a:solidFill>
                  <a:schemeClr val="tx2"/>
                </a:solidFill>
              </a:rPr>
              <a:t>Nudge it up or down. Stop if it gets too low.</a:t>
            </a:r>
            <a:endParaRPr lang="en-US" sz="1400" dirty="0"/>
          </a:p>
        </p:txBody>
      </p:sp>
      <p:sp>
        <p:nvSpPr>
          <p:cNvPr id="9" name="Shape 6"/>
          <p:cNvSpPr/>
          <p:nvPr/>
        </p:nvSpPr>
        <p:spPr>
          <a:xfrm>
            <a:off x="2769326" y="1783080"/>
            <a:ext cx="894806" cy="0"/>
          </a:xfrm>
          <a:prstGeom prst="line">
            <a:avLst/>
          </a:prstGeom>
          <a:noFill/>
          <a:ln w="19050">
            <a:solidFill>
              <a:srgbClr val="6B7F8E"/>
            </a:solidFill>
            <a:prstDash val="solid"/>
            <a:tailEnd type="triangle"/>
          </a:ln>
        </p:spPr>
      </p:sp>
      <p:sp>
        <p:nvSpPr>
          <p:cNvPr id="10" name="Shape 7"/>
          <p:cNvSpPr/>
          <p:nvPr/>
        </p:nvSpPr>
        <p:spPr>
          <a:xfrm>
            <a:off x="2129246" y="1508760"/>
            <a:ext cx="548640" cy="548640"/>
          </a:xfrm>
          <a:prstGeom prst="ellipse">
            <a:avLst/>
          </a:prstGeom>
          <a:solidFill>
            <a:schemeClr val="accent1"/>
          </a:solidFill>
          <a:ln/>
        </p:spPr>
      </p:sp>
      <p:sp>
        <p:nvSpPr>
          <p:cNvPr id="11" name="Text 8"/>
          <p:cNvSpPr txBox="1"/>
          <p:nvPr/>
        </p:nvSpPr>
        <p:spPr>
          <a:xfrm>
            <a:off x="2129246"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2129246" y="2194560"/>
            <a:ext cx="1470878" cy="685800"/>
          </a:xfrm>
          <a:prstGeom prst="rect">
            <a:avLst/>
          </a:prstGeom>
          <a:noFill/>
          <a:ln/>
        </p:spPr>
        <p:txBody>
          <a:bodyPr wrap="square" lIns="0" tIns="0" rIns="0" bIns="0" rtlCol="0" anchor="t"/>
          <a:lstStyle/>
          <a:p>
            <a:pPr indent="0" marL="0">
              <a:buNone/>
            </a:pPr>
            <a:r>
              <a:rPr lang="en-US" sz="1600" b="1" dirty="0">
                <a:solidFill>
                  <a:schemeClr val="tx1"/>
                </a:solidFill>
              </a:rPr>
              <a:t>Add wobble</a:t>
            </a:r>
            <a:endParaRPr lang="en-US" sz="1600" dirty="0"/>
          </a:p>
        </p:txBody>
      </p:sp>
      <p:sp>
        <p:nvSpPr>
          <p:cNvPr id="13" name="Text 10"/>
          <p:cNvSpPr txBox="1"/>
          <p:nvPr/>
        </p:nvSpPr>
        <p:spPr>
          <a:xfrm>
            <a:off x="2129246" y="2926080"/>
            <a:ext cx="1443446" cy="1097280"/>
          </a:xfrm>
          <a:prstGeom prst="rect">
            <a:avLst/>
          </a:prstGeom>
          <a:noFill/>
          <a:ln/>
        </p:spPr>
        <p:txBody>
          <a:bodyPr wrap="square" lIns="0" tIns="0" rIns="0" bIns="0" rtlCol="0" anchor="t"/>
          <a:lstStyle/>
          <a:p>
            <a:pPr indent="0" marL="0">
              <a:buNone/>
            </a:pPr>
            <a:r>
              <a:rPr lang="en-US" sz="1400" dirty="0">
                <a:solidFill>
                  <a:schemeClr val="tx2"/>
                </a:solidFill>
              </a:rPr>
              <a:t>A gentle vibrato.</a:t>
            </a:r>
            <a:endParaRPr lang="en-US" sz="1400" dirty="0"/>
          </a:p>
        </p:txBody>
      </p:sp>
      <p:sp>
        <p:nvSpPr>
          <p:cNvPr id="14" name="Shape 11"/>
          <p:cNvSpPr/>
          <p:nvPr/>
        </p:nvSpPr>
        <p:spPr>
          <a:xfrm>
            <a:off x="4349931" y="1783080"/>
            <a:ext cx="894806" cy="0"/>
          </a:xfrm>
          <a:prstGeom prst="line">
            <a:avLst/>
          </a:prstGeom>
          <a:noFill/>
          <a:ln w="19050">
            <a:solidFill>
              <a:srgbClr val="6B7F8E"/>
            </a:solidFill>
            <a:prstDash val="solid"/>
            <a:tailEnd type="triangle"/>
          </a:ln>
        </p:spPr>
      </p:sp>
      <p:sp>
        <p:nvSpPr>
          <p:cNvPr id="15" name="Shape 12"/>
          <p:cNvSpPr/>
          <p:nvPr/>
        </p:nvSpPr>
        <p:spPr>
          <a:xfrm>
            <a:off x="3709851" y="1508760"/>
            <a:ext cx="548640" cy="548640"/>
          </a:xfrm>
          <a:prstGeom prst="ellipse">
            <a:avLst/>
          </a:prstGeom>
          <a:solidFill>
            <a:schemeClr val="accent1"/>
          </a:solidFill>
          <a:ln/>
        </p:spPr>
      </p:sp>
      <p:sp>
        <p:nvSpPr>
          <p:cNvPr id="16" name="Text 13"/>
          <p:cNvSpPr txBox="1"/>
          <p:nvPr/>
        </p:nvSpPr>
        <p:spPr>
          <a:xfrm>
            <a:off x="3709851"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4"/>
          <p:cNvSpPr txBox="1"/>
          <p:nvPr/>
        </p:nvSpPr>
        <p:spPr>
          <a:xfrm>
            <a:off x="3709851" y="2194560"/>
            <a:ext cx="1470878" cy="685800"/>
          </a:xfrm>
          <a:prstGeom prst="rect">
            <a:avLst/>
          </a:prstGeom>
          <a:noFill/>
          <a:ln/>
        </p:spPr>
        <p:txBody>
          <a:bodyPr wrap="square" lIns="0" tIns="0" rIns="0" bIns="0" rtlCol="0" anchor="t"/>
          <a:lstStyle/>
          <a:p>
            <a:pPr indent="0" marL="0">
              <a:buNone/>
            </a:pPr>
            <a:r>
              <a:rPr lang="en-US" sz="1600" b="1" dirty="0">
                <a:solidFill>
                  <a:schemeClr val="tx1"/>
                </a:solidFill>
              </a:rPr>
              <a:t>Move along the wave</a:t>
            </a:r>
            <a:endParaRPr lang="en-US" sz="1600" dirty="0"/>
          </a:p>
        </p:txBody>
      </p:sp>
      <p:sp>
        <p:nvSpPr>
          <p:cNvPr id="18" name="Text 15"/>
          <p:cNvSpPr txBox="1"/>
          <p:nvPr/>
        </p:nvSpPr>
        <p:spPr>
          <a:xfrm>
            <a:off x="3709851" y="2926080"/>
            <a:ext cx="1443446" cy="1097280"/>
          </a:xfrm>
          <a:prstGeom prst="rect">
            <a:avLst/>
          </a:prstGeom>
          <a:noFill/>
          <a:ln/>
        </p:spPr>
        <p:txBody>
          <a:bodyPr wrap="square" lIns="0" tIns="0" rIns="0" bIns="0" rtlCol="0" anchor="t"/>
          <a:lstStyle/>
          <a:p>
            <a:pPr indent="0" marL="0">
              <a:buNone/>
            </a:pPr>
            <a:r>
              <a:rPr lang="en-US" sz="1400" dirty="0">
                <a:solidFill>
                  <a:schemeClr val="tx2"/>
                </a:solidFill>
              </a:rPr>
              <a:t>Like a clock hand going round.</a:t>
            </a:r>
            <a:endParaRPr lang="en-US" sz="1400" dirty="0"/>
          </a:p>
        </p:txBody>
      </p:sp>
      <p:sp>
        <p:nvSpPr>
          <p:cNvPr id="19" name="Shape 16"/>
          <p:cNvSpPr/>
          <p:nvPr/>
        </p:nvSpPr>
        <p:spPr>
          <a:xfrm>
            <a:off x="5930537" y="1783080"/>
            <a:ext cx="894806" cy="0"/>
          </a:xfrm>
          <a:prstGeom prst="line">
            <a:avLst/>
          </a:prstGeom>
          <a:noFill/>
          <a:ln w="19050">
            <a:solidFill>
              <a:srgbClr val="6B7F8E"/>
            </a:solidFill>
            <a:prstDash val="solid"/>
            <a:tailEnd type="triangle"/>
          </a:ln>
        </p:spPr>
      </p:sp>
      <p:sp>
        <p:nvSpPr>
          <p:cNvPr id="20" name="Shape 17"/>
          <p:cNvSpPr/>
          <p:nvPr/>
        </p:nvSpPr>
        <p:spPr>
          <a:xfrm>
            <a:off x="5290457" y="1508760"/>
            <a:ext cx="548640" cy="548640"/>
          </a:xfrm>
          <a:prstGeom prst="ellipse">
            <a:avLst/>
          </a:prstGeom>
          <a:solidFill>
            <a:schemeClr val="accent3"/>
          </a:solidFill>
          <a:ln/>
        </p:spPr>
      </p:sp>
      <p:sp>
        <p:nvSpPr>
          <p:cNvPr id="21" name="Text 18"/>
          <p:cNvSpPr txBox="1"/>
          <p:nvPr/>
        </p:nvSpPr>
        <p:spPr>
          <a:xfrm>
            <a:off x="5290457" y="150876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22" name="Text 19"/>
          <p:cNvSpPr txBox="1"/>
          <p:nvPr/>
        </p:nvSpPr>
        <p:spPr>
          <a:xfrm>
            <a:off x="5290457" y="2194560"/>
            <a:ext cx="1470878" cy="685800"/>
          </a:xfrm>
          <a:prstGeom prst="rect">
            <a:avLst/>
          </a:prstGeom>
          <a:noFill/>
          <a:ln/>
        </p:spPr>
        <p:txBody>
          <a:bodyPr wrap="square" lIns="0" tIns="0" rIns="0" bIns="0" rtlCol="0" anchor="t"/>
          <a:lstStyle/>
          <a:p>
            <a:pPr indent="0" marL="0">
              <a:buNone/>
            </a:pPr>
            <a:r>
              <a:rPr lang="en-US" sz="1600" b="1" dirty="0">
                <a:solidFill>
                  <a:schemeClr val="tx1"/>
                </a:solidFill>
              </a:rPr>
              <a:t>Pick the shape</a:t>
            </a:r>
            <a:endParaRPr lang="en-US" sz="1600" dirty="0"/>
          </a:p>
        </p:txBody>
      </p:sp>
      <p:sp>
        <p:nvSpPr>
          <p:cNvPr id="23" name="Text 20"/>
          <p:cNvSpPr txBox="1"/>
          <p:nvPr/>
        </p:nvSpPr>
        <p:spPr>
          <a:xfrm>
            <a:off x="5290457" y="2926080"/>
            <a:ext cx="1443446" cy="1097280"/>
          </a:xfrm>
          <a:prstGeom prst="rect">
            <a:avLst/>
          </a:prstGeom>
          <a:noFill/>
          <a:ln/>
        </p:spPr>
        <p:txBody>
          <a:bodyPr wrap="square" lIns="0" tIns="0" rIns="0" bIns="0" rtlCol="0" anchor="t"/>
          <a:lstStyle/>
          <a:p>
            <a:pPr indent="0" marL="0">
              <a:buNone/>
            </a:pPr>
            <a:r>
              <a:rPr lang="en-US" sz="1400" dirty="0">
                <a:solidFill>
                  <a:schemeClr val="tx2"/>
                </a:solidFill>
              </a:rPr>
              <a:t>Square, sawtooth, triangle or noise.</a:t>
            </a:r>
            <a:endParaRPr lang="en-US" sz="1400" dirty="0"/>
          </a:p>
        </p:txBody>
      </p:sp>
      <p:sp>
        <p:nvSpPr>
          <p:cNvPr id="24" name="Shape 21"/>
          <p:cNvSpPr/>
          <p:nvPr/>
        </p:nvSpPr>
        <p:spPr>
          <a:xfrm>
            <a:off x="7511143" y="1783080"/>
            <a:ext cx="894806" cy="0"/>
          </a:xfrm>
          <a:prstGeom prst="line">
            <a:avLst/>
          </a:prstGeom>
          <a:noFill/>
          <a:ln w="19050">
            <a:solidFill>
              <a:srgbClr val="6B7F8E"/>
            </a:solidFill>
            <a:prstDash val="solid"/>
            <a:tailEnd type="triangle"/>
          </a:ln>
        </p:spPr>
      </p:sp>
      <p:sp>
        <p:nvSpPr>
          <p:cNvPr id="25" name="Shape 22"/>
          <p:cNvSpPr/>
          <p:nvPr/>
        </p:nvSpPr>
        <p:spPr>
          <a:xfrm>
            <a:off x="6871063" y="1508760"/>
            <a:ext cx="548640" cy="548640"/>
          </a:xfrm>
          <a:prstGeom prst="ellipse">
            <a:avLst/>
          </a:prstGeom>
          <a:solidFill>
            <a:schemeClr val="accent1"/>
          </a:solidFill>
          <a:ln/>
        </p:spPr>
      </p:sp>
      <p:sp>
        <p:nvSpPr>
          <p:cNvPr id="26" name="Text 23"/>
          <p:cNvSpPr txBox="1"/>
          <p:nvPr/>
        </p:nvSpPr>
        <p:spPr>
          <a:xfrm>
            <a:off x="6871063"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7" name="Text 24"/>
          <p:cNvSpPr txBox="1"/>
          <p:nvPr/>
        </p:nvSpPr>
        <p:spPr>
          <a:xfrm>
            <a:off x="6871063" y="2194560"/>
            <a:ext cx="1470878" cy="685800"/>
          </a:xfrm>
          <a:prstGeom prst="rect">
            <a:avLst/>
          </a:prstGeom>
          <a:noFill/>
          <a:ln/>
        </p:spPr>
        <p:txBody>
          <a:bodyPr wrap="square" lIns="0" tIns="0" rIns="0" bIns="0" rtlCol="0" anchor="t"/>
          <a:lstStyle/>
          <a:p>
            <a:pPr indent="0" marL="0">
              <a:buNone/>
            </a:pPr>
            <a:r>
              <a:rPr lang="en-US" sz="1600" b="1" dirty="0">
                <a:solidFill>
                  <a:schemeClr val="tx1"/>
                </a:solidFill>
              </a:rPr>
              <a:t>Fade</a:t>
            </a:r>
            <a:endParaRPr lang="en-US" sz="1600" dirty="0"/>
          </a:p>
        </p:txBody>
      </p:sp>
      <p:sp>
        <p:nvSpPr>
          <p:cNvPr id="28" name="Text 25"/>
          <p:cNvSpPr txBox="1"/>
          <p:nvPr/>
        </p:nvSpPr>
        <p:spPr>
          <a:xfrm>
            <a:off x="6871063" y="2926080"/>
            <a:ext cx="1443446" cy="1097280"/>
          </a:xfrm>
          <a:prstGeom prst="rect">
            <a:avLst/>
          </a:prstGeom>
          <a:noFill/>
          <a:ln/>
        </p:spPr>
        <p:txBody>
          <a:bodyPr wrap="square" lIns="0" tIns="0" rIns="0" bIns="0" rtlCol="0" anchor="t"/>
          <a:lstStyle/>
          <a:p>
            <a:pPr indent="0" marL="0">
              <a:buNone/>
            </a:pPr>
            <a:r>
              <a:rPr lang="en-US" sz="1400" dirty="0">
                <a:solidFill>
                  <a:schemeClr val="tx2"/>
                </a:solidFill>
              </a:rPr>
              <a:t>Fade in, hold, fade out.</a:t>
            </a:r>
            <a:endParaRPr lang="en-US" sz="1400" dirty="0"/>
          </a:p>
        </p:txBody>
      </p:sp>
      <p:sp>
        <p:nvSpPr>
          <p:cNvPr id="29" name="Shape 26"/>
          <p:cNvSpPr/>
          <p:nvPr/>
        </p:nvSpPr>
        <p:spPr>
          <a:xfrm>
            <a:off x="9091749" y="1783080"/>
            <a:ext cx="894806" cy="0"/>
          </a:xfrm>
          <a:prstGeom prst="line">
            <a:avLst/>
          </a:prstGeom>
          <a:noFill/>
          <a:ln w="19050">
            <a:solidFill>
              <a:srgbClr val="6B7F8E"/>
            </a:solidFill>
            <a:prstDash val="solid"/>
            <a:tailEnd type="triangle"/>
          </a:ln>
        </p:spPr>
      </p:sp>
      <p:sp>
        <p:nvSpPr>
          <p:cNvPr id="30" name="Shape 27"/>
          <p:cNvSpPr/>
          <p:nvPr/>
        </p:nvSpPr>
        <p:spPr>
          <a:xfrm>
            <a:off x="8451669" y="1508760"/>
            <a:ext cx="548640" cy="548640"/>
          </a:xfrm>
          <a:prstGeom prst="ellipse">
            <a:avLst/>
          </a:prstGeom>
          <a:solidFill>
            <a:schemeClr val="accent1"/>
          </a:solidFill>
          <a:ln/>
        </p:spPr>
      </p:sp>
      <p:sp>
        <p:nvSpPr>
          <p:cNvPr id="31" name="Text 28"/>
          <p:cNvSpPr txBox="1"/>
          <p:nvPr/>
        </p:nvSpPr>
        <p:spPr>
          <a:xfrm>
            <a:off x="8451669"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2" name="Text 29"/>
          <p:cNvSpPr txBox="1"/>
          <p:nvPr/>
        </p:nvSpPr>
        <p:spPr>
          <a:xfrm>
            <a:off x="8451669" y="2194560"/>
            <a:ext cx="1470878" cy="685800"/>
          </a:xfrm>
          <a:prstGeom prst="rect">
            <a:avLst/>
          </a:prstGeom>
          <a:noFill/>
          <a:ln/>
        </p:spPr>
        <p:txBody>
          <a:bodyPr wrap="square" lIns="0" tIns="0" rIns="0" bIns="0" rtlCol="0" anchor="t"/>
          <a:lstStyle/>
          <a:p>
            <a:pPr indent="0" marL="0">
              <a:buNone/>
            </a:pPr>
            <a:r>
              <a:rPr lang="en-US" sz="1600" b="1" dirty="0">
                <a:solidFill>
                  <a:schemeClr val="tx1"/>
                </a:solidFill>
              </a:rPr>
              <a:t>Convert</a:t>
            </a:r>
            <a:endParaRPr lang="en-US" sz="1600" dirty="0"/>
          </a:p>
        </p:txBody>
      </p:sp>
      <p:sp>
        <p:nvSpPr>
          <p:cNvPr id="33" name="Text 30"/>
          <p:cNvSpPr txBox="1"/>
          <p:nvPr/>
        </p:nvSpPr>
        <p:spPr>
          <a:xfrm>
            <a:off x="8451669" y="2926080"/>
            <a:ext cx="1443446" cy="1097280"/>
          </a:xfrm>
          <a:prstGeom prst="rect">
            <a:avLst/>
          </a:prstGeom>
          <a:noFill/>
          <a:ln/>
        </p:spPr>
        <p:txBody>
          <a:bodyPr wrap="square" lIns="0" tIns="0" rIns="0" bIns="0" rtlCol="0" anchor="t"/>
          <a:lstStyle/>
          <a:p>
            <a:pPr indent="0" marL="0">
              <a:buNone/>
            </a:pPr>
            <a:r>
              <a:rPr lang="en-US" sz="1400" dirty="0">
                <a:solidFill>
                  <a:schemeClr val="tx2"/>
                </a:solidFill>
              </a:rPr>
              <a:t>Into the number format audio files use.</a:t>
            </a:r>
            <a:endParaRPr lang="en-US" sz="1400" dirty="0"/>
          </a:p>
        </p:txBody>
      </p:sp>
      <p:sp>
        <p:nvSpPr>
          <p:cNvPr id="34" name="Shape 31"/>
          <p:cNvSpPr/>
          <p:nvPr/>
        </p:nvSpPr>
        <p:spPr>
          <a:xfrm>
            <a:off x="10032274" y="1508760"/>
            <a:ext cx="548640" cy="548640"/>
          </a:xfrm>
          <a:prstGeom prst="ellipse">
            <a:avLst/>
          </a:prstGeom>
          <a:solidFill>
            <a:schemeClr val="accent1"/>
          </a:solidFill>
          <a:ln/>
        </p:spPr>
      </p:sp>
      <p:sp>
        <p:nvSpPr>
          <p:cNvPr id="35" name="Text 32"/>
          <p:cNvSpPr txBox="1"/>
          <p:nvPr/>
        </p:nvSpPr>
        <p:spPr>
          <a:xfrm>
            <a:off x="10032274"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36" name="Text 33"/>
          <p:cNvSpPr txBox="1"/>
          <p:nvPr/>
        </p:nvSpPr>
        <p:spPr>
          <a:xfrm>
            <a:off x="10032274" y="2194560"/>
            <a:ext cx="1470878" cy="685800"/>
          </a:xfrm>
          <a:prstGeom prst="rect">
            <a:avLst/>
          </a:prstGeom>
          <a:noFill/>
          <a:ln/>
        </p:spPr>
        <p:txBody>
          <a:bodyPr wrap="square" lIns="0" tIns="0" rIns="0" bIns="0" rtlCol="0" anchor="t"/>
          <a:lstStyle/>
          <a:p>
            <a:pPr indent="0" marL="0">
              <a:buNone/>
            </a:pPr>
            <a:r>
              <a:rPr lang="en-US" sz="1600" b="1" dirty="0">
                <a:solidFill>
                  <a:schemeClr val="tx1"/>
                </a:solidFill>
              </a:rPr>
              <a:t>Save and repeat</a:t>
            </a:r>
            <a:endParaRPr lang="en-US" sz="1600" dirty="0"/>
          </a:p>
        </p:txBody>
      </p:sp>
      <p:sp>
        <p:nvSpPr>
          <p:cNvPr id="37" name="Text 34"/>
          <p:cNvSpPr txBox="1"/>
          <p:nvPr/>
        </p:nvSpPr>
        <p:spPr>
          <a:xfrm>
            <a:off x="10032274" y="2926080"/>
            <a:ext cx="1443446" cy="1097280"/>
          </a:xfrm>
          <a:prstGeom prst="rect">
            <a:avLst/>
          </a:prstGeom>
          <a:noFill/>
          <a:ln/>
        </p:spPr>
        <p:txBody>
          <a:bodyPr wrap="square" lIns="0" tIns="0" rIns="0" bIns="0" rtlCol="0" anchor="t"/>
          <a:lstStyle/>
          <a:p>
            <a:pPr indent="0" marL="0">
              <a:buNone/>
            </a:pPr>
            <a:r>
              <a:rPr lang="en-US" sz="1400" dirty="0">
                <a:solidFill>
                  <a:schemeClr val="tx2"/>
                </a:solidFill>
              </a:rPr>
              <a:t>Then do the next number.</a:t>
            </a:r>
            <a:endParaRPr lang="en-US" sz="1400" dirty="0"/>
          </a:p>
        </p:txBody>
      </p:sp>
      <p:sp>
        <p:nvSpPr>
          <p:cNvPr id="38" name="card"/>
          <p:cNvSpPr/>
          <p:nvPr/>
        </p:nvSpPr>
        <p:spPr>
          <a:xfrm>
            <a:off x="548640" y="4206240"/>
            <a:ext cx="11064240" cy="1828800"/>
          </a:xfrm>
          <a:prstGeom prst="roundRect">
            <a:avLst>
              <a:gd name="adj" fmla="val 4000"/>
            </a:avLst>
          </a:prstGeom>
          <a:solidFill>
            <a:schemeClr val="tx1"/>
          </a:solidFill>
          <a:ln/>
        </p:spPr>
      </p:sp>
      <p:sp>
        <p:nvSpPr>
          <p:cNvPr id="39" name="Text 36"/>
          <p:cNvSpPr txBox="1"/>
          <p:nvPr/>
        </p:nvSpPr>
        <p:spPr>
          <a:xfrm>
            <a:off x="868680" y="4389120"/>
            <a:ext cx="3657600" cy="914400"/>
          </a:xfrm>
          <a:prstGeom prst="rect">
            <a:avLst/>
          </a:prstGeom>
          <a:noFill/>
          <a:ln/>
        </p:spPr>
        <p:txBody>
          <a:bodyPr wrap="square" lIns="0" tIns="0" rIns="0" bIns="0" rtlCol="0" anchor="t"/>
          <a:lstStyle/>
          <a:p>
            <a:pPr indent="0" marL="0">
              <a:buNone/>
            </a:pPr>
            <a:r>
              <a:rPr lang="en-US" sz="5400" b="1" dirty="0">
                <a:solidFill>
                  <a:schemeClr val="accent2"/>
                </a:solidFill>
                <a:latin typeface="Arial" pitchFamily="34" charset="0"/>
                <a:ea typeface="Arial" pitchFamily="34" charset="-122"/>
                <a:cs typeface="Arial" pitchFamily="34" charset="-120"/>
              </a:rPr>
              <a:t>44,100</a:t>
            </a:r>
            <a:endParaRPr lang="en-US" sz="5400" dirty="0"/>
          </a:p>
        </p:txBody>
      </p:sp>
      <p:sp>
        <p:nvSpPr>
          <p:cNvPr id="40" name="Text 37"/>
          <p:cNvSpPr txBox="1"/>
          <p:nvPr/>
        </p:nvSpPr>
        <p:spPr>
          <a:xfrm>
            <a:off x="868680" y="5303520"/>
            <a:ext cx="3840480" cy="457200"/>
          </a:xfrm>
          <a:prstGeom prst="rect">
            <a:avLst/>
          </a:prstGeom>
          <a:noFill/>
          <a:ln/>
        </p:spPr>
        <p:txBody>
          <a:bodyPr wrap="square" lIns="0" tIns="0" rIns="0" bIns="0" rtlCol="0" anchor="t"/>
          <a:lstStyle/>
          <a:p>
            <a:pPr indent="0" marL="0">
              <a:buNone/>
            </a:pPr>
            <a:r>
              <a:rPr lang="en-US" sz="1600" dirty="0">
                <a:solidFill>
                  <a:schemeClr val="bg1"/>
                </a:solidFill>
              </a:rPr>
              <a:t>times for every second of sound</a:t>
            </a:r>
            <a:endParaRPr lang="en-US" sz="1600" dirty="0"/>
          </a:p>
        </p:txBody>
      </p:sp>
      <p:sp>
        <p:nvSpPr>
          <p:cNvPr id="41" name="Text 38"/>
          <p:cNvSpPr txBox="1"/>
          <p:nvPr/>
        </p:nvSpPr>
        <p:spPr>
          <a:xfrm>
            <a:off x="4937760" y="4389120"/>
            <a:ext cx="6400800" cy="1463040"/>
          </a:xfrm>
          <a:prstGeom prst="rect">
            <a:avLst/>
          </a:prstGeom>
          <a:noFill/>
          <a:ln/>
        </p:spPr>
        <p:txBody>
          <a:bodyPr wrap="square" lIns="0" tIns="0" rIns="0" bIns="0" rtlCol="0" anchor="ctr"/>
          <a:lstStyle/>
          <a:p>
            <a:pPr indent="0" marL="0">
              <a:buNone/>
            </a:pPr>
            <a:r>
              <a:rPr lang="en-US" sz="1800" dirty="0">
                <a:solidFill>
                  <a:schemeClr val="bg1"/>
                </a:solidFill>
              </a:rPr>
              <a:t>The important values stay inside the processor the whole time, instead of going back and forth to memory. That's why it's fast.</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Four shapes from one “clock hand” number</a:t>
            </a:r>
            <a:endParaRPr lang="en-US" sz="2800" dirty="0"/>
          </a:p>
        </p:txBody>
      </p:sp>
      <p:sp>
        <p:nvSpPr>
          <p:cNvPr id="4" name="card"/>
          <p:cNvSpPr/>
          <p:nvPr/>
        </p:nvSpPr>
        <p:spPr>
          <a:xfrm>
            <a:off x="548640" y="1508760"/>
            <a:ext cx="2606040" cy="3657600"/>
          </a:xfrm>
          <a:prstGeom prst="roundRect">
            <a:avLst>
              <a:gd name="adj" fmla="val 2807"/>
            </a:avLst>
          </a:prstGeom>
          <a:solidFill>
            <a:schemeClr val="bg2"/>
          </a:solidFill>
          <a:ln/>
        </p:spPr>
      </p:sp>
      <p:sp>
        <p:nvSpPr>
          <p:cNvPr id="5" name="Shape 2"/>
          <p:cNvSpPr/>
          <p:nvPr/>
        </p:nvSpPr>
        <p:spPr>
          <a:xfrm>
            <a:off x="731520" y="1691640"/>
            <a:ext cx="2240280" cy="1463040"/>
          </a:xfrm>
          <a:prstGeom prst="roundRect">
            <a:avLst>
              <a:gd name="adj" fmla="val 3750"/>
            </a:avLst>
          </a:prstGeom>
          <a:solidFill>
            <a:schemeClr val="tx1"/>
          </a:solidFill>
          <a:ln/>
        </p:spPr>
      </p:sp>
      <p:sp>
        <p:nvSpPr>
          <p:cNvPr id="6" name="Shape 3"/>
          <p:cNvSpPr/>
          <p:nvPr/>
        </p:nvSpPr>
        <p:spPr>
          <a:xfrm>
            <a:off x="822960" y="2423160"/>
            <a:ext cx="2057400" cy="0"/>
          </a:xfrm>
          <a:prstGeom prst="line">
            <a:avLst/>
          </a:prstGeom>
          <a:noFill/>
          <a:ln w="12700">
            <a:solidFill>
              <a:srgbClr val="425565"/>
            </a:solidFill>
            <a:prstDash val="solid"/>
          </a:ln>
        </p:spPr>
      </p:sp>
      <p:sp>
        <p:nvSpPr>
          <p:cNvPr id="7" name="Shape 4"/>
          <p:cNvSpPr/>
          <p:nvPr/>
        </p:nvSpPr>
        <p:spPr>
          <a:xfrm>
            <a:off x="868680" y="1920240"/>
            <a:ext cx="491490" cy="0"/>
          </a:xfrm>
          <a:prstGeom prst="line">
            <a:avLst/>
          </a:prstGeom>
          <a:noFill/>
          <a:ln w="31750">
            <a:solidFill>
              <a:srgbClr val="58DBBC"/>
            </a:solidFill>
            <a:prstDash val="solid"/>
          </a:ln>
        </p:spPr>
      </p:sp>
      <p:sp>
        <p:nvSpPr>
          <p:cNvPr id="8" name="Shape 5"/>
          <p:cNvSpPr/>
          <p:nvPr/>
        </p:nvSpPr>
        <p:spPr>
          <a:xfrm>
            <a:off x="1360170" y="1920240"/>
            <a:ext cx="0" cy="1005840"/>
          </a:xfrm>
          <a:prstGeom prst="line">
            <a:avLst/>
          </a:prstGeom>
          <a:noFill/>
          <a:ln w="31750">
            <a:solidFill>
              <a:srgbClr val="58DBBC"/>
            </a:solidFill>
            <a:prstDash val="solid"/>
          </a:ln>
        </p:spPr>
      </p:sp>
      <p:sp>
        <p:nvSpPr>
          <p:cNvPr id="9" name="Shape 6"/>
          <p:cNvSpPr/>
          <p:nvPr/>
        </p:nvSpPr>
        <p:spPr>
          <a:xfrm>
            <a:off x="1360170" y="2926080"/>
            <a:ext cx="491490" cy="0"/>
          </a:xfrm>
          <a:prstGeom prst="line">
            <a:avLst/>
          </a:prstGeom>
          <a:noFill/>
          <a:ln w="31750">
            <a:solidFill>
              <a:srgbClr val="58DBBC"/>
            </a:solidFill>
            <a:prstDash val="solid"/>
          </a:ln>
        </p:spPr>
      </p:sp>
      <p:sp>
        <p:nvSpPr>
          <p:cNvPr id="10" name="Shape 7"/>
          <p:cNvSpPr/>
          <p:nvPr/>
        </p:nvSpPr>
        <p:spPr>
          <a:xfrm>
            <a:off x="1851660" y="1920240"/>
            <a:ext cx="0" cy="1005840"/>
          </a:xfrm>
          <a:prstGeom prst="line">
            <a:avLst/>
          </a:prstGeom>
          <a:noFill/>
          <a:ln w="31750">
            <a:solidFill>
              <a:srgbClr val="58DBBC"/>
            </a:solidFill>
            <a:prstDash val="solid"/>
          </a:ln>
        </p:spPr>
      </p:sp>
      <p:sp>
        <p:nvSpPr>
          <p:cNvPr id="11" name="Shape 8"/>
          <p:cNvSpPr/>
          <p:nvPr/>
        </p:nvSpPr>
        <p:spPr>
          <a:xfrm>
            <a:off x="1851660" y="1920240"/>
            <a:ext cx="0" cy="0"/>
          </a:xfrm>
          <a:prstGeom prst="line">
            <a:avLst/>
          </a:prstGeom>
          <a:noFill/>
          <a:ln w="31750">
            <a:solidFill>
              <a:srgbClr val="58DBBC"/>
            </a:solidFill>
            <a:prstDash val="solid"/>
          </a:ln>
        </p:spPr>
      </p:sp>
      <p:sp>
        <p:nvSpPr>
          <p:cNvPr id="12" name="Shape 9"/>
          <p:cNvSpPr/>
          <p:nvPr/>
        </p:nvSpPr>
        <p:spPr>
          <a:xfrm>
            <a:off x="1851660" y="1920240"/>
            <a:ext cx="491490" cy="0"/>
          </a:xfrm>
          <a:prstGeom prst="line">
            <a:avLst/>
          </a:prstGeom>
          <a:noFill/>
          <a:ln w="31750">
            <a:solidFill>
              <a:srgbClr val="58DBBC"/>
            </a:solidFill>
            <a:prstDash val="solid"/>
          </a:ln>
        </p:spPr>
      </p:sp>
      <p:sp>
        <p:nvSpPr>
          <p:cNvPr id="13" name="Shape 10"/>
          <p:cNvSpPr/>
          <p:nvPr/>
        </p:nvSpPr>
        <p:spPr>
          <a:xfrm>
            <a:off x="2343150" y="1920240"/>
            <a:ext cx="0" cy="1005840"/>
          </a:xfrm>
          <a:prstGeom prst="line">
            <a:avLst/>
          </a:prstGeom>
          <a:noFill/>
          <a:ln w="31750">
            <a:solidFill>
              <a:srgbClr val="58DBBC"/>
            </a:solidFill>
            <a:prstDash val="solid"/>
          </a:ln>
        </p:spPr>
      </p:sp>
      <p:sp>
        <p:nvSpPr>
          <p:cNvPr id="14" name="Shape 11"/>
          <p:cNvSpPr/>
          <p:nvPr/>
        </p:nvSpPr>
        <p:spPr>
          <a:xfrm>
            <a:off x="2343150" y="2926080"/>
            <a:ext cx="491490" cy="0"/>
          </a:xfrm>
          <a:prstGeom prst="line">
            <a:avLst/>
          </a:prstGeom>
          <a:noFill/>
          <a:ln w="31750">
            <a:solidFill>
              <a:srgbClr val="58DBBC"/>
            </a:solidFill>
            <a:prstDash val="solid"/>
          </a:ln>
        </p:spPr>
      </p:sp>
      <p:sp>
        <p:nvSpPr>
          <p:cNvPr id="15" name="Text 12"/>
          <p:cNvSpPr txBox="1"/>
          <p:nvPr/>
        </p:nvSpPr>
        <p:spPr>
          <a:xfrm>
            <a:off x="777240" y="3383280"/>
            <a:ext cx="2194560" cy="411480"/>
          </a:xfrm>
          <a:prstGeom prst="rect">
            <a:avLst/>
          </a:prstGeom>
          <a:noFill/>
          <a:ln/>
        </p:spPr>
        <p:txBody>
          <a:bodyPr wrap="square" lIns="0" tIns="0" rIns="0" bIns="0" rtlCol="0" anchor="t"/>
          <a:lstStyle/>
          <a:p>
            <a:pPr indent="0" marL="0">
              <a:buNone/>
            </a:pPr>
            <a:r>
              <a:rPr lang="en-US" sz="2000" b="1" dirty="0">
                <a:solidFill>
                  <a:schemeClr val="tx1"/>
                </a:solidFill>
              </a:rPr>
              <a:t>Square</a:t>
            </a:r>
            <a:endParaRPr lang="en-US" sz="2000" dirty="0"/>
          </a:p>
        </p:txBody>
      </p:sp>
      <p:sp>
        <p:nvSpPr>
          <p:cNvPr id="16" name="Text 13"/>
          <p:cNvSpPr txBox="1"/>
          <p:nvPr/>
        </p:nvSpPr>
        <p:spPr>
          <a:xfrm>
            <a:off x="777240" y="3886200"/>
            <a:ext cx="2240280" cy="1097280"/>
          </a:xfrm>
          <a:prstGeom prst="rect">
            <a:avLst/>
          </a:prstGeom>
          <a:noFill/>
          <a:ln/>
        </p:spPr>
        <p:txBody>
          <a:bodyPr wrap="square" lIns="0" tIns="0" rIns="0" bIns="0" rtlCol="0" anchor="t"/>
          <a:lstStyle/>
          <a:p>
            <a:pPr indent="0" marL="0">
              <a:buNone/>
            </a:pPr>
            <a:r>
              <a:rPr lang="en-US" sz="1500" dirty="0">
                <a:solidFill>
                  <a:schemeClr val="tx2"/>
                </a:solidFill>
              </a:rPr>
              <a:t>High for the first half of each lap, low for the second.</a:t>
            </a:r>
            <a:endParaRPr lang="en-US" sz="1500" dirty="0"/>
          </a:p>
        </p:txBody>
      </p:sp>
      <p:sp>
        <p:nvSpPr>
          <p:cNvPr id="17" name="card"/>
          <p:cNvSpPr/>
          <p:nvPr/>
        </p:nvSpPr>
        <p:spPr>
          <a:xfrm>
            <a:off x="3364992" y="1508760"/>
            <a:ext cx="2606040" cy="3657600"/>
          </a:xfrm>
          <a:prstGeom prst="roundRect">
            <a:avLst>
              <a:gd name="adj" fmla="val 2807"/>
            </a:avLst>
          </a:prstGeom>
          <a:solidFill>
            <a:schemeClr val="bg2"/>
          </a:solidFill>
          <a:ln/>
        </p:spPr>
      </p:sp>
      <p:sp>
        <p:nvSpPr>
          <p:cNvPr id="18" name="Shape 15"/>
          <p:cNvSpPr/>
          <p:nvPr/>
        </p:nvSpPr>
        <p:spPr>
          <a:xfrm>
            <a:off x="3547872" y="1691640"/>
            <a:ext cx="2240280" cy="1463040"/>
          </a:xfrm>
          <a:prstGeom prst="roundRect">
            <a:avLst>
              <a:gd name="adj" fmla="val 3750"/>
            </a:avLst>
          </a:prstGeom>
          <a:solidFill>
            <a:schemeClr val="tx1"/>
          </a:solidFill>
          <a:ln/>
        </p:spPr>
      </p:sp>
      <p:sp>
        <p:nvSpPr>
          <p:cNvPr id="19" name="Shape 16"/>
          <p:cNvSpPr/>
          <p:nvPr/>
        </p:nvSpPr>
        <p:spPr>
          <a:xfrm>
            <a:off x="3639312" y="2423160"/>
            <a:ext cx="2057400" cy="0"/>
          </a:xfrm>
          <a:prstGeom prst="line">
            <a:avLst/>
          </a:prstGeom>
          <a:noFill/>
          <a:ln w="12700">
            <a:solidFill>
              <a:srgbClr val="425565"/>
            </a:solidFill>
            <a:prstDash val="solid"/>
          </a:ln>
        </p:spPr>
      </p:sp>
      <p:sp>
        <p:nvSpPr>
          <p:cNvPr id="20" name="Shape 17"/>
          <p:cNvSpPr/>
          <p:nvPr/>
        </p:nvSpPr>
        <p:spPr>
          <a:xfrm flipV="1">
            <a:off x="3685032" y="1920240"/>
            <a:ext cx="982980" cy="1005840"/>
          </a:xfrm>
          <a:prstGeom prst="line">
            <a:avLst/>
          </a:prstGeom>
          <a:noFill/>
          <a:ln w="31750">
            <a:solidFill>
              <a:srgbClr val="58DBBC"/>
            </a:solidFill>
            <a:prstDash val="solid"/>
          </a:ln>
        </p:spPr>
      </p:sp>
      <p:sp>
        <p:nvSpPr>
          <p:cNvPr id="21" name="Shape 18"/>
          <p:cNvSpPr/>
          <p:nvPr/>
        </p:nvSpPr>
        <p:spPr>
          <a:xfrm>
            <a:off x="4668012" y="1920240"/>
            <a:ext cx="0" cy="1005840"/>
          </a:xfrm>
          <a:prstGeom prst="line">
            <a:avLst/>
          </a:prstGeom>
          <a:noFill/>
          <a:ln w="31750">
            <a:solidFill>
              <a:srgbClr val="58DBBC"/>
            </a:solidFill>
            <a:prstDash val="solid"/>
          </a:ln>
        </p:spPr>
      </p:sp>
      <p:sp>
        <p:nvSpPr>
          <p:cNvPr id="22" name="Shape 19"/>
          <p:cNvSpPr/>
          <p:nvPr/>
        </p:nvSpPr>
        <p:spPr>
          <a:xfrm>
            <a:off x="4668012" y="2926080"/>
            <a:ext cx="0" cy="0"/>
          </a:xfrm>
          <a:prstGeom prst="line">
            <a:avLst/>
          </a:prstGeom>
          <a:noFill/>
          <a:ln w="31750">
            <a:solidFill>
              <a:srgbClr val="58DBBC"/>
            </a:solidFill>
            <a:prstDash val="solid"/>
          </a:ln>
        </p:spPr>
      </p:sp>
      <p:sp>
        <p:nvSpPr>
          <p:cNvPr id="23" name="Shape 20"/>
          <p:cNvSpPr/>
          <p:nvPr/>
        </p:nvSpPr>
        <p:spPr>
          <a:xfrm flipV="1">
            <a:off x="4668012" y="1920240"/>
            <a:ext cx="982980" cy="1005840"/>
          </a:xfrm>
          <a:prstGeom prst="line">
            <a:avLst/>
          </a:prstGeom>
          <a:noFill/>
          <a:ln w="31750">
            <a:solidFill>
              <a:srgbClr val="58DBBC"/>
            </a:solidFill>
            <a:prstDash val="solid"/>
          </a:ln>
        </p:spPr>
      </p:sp>
      <p:sp>
        <p:nvSpPr>
          <p:cNvPr id="24" name="Text 21"/>
          <p:cNvSpPr txBox="1"/>
          <p:nvPr/>
        </p:nvSpPr>
        <p:spPr>
          <a:xfrm>
            <a:off x="3593592" y="3383280"/>
            <a:ext cx="2194560" cy="411480"/>
          </a:xfrm>
          <a:prstGeom prst="rect">
            <a:avLst/>
          </a:prstGeom>
          <a:noFill/>
          <a:ln/>
        </p:spPr>
        <p:txBody>
          <a:bodyPr wrap="square" lIns="0" tIns="0" rIns="0" bIns="0" rtlCol="0" anchor="t"/>
          <a:lstStyle/>
          <a:p>
            <a:pPr indent="0" marL="0">
              <a:buNone/>
            </a:pPr>
            <a:r>
              <a:rPr lang="en-US" sz="2000" b="1" dirty="0">
                <a:solidFill>
                  <a:schemeClr val="tx1"/>
                </a:solidFill>
              </a:rPr>
              <a:t>Sawtooth</a:t>
            </a:r>
            <a:endParaRPr lang="en-US" sz="2000" dirty="0"/>
          </a:p>
        </p:txBody>
      </p:sp>
      <p:sp>
        <p:nvSpPr>
          <p:cNvPr id="25" name="Text 22"/>
          <p:cNvSpPr txBox="1"/>
          <p:nvPr/>
        </p:nvSpPr>
        <p:spPr>
          <a:xfrm>
            <a:off x="3593592" y="3886200"/>
            <a:ext cx="2240280" cy="1097280"/>
          </a:xfrm>
          <a:prstGeom prst="rect">
            <a:avLst/>
          </a:prstGeom>
          <a:noFill/>
          <a:ln/>
        </p:spPr>
        <p:txBody>
          <a:bodyPr wrap="square" lIns="0" tIns="0" rIns="0" bIns="0" rtlCol="0" anchor="t"/>
          <a:lstStyle/>
          <a:p>
            <a:pPr indent="0" marL="0">
              <a:buNone/>
            </a:pPr>
            <a:r>
              <a:rPr lang="en-US" sz="1500" dirty="0">
                <a:solidFill>
                  <a:schemeClr val="tx2"/>
                </a:solidFill>
              </a:rPr>
              <a:t>A steady ramp up, then a sudden drop.</a:t>
            </a:r>
            <a:endParaRPr lang="en-US" sz="1500" dirty="0"/>
          </a:p>
        </p:txBody>
      </p:sp>
      <p:sp>
        <p:nvSpPr>
          <p:cNvPr id="26" name="card"/>
          <p:cNvSpPr/>
          <p:nvPr/>
        </p:nvSpPr>
        <p:spPr>
          <a:xfrm>
            <a:off x="6181344" y="1508760"/>
            <a:ext cx="2606040" cy="3657600"/>
          </a:xfrm>
          <a:prstGeom prst="roundRect">
            <a:avLst>
              <a:gd name="adj" fmla="val 2807"/>
            </a:avLst>
          </a:prstGeom>
          <a:solidFill>
            <a:schemeClr val="bg2"/>
          </a:solidFill>
          <a:ln/>
        </p:spPr>
      </p:sp>
      <p:sp>
        <p:nvSpPr>
          <p:cNvPr id="27" name="Shape 24"/>
          <p:cNvSpPr/>
          <p:nvPr/>
        </p:nvSpPr>
        <p:spPr>
          <a:xfrm>
            <a:off x="6364224" y="1691640"/>
            <a:ext cx="2240280" cy="1463040"/>
          </a:xfrm>
          <a:prstGeom prst="roundRect">
            <a:avLst>
              <a:gd name="adj" fmla="val 3750"/>
            </a:avLst>
          </a:prstGeom>
          <a:solidFill>
            <a:schemeClr val="tx1"/>
          </a:solidFill>
          <a:ln/>
        </p:spPr>
      </p:sp>
      <p:sp>
        <p:nvSpPr>
          <p:cNvPr id="28" name="Shape 25"/>
          <p:cNvSpPr/>
          <p:nvPr/>
        </p:nvSpPr>
        <p:spPr>
          <a:xfrm>
            <a:off x="6455664" y="2423160"/>
            <a:ext cx="2057400" cy="0"/>
          </a:xfrm>
          <a:prstGeom prst="line">
            <a:avLst/>
          </a:prstGeom>
          <a:noFill/>
          <a:ln w="12700">
            <a:solidFill>
              <a:srgbClr val="425565"/>
            </a:solidFill>
            <a:prstDash val="solid"/>
          </a:ln>
        </p:spPr>
      </p:sp>
      <p:sp>
        <p:nvSpPr>
          <p:cNvPr id="29" name="Shape 26"/>
          <p:cNvSpPr/>
          <p:nvPr/>
        </p:nvSpPr>
        <p:spPr>
          <a:xfrm flipV="1">
            <a:off x="6501384" y="1920240"/>
            <a:ext cx="491490" cy="1005840"/>
          </a:xfrm>
          <a:prstGeom prst="line">
            <a:avLst/>
          </a:prstGeom>
          <a:noFill/>
          <a:ln w="31750">
            <a:solidFill>
              <a:srgbClr val="58DBBC"/>
            </a:solidFill>
            <a:prstDash val="solid"/>
          </a:ln>
        </p:spPr>
      </p:sp>
      <p:sp>
        <p:nvSpPr>
          <p:cNvPr id="30" name="Shape 27"/>
          <p:cNvSpPr/>
          <p:nvPr/>
        </p:nvSpPr>
        <p:spPr>
          <a:xfrm>
            <a:off x="6992874" y="1920240"/>
            <a:ext cx="491490" cy="1005840"/>
          </a:xfrm>
          <a:prstGeom prst="line">
            <a:avLst/>
          </a:prstGeom>
          <a:noFill/>
          <a:ln w="31750">
            <a:solidFill>
              <a:srgbClr val="58DBBC"/>
            </a:solidFill>
            <a:prstDash val="solid"/>
          </a:ln>
        </p:spPr>
      </p:sp>
      <p:sp>
        <p:nvSpPr>
          <p:cNvPr id="31" name="Shape 28"/>
          <p:cNvSpPr/>
          <p:nvPr/>
        </p:nvSpPr>
        <p:spPr>
          <a:xfrm>
            <a:off x="7484364" y="2926080"/>
            <a:ext cx="0" cy="0"/>
          </a:xfrm>
          <a:prstGeom prst="line">
            <a:avLst/>
          </a:prstGeom>
          <a:noFill/>
          <a:ln w="31750">
            <a:solidFill>
              <a:srgbClr val="58DBBC"/>
            </a:solidFill>
            <a:prstDash val="solid"/>
          </a:ln>
        </p:spPr>
      </p:sp>
      <p:sp>
        <p:nvSpPr>
          <p:cNvPr id="32" name="Shape 29"/>
          <p:cNvSpPr/>
          <p:nvPr/>
        </p:nvSpPr>
        <p:spPr>
          <a:xfrm flipV="1">
            <a:off x="7484364" y="1920240"/>
            <a:ext cx="491490" cy="1005840"/>
          </a:xfrm>
          <a:prstGeom prst="line">
            <a:avLst/>
          </a:prstGeom>
          <a:noFill/>
          <a:ln w="31750">
            <a:solidFill>
              <a:srgbClr val="58DBBC"/>
            </a:solidFill>
            <a:prstDash val="solid"/>
          </a:ln>
        </p:spPr>
      </p:sp>
      <p:sp>
        <p:nvSpPr>
          <p:cNvPr id="33" name="Shape 30"/>
          <p:cNvSpPr/>
          <p:nvPr/>
        </p:nvSpPr>
        <p:spPr>
          <a:xfrm>
            <a:off x="7975854" y="1920240"/>
            <a:ext cx="491490" cy="1005840"/>
          </a:xfrm>
          <a:prstGeom prst="line">
            <a:avLst/>
          </a:prstGeom>
          <a:noFill/>
          <a:ln w="31750">
            <a:solidFill>
              <a:srgbClr val="58DBBC"/>
            </a:solidFill>
            <a:prstDash val="solid"/>
          </a:ln>
        </p:spPr>
      </p:sp>
      <p:sp>
        <p:nvSpPr>
          <p:cNvPr id="34" name="Text 31"/>
          <p:cNvSpPr txBox="1"/>
          <p:nvPr/>
        </p:nvSpPr>
        <p:spPr>
          <a:xfrm>
            <a:off x="6409944" y="3383280"/>
            <a:ext cx="2194560" cy="411480"/>
          </a:xfrm>
          <a:prstGeom prst="rect">
            <a:avLst/>
          </a:prstGeom>
          <a:noFill/>
          <a:ln/>
        </p:spPr>
        <p:txBody>
          <a:bodyPr wrap="square" lIns="0" tIns="0" rIns="0" bIns="0" rtlCol="0" anchor="t"/>
          <a:lstStyle/>
          <a:p>
            <a:pPr indent="0" marL="0">
              <a:buNone/>
            </a:pPr>
            <a:r>
              <a:rPr lang="en-US" sz="2000" b="1" dirty="0">
                <a:solidFill>
                  <a:schemeClr val="tx1"/>
                </a:solidFill>
              </a:rPr>
              <a:t>Triangle</a:t>
            </a:r>
            <a:endParaRPr lang="en-US" sz="2000" dirty="0"/>
          </a:p>
        </p:txBody>
      </p:sp>
      <p:sp>
        <p:nvSpPr>
          <p:cNvPr id="35" name="Text 32"/>
          <p:cNvSpPr txBox="1"/>
          <p:nvPr/>
        </p:nvSpPr>
        <p:spPr>
          <a:xfrm>
            <a:off x="6409944" y="3886200"/>
            <a:ext cx="2240280" cy="1097280"/>
          </a:xfrm>
          <a:prstGeom prst="rect">
            <a:avLst/>
          </a:prstGeom>
          <a:noFill/>
          <a:ln/>
        </p:spPr>
        <p:txBody>
          <a:bodyPr wrap="square" lIns="0" tIns="0" rIns="0" bIns="0" rtlCol="0" anchor="t"/>
          <a:lstStyle/>
          <a:p>
            <a:pPr indent="0" marL="0">
              <a:buNone/>
            </a:pPr>
            <a:r>
              <a:rPr lang="en-US" sz="1500" dirty="0">
                <a:solidFill>
                  <a:schemeClr val="tx2"/>
                </a:solidFill>
              </a:rPr>
              <a:t>Up, then back down again.</a:t>
            </a:r>
            <a:endParaRPr lang="en-US" sz="1500" dirty="0"/>
          </a:p>
        </p:txBody>
      </p:sp>
      <p:sp>
        <p:nvSpPr>
          <p:cNvPr id="36" name="card"/>
          <p:cNvSpPr/>
          <p:nvPr/>
        </p:nvSpPr>
        <p:spPr>
          <a:xfrm>
            <a:off x="8997696" y="1508760"/>
            <a:ext cx="2606040" cy="3657600"/>
          </a:xfrm>
          <a:prstGeom prst="roundRect">
            <a:avLst>
              <a:gd name="adj" fmla="val 2807"/>
            </a:avLst>
          </a:prstGeom>
          <a:solidFill>
            <a:schemeClr val="bg2"/>
          </a:solidFill>
          <a:ln/>
        </p:spPr>
      </p:sp>
      <p:sp>
        <p:nvSpPr>
          <p:cNvPr id="37" name="Shape 34"/>
          <p:cNvSpPr/>
          <p:nvPr/>
        </p:nvSpPr>
        <p:spPr>
          <a:xfrm>
            <a:off x="9180576" y="1691640"/>
            <a:ext cx="2240280" cy="1463040"/>
          </a:xfrm>
          <a:prstGeom prst="roundRect">
            <a:avLst>
              <a:gd name="adj" fmla="val 3750"/>
            </a:avLst>
          </a:prstGeom>
          <a:solidFill>
            <a:schemeClr val="tx1"/>
          </a:solidFill>
          <a:ln/>
        </p:spPr>
      </p:sp>
      <p:sp>
        <p:nvSpPr>
          <p:cNvPr id="38" name="Shape 35"/>
          <p:cNvSpPr/>
          <p:nvPr/>
        </p:nvSpPr>
        <p:spPr>
          <a:xfrm>
            <a:off x="9272016" y="2423160"/>
            <a:ext cx="2057400" cy="0"/>
          </a:xfrm>
          <a:prstGeom prst="line">
            <a:avLst/>
          </a:prstGeom>
          <a:noFill/>
          <a:ln w="12700">
            <a:solidFill>
              <a:srgbClr val="425565"/>
            </a:solidFill>
            <a:prstDash val="solid"/>
          </a:ln>
        </p:spPr>
      </p:sp>
      <p:sp>
        <p:nvSpPr>
          <p:cNvPr id="39" name="Shape 36"/>
          <p:cNvSpPr/>
          <p:nvPr/>
        </p:nvSpPr>
        <p:spPr>
          <a:xfrm>
            <a:off x="9317736" y="2121408"/>
            <a:ext cx="163830" cy="0"/>
          </a:xfrm>
          <a:prstGeom prst="line">
            <a:avLst/>
          </a:prstGeom>
          <a:noFill/>
          <a:ln w="31750">
            <a:solidFill>
              <a:srgbClr val="58DBBC"/>
            </a:solidFill>
            <a:prstDash val="solid"/>
          </a:ln>
        </p:spPr>
      </p:sp>
      <p:sp>
        <p:nvSpPr>
          <p:cNvPr id="40" name="Shape 37"/>
          <p:cNvSpPr/>
          <p:nvPr/>
        </p:nvSpPr>
        <p:spPr>
          <a:xfrm>
            <a:off x="9481566" y="2121408"/>
            <a:ext cx="0" cy="704088"/>
          </a:xfrm>
          <a:prstGeom prst="line">
            <a:avLst/>
          </a:prstGeom>
          <a:noFill/>
          <a:ln w="31750">
            <a:solidFill>
              <a:srgbClr val="58DBBC"/>
            </a:solidFill>
            <a:prstDash val="solid"/>
          </a:ln>
        </p:spPr>
      </p:sp>
      <p:sp>
        <p:nvSpPr>
          <p:cNvPr id="41" name="Shape 38"/>
          <p:cNvSpPr/>
          <p:nvPr/>
        </p:nvSpPr>
        <p:spPr>
          <a:xfrm>
            <a:off x="9481566" y="2825496"/>
            <a:ext cx="163830" cy="0"/>
          </a:xfrm>
          <a:prstGeom prst="line">
            <a:avLst/>
          </a:prstGeom>
          <a:noFill/>
          <a:ln w="31750">
            <a:solidFill>
              <a:srgbClr val="58DBBC"/>
            </a:solidFill>
            <a:prstDash val="solid"/>
          </a:ln>
        </p:spPr>
      </p:sp>
      <p:sp>
        <p:nvSpPr>
          <p:cNvPr id="42" name="Shape 39"/>
          <p:cNvSpPr/>
          <p:nvPr/>
        </p:nvSpPr>
        <p:spPr>
          <a:xfrm>
            <a:off x="9645396" y="2272284"/>
            <a:ext cx="0" cy="553212"/>
          </a:xfrm>
          <a:prstGeom prst="line">
            <a:avLst/>
          </a:prstGeom>
          <a:noFill/>
          <a:ln w="31750">
            <a:solidFill>
              <a:srgbClr val="58DBBC"/>
            </a:solidFill>
            <a:prstDash val="solid"/>
          </a:ln>
        </p:spPr>
      </p:sp>
      <p:sp>
        <p:nvSpPr>
          <p:cNvPr id="43" name="Shape 40"/>
          <p:cNvSpPr/>
          <p:nvPr/>
        </p:nvSpPr>
        <p:spPr>
          <a:xfrm>
            <a:off x="9645396" y="2272284"/>
            <a:ext cx="163830" cy="0"/>
          </a:xfrm>
          <a:prstGeom prst="line">
            <a:avLst/>
          </a:prstGeom>
          <a:noFill/>
          <a:ln w="31750">
            <a:solidFill>
              <a:srgbClr val="58DBBC"/>
            </a:solidFill>
            <a:prstDash val="solid"/>
          </a:ln>
        </p:spPr>
      </p:sp>
      <p:sp>
        <p:nvSpPr>
          <p:cNvPr id="44" name="Shape 41"/>
          <p:cNvSpPr/>
          <p:nvPr/>
        </p:nvSpPr>
        <p:spPr>
          <a:xfrm>
            <a:off x="9809226" y="2272284"/>
            <a:ext cx="0" cy="352044"/>
          </a:xfrm>
          <a:prstGeom prst="line">
            <a:avLst/>
          </a:prstGeom>
          <a:noFill/>
          <a:ln w="31750">
            <a:solidFill>
              <a:srgbClr val="58DBBC"/>
            </a:solidFill>
            <a:prstDash val="solid"/>
          </a:ln>
        </p:spPr>
      </p:sp>
      <p:sp>
        <p:nvSpPr>
          <p:cNvPr id="45" name="Shape 42"/>
          <p:cNvSpPr/>
          <p:nvPr/>
        </p:nvSpPr>
        <p:spPr>
          <a:xfrm>
            <a:off x="9809226" y="2624328"/>
            <a:ext cx="163830" cy="0"/>
          </a:xfrm>
          <a:prstGeom prst="line">
            <a:avLst/>
          </a:prstGeom>
          <a:noFill/>
          <a:ln w="31750">
            <a:solidFill>
              <a:srgbClr val="58DBBC"/>
            </a:solidFill>
            <a:prstDash val="solid"/>
          </a:ln>
        </p:spPr>
      </p:sp>
      <p:sp>
        <p:nvSpPr>
          <p:cNvPr id="46" name="Shape 43"/>
          <p:cNvSpPr/>
          <p:nvPr/>
        </p:nvSpPr>
        <p:spPr>
          <a:xfrm>
            <a:off x="9973056" y="1970532"/>
            <a:ext cx="0" cy="653796"/>
          </a:xfrm>
          <a:prstGeom prst="line">
            <a:avLst/>
          </a:prstGeom>
          <a:noFill/>
          <a:ln w="31750">
            <a:solidFill>
              <a:srgbClr val="58DBBC"/>
            </a:solidFill>
            <a:prstDash val="solid"/>
          </a:ln>
        </p:spPr>
      </p:sp>
      <p:sp>
        <p:nvSpPr>
          <p:cNvPr id="47" name="Shape 44"/>
          <p:cNvSpPr/>
          <p:nvPr/>
        </p:nvSpPr>
        <p:spPr>
          <a:xfrm>
            <a:off x="9973056" y="1970532"/>
            <a:ext cx="163830" cy="0"/>
          </a:xfrm>
          <a:prstGeom prst="line">
            <a:avLst/>
          </a:prstGeom>
          <a:noFill/>
          <a:ln w="31750">
            <a:solidFill>
              <a:srgbClr val="58DBBC"/>
            </a:solidFill>
            <a:prstDash val="solid"/>
          </a:ln>
        </p:spPr>
      </p:sp>
      <p:sp>
        <p:nvSpPr>
          <p:cNvPr id="48" name="Shape 45"/>
          <p:cNvSpPr/>
          <p:nvPr/>
        </p:nvSpPr>
        <p:spPr>
          <a:xfrm>
            <a:off x="10136886" y="1970532"/>
            <a:ext cx="0" cy="502920"/>
          </a:xfrm>
          <a:prstGeom prst="line">
            <a:avLst/>
          </a:prstGeom>
          <a:noFill/>
          <a:ln w="31750">
            <a:solidFill>
              <a:srgbClr val="58DBBC"/>
            </a:solidFill>
            <a:prstDash val="solid"/>
          </a:ln>
        </p:spPr>
      </p:sp>
      <p:sp>
        <p:nvSpPr>
          <p:cNvPr id="49" name="Shape 46"/>
          <p:cNvSpPr/>
          <p:nvPr/>
        </p:nvSpPr>
        <p:spPr>
          <a:xfrm>
            <a:off x="10136886" y="2473452"/>
            <a:ext cx="163830" cy="0"/>
          </a:xfrm>
          <a:prstGeom prst="line">
            <a:avLst/>
          </a:prstGeom>
          <a:noFill/>
          <a:ln w="31750">
            <a:solidFill>
              <a:srgbClr val="58DBBC"/>
            </a:solidFill>
            <a:prstDash val="solid"/>
          </a:ln>
        </p:spPr>
      </p:sp>
      <p:sp>
        <p:nvSpPr>
          <p:cNvPr id="50" name="Shape 47"/>
          <p:cNvSpPr/>
          <p:nvPr/>
        </p:nvSpPr>
        <p:spPr>
          <a:xfrm>
            <a:off x="10300716" y="2473452"/>
            <a:ext cx="0" cy="402336"/>
          </a:xfrm>
          <a:prstGeom prst="line">
            <a:avLst/>
          </a:prstGeom>
          <a:noFill/>
          <a:ln w="31750">
            <a:solidFill>
              <a:srgbClr val="58DBBC"/>
            </a:solidFill>
            <a:prstDash val="solid"/>
          </a:ln>
        </p:spPr>
      </p:sp>
      <p:sp>
        <p:nvSpPr>
          <p:cNvPr id="51" name="Shape 48"/>
          <p:cNvSpPr/>
          <p:nvPr/>
        </p:nvSpPr>
        <p:spPr>
          <a:xfrm>
            <a:off x="10300716" y="2875788"/>
            <a:ext cx="163830" cy="0"/>
          </a:xfrm>
          <a:prstGeom prst="line">
            <a:avLst/>
          </a:prstGeom>
          <a:noFill/>
          <a:ln w="31750">
            <a:solidFill>
              <a:srgbClr val="58DBBC"/>
            </a:solidFill>
            <a:prstDash val="solid"/>
          </a:ln>
        </p:spPr>
      </p:sp>
      <p:sp>
        <p:nvSpPr>
          <p:cNvPr id="52" name="Shape 49"/>
          <p:cNvSpPr/>
          <p:nvPr/>
        </p:nvSpPr>
        <p:spPr>
          <a:xfrm>
            <a:off x="10464546" y="2071116"/>
            <a:ext cx="0" cy="804672"/>
          </a:xfrm>
          <a:prstGeom prst="line">
            <a:avLst/>
          </a:prstGeom>
          <a:noFill/>
          <a:ln w="31750">
            <a:solidFill>
              <a:srgbClr val="58DBBC"/>
            </a:solidFill>
            <a:prstDash val="solid"/>
          </a:ln>
        </p:spPr>
      </p:sp>
      <p:sp>
        <p:nvSpPr>
          <p:cNvPr id="53" name="Shape 50"/>
          <p:cNvSpPr/>
          <p:nvPr/>
        </p:nvSpPr>
        <p:spPr>
          <a:xfrm>
            <a:off x="10464546" y="2071116"/>
            <a:ext cx="163830" cy="0"/>
          </a:xfrm>
          <a:prstGeom prst="line">
            <a:avLst/>
          </a:prstGeom>
          <a:noFill/>
          <a:ln w="31750">
            <a:solidFill>
              <a:srgbClr val="58DBBC"/>
            </a:solidFill>
            <a:prstDash val="solid"/>
          </a:ln>
        </p:spPr>
      </p:sp>
      <p:sp>
        <p:nvSpPr>
          <p:cNvPr id="54" name="Shape 51"/>
          <p:cNvSpPr/>
          <p:nvPr/>
        </p:nvSpPr>
        <p:spPr>
          <a:xfrm>
            <a:off x="10628376" y="2071116"/>
            <a:ext cx="0" cy="452628"/>
          </a:xfrm>
          <a:prstGeom prst="line">
            <a:avLst/>
          </a:prstGeom>
          <a:noFill/>
          <a:ln w="31750">
            <a:solidFill>
              <a:srgbClr val="58DBBC"/>
            </a:solidFill>
            <a:prstDash val="solid"/>
          </a:ln>
        </p:spPr>
      </p:sp>
      <p:sp>
        <p:nvSpPr>
          <p:cNvPr id="55" name="Shape 52"/>
          <p:cNvSpPr/>
          <p:nvPr/>
        </p:nvSpPr>
        <p:spPr>
          <a:xfrm>
            <a:off x="10628376" y="2523744"/>
            <a:ext cx="163830" cy="0"/>
          </a:xfrm>
          <a:prstGeom prst="line">
            <a:avLst/>
          </a:prstGeom>
          <a:noFill/>
          <a:ln w="31750">
            <a:solidFill>
              <a:srgbClr val="58DBBC"/>
            </a:solidFill>
            <a:prstDash val="solid"/>
          </a:ln>
        </p:spPr>
      </p:sp>
      <p:sp>
        <p:nvSpPr>
          <p:cNvPr id="56" name="Shape 53"/>
          <p:cNvSpPr/>
          <p:nvPr/>
        </p:nvSpPr>
        <p:spPr>
          <a:xfrm>
            <a:off x="10792206" y="2221992"/>
            <a:ext cx="0" cy="301752"/>
          </a:xfrm>
          <a:prstGeom prst="line">
            <a:avLst/>
          </a:prstGeom>
          <a:noFill/>
          <a:ln w="31750">
            <a:solidFill>
              <a:srgbClr val="58DBBC"/>
            </a:solidFill>
            <a:prstDash val="solid"/>
          </a:ln>
        </p:spPr>
      </p:sp>
      <p:sp>
        <p:nvSpPr>
          <p:cNvPr id="57" name="Shape 54"/>
          <p:cNvSpPr/>
          <p:nvPr/>
        </p:nvSpPr>
        <p:spPr>
          <a:xfrm>
            <a:off x="10792206" y="2221992"/>
            <a:ext cx="163830" cy="0"/>
          </a:xfrm>
          <a:prstGeom prst="line">
            <a:avLst/>
          </a:prstGeom>
          <a:noFill/>
          <a:ln w="31750">
            <a:solidFill>
              <a:srgbClr val="58DBBC"/>
            </a:solidFill>
            <a:prstDash val="solid"/>
          </a:ln>
        </p:spPr>
      </p:sp>
      <p:sp>
        <p:nvSpPr>
          <p:cNvPr id="58" name="Shape 55"/>
          <p:cNvSpPr/>
          <p:nvPr/>
        </p:nvSpPr>
        <p:spPr>
          <a:xfrm>
            <a:off x="10956036" y="2221992"/>
            <a:ext cx="0" cy="502920"/>
          </a:xfrm>
          <a:prstGeom prst="line">
            <a:avLst/>
          </a:prstGeom>
          <a:noFill/>
          <a:ln w="31750">
            <a:solidFill>
              <a:srgbClr val="58DBBC"/>
            </a:solidFill>
            <a:prstDash val="solid"/>
          </a:ln>
        </p:spPr>
      </p:sp>
      <p:sp>
        <p:nvSpPr>
          <p:cNvPr id="59" name="Shape 56"/>
          <p:cNvSpPr/>
          <p:nvPr/>
        </p:nvSpPr>
        <p:spPr>
          <a:xfrm>
            <a:off x="10956036" y="2724912"/>
            <a:ext cx="163830" cy="0"/>
          </a:xfrm>
          <a:prstGeom prst="line">
            <a:avLst/>
          </a:prstGeom>
          <a:noFill/>
          <a:ln w="31750">
            <a:solidFill>
              <a:srgbClr val="58DBBC"/>
            </a:solidFill>
            <a:prstDash val="solid"/>
          </a:ln>
        </p:spPr>
      </p:sp>
      <p:sp>
        <p:nvSpPr>
          <p:cNvPr id="60" name="Shape 57"/>
          <p:cNvSpPr/>
          <p:nvPr/>
        </p:nvSpPr>
        <p:spPr>
          <a:xfrm>
            <a:off x="11119866" y="2372868"/>
            <a:ext cx="0" cy="352044"/>
          </a:xfrm>
          <a:prstGeom prst="line">
            <a:avLst/>
          </a:prstGeom>
          <a:noFill/>
          <a:ln w="31750">
            <a:solidFill>
              <a:srgbClr val="58DBBC"/>
            </a:solidFill>
            <a:prstDash val="solid"/>
          </a:ln>
        </p:spPr>
      </p:sp>
      <p:sp>
        <p:nvSpPr>
          <p:cNvPr id="61" name="Shape 58"/>
          <p:cNvSpPr/>
          <p:nvPr/>
        </p:nvSpPr>
        <p:spPr>
          <a:xfrm>
            <a:off x="11119866" y="2372868"/>
            <a:ext cx="163830" cy="0"/>
          </a:xfrm>
          <a:prstGeom prst="line">
            <a:avLst/>
          </a:prstGeom>
          <a:noFill/>
          <a:ln w="31750">
            <a:solidFill>
              <a:srgbClr val="58DBBC"/>
            </a:solidFill>
            <a:prstDash val="solid"/>
          </a:ln>
        </p:spPr>
      </p:sp>
      <p:sp>
        <p:nvSpPr>
          <p:cNvPr id="62" name="Text 59"/>
          <p:cNvSpPr txBox="1"/>
          <p:nvPr/>
        </p:nvSpPr>
        <p:spPr>
          <a:xfrm>
            <a:off x="9226296" y="3383280"/>
            <a:ext cx="2194560" cy="411480"/>
          </a:xfrm>
          <a:prstGeom prst="rect">
            <a:avLst/>
          </a:prstGeom>
          <a:noFill/>
          <a:ln/>
        </p:spPr>
        <p:txBody>
          <a:bodyPr wrap="square" lIns="0" tIns="0" rIns="0" bIns="0" rtlCol="0" anchor="t"/>
          <a:lstStyle/>
          <a:p>
            <a:pPr indent="0" marL="0">
              <a:buNone/>
            </a:pPr>
            <a:r>
              <a:rPr lang="en-US" sz="2000" b="1" dirty="0">
                <a:solidFill>
                  <a:schemeClr val="tx1"/>
                </a:solidFill>
              </a:rPr>
              <a:t>Noise</a:t>
            </a:r>
            <a:endParaRPr lang="en-US" sz="2000" dirty="0"/>
          </a:p>
        </p:txBody>
      </p:sp>
      <p:sp>
        <p:nvSpPr>
          <p:cNvPr id="63" name="Text 60"/>
          <p:cNvSpPr txBox="1"/>
          <p:nvPr/>
        </p:nvSpPr>
        <p:spPr>
          <a:xfrm>
            <a:off x="9226296" y="3886200"/>
            <a:ext cx="2240280" cy="1097280"/>
          </a:xfrm>
          <a:prstGeom prst="rect">
            <a:avLst/>
          </a:prstGeom>
          <a:noFill/>
          <a:ln/>
        </p:spPr>
        <p:txBody>
          <a:bodyPr wrap="square" lIns="0" tIns="0" rIns="0" bIns="0" rtlCol="0" anchor="t"/>
          <a:lstStyle/>
          <a:p>
            <a:pPr indent="0" marL="0">
              <a:buNone/>
            </a:pPr>
            <a:r>
              <a:rPr lang="en-US" sz="1500" dirty="0">
                <a:solidFill>
                  <a:schemeClr val="tx2"/>
                </a:solidFill>
              </a:rPr>
              <a:t>A random height, changed once every lap.</a:t>
            </a:r>
            <a:endParaRPr lang="en-US" sz="1500" dirty="0"/>
          </a:p>
        </p:txBody>
      </p:sp>
      <p:sp>
        <p:nvSpPr>
          <p:cNvPr id="64" name="card"/>
          <p:cNvSpPr/>
          <p:nvPr/>
        </p:nvSpPr>
        <p:spPr>
          <a:xfrm>
            <a:off x="548640" y="5440680"/>
            <a:ext cx="11064240" cy="640080"/>
          </a:xfrm>
          <a:prstGeom prst="roundRect">
            <a:avLst>
              <a:gd name="adj" fmla="val 11429"/>
            </a:avLst>
          </a:prstGeom>
          <a:solidFill>
            <a:schemeClr val="tx1"/>
          </a:solidFill>
          <a:ln/>
        </p:spPr>
      </p:sp>
      <p:sp>
        <p:nvSpPr>
          <p:cNvPr id="65" name="Text 62"/>
          <p:cNvSpPr txBox="1"/>
          <p:nvPr/>
        </p:nvSpPr>
        <p:spPr>
          <a:xfrm>
            <a:off x="822960" y="5440680"/>
            <a:ext cx="10607040" cy="640080"/>
          </a:xfrm>
          <a:prstGeom prst="rect">
            <a:avLst/>
          </a:prstGeom>
          <a:noFill/>
          <a:ln/>
        </p:spPr>
        <p:txBody>
          <a:bodyPr wrap="square" lIns="0" tIns="0" rIns="0" bIns="0" rtlCol="0" anchor="ctr"/>
          <a:lstStyle/>
          <a:p>
            <a:pPr indent="0" marL="0">
              <a:buNone/>
            </a:pPr>
            <a:r>
              <a:rPr lang="en-US" sz="1500" b="1" dirty="0">
                <a:solidFill>
                  <a:schemeClr val="accent2"/>
                </a:solidFill>
              </a:rPr>
              <a:t>Phase</a:t>
            </a:r>
            <a:pPr indent="0" marL="0">
              <a:buNone/>
            </a:pPr>
            <a:r>
              <a:rPr lang="en-US" sz="1500" dirty="0">
                <a:solidFill>
                  <a:schemeClr val="bg1"/>
                </a:solidFill>
              </a:rPr>
              <a:t> = where the clock hand is in one lap (0 = start, 1 = done). Changing the pitch only changes how fast the hand moves.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Six problems Assembly made us solve ourselves</a:t>
            </a:r>
            <a:endParaRPr lang="en-US" sz="2800" dirty="0"/>
          </a:p>
        </p:txBody>
      </p:sp>
      <p:sp>
        <p:nvSpPr>
          <p:cNvPr id="4" name="card"/>
          <p:cNvSpPr/>
          <p:nvPr/>
        </p:nvSpPr>
        <p:spPr>
          <a:xfrm>
            <a:off x="548640" y="1463040"/>
            <a:ext cx="3566160" cy="2194560"/>
          </a:xfrm>
          <a:prstGeom prst="roundRect">
            <a:avLst>
              <a:gd name="adj" fmla="val 3333"/>
            </a:avLst>
          </a:prstGeom>
          <a:solidFill>
            <a:schemeClr val="bg2"/>
          </a:solidFill>
          <a:ln/>
        </p:spPr>
      </p:sp>
      <p:sp>
        <p:nvSpPr>
          <p:cNvPr id="5" name="Shape 2"/>
          <p:cNvSpPr/>
          <p:nvPr/>
        </p:nvSpPr>
        <p:spPr>
          <a:xfrm>
            <a:off x="777240" y="1664208"/>
            <a:ext cx="411480" cy="411480"/>
          </a:xfrm>
          <a:prstGeom prst="ellipse">
            <a:avLst/>
          </a:prstGeom>
          <a:solidFill>
            <a:schemeClr val="accent1"/>
          </a:solidFill>
          <a:ln/>
        </p:spPr>
      </p:sp>
      <p:sp>
        <p:nvSpPr>
          <p:cNvPr id="6" name="Text 3"/>
          <p:cNvSpPr txBox="1"/>
          <p:nvPr/>
        </p:nvSpPr>
        <p:spPr>
          <a:xfrm>
            <a:off x="777240" y="166420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325880" y="1645920"/>
            <a:ext cx="2651760" cy="457200"/>
          </a:xfrm>
          <a:prstGeom prst="rect">
            <a:avLst/>
          </a:prstGeom>
          <a:noFill/>
          <a:ln/>
        </p:spPr>
        <p:txBody>
          <a:bodyPr wrap="square" lIns="0" tIns="0" rIns="0" bIns="0" rtlCol="0" anchor="ctr"/>
          <a:lstStyle/>
          <a:p>
            <a:pPr indent="0" marL="0">
              <a:buNone/>
            </a:pPr>
            <a:r>
              <a:rPr lang="en-US" sz="1600" b="1" dirty="0">
                <a:solidFill>
                  <a:schemeClr val="tx1"/>
                </a:solidFill>
              </a:rPr>
              <a:t>Bad input</a:t>
            </a:r>
            <a:endParaRPr lang="en-US" sz="1600" dirty="0"/>
          </a:p>
        </p:txBody>
      </p:sp>
      <p:sp>
        <p:nvSpPr>
          <p:cNvPr id="8" name="Shape 5"/>
          <p:cNvSpPr/>
          <p:nvPr/>
        </p:nvSpPr>
        <p:spPr>
          <a:xfrm>
            <a:off x="777240" y="2240280"/>
            <a:ext cx="3108960" cy="685800"/>
          </a:xfrm>
          <a:prstGeom prst="rect">
            <a:avLst/>
          </a:prstGeom>
          <a:solidFill>
            <a:schemeClr val="tx1"/>
          </a:solidFill>
          <a:ln/>
        </p:spPr>
      </p:sp>
      <p:sp>
        <p:nvSpPr>
          <p:cNvPr id="9" name="Text 6"/>
          <p:cNvSpPr txBox="1"/>
          <p:nvPr/>
        </p:nvSpPr>
        <p:spPr>
          <a:xfrm>
            <a:off x="868680" y="2240280"/>
            <a:ext cx="2971800" cy="685800"/>
          </a:xfrm>
          <a:prstGeom prst="rect">
            <a:avLst/>
          </a:prstGeom>
          <a:noFill/>
          <a:ln/>
        </p:spPr>
        <p:txBody>
          <a:bodyPr wrap="square" lIns="0" tIns="0" rIns="0" bIns="0" rtlCol="0" anchor="ctr"/>
          <a:lstStyle/>
          <a:p>
            <a:pPr indent="0" marL="0">
              <a:buNone/>
            </a:pPr>
            <a:r>
              <a:rPr lang="en-US" sz="1200" b="1" dirty="0">
                <a:solidFill>
                  <a:schemeClr val="accent2"/>
                </a:solidFill>
              </a:rPr>
              <a:t>Problem: </a:t>
            </a:r>
            <a:pPr indent="0" marL="0">
              <a:buNone/>
            </a:pPr>
            <a:r>
              <a:rPr lang="en-US" sz="1200" dirty="0">
                <a:solidFill>
                  <a:schemeClr val="bg1"/>
                </a:solidFill>
              </a:rPr>
              <a:t>A value that isn't a real number breaks normal comparisons.</a:t>
            </a:r>
            <a:endParaRPr lang="en-US" sz="1200" dirty="0"/>
          </a:p>
        </p:txBody>
      </p:sp>
      <p:sp>
        <p:nvSpPr>
          <p:cNvPr id="10" name="Text 7"/>
          <p:cNvSpPr txBox="1"/>
          <p:nvPr/>
        </p:nvSpPr>
        <p:spPr>
          <a:xfrm>
            <a:off x="777240" y="3017520"/>
            <a:ext cx="3154680" cy="594360"/>
          </a:xfrm>
          <a:prstGeom prst="rect">
            <a:avLst/>
          </a:prstGeom>
          <a:noFill/>
          <a:ln/>
        </p:spPr>
        <p:txBody>
          <a:bodyPr wrap="square" lIns="0" tIns="0" rIns="0" bIns="0" rtlCol="0" anchor="t"/>
          <a:lstStyle/>
          <a:p>
            <a:pPr indent="0" marL="0">
              <a:buNone/>
            </a:pPr>
            <a:r>
              <a:rPr lang="en-US" sz="1300" b="1" dirty="0">
                <a:solidFill>
                  <a:schemeClr val="accent1"/>
                </a:solidFill>
              </a:rPr>
              <a:t>Our fix: </a:t>
            </a:r>
            <a:pPr indent="0" marL="0">
              <a:buNone/>
            </a:pPr>
            <a:r>
              <a:rPr lang="en-US" sz="1300" dirty="0">
                <a:solidFill>
                  <a:schemeClr val="tx2"/>
                </a:solidFill>
              </a:rPr>
              <a:t>An extra check catches it before anything runs.</a:t>
            </a:r>
            <a:endParaRPr lang="en-US" sz="1300" dirty="0"/>
          </a:p>
        </p:txBody>
      </p:sp>
      <p:sp>
        <p:nvSpPr>
          <p:cNvPr id="11" name="card"/>
          <p:cNvSpPr/>
          <p:nvPr/>
        </p:nvSpPr>
        <p:spPr>
          <a:xfrm>
            <a:off x="4297680" y="1463040"/>
            <a:ext cx="3566160" cy="2194560"/>
          </a:xfrm>
          <a:prstGeom prst="roundRect">
            <a:avLst>
              <a:gd name="adj" fmla="val 3333"/>
            </a:avLst>
          </a:prstGeom>
          <a:solidFill>
            <a:schemeClr val="bg2"/>
          </a:solidFill>
          <a:ln/>
        </p:spPr>
      </p:sp>
      <p:sp>
        <p:nvSpPr>
          <p:cNvPr id="12" name="Shape 9"/>
          <p:cNvSpPr/>
          <p:nvPr/>
        </p:nvSpPr>
        <p:spPr>
          <a:xfrm>
            <a:off x="4526280" y="1664208"/>
            <a:ext cx="411480" cy="411480"/>
          </a:xfrm>
          <a:prstGeom prst="ellipse">
            <a:avLst/>
          </a:prstGeom>
          <a:solidFill>
            <a:schemeClr val="accent1"/>
          </a:solidFill>
          <a:ln/>
        </p:spPr>
      </p:sp>
      <p:sp>
        <p:nvSpPr>
          <p:cNvPr id="13" name="Text 10"/>
          <p:cNvSpPr txBox="1"/>
          <p:nvPr/>
        </p:nvSpPr>
        <p:spPr>
          <a:xfrm>
            <a:off x="4526280" y="166420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5074920" y="1645920"/>
            <a:ext cx="2651760" cy="457200"/>
          </a:xfrm>
          <a:prstGeom prst="rect">
            <a:avLst/>
          </a:prstGeom>
          <a:noFill/>
          <a:ln/>
        </p:spPr>
        <p:txBody>
          <a:bodyPr wrap="square" lIns="0" tIns="0" rIns="0" bIns="0" rtlCol="0" anchor="ctr"/>
          <a:lstStyle/>
          <a:p>
            <a:pPr indent="0" marL="0">
              <a:buNone/>
            </a:pPr>
            <a:r>
              <a:rPr lang="en-US" sz="1600" b="1" dirty="0">
                <a:solidFill>
                  <a:schemeClr val="tx1"/>
                </a:solidFill>
              </a:rPr>
              <a:t>No “power of” button</a:t>
            </a:r>
            <a:endParaRPr lang="en-US" sz="1600" dirty="0"/>
          </a:p>
        </p:txBody>
      </p:sp>
      <p:sp>
        <p:nvSpPr>
          <p:cNvPr id="15" name="Shape 12"/>
          <p:cNvSpPr/>
          <p:nvPr/>
        </p:nvSpPr>
        <p:spPr>
          <a:xfrm>
            <a:off x="4526280" y="2240280"/>
            <a:ext cx="3108960" cy="685800"/>
          </a:xfrm>
          <a:prstGeom prst="rect">
            <a:avLst/>
          </a:prstGeom>
          <a:solidFill>
            <a:schemeClr val="tx1"/>
          </a:solidFill>
          <a:ln/>
        </p:spPr>
      </p:sp>
      <p:sp>
        <p:nvSpPr>
          <p:cNvPr id="16" name="Text 13"/>
          <p:cNvSpPr txBox="1"/>
          <p:nvPr/>
        </p:nvSpPr>
        <p:spPr>
          <a:xfrm>
            <a:off x="4617720" y="2240280"/>
            <a:ext cx="2971800" cy="685800"/>
          </a:xfrm>
          <a:prstGeom prst="rect">
            <a:avLst/>
          </a:prstGeom>
          <a:noFill/>
          <a:ln/>
        </p:spPr>
        <p:txBody>
          <a:bodyPr wrap="square" lIns="0" tIns="0" rIns="0" bIns="0" rtlCol="0" anchor="ctr"/>
          <a:lstStyle/>
          <a:p>
            <a:pPr indent="0" marL="0">
              <a:buNone/>
            </a:pPr>
            <a:r>
              <a:rPr lang="en-US" sz="1200" b="1" dirty="0">
                <a:solidFill>
                  <a:schemeClr val="accent2"/>
                </a:solidFill>
              </a:rPr>
              <a:t>Problem: </a:t>
            </a:r>
            <a:pPr indent="0" marL="0">
              <a:buNone/>
            </a:pPr>
            <a:r>
              <a:rPr lang="en-US" sz="1200" dirty="0">
                <a:solidFill>
                  <a:schemeClr val="bg1"/>
                </a:solidFill>
              </a:rPr>
              <a:t>The processor can't do 2-to-the-power-of directly, and pitch slides need it.</a:t>
            </a:r>
            <a:endParaRPr lang="en-US" sz="1200" dirty="0"/>
          </a:p>
        </p:txBody>
      </p:sp>
      <p:sp>
        <p:nvSpPr>
          <p:cNvPr id="17" name="Text 14"/>
          <p:cNvSpPr txBox="1"/>
          <p:nvPr/>
        </p:nvSpPr>
        <p:spPr>
          <a:xfrm>
            <a:off x="4526280" y="3017520"/>
            <a:ext cx="3154680" cy="594360"/>
          </a:xfrm>
          <a:prstGeom prst="rect">
            <a:avLst/>
          </a:prstGeom>
          <a:noFill/>
          <a:ln/>
        </p:spPr>
        <p:txBody>
          <a:bodyPr wrap="square" lIns="0" tIns="0" rIns="0" bIns="0" rtlCol="0" anchor="t"/>
          <a:lstStyle/>
          <a:p>
            <a:pPr indent="0" marL="0">
              <a:buNone/>
            </a:pPr>
            <a:r>
              <a:rPr lang="en-US" sz="1300" b="1" dirty="0">
                <a:solidFill>
                  <a:schemeClr val="accent1"/>
                </a:solidFill>
              </a:rPr>
              <a:t>Our fix: </a:t>
            </a:r>
            <a:pPr indent="0" marL="0">
              <a:buNone/>
            </a:pPr>
            <a:r>
              <a:rPr lang="en-US" sz="1300" dirty="0">
                <a:solidFill>
                  <a:schemeClr val="tx2"/>
                </a:solidFill>
              </a:rPr>
              <a:t>A short maths shortcut, accurate because each step is tiny.</a:t>
            </a:r>
            <a:endParaRPr lang="en-US" sz="1300" dirty="0"/>
          </a:p>
        </p:txBody>
      </p:sp>
      <p:sp>
        <p:nvSpPr>
          <p:cNvPr id="18" name="card"/>
          <p:cNvSpPr/>
          <p:nvPr/>
        </p:nvSpPr>
        <p:spPr>
          <a:xfrm>
            <a:off x="8046720" y="1463040"/>
            <a:ext cx="3566160" cy="2194560"/>
          </a:xfrm>
          <a:prstGeom prst="roundRect">
            <a:avLst>
              <a:gd name="adj" fmla="val 3333"/>
            </a:avLst>
          </a:prstGeom>
          <a:solidFill>
            <a:schemeClr val="bg2"/>
          </a:solidFill>
          <a:ln/>
        </p:spPr>
      </p:sp>
      <p:sp>
        <p:nvSpPr>
          <p:cNvPr id="19" name="Shape 16"/>
          <p:cNvSpPr/>
          <p:nvPr/>
        </p:nvSpPr>
        <p:spPr>
          <a:xfrm>
            <a:off x="8275320" y="1664208"/>
            <a:ext cx="411480" cy="411480"/>
          </a:xfrm>
          <a:prstGeom prst="ellipse">
            <a:avLst/>
          </a:prstGeom>
          <a:solidFill>
            <a:schemeClr val="accent1"/>
          </a:solidFill>
          <a:ln/>
        </p:spPr>
      </p:sp>
      <p:sp>
        <p:nvSpPr>
          <p:cNvPr id="20" name="Text 17"/>
          <p:cNvSpPr txBox="1"/>
          <p:nvPr/>
        </p:nvSpPr>
        <p:spPr>
          <a:xfrm>
            <a:off x="8275320" y="166420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1" name="Text 18"/>
          <p:cNvSpPr txBox="1"/>
          <p:nvPr/>
        </p:nvSpPr>
        <p:spPr>
          <a:xfrm>
            <a:off x="8823960" y="1645920"/>
            <a:ext cx="2651760" cy="457200"/>
          </a:xfrm>
          <a:prstGeom prst="rect">
            <a:avLst/>
          </a:prstGeom>
          <a:noFill/>
          <a:ln/>
        </p:spPr>
        <p:txBody>
          <a:bodyPr wrap="square" lIns="0" tIns="0" rIns="0" bIns="0" rtlCol="0" anchor="ctr"/>
          <a:lstStyle/>
          <a:p>
            <a:pPr indent="0" marL="0">
              <a:buNone/>
            </a:pPr>
            <a:r>
              <a:rPr lang="en-US" sz="1600" b="1" dirty="0">
                <a:solidFill>
                  <a:schemeClr val="tx1"/>
                </a:solidFill>
              </a:rPr>
              <a:t>Keeping the clock hand in check</a:t>
            </a:r>
            <a:endParaRPr lang="en-US" sz="1600" dirty="0"/>
          </a:p>
        </p:txBody>
      </p:sp>
      <p:sp>
        <p:nvSpPr>
          <p:cNvPr id="22" name="Shape 19"/>
          <p:cNvSpPr/>
          <p:nvPr/>
        </p:nvSpPr>
        <p:spPr>
          <a:xfrm>
            <a:off x="8275320" y="2240280"/>
            <a:ext cx="3108960" cy="685800"/>
          </a:xfrm>
          <a:prstGeom prst="rect">
            <a:avLst/>
          </a:prstGeom>
          <a:solidFill>
            <a:schemeClr val="tx1"/>
          </a:solidFill>
          <a:ln/>
        </p:spPr>
      </p:sp>
      <p:sp>
        <p:nvSpPr>
          <p:cNvPr id="23" name="Text 20"/>
          <p:cNvSpPr txBox="1"/>
          <p:nvPr/>
        </p:nvSpPr>
        <p:spPr>
          <a:xfrm>
            <a:off x="8366760" y="2240280"/>
            <a:ext cx="2971800" cy="685800"/>
          </a:xfrm>
          <a:prstGeom prst="rect">
            <a:avLst/>
          </a:prstGeom>
          <a:noFill/>
          <a:ln/>
        </p:spPr>
        <p:txBody>
          <a:bodyPr wrap="square" lIns="0" tIns="0" rIns="0" bIns="0" rtlCol="0" anchor="ctr"/>
          <a:lstStyle/>
          <a:p>
            <a:pPr indent="0" marL="0">
              <a:buNone/>
            </a:pPr>
            <a:r>
              <a:rPr lang="en-US" sz="1200" b="1" dirty="0">
                <a:solidFill>
                  <a:schemeClr val="accent2"/>
                </a:solidFill>
              </a:rPr>
              <a:t>Problem: </a:t>
            </a:r>
            <a:pPr indent="0" marL="0">
              <a:buNone/>
            </a:pPr>
            <a:r>
              <a:rPr lang="en-US" sz="1200" dirty="0">
                <a:solidFill>
                  <a:schemeClr val="bg1"/>
                </a:solidFill>
              </a:rPr>
              <a:t>A very high pitch could make the hand skip past a full lap.</a:t>
            </a:r>
            <a:endParaRPr lang="en-US" sz="1200" dirty="0"/>
          </a:p>
        </p:txBody>
      </p:sp>
      <p:sp>
        <p:nvSpPr>
          <p:cNvPr id="24" name="Text 21"/>
          <p:cNvSpPr txBox="1"/>
          <p:nvPr/>
        </p:nvSpPr>
        <p:spPr>
          <a:xfrm>
            <a:off x="8275320" y="3017520"/>
            <a:ext cx="3154680" cy="594360"/>
          </a:xfrm>
          <a:prstGeom prst="rect">
            <a:avLst/>
          </a:prstGeom>
          <a:noFill/>
          <a:ln/>
        </p:spPr>
        <p:txBody>
          <a:bodyPr wrap="square" lIns="0" tIns="0" rIns="0" bIns="0" rtlCol="0" anchor="t"/>
          <a:lstStyle/>
          <a:p>
            <a:pPr indent="0" marL="0">
              <a:buNone/>
            </a:pPr>
            <a:r>
              <a:rPr lang="en-US" sz="1300" b="1" dirty="0">
                <a:solidFill>
                  <a:schemeClr val="accent1"/>
                </a:solidFill>
              </a:rPr>
              <a:t>Our fix: </a:t>
            </a:r>
            <a:pPr indent="0" marL="0">
              <a:buNone/>
            </a:pPr>
            <a:r>
              <a:rPr lang="en-US" sz="1300" dirty="0">
                <a:solidFill>
                  <a:schemeClr val="tx2"/>
                </a:solidFill>
              </a:rPr>
              <a:t>Cap the pitch at 20,000 Hz, so it never skips.</a:t>
            </a:r>
            <a:endParaRPr lang="en-US" sz="1300" dirty="0"/>
          </a:p>
        </p:txBody>
      </p:sp>
      <p:sp>
        <p:nvSpPr>
          <p:cNvPr id="25" name="card"/>
          <p:cNvSpPr/>
          <p:nvPr/>
        </p:nvSpPr>
        <p:spPr>
          <a:xfrm>
            <a:off x="548640" y="3840480"/>
            <a:ext cx="3566160" cy="2194560"/>
          </a:xfrm>
          <a:prstGeom prst="roundRect">
            <a:avLst>
              <a:gd name="adj" fmla="val 3333"/>
            </a:avLst>
          </a:prstGeom>
          <a:solidFill>
            <a:schemeClr val="bg2"/>
          </a:solidFill>
          <a:ln/>
        </p:spPr>
      </p:sp>
      <p:sp>
        <p:nvSpPr>
          <p:cNvPr id="26" name="Shape 23"/>
          <p:cNvSpPr/>
          <p:nvPr/>
        </p:nvSpPr>
        <p:spPr>
          <a:xfrm>
            <a:off x="777240" y="4041648"/>
            <a:ext cx="411480" cy="411480"/>
          </a:xfrm>
          <a:prstGeom prst="ellipse">
            <a:avLst/>
          </a:prstGeom>
          <a:solidFill>
            <a:schemeClr val="accent1"/>
          </a:solidFill>
          <a:ln/>
        </p:spPr>
      </p:sp>
      <p:sp>
        <p:nvSpPr>
          <p:cNvPr id="27" name="Text 24"/>
          <p:cNvSpPr txBox="1"/>
          <p:nvPr/>
        </p:nvSpPr>
        <p:spPr>
          <a:xfrm>
            <a:off x="777240" y="404164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1325880" y="4023360"/>
            <a:ext cx="2651760" cy="457200"/>
          </a:xfrm>
          <a:prstGeom prst="rect">
            <a:avLst/>
          </a:prstGeom>
          <a:noFill/>
          <a:ln/>
        </p:spPr>
        <p:txBody>
          <a:bodyPr wrap="square" lIns="0" tIns="0" rIns="0" bIns="0" rtlCol="0" anchor="ctr"/>
          <a:lstStyle/>
          <a:p>
            <a:pPr indent="0" marL="0">
              <a:buNone/>
            </a:pPr>
            <a:r>
              <a:rPr lang="en-US" sz="1600" b="1" dirty="0">
                <a:solidFill>
                  <a:schemeClr val="tx1"/>
                </a:solidFill>
              </a:rPr>
              <a:t>Making numbers positive</a:t>
            </a:r>
            <a:endParaRPr lang="en-US" sz="1600" dirty="0"/>
          </a:p>
        </p:txBody>
      </p:sp>
      <p:sp>
        <p:nvSpPr>
          <p:cNvPr id="29" name="Shape 26"/>
          <p:cNvSpPr/>
          <p:nvPr/>
        </p:nvSpPr>
        <p:spPr>
          <a:xfrm>
            <a:off x="777240" y="4617720"/>
            <a:ext cx="3108960" cy="685800"/>
          </a:xfrm>
          <a:prstGeom prst="rect">
            <a:avLst/>
          </a:prstGeom>
          <a:solidFill>
            <a:schemeClr val="tx1"/>
          </a:solidFill>
          <a:ln/>
        </p:spPr>
      </p:sp>
      <p:sp>
        <p:nvSpPr>
          <p:cNvPr id="30" name="Text 27"/>
          <p:cNvSpPr txBox="1"/>
          <p:nvPr/>
        </p:nvSpPr>
        <p:spPr>
          <a:xfrm>
            <a:off x="868680" y="4617720"/>
            <a:ext cx="2971800" cy="685800"/>
          </a:xfrm>
          <a:prstGeom prst="rect">
            <a:avLst/>
          </a:prstGeom>
          <a:noFill/>
          <a:ln/>
        </p:spPr>
        <p:txBody>
          <a:bodyPr wrap="square" lIns="0" tIns="0" rIns="0" bIns="0" rtlCol="0" anchor="ctr"/>
          <a:lstStyle/>
          <a:p>
            <a:pPr indent="0" marL="0">
              <a:buNone/>
            </a:pPr>
            <a:r>
              <a:rPr lang="en-US" sz="1200" b="1" dirty="0">
                <a:solidFill>
                  <a:schemeClr val="accent2"/>
                </a:solidFill>
              </a:rPr>
              <a:t>Problem: </a:t>
            </a:r>
            <a:pPr indent="0" marL="0">
              <a:buNone/>
            </a:pPr>
            <a:r>
              <a:rPr lang="en-US" sz="1200" dirty="0">
                <a:solidFill>
                  <a:schemeClr val="bg1"/>
                </a:solidFill>
              </a:rPr>
              <a:t>No built-in way to drop the minus sign on decimals.</a:t>
            </a:r>
            <a:endParaRPr lang="en-US" sz="1200" dirty="0"/>
          </a:p>
        </p:txBody>
      </p:sp>
      <p:sp>
        <p:nvSpPr>
          <p:cNvPr id="31" name="Text 28"/>
          <p:cNvSpPr txBox="1"/>
          <p:nvPr/>
        </p:nvSpPr>
        <p:spPr>
          <a:xfrm>
            <a:off x="777240" y="5394960"/>
            <a:ext cx="3154680" cy="594360"/>
          </a:xfrm>
          <a:prstGeom prst="rect">
            <a:avLst/>
          </a:prstGeom>
          <a:noFill/>
          <a:ln/>
        </p:spPr>
        <p:txBody>
          <a:bodyPr wrap="square" lIns="0" tIns="0" rIns="0" bIns="0" rtlCol="0" anchor="t"/>
          <a:lstStyle/>
          <a:p>
            <a:pPr indent="0" marL="0">
              <a:buNone/>
            </a:pPr>
            <a:r>
              <a:rPr lang="en-US" sz="1300" b="1" dirty="0">
                <a:solidFill>
                  <a:schemeClr val="accent1"/>
                </a:solidFill>
              </a:rPr>
              <a:t>Our fix: </a:t>
            </a:r>
            <a:pPr indent="0" marL="0">
              <a:buNone/>
            </a:pPr>
            <a:r>
              <a:rPr lang="en-US" sz="1300" dirty="0">
                <a:solidFill>
                  <a:schemeClr val="tx2"/>
                </a:solidFill>
              </a:rPr>
              <a:t>Switch off the minus sign directly.</a:t>
            </a:r>
            <a:endParaRPr lang="en-US" sz="1300" dirty="0"/>
          </a:p>
        </p:txBody>
      </p:sp>
      <p:sp>
        <p:nvSpPr>
          <p:cNvPr id="32" name="card"/>
          <p:cNvSpPr/>
          <p:nvPr/>
        </p:nvSpPr>
        <p:spPr>
          <a:xfrm>
            <a:off x="4297680" y="3840480"/>
            <a:ext cx="3566160" cy="2194560"/>
          </a:xfrm>
          <a:prstGeom prst="roundRect">
            <a:avLst>
              <a:gd name="adj" fmla="val 3333"/>
            </a:avLst>
          </a:prstGeom>
          <a:solidFill>
            <a:schemeClr val="bg2"/>
          </a:solidFill>
          <a:ln/>
        </p:spPr>
      </p:sp>
      <p:sp>
        <p:nvSpPr>
          <p:cNvPr id="33" name="Shape 30"/>
          <p:cNvSpPr/>
          <p:nvPr/>
        </p:nvSpPr>
        <p:spPr>
          <a:xfrm>
            <a:off x="4526280" y="4041648"/>
            <a:ext cx="411480" cy="411480"/>
          </a:xfrm>
          <a:prstGeom prst="ellipse">
            <a:avLst/>
          </a:prstGeom>
          <a:solidFill>
            <a:schemeClr val="accent1"/>
          </a:solidFill>
          <a:ln/>
        </p:spPr>
      </p:sp>
      <p:sp>
        <p:nvSpPr>
          <p:cNvPr id="34" name="Text 31"/>
          <p:cNvSpPr txBox="1"/>
          <p:nvPr/>
        </p:nvSpPr>
        <p:spPr>
          <a:xfrm>
            <a:off x="4526280" y="404164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5" name="Text 32"/>
          <p:cNvSpPr txBox="1"/>
          <p:nvPr/>
        </p:nvSpPr>
        <p:spPr>
          <a:xfrm>
            <a:off x="5074920" y="4023360"/>
            <a:ext cx="2651760" cy="457200"/>
          </a:xfrm>
          <a:prstGeom prst="rect">
            <a:avLst/>
          </a:prstGeom>
          <a:noFill/>
          <a:ln/>
        </p:spPr>
        <p:txBody>
          <a:bodyPr wrap="square" lIns="0" tIns="0" rIns="0" bIns="0" rtlCol="0" anchor="ctr"/>
          <a:lstStyle/>
          <a:p>
            <a:pPr indent="0" marL="0">
              <a:buNone/>
            </a:pPr>
            <a:r>
              <a:rPr lang="en-US" sz="1600" b="1" dirty="0">
                <a:solidFill>
                  <a:schemeClr val="tx1"/>
                </a:solidFill>
              </a:rPr>
              <a:t>Too loud</a:t>
            </a:r>
            <a:endParaRPr lang="en-US" sz="1600" dirty="0"/>
          </a:p>
        </p:txBody>
      </p:sp>
      <p:sp>
        <p:nvSpPr>
          <p:cNvPr id="36" name="Shape 33"/>
          <p:cNvSpPr/>
          <p:nvPr/>
        </p:nvSpPr>
        <p:spPr>
          <a:xfrm>
            <a:off x="4526280" y="4617720"/>
            <a:ext cx="3108960" cy="685800"/>
          </a:xfrm>
          <a:prstGeom prst="rect">
            <a:avLst/>
          </a:prstGeom>
          <a:solidFill>
            <a:schemeClr val="tx1"/>
          </a:solidFill>
          <a:ln/>
        </p:spPr>
      </p:sp>
      <p:sp>
        <p:nvSpPr>
          <p:cNvPr id="37" name="Text 34"/>
          <p:cNvSpPr txBox="1"/>
          <p:nvPr/>
        </p:nvSpPr>
        <p:spPr>
          <a:xfrm>
            <a:off x="4617720" y="4617720"/>
            <a:ext cx="2971800" cy="685800"/>
          </a:xfrm>
          <a:prstGeom prst="rect">
            <a:avLst/>
          </a:prstGeom>
          <a:noFill/>
          <a:ln/>
        </p:spPr>
        <p:txBody>
          <a:bodyPr wrap="square" lIns="0" tIns="0" rIns="0" bIns="0" rtlCol="0" anchor="ctr"/>
          <a:lstStyle/>
          <a:p>
            <a:pPr indent="0" marL="0">
              <a:buNone/>
            </a:pPr>
            <a:r>
              <a:rPr lang="en-US" sz="1200" b="1" dirty="0">
                <a:solidFill>
                  <a:schemeClr val="accent2"/>
                </a:solidFill>
              </a:rPr>
              <a:t>Problem: </a:t>
            </a:r>
            <a:pPr indent="0" marL="0">
              <a:buNone/>
            </a:pPr>
            <a:r>
              <a:rPr lang="en-US" sz="1200" dirty="0">
                <a:solidFill>
                  <a:schemeClr val="bg1"/>
                </a:solidFill>
              </a:rPr>
              <a:t>An over-the-limit value could wrap round and make a loud click.</a:t>
            </a:r>
            <a:endParaRPr lang="en-US" sz="1200" dirty="0"/>
          </a:p>
        </p:txBody>
      </p:sp>
      <p:sp>
        <p:nvSpPr>
          <p:cNvPr id="38" name="Text 35"/>
          <p:cNvSpPr txBox="1"/>
          <p:nvPr/>
        </p:nvSpPr>
        <p:spPr>
          <a:xfrm>
            <a:off x="4526280" y="5394960"/>
            <a:ext cx="3154680" cy="594360"/>
          </a:xfrm>
          <a:prstGeom prst="rect">
            <a:avLst/>
          </a:prstGeom>
          <a:noFill/>
          <a:ln/>
        </p:spPr>
        <p:txBody>
          <a:bodyPr wrap="square" lIns="0" tIns="0" rIns="0" bIns="0" rtlCol="0" anchor="t"/>
          <a:lstStyle/>
          <a:p>
            <a:pPr indent="0" marL="0">
              <a:buNone/>
            </a:pPr>
            <a:r>
              <a:rPr lang="en-US" sz="1300" b="1" dirty="0">
                <a:solidFill>
                  <a:schemeClr val="accent1"/>
                </a:solidFill>
              </a:rPr>
              <a:t>Our fix: </a:t>
            </a:r>
            <a:pPr indent="0" marL="0">
              <a:buNone/>
            </a:pPr>
            <a:r>
              <a:rPr lang="en-US" sz="1300" dirty="0">
                <a:solidFill>
                  <a:schemeClr val="tx2"/>
                </a:solidFill>
              </a:rPr>
              <a:t>Clip it at the maximum instead.</a:t>
            </a:r>
            <a:endParaRPr lang="en-US" sz="1300" dirty="0"/>
          </a:p>
        </p:txBody>
      </p:sp>
      <p:sp>
        <p:nvSpPr>
          <p:cNvPr id="39" name="card"/>
          <p:cNvSpPr/>
          <p:nvPr/>
        </p:nvSpPr>
        <p:spPr>
          <a:xfrm>
            <a:off x="8046720" y="3840480"/>
            <a:ext cx="3566160" cy="2194560"/>
          </a:xfrm>
          <a:prstGeom prst="roundRect">
            <a:avLst>
              <a:gd name="adj" fmla="val 3333"/>
            </a:avLst>
          </a:prstGeom>
          <a:solidFill>
            <a:schemeClr val="bg2"/>
          </a:solidFill>
          <a:ln/>
        </p:spPr>
      </p:sp>
      <p:sp>
        <p:nvSpPr>
          <p:cNvPr id="40" name="Shape 37"/>
          <p:cNvSpPr/>
          <p:nvPr/>
        </p:nvSpPr>
        <p:spPr>
          <a:xfrm>
            <a:off x="8275320" y="4041648"/>
            <a:ext cx="411480" cy="411480"/>
          </a:xfrm>
          <a:prstGeom prst="ellipse">
            <a:avLst/>
          </a:prstGeom>
          <a:solidFill>
            <a:schemeClr val="accent1"/>
          </a:solidFill>
          <a:ln/>
        </p:spPr>
      </p:sp>
      <p:sp>
        <p:nvSpPr>
          <p:cNvPr id="41" name="Text 38"/>
          <p:cNvSpPr txBox="1"/>
          <p:nvPr/>
        </p:nvSpPr>
        <p:spPr>
          <a:xfrm>
            <a:off x="8275320" y="404164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42" name="Text 39"/>
          <p:cNvSpPr txBox="1"/>
          <p:nvPr/>
        </p:nvSpPr>
        <p:spPr>
          <a:xfrm>
            <a:off x="8823960" y="4023360"/>
            <a:ext cx="2651760" cy="457200"/>
          </a:xfrm>
          <a:prstGeom prst="rect">
            <a:avLst/>
          </a:prstGeom>
          <a:noFill/>
          <a:ln/>
        </p:spPr>
        <p:txBody>
          <a:bodyPr wrap="square" lIns="0" tIns="0" rIns="0" bIns="0" rtlCol="0" anchor="ctr"/>
          <a:lstStyle/>
          <a:p>
            <a:pPr indent="0" marL="0">
              <a:buNone/>
            </a:pPr>
            <a:r>
              <a:rPr lang="en-US" sz="1600" b="1" dirty="0">
                <a:solidFill>
                  <a:schemeClr val="tx1"/>
                </a:solidFill>
              </a:rPr>
              <a:t>Random but repeatable</a:t>
            </a:r>
            <a:endParaRPr lang="en-US" sz="1600" dirty="0"/>
          </a:p>
        </p:txBody>
      </p:sp>
      <p:sp>
        <p:nvSpPr>
          <p:cNvPr id="43" name="Shape 40"/>
          <p:cNvSpPr/>
          <p:nvPr/>
        </p:nvSpPr>
        <p:spPr>
          <a:xfrm>
            <a:off x="8275320" y="4617720"/>
            <a:ext cx="3108960" cy="685800"/>
          </a:xfrm>
          <a:prstGeom prst="rect">
            <a:avLst/>
          </a:prstGeom>
          <a:solidFill>
            <a:schemeClr val="tx1"/>
          </a:solidFill>
          <a:ln/>
        </p:spPr>
      </p:sp>
      <p:sp>
        <p:nvSpPr>
          <p:cNvPr id="44" name="Text 41"/>
          <p:cNvSpPr txBox="1"/>
          <p:nvPr/>
        </p:nvSpPr>
        <p:spPr>
          <a:xfrm>
            <a:off x="8366760" y="4617720"/>
            <a:ext cx="2971800" cy="685800"/>
          </a:xfrm>
          <a:prstGeom prst="rect">
            <a:avLst/>
          </a:prstGeom>
          <a:noFill/>
          <a:ln/>
        </p:spPr>
        <p:txBody>
          <a:bodyPr wrap="square" lIns="0" tIns="0" rIns="0" bIns="0" rtlCol="0" anchor="ctr"/>
          <a:lstStyle/>
          <a:p>
            <a:pPr indent="0" marL="0">
              <a:buNone/>
            </a:pPr>
            <a:r>
              <a:rPr lang="en-US" sz="1200" b="1" dirty="0">
                <a:solidFill>
                  <a:schemeClr val="accent2"/>
                </a:solidFill>
              </a:rPr>
              <a:t>Problem: </a:t>
            </a:r>
            <a:pPr indent="0" marL="0">
              <a:buNone/>
            </a:pPr>
            <a:r>
              <a:rPr lang="en-US" sz="1200" dirty="0">
                <a:solidFill>
                  <a:schemeClr val="bg1"/>
                </a:solidFill>
              </a:rPr>
              <a:t>Noise must sound random, but tests need the same result every time.</a:t>
            </a:r>
            <a:endParaRPr lang="en-US" sz="1200" dirty="0"/>
          </a:p>
        </p:txBody>
      </p:sp>
      <p:sp>
        <p:nvSpPr>
          <p:cNvPr id="45" name="Text 42"/>
          <p:cNvSpPr txBox="1"/>
          <p:nvPr/>
        </p:nvSpPr>
        <p:spPr>
          <a:xfrm>
            <a:off x="8275320" y="5394960"/>
            <a:ext cx="3154680" cy="594360"/>
          </a:xfrm>
          <a:prstGeom prst="rect">
            <a:avLst/>
          </a:prstGeom>
          <a:noFill/>
          <a:ln/>
        </p:spPr>
        <p:txBody>
          <a:bodyPr wrap="square" lIns="0" tIns="0" rIns="0" bIns="0" rtlCol="0" anchor="t"/>
          <a:lstStyle/>
          <a:p>
            <a:pPr indent="0" marL="0">
              <a:buNone/>
            </a:pPr>
            <a:r>
              <a:rPr lang="en-US" sz="1300" b="1" dirty="0">
                <a:solidFill>
                  <a:schemeClr val="accent1"/>
                </a:solidFill>
              </a:rPr>
              <a:t>Our fix: </a:t>
            </a:r>
            <a:pPr indent="0" marL="0">
              <a:buNone/>
            </a:pPr>
            <a:r>
              <a:rPr lang="en-US" sz="1300" dirty="0">
                <a:solidFill>
                  <a:schemeClr val="tx2"/>
                </a:solidFill>
              </a:rPr>
              <a:t>Same starting number, same sound, every time.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The engine keeps its work on one small “sticky note”</a:t>
            </a:r>
            <a:endParaRPr lang="en-US" sz="2800" dirty="0"/>
          </a:p>
        </p:txBody>
      </p:sp>
      <p:sp>
        <p:nvSpPr>
          <p:cNvPr id="4" name="Text 1"/>
          <p:cNvSpPr txBox="1"/>
          <p:nvPr/>
        </p:nvSpPr>
        <p:spPr>
          <a:xfrm>
            <a:off x="548640" y="1417320"/>
            <a:ext cx="4754880" cy="320040"/>
          </a:xfrm>
          <a:prstGeom prst="rect">
            <a:avLst/>
          </a:prstGeom>
          <a:noFill/>
          <a:ln/>
        </p:spPr>
        <p:txBody>
          <a:bodyPr wrap="square" lIns="0" tIns="0" rIns="0" bIns="0" rtlCol="0" anchor="t"/>
          <a:lstStyle/>
          <a:p>
            <a:pPr indent="0" marL="0">
              <a:buNone/>
            </a:pPr>
            <a:r>
              <a:rPr lang="en-US" sz="1600" b="1" dirty="0">
                <a:solidFill>
                  <a:schemeClr val="accent1"/>
                </a:solidFill>
              </a:rPr>
              <a:t>The 152-byte scratch area</a:t>
            </a:r>
            <a:endParaRPr lang="en-US" sz="1600" dirty="0"/>
          </a:p>
        </p:txBody>
      </p:sp>
      <p:sp>
        <p:nvSpPr>
          <p:cNvPr id="5" name="Shape 2"/>
          <p:cNvSpPr/>
          <p:nvPr/>
        </p:nvSpPr>
        <p:spPr>
          <a:xfrm>
            <a:off x="548640" y="1810512"/>
            <a:ext cx="4754880" cy="292608"/>
          </a:xfrm>
          <a:prstGeom prst="rect">
            <a:avLst/>
          </a:prstGeom>
          <a:solidFill>
            <a:schemeClr val="accent5"/>
          </a:solidFill>
          <a:ln/>
        </p:spPr>
      </p:sp>
      <p:sp>
        <p:nvSpPr>
          <p:cNvPr id="6" name="Text 3"/>
          <p:cNvSpPr txBox="1"/>
          <p:nvPr/>
        </p:nvSpPr>
        <p:spPr>
          <a:xfrm>
            <a:off x="731520" y="1810512"/>
            <a:ext cx="4480560" cy="292608"/>
          </a:xfrm>
          <a:prstGeom prst="rect">
            <a:avLst/>
          </a:prstGeom>
          <a:noFill/>
          <a:ln/>
        </p:spPr>
        <p:txBody>
          <a:bodyPr wrap="square" lIns="0" tIns="0" rIns="0" bIns="0" rtlCol="0" anchor="ctr"/>
          <a:lstStyle/>
          <a:p>
            <a:pPr indent="0" marL="0">
              <a:buNone/>
            </a:pPr>
            <a:r>
              <a:rPr lang="en-US" sz="1300" b="1" dirty="0">
                <a:solidFill>
                  <a:schemeClr val="bg1"/>
                </a:solidFill>
              </a:rPr>
              <a:t>where to go back to when finished</a:t>
            </a:r>
            <a:endParaRPr lang="en-US" sz="1300" dirty="0"/>
          </a:p>
        </p:txBody>
      </p:sp>
      <p:sp>
        <p:nvSpPr>
          <p:cNvPr id="7" name="Shape 4"/>
          <p:cNvSpPr/>
          <p:nvPr/>
        </p:nvSpPr>
        <p:spPr>
          <a:xfrm>
            <a:off x="548640" y="2139696"/>
            <a:ext cx="4754880" cy="292608"/>
          </a:xfrm>
          <a:prstGeom prst="rect">
            <a:avLst/>
          </a:prstGeom>
          <a:solidFill>
            <a:schemeClr val="bg2"/>
          </a:solidFill>
          <a:ln/>
        </p:spPr>
      </p:sp>
      <p:sp>
        <p:nvSpPr>
          <p:cNvPr id="8" name="Text 5"/>
          <p:cNvSpPr txBox="1"/>
          <p:nvPr/>
        </p:nvSpPr>
        <p:spPr>
          <a:xfrm>
            <a:off x="731520" y="2139696"/>
            <a:ext cx="4480560" cy="292608"/>
          </a:xfrm>
          <a:prstGeom prst="rect">
            <a:avLst/>
          </a:prstGeom>
          <a:noFill/>
          <a:ln/>
        </p:spPr>
        <p:txBody>
          <a:bodyPr wrap="square" lIns="0" tIns="0" rIns="0" bIns="0" rtlCol="0" anchor="ctr"/>
          <a:lstStyle/>
          <a:p>
            <a:pPr indent="0" marL="0">
              <a:buNone/>
            </a:pPr>
            <a:r>
              <a:rPr lang="en-US" sz="1300" b="1" dirty="0">
                <a:solidFill>
                  <a:schemeClr val="tx1"/>
                </a:solidFill>
              </a:rPr>
              <a:t>spare room</a:t>
            </a:r>
            <a:endParaRPr lang="en-US" sz="1300" dirty="0"/>
          </a:p>
        </p:txBody>
      </p:sp>
      <p:sp>
        <p:nvSpPr>
          <p:cNvPr id="9" name="Shape 6"/>
          <p:cNvSpPr/>
          <p:nvPr/>
        </p:nvSpPr>
        <p:spPr>
          <a:xfrm>
            <a:off x="548640" y="2468880"/>
            <a:ext cx="4754880" cy="292608"/>
          </a:xfrm>
          <a:prstGeom prst="rect">
            <a:avLst/>
          </a:prstGeom>
          <a:solidFill>
            <a:schemeClr val="tx1"/>
          </a:solidFill>
          <a:ln/>
        </p:spPr>
      </p:sp>
      <p:sp>
        <p:nvSpPr>
          <p:cNvPr id="10" name="Text 7"/>
          <p:cNvSpPr txBox="1"/>
          <p:nvPr/>
        </p:nvSpPr>
        <p:spPr>
          <a:xfrm>
            <a:off x="731520" y="2468880"/>
            <a:ext cx="4480560" cy="292608"/>
          </a:xfrm>
          <a:prstGeom prst="rect">
            <a:avLst/>
          </a:prstGeom>
          <a:noFill/>
          <a:ln/>
        </p:spPr>
        <p:txBody>
          <a:bodyPr wrap="square" lIns="0" tIns="0" rIns="0" bIns="0" rtlCol="0" anchor="ctr"/>
          <a:lstStyle/>
          <a:p>
            <a:pPr indent="0" marL="0">
              <a:buNone/>
            </a:pPr>
            <a:r>
              <a:rPr lang="en-US" sz="1300" b="1" dirty="0">
                <a:solidFill>
                  <a:schemeClr val="bg1"/>
                </a:solidFill>
              </a:rPr>
              <a:t>current noise value</a:t>
            </a:r>
            <a:endParaRPr lang="en-US" sz="1300" dirty="0"/>
          </a:p>
        </p:txBody>
      </p:sp>
      <p:sp>
        <p:nvSpPr>
          <p:cNvPr id="11" name="Shape 8"/>
          <p:cNvSpPr/>
          <p:nvPr/>
        </p:nvSpPr>
        <p:spPr>
          <a:xfrm>
            <a:off x="548640" y="2798064"/>
            <a:ext cx="4754880" cy="292608"/>
          </a:xfrm>
          <a:prstGeom prst="rect">
            <a:avLst/>
          </a:prstGeom>
          <a:solidFill>
            <a:schemeClr val="tx1"/>
          </a:solidFill>
          <a:ln/>
        </p:spPr>
      </p:sp>
      <p:sp>
        <p:nvSpPr>
          <p:cNvPr id="12" name="Text 9"/>
          <p:cNvSpPr txBox="1"/>
          <p:nvPr/>
        </p:nvSpPr>
        <p:spPr>
          <a:xfrm>
            <a:off x="731520" y="2798064"/>
            <a:ext cx="4480560" cy="292608"/>
          </a:xfrm>
          <a:prstGeom prst="rect">
            <a:avLst/>
          </a:prstGeom>
          <a:noFill/>
          <a:ln/>
        </p:spPr>
        <p:txBody>
          <a:bodyPr wrap="square" lIns="0" tIns="0" rIns="0" bIns="0" rtlCol="0" anchor="ctr"/>
          <a:lstStyle/>
          <a:p>
            <a:pPr indent="0" marL="0">
              <a:buNone/>
            </a:pPr>
            <a:r>
              <a:rPr lang="en-US" sz="1300" b="1" dirty="0">
                <a:solidFill>
                  <a:schemeClr val="bg1"/>
                </a:solidFill>
              </a:rPr>
              <a:t>pitch-slide step</a:t>
            </a:r>
            <a:endParaRPr lang="en-US" sz="1300" dirty="0"/>
          </a:p>
        </p:txBody>
      </p:sp>
      <p:sp>
        <p:nvSpPr>
          <p:cNvPr id="13" name="Shape 10"/>
          <p:cNvSpPr/>
          <p:nvPr/>
        </p:nvSpPr>
        <p:spPr>
          <a:xfrm>
            <a:off x="548640" y="3127248"/>
            <a:ext cx="4754880" cy="292608"/>
          </a:xfrm>
          <a:prstGeom prst="rect">
            <a:avLst/>
          </a:prstGeom>
          <a:solidFill>
            <a:schemeClr val="tx1"/>
          </a:solidFill>
          <a:ln/>
        </p:spPr>
      </p:sp>
      <p:sp>
        <p:nvSpPr>
          <p:cNvPr id="14" name="Text 11"/>
          <p:cNvSpPr txBox="1"/>
          <p:nvPr/>
        </p:nvSpPr>
        <p:spPr>
          <a:xfrm>
            <a:off x="731520" y="3127248"/>
            <a:ext cx="4480560" cy="292608"/>
          </a:xfrm>
          <a:prstGeom prst="rect">
            <a:avLst/>
          </a:prstGeom>
          <a:noFill/>
          <a:ln/>
        </p:spPr>
        <p:txBody>
          <a:bodyPr wrap="square" lIns="0" tIns="0" rIns="0" bIns="0" rtlCol="0" anchor="ctr"/>
          <a:lstStyle/>
          <a:p>
            <a:pPr indent="0" marL="0">
              <a:buNone/>
            </a:pPr>
            <a:r>
              <a:rPr lang="en-US" sz="1300" b="1" dirty="0">
                <a:solidFill>
                  <a:schemeClr val="bg1"/>
                </a:solidFill>
              </a:rPr>
              <a:t>wobble step</a:t>
            </a:r>
            <a:endParaRPr lang="en-US" sz="1300" dirty="0"/>
          </a:p>
        </p:txBody>
      </p:sp>
      <p:sp>
        <p:nvSpPr>
          <p:cNvPr id="15" name="Shape 12"/>
          <p:cNvSpPr/>
          <p:nvPr/>
        </p:nvSpPr>
        <p:spPr>
          <a:xfrm>
            <a:off x="548640" y="3456432"/>
            <a:ext cx="4754880" cy="292608"/>
          </a:xfrm>
          <a:prstGeom prst="rect">
            <a:avLst/>
          </a:prstGeom>
          <a:solidFill>
            <a:schemeClr val="tx1"/>
          </a:solidFill>
          <a:ln/>
        </p:spPr>
      </p:sp>
      <p:sp>
        <p:nvSpPr>
          <p:cNvPr id="16" name="Text 13"/>
          <p:cNvSpPr txBox="1"/>
          <p:nvPr/>
        </p:nvSpPr>
        <p:spPr>
          <a:xfrm>
            <a:off x="731520" y="3456432"/>
            <a:ext cx="4480560" cy="292608"/>
          </a:xfrm>
          <a:prstGeom prst="rect">
            <a:avLst/>
          </a:prstGeom>
          <a:noFill/>
          <a:ln/>
        </p:spPr>
        <p:txBody>
          <a:bodyPr wrap="square" lIns="0" tIns="0" rIns="0" bIns="0" rtlCol="0" anchor="ctr"/>
          <a:lstStyle/>
          <a:p>
            <a:pPr indent="0" marL="0">
              <a:buNone/>
            </a:pPr>
            <a:r>
              <a:rPr lang="en-US" sz="1300" b="1" dirty="0">
                <a:solidFill>
                  <a:schemeClr val="bg1"/>
                </a:solidFill>
              </a:rPr>
              <a:t>fade-out length</a:t>
            </a:r>
            <a:endParaRPr lang="en-US" sz="1300" dirty="0"/>
          </a:p>
        </p:txBody>
      </p:sp>
      <p:sp>
        <p:nvSpPr>
          <p:cNvPr id="17" name="Shape 14"/>
          <p:cNvSpPr/>
          <p:nvPr/>
        </p:nvSpPr>
        <p:spPr>
          <a:xfrm>
            <a:off x="548640" y="3785616"/>
            <a:ext cx="4754880" cy="292608"/>
          </a:xfrm>
          <a:prstGeom prst="rect">
            <a:avLst/>
          </a:prstGeom>
          <a:solidFill>
            <a:schemeClr val="tx1"/>
          </a:solidFill>
          <a:ln/>
        </p:spPr>
      </p:sp>
      <p:sp>
        <p:nvSpPr>
          <p:cNvPr id="18" name="Text 15"/>
          <p:cNvSpPr txBox="1"/>
          <p:nvPr/>
        </p:nvSpPr>
        <p:spPr>
          <a:xfrm>
            <a:off x="731520" y="3785616"/>
            <a:ext cx="4480560" cy="292608"/>
          </a:xfrm>
          <a:prstGeom prst="rect">
            <a:avLst/>
          </a:prstGeom>
          <a:noFill/>
          <a:ln/>
        </p:spPr>
        <p:txBody>
          <a:bodyPr wrap="square" lIns="0" tIns="0" rIns="0" bIns="0" rtlCol="0" anchor="ctr"/>
          <a:lstStyle/>
          <a:p>
            <a:pPr indent="0" marL="0">
              <a:buNone/>
            </a:pPr>
            <a:r>
              <a:rPr lang="en-US" sz="1300" b="1" dirty="0">
                <a:solidFill>
                  <a:schemeClr val="bg1"/>
                </a:solidFill>
              </a:rPr>
              <a:t>when the hold ends</a:t>
            </a:r>
            <a:endParaRPr lang="en-US" sz="1300" dirty="0"/>
          </a:p>
        </p:txBody>
      </p:sp>
      <p:sp>
        <p:nvSpPr>
          <p:cNvPr id="19" name="Shape 16"/>
          <p:cNvSpPr/>
          <p:nvPr/>
        </p:nvSpPr>
        <p:spPr>
          <a:xfrm>
            <a:off x="548640" y="4114800"/>
            <a:ext cx="4754880" cy="292608"/>
          </a:xfrm>
          <a:prstGeom prst="rect">
            <a:avLst/>
          </a:prstGeom>
          <a:solidFill>
            <a:schemeClr val="tx1"/>
          </a:solidFill>
          <a:ln/>
        </p:spPr>
      </p:sp>
      <p:sp>
        <p:nvSpPr>
          <p:cNvPr id="20" name="Text 17"/>
          <p:cNvSpPr txBox="1"/>
          <p:nvPr/>
        </p:nvSpPr>
        <p:spPr>
          <a:xfrm>
            <a:off x="731520" y="4114800"/>
            <a:ext cx="4480560" cy="292608"/>
          </a:xfrm>
          <a:prstGeom prst="rect">
            <a:avLst/>
          </a:prstGeom>
          <a:noFill/>
          <a:ln/>
        </p:spPr>
        <p:txBody>
          <a:bodyPr wrap="square" lIns="0" tIns="0" rIns="0" bIns="0" rtlCol="0" anchor="ctr"/>
          <a:lstStyle/>
          <a:p>
            <a:pPr indent="0" marL="0">
              <a:buNone/>
            </a:pPr>
            <a:r>
              <a:rPr lang="en-US" sz="1300" b="1" dirty="0">
                <a:solidFill>
                  <a:schemeClr val="bg1"/>
                </a:solidFill>
              </a:rPr>
              <a:t>fade-in length</a:t>
            </a:r>
            <a:endParaRPr lang="en-US" sz="1300" dirty="0"/>
          </a:p>
        </p:txBody>
      </p:sp>
      <p:sp>
        <p:nvSpPr>
          <p:cNvPr id="21" name="Shape 18"/>
          <p:cNvSpPr/>
          <p:nvPr/>
        </p:nvSpPr>
        <p:spPr>
          <a:xfrm>
            <a:off x="548640" y="4443984"/>
            <a:ext cx="4754880" cy="292608"/>
          </a:xfrm>
          <a:prstGeom prst="rect">
            <a:avLst/>
          </a:prstGeom>
          <a:solidFill>
            <a:schemeClr val="tx1"/>
          </a:solidFill>
          <a:ln/>
        </p:spPr>
      </p:sp>
      <p:sp>
        <p:nvSpPr>
          <p:cNvPr id="22" name="Text 19"/>
          <p:cNvSpPr txBox="1"/>
          <p:nvPr/>
        </p:nvSpPr>
        <p:spPr>
          <a:xfrm>
            <a:off x="731520" y="4443984"/>
            <a:ext cx="4480560" cy="292608"/>
          </a:xfrm>
          <a:prstGeom prst="rect">
            <a:avLst/>
          </a:prstGeom>
          <a:noFill/>
          <a:ln/>
        </p:spPr>
        <p:txBody>
          <a:bodyPr wrap="square" lIns="0" tIns="0" rIns="0" bIns="0" rtlCol="0" anchor="ctr"/>
          <a:lstStyle/>
          <a:p>
            <a:pPr indent="0" marL="0">
              <a:buNone/>
            </a:pPr>
            <a:r>
              <a:rPr lang="en-US" sz="1300" b="1" dirty="0">
                <a:solidFill>
                  <a:schemeClr val="bg1"/>
                </a:solidFill>
              </a:rPr>
              <a:t>total length</a:t>
            </a:r>
            <a:endParaRPr lang="en-US" sz="1300" dirty="0"/>
          </a:p>
        </p:txBody>
      </p:sp>
      <p:sp>
        <p:nvSpPr>
          <p:cNvPr id="23" name="Shape 20"/>
          <p:cNvSpPr/>
          <p:nvPr/>
        </p:nvSpPr>
        <p:spPr>
          <a:xfrm>
            <a:off x="548640" y="4773168"/>
            <a:ext cx="4754880" cy="292608"/>
          </a:xfrm>
          <a:prstGeom prst="rect">
            <a:avLst/>
          </a:prstGeom>
          <a:solidFill>
            <a:schemeClr val="tx1"/>
          </a:solidFill>
          <a:ln/>
        </p:spPr>
      </p:sp>
      <p:sp>
        <p:nvSpPr>
          <p:cNvPr id="24" name="Text 21"/>
          <p:cNvSpPr txBox="1"/>
          <p:nvPr/>
        </p:nvSpPr>
        <p:spPr>
          <a:xfrm>
            <a:off x="731520" y="4773168"/>
            <a:ext cx="4480560" cy="292608"/>
          </a:xfrm>
          <a:prstGeom prst="rect">
            <a:avLst/>
          </a:prstGeom>
          <a:noFill/>
          <a:ln/>
        </p:spPr>
        <p:txBody>
          <a:bodyPr wrap="square" lIns="0" tIns="0" rIns="0" bIns="0" rtlCol="0" anchor="ctr"/>
          <a:lstStyle/>
          <a:p>
            <a:pPr indent="0" marL="0">
              <a:buNone/>
            </a:pPr>
            <a:r>
              <a:rPr lang="en-US" sz="1300" b="1" dirty="0">
                <a:solidFill>
                  <a:schemeClr val="bg1"/>
                </a:solidFill>
              </a:rPr>
              <a:t>space available</a:t>
            </a:r>
            <a:endParaRPr lang="en-US" sz="1300" dirty="0"/>
          </a:p>
        </p:txBody>
      </p:sp>
      <p:sp>
        <p:nvSpPr>
          <p:cNvPr id="25" name="Shape 22"/>
          <p:cNvSpPr/>
          <p:nvPr/>
        </p:nvSpPr>
        <p:spPr>
          <a:xfrm>
            <a:off x="548640" y="5102352"/>
            <a:ext cx="4754880" cy="292608"/>
          </a:xfrm>
          <a:prstGeom prst="rect">
            <a:avLst/>
          </a:prstGeom>
          <a:solidFill>
            <a:schemeClr val="tx1"/>
          </a:solidFill>
          <a:ln/>
        </p:spPr>
      </p:sp>
      <p:sp>
        <p:nvSpPr>
          <p:cNvPr id="26" name="Text 23"/>
          <p:cNvSpPr txBox="1"/>
          <p:nvPr/>
        </p:nvSpPr>
        <p:spPr>
          <a:xfrm>
            <a:off x="731520" y="5102352"/>
            <a:ext cx="4480560" cy="292608"/>
          </a:xfrm>
          <a:prstGeom prst="rect">
            <a:avLst/>
          </a:prstGeom>
          <a:noFill/>
          <a:ln/>
        </p:spPr>
        <p:txBody>
          <a:bodyPr wrap="square" lIns="0" tIns="0" rIns="0" bIns="0" rtlCol="0" anchor="ctr"/>
          <a:lstStyle/>
          <a:p>
            <a:pPr indent="0" marL="0">
              <a:buNone/>
            </a:pPr>
            <a:r>
              <a:rPr lang="en-US" sz="1300" b="1" dirty="0">
                <a:solidFill>
                  <a:schemeClr val="bg1"/>
                </a:solidFill>
              </a:rPr>
              <a:t>where to put the sound</a:t>
            </a:r>
            <a:endParaRPr lang="en-US" sz="1300" dirty="0"/>
          </a:p>
        </p:txBody>
      </p:sp>
      <p:sp>
        <p:nvSpPr>
          <p:cNvPr id="27" name="Shape 24"/>
          <p:cNvSpPr/>
          <p:nvPr/>
        </p:nvSpPr>
        <p:spPr>
          <a:xfrm>
            <a:off x="548640" y="5431536"/>
            <a:ext cx="4754880" cy="292608"/>
          </a:xfrm>
          <a:prstGeom prst="rect">
            <a:avLst/>
          </a:prstGeom>
          <a:solidFill>
            <a:schemeClr val="tx1"/>
          </a:solidFill>
          <a:ln/>
        </p:spPr>
      </p:sp>
      <p:sp>
        <p:nvSpPr>
          <p:cNvPr id="28" name="Text 25"/>
          <p:cNvSpPr txBox="1"/>
          <p:nvPr/>
        </p:nvSpPr>
        <p:spPr>
          <a:xfrm>
            <a:off x="731520" y="5431536"/>
            <a:ext cx="4480560" cy="292608"/>
          </a:xfrm>
          <a:prstGeom prst="rect">
            <a:avLst/>
          </a:prstGeom>
          <a:noFill/>
          <a:ln/>
        </p:spPr>
        <p:txBody>
          <a:bodyPr wrap="square" lIns="0" tIns="0" rIns="0" bIns="0" rtlCol="0" anchor="ctr"/>
          <a:lstStyle/>
          <a:p>
            <a:pPr indent="0" marL="0">
              <a:buNone/>
            </a:pPr>
            <a:r>
              <a:rPr lang="en-US" sz="1300" b="1" dirty="0">
                <a:solidFill>
                  <a:schemeClr val="bg1"/>
                </a:solidFill>
              </a:rPr>
              <a:t>the settings form</a:t>
            </a:r>
            <a:endParaRPr lang="en-US" sz="1300" dirty="0"/>
          </a:p>
        </p:txBody>
      </p:sp>
      <p:sp>
        <p:nvSpPr>
          <p:cNvPr id="29" name="Shape 26"/>
          <p:cNvSpPr/>
          <p:nvPr/>
        </p:nvSpPr>
        <p:spPr>
          <a:xfrm>
            <a:off x="548640" y="5760720"/>
            <a:ext cx="4754880" cy="292608"/>
          </a:xfrm>
          <a:prstGeom prst="rect">
            <a:avLst/>
          </a:prstGeom>
          <a:solidFill>
            <a:schemeClr val="accent3"/>
          </a:solidFill>
          <a:ln/>
        </p:spPr>
      </p:sp>
      <p:sp>
        <p:nvSpPr>
          <p:cNvPr id="30" name="Text 27"/>
          <p:cNvSpPr txBox="1"/>
          <p:nvPr/>
        </p:nvSpPr>
        <p:spPr>
          <a:xfrm>
            <a:off x="731520" y="5760720"/>
            <a:ext cx="4480560" cy="292608"/>
          </a:xfrm>
          <a:prstGeom prst="rect">
            <a:avLst/>
          </a:prstGeom>
          <a:noFill/>
          <a:ln/>
        </p:spPr>
        <p:txBody>
          <a:bodyPr wrap="square" lIns="0" tIns="0" rIns="0" bIns="0" rtlCol="0" anchor="ctr"/>
          <a:lstStyle/>
          <a:p>
            <a:pPr indent="0" marL="0">
              <a:buNone/>
            </a:pPr>
            <a:r>
              <a:rPr lang="en-US" sz="1300" b="1" dirty="0">
                <a:solidFill>
                  <a:schemeClr val="tx1"/>
                </a:solidFill>
              </a:rPr>
              <a:t>space Windows requires</a:t>
            </a:r>
            <a:endParaRPr lang="en-US" sz="1300" dirty="0"/>
          </a:p>
        </p:txBody>
      </p:sp>
      <p:sp>
        <p:nvSpPr>
          <p:cNvPr id="31" name="card"/>
          <p:cNvSpPr/>
          <p:nvPr/>
        </p:nvSpPr>
        <p:spPr>
          <a:xfrm>
            <a:off x="5852160" y="1463040"/>
            <a:ext cx="5760720" cy="1005840"/>
          </a:xfrm>
          <a:prstGeom prst="roundRect">
            <a:avLst>
              <a:gd name="adj" fmla="val 7273"/>
            </a:avLst>
          </a:prstGeom>
          <a:solidFill>
            <a:schemeClr val="bg2"/>
          </a:solidFill>
          <a:ln/>
        </p:spPr>
      </p:sp>
      <p:sp>
        <p:nvSpPr>
          <p:cNvPr id="32" name="Text 29"/>
          <p:cNvSpPr txBox="1"/>
          <p:nvPr/>
        </p:nvSpPr>
        <p:spPr>
          <a:xfrm>
            <a:off x="6080760" y="1572768"/>
            <a:ext cx="5394960" cy="365760"/>
          </a:xfrm>
          <a:prstGeom prst="rect">
            <a:avLst/>
          </a:prstGeom>
          <a:noFill/>
          <a:ln/>
        </p:spPr>
        <p:txBody>
          <a:bodyPr wrap="square" lIns="0" tIns="0" rIns="0" bIns="0" rtlCol="0" anchor="t"/>
          <a:lstStyle/>
          <a:p>
            <a:pPr indent="0" marL="0">
              <a:buNone/>
            </a:pPr>
            <a:r>
              <a:rPr lang="en-US" sz="1600" b="1" dirty="0">
                <a:solidFill>
                  <a:schemeClr val="accent1"/>
                </a:solidFill>
              </a:rPr>
              <a:t>Why 152 bytes?</a:t>
            </a:r>
            <a:endParaRPr lang="en-US" sz="1600" dirty="0"/>
          </a:p>
        </p:txBody>
      </p:sp>
      <p:sp>
        <p:nvSpPr>
          <p:cNvPr id="33" name="Text 30"/>
          <p:cNvSpPr txBox="1"/>
          <p:nvPr/>
        </p:nvSpPr>
        <p:spPr>
          <a:xfrm>
            <a:off x="6080760" y="1920240"/>
            <a:ext cx="5394960" cy="502920"/>
          </a:xfrm>
          <a:prstGeom prst="rect">
            <a:avLst/>
          </a:prstGeom>
          <a:noFill/>
          <a:ln/>
        </p:spPr>
        <p:txBody>
          <a:bodyPr wrap="square" lIns="0" tIns="0" rIns="0" bIns="0" rtlCol="0" anchor="t"/>
          <a:lstStyle/>
          <a:p>
            <a:pPr indent="0" marL="0">
              <a:buNone/>
            </a:pPr>
            <a:r>
              <a:rPr lang="en-US" sz="1400" dirty="0">
                <a:solidFill>
                  <a:schemeClr val="tx1"/>
                </a:solidFill>
              </a:rPr>
              <a:t>That size fits Windows' rules about where the scratch area has to sit.</a:t>
            </a:r>
            <a:endParaRPr lang="en-US" sz="1400" dirty="0"/>
          </a:p>
        </p:txBody>
      </p:sp>
      <p:sp>
        <p:nvSpPr>
          <p:cNvPr id="34" name="card"/>
          <p:cNvSpPr/>
          <p:nvPr/>
        </p:nvSpPr>
        <p:spPr>
          <a:xfrm>
            <a:off x="5852160" y="2633472"/>
            <a:ext cx="5760720" cy="1005840"/>
          </a:xfrm>
          <a:prstGeom prst="roundRect">
            <a:avLst>
              <a:gd name="adj" fmla="val 7273"/>
            </a:avLst>
          </a:prstGeom>
          <a:solidFill>
            <a:schemeClr val="bg2"/>
          </a:solidFill>
          <a:ln/>
        </p:spPr>
      </p:sp>
      <p:sp>
        <p:nvSpPr>
          <p:cNvPr id="35" name="Text 32"/>
          <p:cNvSpPr txBox="1"/>
          <p:nvPr/>
        </p:nvSpPr>
        <p:spPr>
          <a:xfrm>
            <a:off x="6080760" y="2743200"/>
            <a:ext cx="5394960" cy="365760"/>
          </a:xfrm>
          <a:prstGeom prst="rect">
            <a:avLst/>
          </a:prstGeom>
          <a:noFill/>
          <a:ln/>
        </p:spPr>
        <p:txBody>
          <a:bodyPr wrap="square" lIns="0" tIns="0" rIns="0" bIns="0" rtlCol="0" anchor="t"/>
          <a:lstStyle/>
          <a:p>
            <a:pPr indent="0" marL="0">
              <a:buNone/>
            </a:pPr>
            <a:r>
              <a:rPr lang="en-US" sz="1600" b="1" dirty="0">
                <a:solidFill>
                  <a:schemeClr val="accent1"/>
                </a:solidFill>
              </a:rPr>
              <a:t>Safe to use many times at once</a:t>
            </a:r>
            <a:endParaRPr lang="en-US" sz="1600" dirty="0"/>
          </a:p>
        </p:txBody>
      </p:sp>
      <p:sp>
        <p:nvSpPr>
          <p:cNvPr id="36" name="Text 33"/>
          <p:cNvSpPr txBox="1"/>
          <p:nvPr/>
        </p:nvSpPr>
        <p:spPr>
          <a:xfrm>
            <a:off x="6080760" y="3090672"/>
            <a:ext cx="5394960" cy="502920"/>
          </a:xfrm>
          <a:prstGeom prst="rect">
            <a:avLst/>
          </a:prstGeom>
          <a:noFill/>
          <a:ln/>
        </p:spPr>
        <p:txBody>
          <a:bodyPr wrap="square" lIns="0" tIns="0" rIns="0" bIns="0" rtlCol="0" anchor="t"/>
          <a:lstStyle/>
          <a:p>
            <a:pPr indent="0" marL="0">
              <a:buNone/>
            </a:pPr>
            <a:r>
              <a:rPr lang="en-US" sz="1400" dirty="0">
                <a:solidFill>
                  <a:schemeClr val="tx1"/>
                </a:solidFill>
              </a:rPr>
              <a:t>Nothing is stored permanently. We tested 100 sounds being made at the same time.</a:t>
            </a:r>
            <a:endParaRPr lang="en-US" sz="1400" dirty="0"/>
          </a:p>
        </p:txBody>
      </p:sp>
      <p:sp>
        <p:nvSpPr>
          <p:cNvPr id="37" name="card"/>
          <p:cNvSpPr/>
          <p:nvPr/>
        </p:nvSpPr>
        <p:spPr>
          <a:xfrm>
            <a:off x="5852160" y="3803904"/>
            <a:ext cx="5760720" cy="1005840"/>
          </a:xfrm>
          <a:prstGeom prst="roundRect">
            <a:avLst>
              <a:gd name="adj" fmla="val 7273"/>
            </a:avLst>
          </a:prstGeom>
          <a:solidFill>
            <a:schemeClr val="bg2"/>
          </a:solidFill>
          <a:ln/>
        </p:spPr>
      </p:sp>
      <p:sp>
        <p:nvSpPr>
          <p:cNvPr id="38" name="Text 35"/>
          <p:cNvSpPr txBox="1"/>
          <p:nvPr/>
        </p:nvSpPr>
        <p:spPr>
          <a:xfrm>
            <a:off x="6080760" y="3913632"/>
            <a:ext cx="5394960" cy="365760"/>
          </a:xfrm>
          <a:prstGeom prst="rect">
            <a:avLst/>
          </a:prstGeom>
          <a:noFill/>
          <a:ln/>
        </p:spPr>
        <p:txBody>
          <a:bodyPr wrap="square" lIns="0" tIns="0" rIns="0" bIns="0" rtlCol="0" anchor="t"/>
          <a:lstStyle/>
          <a:p>
            <a:pPr indent="0" marL="0">
              <a:buNone/>
            </a:pPr>
            <a:r>
              <a:rPr lang="en-US" sz="1600" b="1" dirty="0">
                <a:solidFill>
                  <a:schemeClr val="accent1"/>
                </a:solidFill>
              </a:rPr>
              <a:t>Tiny and self-contained</a:t>
            </a:r>
            <a:endParaRPr lang="en-US" sz="1600" dirty="0"/>
          </a:p>
        </p:txBody>
      </p:sp>
      <p:sp>
        <p:nvSpPr>
          <p:cNvPr id="39" name="Text 36"/>
          <p:cNvSpPr txBox="1"/>
          <p:nvPr/>
        </p:nvSpPr>
        <p:spPr>
          <a:xfrm>
            <a:off x="6080760" y="4261104"/>
            <a:ext cx="5394960" cy="502920"/>
          </a:xfrm>
          <a:prstGeom prst="rect">
            <a:avLst/>
          </a:prstGeom>
          <a:noFill/>
          <a:ln/>
        </p:spPr>
        <p:txBody>
          <a:bodyPr wrap="square" lIns="0" tIns="0" rIns="0" bIns="0" rtlCol="0" anchor="t"/>
          <a:lstStyle/>
          <a:p>
            <a:pPr indent="0" marL="0">
              <a:buNone/>
            </a:pPr>
            <a:r>
              <a:rPr lang="en-US" sz="1400" dirty="0">
                <a:solidFill>
                  <a:schemeClr val="tx1"/>
                </a:solidFill>
              </a:rPr>
              <a:t>The whole engine is about 5.6 KB and needs no other files.</a:t>
            </a:r>
            <a:endParaRPr lang="en-US" sz="1400" dirty="0"/>
          </a:p>
        </p:txBody>
      </p:sp>
      <p:sp>
        <p:nvSpPr>
          <p:cNvPr id="40" name="card"/>
          <p:cNvSpPr/>
          <p:nvPr/>
        </p:nvSpPr>
        <p:spPr>
          <a:xfrm>
            <a:off x="5852160" y="4974336"/>
            <a:ext cx="5760720" cy="1005840"/>
          </a:xfrm>
          <a:prstGeom prst="roundRect">
            <a:avLst>
              <a:gd name="adj" fmla="val 7273"/>
            </a:avLst>
          </a:prstGeom>
          <a:solidFill>
            <a:schemeClr val="bg2"/>
          </a:solidFill>
          <a:ln/>
        </p:spPr>
      </p:sp>
      <p:sp>
        <p:nvSpPr>
          <p:cNvPr id="41" name="Text 38"/>
          <p:cNvSpPr txBox="1"/>
          <p:nvPr/>
        </p:nvSpPr>
        <p:spPr>
          <a:xfrm>
            <a:off x="6080760" y="5084064"/>
            <a:ext cx="5394960" cy="365760"/>
          </a:xfrm>
          <a:prstGeom prst="rect">
            <a:avLst/>
          </a:prstGeom>
          <a:noFill/>
          <a:ln/>
        </p:spPr>
        <p:txBody>
          <a:bodyPr wrap="square" lIns="0" tIns="0" rIns="0" bIns="0" rtlCol="0" anchor="t"/>
          <a:lstStyle/>
          <a:p>
            <a:pPr indent="0" marL="0">
              <a:buNone/>
            </a:pPr>
            <a:r>
              <a:rPr lang="en-US" sz="1600" b="1" dirty="0">
                <a:solidFill>
                  <a:schemeClr val="accent1"/>
                </a:solidFill>
              </a:rPr>
              <a:t>Windows can follow it</a:t>
            </a:r>
            <a:endParaRPr lang="en-US" sz="1600" dirty="0"/>
          </a:p>
        </p:txBody>
      </p:sp>
      <p:sp>
        <p:nvSpPr>
          <p:cNvPr id="42" name="Text 39"/>
          <p:cNvSpPr txBox="1"/>
          <p:nvPr/>
        </p:nvSpPr>
        <p:spPr>
          <a:xfrm>
            <a:off x="6080760" y="5431536"/>
            <a:ext cx="5394960" cy="502920"/>
          </a:xfrm>
          <a:prstGeom prst="rect">
            <a:avLst/>
          </a:prstGeom>
          <a:noFill/>
          <a:ln/>
        </p:spPr>
        <p:txBody>
          <a:bodyPr wrap="square" lIns="0" tIns="0" rIns="0" bIns="0" rtlCol="0" anchor="t"/>
          <a:lstStyle/>
          <a:p>
            <a:pPr indent="0" marL="0">
              <a:buNone/>
            </a:pPr>
            <a:r>
              <a:rPr lang="en-US" sz="1400" dirty="0">
                <a:solidFill>
                  <a:schemeClr val="tx1"/>
                </a:solidFill>
              </a:rPr>
              <a:t>We included the notes Windows needs to trace the engine if something goes wrong.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The last job: turn the numbers into a WAV audio file</a:t>
            </a:r>
            <a:endParaRPr lang="en-US" sz="2800" dirty="0"/>
          </a:p>
        </p:txBody>
      </p:sp>
      <p:sp>
        <p:nvSpPr>
          <p:cNvPr id="4" name="Shape 1"/>
          <p:cNvSpPr/>
          <p:nvPr/>
        </p:nvSpPr>
        <p:spPr>
          <a:xfrm>
            <a:off x="548640" y="1600200"/>
            <a:ext cx="1664208" cy="1143000"/>
          </a:xfrm>
          <a:prstGeom prst="rect">
            <a:avLst/>
          </a:prstGeom>
          <a:solidFill>
            <a:schemeClr val="tx1"/>
          </a:solidFill>
          <a:ln/>
        </p:spPr>
      </p:sp>
      <p:sp>
        <p:nvSpPr>
          <p:cNvPr id="5" name="Text 2"/>
          <p:cNvSpPr txBox="1"/>
          <p:nvPr/>
        </p:nvSpPr>
        <p:spPr>
          <a:xfrm>
            <a:off x="685800" y="1600200"/>
            <a:ext cx="1444752" cy="1143000"/>
          </a:xfrm>
          <a:prstGeom prst="rect">
            <a:avLst/>
          </a:prstGeom>
          <a:noFill/>
          <a:ln/>
        </p:spPr>
        <p:txBody>
          <a:bodyPr wrap="square" lIns="0" tIns="0" rIns="0" bIns="0" rtlCol="0" anchor="ctr"/>
          <a:lstStyle/>
          <a:p>
            <a:pPr indent="0" marL="0">
              <a:buNone/>
            </a:pPr>
            <a:r>
              <a:rPr lang="en-US" sz="1500" b="1" dirty="0">
                <a:solidFill>
                  <a:schemeClr val="bg1"/>
                </a:solidFill>
              </a:rPr>
              <a:t>“This is a WAV file”</a:t>
            </a:r>
            <a:endParaRPr lang="en-US" sz="1500" dirty="0"/>
          </a:p>
        </p:txBody>
      </p:sp>
      <p:sp>
        <p:nvSpPr>
          <p:cNvPr id="6" name="Shape 3"/>
          <p:cNvSpPr/>
          <p:nvPr/>
        </p:nvSpPr>
        <p:spPr>
          <a:xfrm>
            <a:off x="2267712" y="1600200"/>
            <a:ext cx="1664208" cy="1143000"/>
          </a:xfrm>
          <a:prstGeom prst="rect">
            <a:avLst/>
          </a:prstGeom>
          <a:solidFill>
            <a:schemeClr val="accent3"/>
          </a:solidFill>
          <a:ln/>
        </p:spPr>
      </p:sp>
      <p:sp>
        <p:nvSpPr>
          <p:cNvPr id="7" name="Text 4"/>
          <p:cNvSpPr txBox="1"/>
          <p:nvPr/>
        </p:nvSpPr>
        <p:spPr>
          <a:xfrm>
            <a:off x="2404872" y="1600200"/>
            <a:ext cx="1444752" cy="1143000"/>
          </a:xfrm>
          <a:prstGeom prst="rect">
            <a:avLst/>
          </a:prstGeom>
          <a:noFill/>
          <a:ln/>
        </p:spPr>
        <p:txBody>
          <a:bodyPr wrap="square" lIns="0" tIns="0" rIns="0" bIns="0" rtlCol="0" anchor="ctr"/>
          <a:lstStyle/>
          <a:p>
            <a:pPr indent="0" marL="0">
              <a:buNone/>
            </a:pPr>
            <a:r>
              <a:rPr lang="en-US" sz="1500" b="1" dirty="0">
                <a:solidFill>
                  <a:schemeClr val="tx1"/>
                </a:solidFill>
              </a:rPr>
              <a:t>File size</a:t>
            </a:r>
            <a:endParaRPr lang="en-US" sz="1500" dirty="0"/>
          </a:p>
        </p:txBody>
      </p:sp>
      <p:sp>
        <p:nvSpPr>
          <p:cNvPr id="8" name="Shape 5"/>
          <p:cNvSpPr/>
          <p:nvPr/>
        </p:nvSpPr>
        <p:spPr>
          <a:xfrm>
            <a:off x="3986784" y="1600200"/>
            <a:ext cx="1664208" cy="1143000"/>
          </a:xfrm>
          <a:prstGeom prst="rect">
            <a:avLst/>
          </a:prstGeom>
          <a:solidFill>
            <a:schemeClr val="tx1"/>
          </a:solidFill>
          <a:ln/>
        </p:spPr>
      </p:sp>
      <p:sp>
        <p:nvSpPr>
          <p:cNvPr id="9" name="Text 6"/>
          <p:cNvSpPr txBox="1"/>
          <p:nvPr/>
        </p:nvSpPr>
        <p:spPr>
          <a:xfrm>
            <a:off x="4123944" y="1600200"/>
            <a:ext cx="1444752" cy="1143000"/>
          </a:xfrm>
          <a:prstGeom prst="rect">
            <a:avLst/>
          </a:prstGeom>
          <a:noFill/>
          <a:ln/>
        </p:spPr>
        <p:txBody>
          <a:bodyPr wrap="square" lIns="0" tIns="0" rIns="0" bIns="0" rtlCol="0" anchor="ctr"/>
          <a:lstStyle/>
          <a:p>
            <a:pPr indent="0" marL="0">
              <a:buNone/>
            </a:pPr>
            <a:r>
              <a:rPr lang="en-US" sz="1500" b="1" dirty="0">
                <a:solidFill>
                  <a:schemeClr val="bg1"/>
                </a:solidFill>
              </a:rPr>
              <a:t>CD quality, one channel</a:t>
            </a:r>
            <a:endParaRPr lang="en-US" sz="1500" dirty="0"/>
          </a:p>
        </p:txBody>
      </p:sp>
      <p:sp>
        <p:nvSpPr>
          <p:cNvPr id="10" name="Shape 7"/>
          <p:cNvSpPr/>
          <p:nvPr/>
        </p:nvSpPr>
        <p:spPr>
          <a:xfrm>
            <a:off x="5705856" y="1600200"/>
            <a:ext cx="1664208" cy="1143000"/>
          </a:xfrm>
          <a:prstGeom prst="rect">
            <a:avLst/>
          </a:prstGeom>
          <a:solidFill>
            <a:schemeClr val="tx1"/>
          </a:solidFill>
          <a:ln/>
        </p:spPr>
      </p:sp>
      <p:sp>
        <p:nvSpPr>
          <p:cNvPr id="11" name="Text 8"/>
          <p:cNvSpPr txBox="1"/>
          <p:nvPr/>
        </p:nvSpPr>
        <p:spPr>
          <a:xfrm>
            <a:off x="5843016" y="1600200"/>
            <a:ext cx="1444752" cy="1143000"/>
          </a:xfrm>
          <a:prstGeom prst="rect">
            <a:avLst/>
          </a:prstGeom>
          <a:noFill/>
          <a:ln/>
        </p:spPr>
        <p:txBody>
          <a:bodyPr wrap="square" lIns="0" tIns="0" rIns="0" bIns="0" rtlCol="0" anchor="ctr"/>
          <a:lstStyle/>
          <a:p>
            <a:pPr indent="0" marL="0">
              <a:buNone/>
            </a:pPr>
            <a:r>
              <a:rPr lang="en-US" sz="1500" b="1" dirty="0">
                <a:solidFill>
                  <a:schemeClr val="bg1"/>
                </a:solidFill>
              </a:rPr>
              <a:t>16-bit numbers</a:t>
            </a:r>
            <a:endParaRPr lang="en-US" sz="1500" dirty="0"/>
          </a:p>
        </p:txBody>
      </p:sp>
      <p:sp>
        <p:nvSpPr>
          <p:cNvPr id="12" name="Shape 9"/>
          <p:cNvSpPr/>
          <p:nvPr/>
        </p:nvSpPr>
        <p:spPr>
          <a:xfrm>
            <a:off x="7424928" y="1600200"/>
            <a:ext cx="1664208" cy="1143000"/>
          </a:xfrm>
          <a:prstGeom prst="rect">
            <a:avLst/>
          </a:prstGeom>
          <a:solidFill>
            <a:schemeClr val="accent3"/>
          </a:solidFill>
          <a:ln/>
        </p:spPr>
      </p:sp>
      <p:sp>
        <p:nvSpPr>
          <p:cNvPr id="13" name="Text 10"/>
          <p:cNvSpPr txBox="1"/>
          <p:nvPr/>
        </p:nvSpPr>
        <p:spPr>
          <a:xfrm>
            <a:off x="7562088" y="1600200"/>
            <a:ext cx="1444752" cy="1143000"/>
          </a:xfrm>
          <a:prstGeom prst="rect">
            <a:avLst/>
          </a:prstGeom>
          <a:noFill/>
          <a:ln/>
        </p:spPr>
        <p:txBody>
          <a:bodyPr wrap="square" lIns="0" tIns="0" rIns="0" bIns="0" rtlCol="0" anchor="ctr"/>
          <a:lstStyle/>
          <a:p>
            <a:pPr indent="0" marL="0">
              <a:buNone/>
            </a:pPr>
            <a:r>
              <a:rPr lang="en-US" sz="1500" b="1" dirty="0">
                <a:solidFill>
                  <a:schemeClr val="tx1"/>
                </a:solidFill>
              </a:rPr>
              <a:t>Sound size</a:t>
            </a:r>
            <a:endParaRPr lang="en-US" sz="1500" dirty="0"/>
          </a:p>
        </p:txBody>
      </p:sp>
      <p:sp>
        <p:nvSpPr>
          <p:cNvPr id="14" name="Shape 11"/>
          <p:cNvSpPr/>
          <p:nvPr/>
        </p:nvSpPr>
        <p:spPr>
          <a:xfrm>
            <a:off x="9189720" y="1600200"/>
            <a:ext cx="2423160" cy="1143000"/>
          </a:xfrm>
          <a:prstGeom prst="rect">
            <a:avLst/>
          </a:prstGeom>
          <a:solidFill>
            <a:schemeClr val="accent1"/>
          </a:solidFill>
          <a:ln/>
        </p:spPr>
      </p:sp>
      <p:sp>
        <p:nvSpPr>
          <p:cNvPr id="15" name="Text 12"/>
          <p:cNvSpPr txBox="1"/>
          <p:nvPr/>
        </p:nvSpPr>
        <p:spPr>
          <a:xfrm>
            <a:off x="9326880" y="1600200"/>
            <a:ext cx="2194560" cy="1143000"/>
          </a:xfrm>
          <a:prstGeom prst="rect">
            <a:avLst/>
          </a:prstGeom>
          <a:noFill/>
          <a:ln/>
        </p:spPr>
        <p:txBody>
          <a:bodyPr wrap="square" lIns="0" tIns="0" rIns="0" bIns="0" rtlCol="0" anchor="ctr"/>
          <a:lstStyle/>
          <a:p>
            <a:pPr indent="0" marL="0">
              <a:buNone/>
            </a:pPr>
            <a:r>
              <a:rPr lang="en-US" sz="1500" b="1" dirty="0">
                <a:solidFill>
                  <a:schemeClr val="bg1"/>
                </a:solidFill>
              </a:rPr>
              <a:t>The sound itself…</a:t>
            </a:r>
            <a:endParaRPr lang="en-US" sz="1500" dirty="0"/>
          </a:p>
        </p:txBody>
      </p:sp>
      <p:sp>
        <p:nvSpPr>
          <p:cNvPr id="16" name="Text 13"/>
          <p:cNvSpPr txBox="1"/>
          <p:nvPr/>
        </p:nvSpPr>
        <p:spPr>
          <a:xfrm>
            <a:off x="548640" y="2852928"/>
            <a:ext cx="10972800" cy="365760"/>
          </a:xfrm>
          <a:prstGeom prst="rect">
            <a:avLst/>
          </a:prstGeom>
          <a:noFill/>
          <a:ln/>
        </p:spPr>
        <p:txBody>
          <a:bodyPr wrap="square" lIns="0" tIns="0" rIns="0" bIns="0" rtlCol="0" anchor="t"/>
          <a:lstStyle/>
          <a:p>
            <a:pPr indent="0" marL="0">
              <a:buNone/>
            </a:pPr>
            <a:r>
              <a:rPr lang="en-US" sz="1400" dirty="0">
                <a:solidFill>
                  <a:schemeClr val="accent5"/>
                </a:solidFill>
              </a:rPr>
              <a:t>Every WAV file starts with a 44-byte label. Only the two amber numbers change from sound to sound; the rest is always the same.</a:t>
            </a:r>
            <a:endParaRPr lang="en-US" sz="1400" dirty="0"/>
          </a:p>
        </p:txBody>
      </p:sp>
      <p:sp>
        <p:nvSpPr>
          <p:cNvPr id="17" name="card"/>
          <p:cNvSpPr/>
          <p:nvPr/>
        </p:nvSpPr>
        <p:spPr>
          <a:xfrm>
            <a:off x="548640" y="3474720"/>
            <a:ext cx="2606040" cy="1828800"/>
          </a:xfrm>
          <a:prstGeom prst="roundRect">
            <a:avLst>
              <a:gd name="adj" fmla="val 4000"/>
            </a:avLst>
          </a:prstGeom>
          <a:solidFill>
            <a:schemeClr val="bg2"/>
          </a:solidFill>
          <a:ln/>
        </p:spPr>
      </p:sp>
      <p:sp>
        <p:nvSpPr>
          <p:cNvPr id="18" name="Shape 15"/>
          <p:cNvSpPr/>
          <p:nvPr/>
        </p:nvSpPr>
        <p:spPr>
          <a:xfrm>
            <a:off x="777240" y="3657600"/>
            <a:ext cx="457200" cy="457200"/>
          </a:xfrm>
          <a:prstGeom prst="ellipse">
            <a:avLst/>
          </a:prstGeom>
          <a:solidFill>
            <a:schemeClr val="accent1"/>
          </a:solidFill>
          <a:ln/>
        </p:spPr>
      </p:sp>
      <p:sp>
        <p:nvSpPr>
          <p:cNvPr id="19" name="Text 16"/>
          <p:cNvSpPr txBox="1"/>
          <p:nvPr/>
        </p:nvSpPr>
        <p:spPr>
          <a:xfrm>
            <a:off x="777240" y="3657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0" name="Text 17"/>
          <p:cNvSpPr txBox="1"/>
          <p:nvPr/>
        </p:nvSpPr>
        <p:spPr>
          <a:xfrm>
            <a:off x="777240" y="4251960"/>
            <a:ext cx="2194560" cy="365760"/>
          </a:xfrm>
          <a:prstGeom prst="rect">
            <a:avLst/>
          </a:prstGeom>
          <a:noFill/>
          <a:ln/>
        </p:spPr>
        <p:txBody>
          <a:bodyPr wrap="square" lIns="0" tIns="0" rIns="0" bIns="0" rtlCol="0" anchor="t"/>
          <a:lstStyle/>
          <a:p>
            <a:pPr indent="0" marL="0">
              <a:buNone/>
            </a:pPr>
            <a:r>
              <a:rPr lang="en-US" sz="1700" b="1" dirty="0">
                <a:solidFill>
                  <a:schemeClr val="tx1"/>
                </a:solidFill>
              </a:rPr>
              <a:t>Check</a:t>
            </a:r>
            <a:endParaRPr lang="en-US" sz="1700" dirty="0"/>
          </a:p>
        </p:txBody>
      </p:sp>
      <p:sp>
        <p:nvSpPr>
          <p:cNvPr id="21" name="Text 18"/>
          <p:cNvSpPr txBox="1"/>
          <p:nvPr/>
        </p:nvSpPr>
        <p:spPr>
          <a:xfrm>
            <a:off x="777240" y="4645152"/>
            <a:ext cx="2240280" cy="640080"/>
          </a:xfrm>
          <a:prstGeom prst="rect">
            <a:avLst/>
          </a:prstGeom>
          <a:noFill/>
          <a:ln/>
        </p:spPr>
        <p:txBody>
          <a:bodyPr wrap="square" lIns="0" tIns="0" rIns="0" bIns="0" rtlCol="0" anchor="t"/>
          <a:lstStyle/>
          <a:p>
            <a:pPr indent="0" marL="0">
              <a:buNone/>
            </a:pPr>
            <a:r>
              <a:rPr lang="en-US" sz="1400" dirty="0">
                <a:solidFill>
                  <a:schemeClr val="tx1"/>
                </a:solidFill>
              </a:rPr>
              <a:t>There's enough room for the file.</a:t>
            </a:r>
            <a:endParaRPr lang="en-US" sz="1400" dirty="0"/>
          </a:p>
        </p:txBody>
      </p:sp>
      <p:sp>
        <p:nvSpPr>
          <p:cNvPr id="22" name="card"/>
          <p:cNvSpPr/>
          <p:nvPr/>
        </p:nvSpPr>
        <p:spPr>
          <a:xfrm>
            <a:off x="3364992" y="3474720"/>
            <a:ext cx="2606040" cy="1828800"/>
          </a:xfrm>
          <a:prstGeom prst="roundRect">
            <a:avLst>
              <a:gd name="adj" fmla="val 4000"/>
            </a:avLst>
          </a:prstGeom>
          <a:solidFill>
            <a:schemeClr val="bg2"/>
          </a:solidFill>
          <a:ln/>
        </p:spPr>
      </p:sp>
      <p:sp>
        <p:nvSpPr>
          <p:cNvPr id="23" name="Shape 20"/>
          <p:cNvSpPr/>
          <p:nvPr/>
        </p:nvSpPr>
        <p:spPr>
          <a:xfrm>
            <a:off x="3593592" y="3657600"/>
            <a:ext cx="457200" cy="457200"/>
          </a:xfrm>
          <a:prstGeom prst="ellipse">
            <a:avLst/>
          </a:prstGeom>
          <a:solidFill>
            <a:schemeClr val="accent1"/>
          </a:solidFill>
          <a:ln/>
        </p:spPr>
      </p:sp>
      <p:sp>
        <p:nvSpPr>
          <p:cNvPr id="24" name="Text 21"/>
          <p:cNvSpPr txBox="1"/>
          <p:nvPr/>
        </p:nvSpPr>
        <p:spPr>
          <a:xfrm>
            <a:off x="3593592" y="3657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5" name="Text 22"/>
          <p:cNvSpPr txBox="1"/>
          <p:nvPr/>
        </p:nvSpPr>
        <p:spPr>
          <a:xfrm>
            <a:off x="3593592" y="4251960"/>
            <a:ext cx="2194560" cy="365760"/>
          </a:xfrm>
          <a:prstGeom prst="rect">
            <a:avLst/>
          </a:prstGeom>
          <a:noFill/>
          <a:ln/>
        </p:spPr>
        <p:txBody>
          <a:bodyPr wrap="square" lIns="0" tIns="0" rIns="0" bIns="0" rtlCol="0" anchor="t"/>
          <a:lstStyle/>
          <a:p>
            <a:pPr indent="0" marL="0">
              <a:buNone/>
            </a:pPr>
            <a:r>
              <a:rPr lang="en-US" sz="1700" b="1" dirty="0">
                <a:solidFill>
                  <a:schemeClr val="tx1"/>
                </a:solidFill>
              </a:rPr>
              <a:t>Copy the label</a:t>
            </a:r>
            <a:endParaRPr lang="en-US" sz="1700" dirty="0"/>
          </a:p>
        </p:txBody>
      </p:sp>
      <p:sp>
        <p:nvSpPr>
          <p:cNvPr id="26" name="Text 23"/>
          <p:cNvSpPr txBox="1"/>
          <p:nvPr/>
        </p:nvSpPr>
        <p:spPr>
          <a:xfrm>
            <a:off x="3593592" y="4645152"/>
            <a:ext cx="2240280" cy="640080"/>
          </a:xfrm>
          <a:prstGeom prst="rect">
            <a:avLst/>
          </a:prstGeom>
          <a:noFill/>
          <a:ln/>
        </p:spPr>
        <p:txBody>
          <a:bodyPr wrap="square" lIns="0" tIns="0" rIns="0" bIns="0" rtlCol="0" anchor="t"/>
          <a:lstStyle/>
          <a:p>
            <a:pPr indent="0" marL="0">
              <a:buNone/>
            </a:pPr>
            <a:r>
              <a:rPr lang="en-US" sz="1400" dirty="0">
                <a:solidFill>
                  <a:schemeClr val="tx1"/>
                </a:solidFill>
              </a:rPr>
              <a:t>From a ready-made template.</a:t>
            </a:r>
            <a:endParaRPr lang="en-US" sz="1400" dirty="0"/>
          </a:p>
        </p:txBody>
      </p:sp>
      <p:sp>
        <p:nvSpPr>
          <p:cNvPr id="27" name="card"/>
          <p:cNvSpPr/>
          <p:nvPr/>
        </p:nvSpPr>
        <p:spPr>
          <a:xfrm>
            <a:off x="6181344" y="3474720"/>
            <a:ext cx="2606040" cy="1828800"/>
          </a:xfrm>
          <a:prstGeom prst="roundRect">
            <a:avLst>
              <a:gd name="adj" fmla="val 4000"/>
            </a:avLst>
          </a:prstGeom>
          <a:solidFill>
            <a:schemeClr val="bg2"/>
          </a:solidFill>
          <a:ln/>
        </p:spPr>
      </p:sp>
      <p:sp>
        <p:nvSpPr>
          <p:cNvPr id="28" name="Shape 25"/>
          <p:cNvSpPr/>
          <p:nvPr/>
        </p:nvSpPr>
        <p:spPr>
          <a:xfrm>
            <a:off x="6409944" y="3657600"/>
            <a:ext cx="457200" cy="457200"/>
          </a:xfrm>
          <a:prstGeom prst="ellipse">
            <a:avLst/>
          </a:prstGeom>
          <a:solidFill>
            <a:schemeClr val="accent1"/>
          </a:solidFill>
          <a:ln/>
        </p:spPr>
      </p:sp>
      <p:sp>
        <p:nvSpPr>
          <p:cNvPr id="29" name="Text 26"/>
          <p:cNvSpPr txBox="1"/>
          <p:nvPr/>
        </p:nvSpPr>
        <p:spPr>
          <a:xfrm>
            <a:off x="6409944" y="3657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0" name="Text 27"/>
          <p:cNvSpPr txBox="1"/>
          <p:nvPr/>
        </p:nvSpPr>
        <p:spPr>
          <a:xfrm>
            <a:off x="6409944" y="4251960"/>
            <a:ext cx="2194560" cy="365760"/>
          </a:xfrm>
          <a:prstGeom prst="rect">
            <a:avLst/>
          </a:prstGeom>
          <a:noFill/>
          <a:ln/>
        </p:spPr>
        <p:txBody>
          <a:bodyPr wrap="square" lIns="0" tIns="0" rIns="0" bIns="0" rtlCol="0" anchor="t"/>
          <a:lstStyle/>
          <a:p>
            <a:pPr indent="0" marL="0">
              <a:buNone/>
            </a:pPr>
            <a:r>
              <a:rPr lang="en-US" sz="1700" b="1" dirty="0">
                <a:solidFill>
                  <a:schemeClr val="tx1"/>
                </a:solidFill>
              </a:rPr>
              <a:t>Fill in two sizes</a:t>
            </a:r>
            <a:endParaRPr lang="en-US" sz="1700" dirty="0"/>
          </a:p>
        </p:txBody>
      </p:sp>
      <p:sp>
        <p:nvSpPr>
          <p:cNvPr id="31" name="Text 28"/>
          <p:cNvSpPr txBox="1"/>
          <p:nvPr/>
        </p:nvSpPr>
        <p:spPr>
          <a:xfrm>
            <a:off x="6409944" y="4645152"/>
            <a:ext cx="2240280" cy="640080"/>
          </a:xfrm>
          <a:prstGeom prst="rect">
            <a:avLst/>
          </a:prstGeom>
          <a:noFill/>
          <a:ln/>
        </p:spPr>
        <p:txBody>
          <a:bodyPr wrap="square" lIns="0" tIns="0" rIns="0" bIns="0" rtlCol="0" anchor="t"/>
          <a:lstStyle/>
          <a:p>
            <a:pPr indent="0" marL="0">
              <a:buNone/>
            </a:pPr>
            <a:r>
              <a:rPr lang="en-US" sz="1400" dirty="0">
                <a:solidFill>
                  <a:schemeClr val="tx1"/>
                </a:solidFill>
              </a:rPr>
              <a:t>How big the file and the sound are.</a:t>
            </a:r>
            <a:endParaRPr lang="en-US" sz="1400" dirty="0"/>
          </a:p>
        </p:txBody>
      </p:sp>
      <p:sp>
        <p:nvSpPr>
          <p:cNvPr id="32" name="card"/>
          <p:cNvSpPr/>
          <p:nvPr/>
        </p:nvSpPr>
        <p:spPr>
          <a:xfrm>
            <a:off x="8997696" y="3474720"/>
            <a:ext cx="2606040" cy="1828800"/>
          </a:xfrm>
          <a:prstGeom prst="roundRect">
            <a:avLst>
              <a:gd name="adj" fmla="val 4000"/>
            </a:avLst>
          </a:prstGeom>
          <a:solidFill>
            <a:schemeClr val="bg2"/>
          </a:solidFill>
          <a:ln/>
        </p:spPr>
      </p:sp>
      <p:sp>
        <p:nvSpPr>
          <p:cNvPr id="33" name="Shape 30"/>
          <p:cNvSpPr/>
          <p:nvPr/>
        </p:nvSpPr>
        <p:spPr>
          <a:xfrm>
            <a:off x="9226296" y="3657600"/>
            <a:ext cx="457200" cy="457200"/>
          </a:xfrm>
          <a:prstGeom prst="ellipse">
            <a:avLst/>
          </a:prstGeom>
          <a:solidFill>
            <a:schemeClr val="accent1"/>
          </a:solidFill>
          <a:ln/>
        </p:spPr>
      </p:sp>
      <p:sp>
        <p:nvSpPr>
          <p:cNvPr id="34" name="Text 31"/>
          <p:cNvSpPr txBox="1"/>
          <p:nvPr/>
        </p:nvSpPr>
        <p:spPr>
          <a:xfrm>
            <a:off x="9226296" y="3657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5" name="Text 32"/>
          <p:cNvSpPr txBox="1"/>
          <p:nvPr/>
        </p:nvSpPr>
        <p:spPr>
          <a:xfrm>
            <a:off x="9226296" y="4251960"/>
            <a:ext cx="2194560" cy="365760"/>
          </a:xfrm>
          <a:prstGeom prst="rect">
            <a:avLst/>
          </a:prstGeom>
          <a:noFill/>
          <a:ln/>
        </p:spPr>
        <p:txBody>
          <a:bodyPr wrap="square" lIns="0" tIns="0" rIns="0" bIns="0" rtlCol="0" anchor="t"/>
          <a:lstStyle/>
          <a:p>
            <a:pPr indent="0" marL="0">
              <a:buNone/>
            </a:pPr>
            <a:r>
              <a:rPr lang="en-US" sz="1700" b="1" dirty="0">
                <a:solidFill>
                  <a:schemeClr val="tx1"/>
                </a:solidFill>
              </a:rPr>
              <a:t>Add the sound</a:t>
            </a:r>
            <a:endParaRPr lang="en-US" sz="1700" dirty="0"/>
          </a:p>
        </p:txBody>
      </p:sp>
      <p:sp>
        <p:nvSpPr>
          <p:cNvPr id="36" name="Text 33"/>
          <p:cNvSpPr txBox="1"/>
          <p:nvPr/>
        </p:nvSpPr>
        <p:spPr>
          <a:xfrm>
            <a:off x="9226296" y="4645152"/>
            <a:ext cx="2240280" cy="640080"/>
          </a:xfrm>
          <a:prstGeom prst="rect">
            <a:avLst/>
          </a:prstGeom>
          <a:noFill/>
          <a:ln/>
        </p:spPr>
        <p:txBody>
          <a:bodyPr wrap="square" lIns="0" tIns="0" rIns="0" bIns="0" rtlCol="0" anchor="t"/>
          <a:lstStyle/>
          <a:p>
            <a:pPr indent="0" marL="0">
              <a:buNone/>
            </a:pPr>
            <a:r>
              <a:rPr lang="en-US" sz="1400" dirty="0">
                <a:solidFill>
                  <a:schemeClr val="tx1"/>
                </a:solidFill>
              </a:rPr>
              <a:t>Right after the label. Done.</a:t>
            </a:r>
            <a:endParaRPr lang="en-US" sz="1400" dirty="0"/>
          </a:p>
        </p:txBody>
      </p:sp>
      <p:sp>
        <p:nvSpPr>
          <p:cNvPr id="37" name="Text 34"/>
          <p:cNvSpPr txBox="1"/>
          <p:nvPr/>
        </p:nvSpPr>
        <p:spPr>
          <a:xfrm>
            <a:off x="548640" y="5623560"/>
            <a:ext cx="10972800" cy="365760"/>
          </a:xfrm>
          <a:prstGeom prst="rect">
            <a:avLst/>
          </a:prstGeom>
          <a:noFill/>
          <a:ln/>
        </p:spPr>
        <p:txBody>
          <a:bodyPr wrap="square" lIns="0" tIns="0" rIns="0" bIns="0" rtlCol="0" anchor="t"/>
          <a:lstStyle/>
          <a:p>
            <a:pPr indent="0" marL="0">
              <a:buNone/>
            </a:pPr>
            <a:r>
              <a:rPr lang="en-US" sz="1500" b="1" dirty="0">
                <a:solidFill>
                  <a:schemeClr val="accent1"/>
                </a:solidFill>
              </a:rPr>
              <a:t>One second of sound </a:t>
            </a:r>
            <a:pPr indent="0" marL="0">
              <a:buNone/>
            </a:pPr>
            <a:r>
              <a:rPr lang="en-US" sz="1500" dirty="0">
                <a:solidFill>
                  <a:schemeClr val="tx1"/>
                </a:solidFill>
              </a:rPr>
              <a:t>= a 44-byte label + 88,200 bytes of sound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We checked every number against an answer key: zero mistakes</a:t>
            </a:r>
            <a:endParaRPr lang="en-US" sz="2800" dirty="0"/>
          </a:p>
        </p:txBody>
      </p:sp>
      <p:sp>
        <p:nvSpPr>
          <p:cNvPr id="4" name="card"/>
          <p:cNvSpPr/>
          <p:nvPr/>
        </p:nvSpPr>
        <p:spPr>
          <a:xfrm>
            <a:off x="548640" y="1508760"/>
            <a:ext cx="2606040" cy="1600200"/>
          </a:xfrm>
          <a:prstGeom prst="roundRect">
            <a:avLst>
              <a:gd name="adj" fmla="val 4571"/>
            </a:avLst>
          </a:prstGeom>
          <a:solidFill>
            <a:schemeClr val="bg2"/>
          </a:solidFill>
          <a:ln/>
        </p:spPr>
      </p:sp>
      <p:sp>
        <p:nvSpPr>
          <p:cNvPr id="5" name="Text 2"/>
          <p:cNvSpPr txBox="1"/>
          <p:nvPr/>
        </p:nvSpPr>
        <p:spPr>
          <a:xfrm>
            <a:off x="777240" y="1645920"/>
            <a:ext cx="2240280" cy="77724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1,279,144</a:t>
            </a:r>
            <a:endParaRPr lang="en-US" sz="3600" dirty="0"/>
          </a:p>
        </p:txBody>
      </p:sp>
      <p:sp>
        <p:nvSpPr>
          <p:cNvPr id="6" name="Text 3"/>
          <p:cNvSpPr txBox="1"/>
          <p:nvPr/>
        </p:nvSpPr>
        <p:spPr>
          <a:xfrm>
            <a:off x="777240" y="2468880"/>
            <a:ext cx="2240280" cy="548640"/>
          </a:xfrm>
          <a:prstGeom prst="rect">
            <a:avLst/>
          </a:prstGeom>
          <a:noFill/>
          <a:ln/>
        </p:spPr>
        <p:txBody>
          <a:bodyPr wrap="square" lIns="0" tIns="0" rIns="0" bIns="0" rtlCol="0" anchor="t"/>
          <a:lstStyle/>
          <a:p>
            <a:pPr indent="0" marL="0">
              <a:buNone/>
            </a:pPr>
            <a:r>
              <a:rPr lang="en-US" sz="1400" dirty="0">
                <a:solidFill>
                  <a:schemeClr val="tx2"/>
                </a:solidFill>
              </a:rPr>
              <a:t>checks passed</a:t>
            </a:r>
            <a:endParaRPr lang="en-US" sz="1400" dirty="0"/>
          </a:p>
        </p:txBody>
      </p:sp>
      <p:sp>
        <p:nvSpPr>
          <p:cNvPr id="7" name="card"/>
          <p:cNvSpPr/>
          <p:nvPr/>
        </p:nvSpPr>
        <p:spPr>
          <a:xfrm>
            <a:off x="3364992" y="1508760"/>
            <a:ext cx="2606040" cy="1600200"/>
          </a:xfrm>
          <a:prstGeom prst="roundRect">
            <a:avLst>
              <a:gd name="adj" fmla="val 4571"/>
            </a:avLst>
          </a:prstGeom>
          <a:solidFill>
            <a:schemeClr val="tx1"/>
          </a:solidFill>
          <a:ln/>
        </p:spPr>
      </p:sp>
      <p:sp>
        <p:nvSpPr>
          <p:cNvPr id="8" name="Text 5"/>
          <p:cNvSpPr txBox="1"/>
          <p:nvPr/>
        </p:nvSpPr>
        <p:spPr>
          <a:xfrm>
            <a:off x="3593592" y="1645920"/>
            <a:ext cx="2240280" cy="77724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0</a:t>
            </a:r>
            <a:endParaRPr lang="en-US" sz="3600" dirty="0"/>
          </a:p>
        </p:txBody>
      </p:sp>
      <p:sp>
        <p:nvSpPr>
          <p:cNvPr id="9" name="Text 6"/>
          <p:cNvSpPr txBox="1"/>
          <p:nvPr/>
        </p:nvSpPr>
        <p:spPr>
          <a:xfrm>
            <a:off x="3593592" y="2468880"/>
            <a:ext cx="2240280" cy="548640"/>
          </a:xfrm>
          <a:prstGeom prst="rect">
            <a:avLst/>
          </a:prstGeom>
          <a:noFill/>
          <a:ln/>
        </p:spPr>
        <p:txBody>
          <a:bodyPr wrap="square" lIns="0" tIns="0" rIns="0" bIns="0" rtlCol="0" anchor="t"/>
          <a:lstStyle/>
          <a:p>
            <a:pPr indent="0" marL="0">
              <a:buNone/>
            </a:pPr>
            <a:r>
              <a:rPr lang="en-US" sz="1400" dirty="0">
                <a:solidFill>
                  <a:schemeClr val="bg1"/>
                </a:solidFill>
              </a:rPr>
              <a:t>differences from the answer key</a:t>
            </a:r>
            <a:endParaRPr lang="en-US" sz="1400" dirty="0"/>
          </a:p>
        </p:txBody>
      </p:sp>
      <p:sp>
        <p:nvSpPr>
          <p:cNvPr id="10" name="card"/>
          <p:cNvSpPr/>
          <p:nvPr/>
        </p:nvSpPr>
        <p:spPr>
          <a:xfrm>
            <a:off x="6181344" y="1508760"/>
            <a:ext cx="2606040" cy="1600200"/>
          </a:xfrm>
          <a:prstGeom prst="roundRect">
            <a:avLst>
              <a:gd name="adj" fmla="val 4571"/>
            </a:avLst>
          </a:prstGeom>
          <a:solidFill>
            <a:schemeClr val="bg2"/>
          </a:solidFill>
          <a:ln/>
        </p:spPr>
      </p:sp>
      <p:sp>
        <p:nvSpPr>
          <p:cNvPr id="11" name="Text 8"/>
          <p:cNvSpPr txBox="1"/>
          <p:nvPr/>
        </p:nvSpPr>
        <p:spPr>
          <a:xfrm>
            <a:off x="6409944" y="1645920"/>
            <a:ext cx="2240280" cy="77724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10,000</a:t>
            </a:r>
            <a:endParaRPr lang="en-US" sz="3600" dirty="0"/>
          </a:p>
        </p:txBody>
      </p:sp>
      <p:sp>
        <p:nvSpPr>
          <p:cNvPr id="12" name="Text 9"/>
          <p:cNvSpPr txBox="1"/>
          <p:nvPr/>
        </p:nvSpPr>
        <p:spPr>
          <a:xfrm>
            <a:off x="6409944" y="2468880"/>
            <a:ext cx="2240280" cy="548640"/>
          </a:xfrm>
          <a:prstGeom prst="rect">
            <a:avLst/>
          </a:prstGeom>
          <a:noFill/>
          <a:ln/>
        </p:spPr>
        <p:txBody>
          <a:bodyPr wrap="square" lIns="0" tIns="0" rIns="0" bIns="0" rtlCol="0" anchor="t"/>
          <a:lstStyle/>
          <a:p>
            <a:pPr indent="0" marL="0">
              <a:buNone/>
            </a:pPr>
            <a:r>
              <a:rPr lang="en-US" sz="1400" dirty="0">
                <a:solidFill>
                  <a:schemeClr val="tx2"/>
                </a:solidFill>
              </a:rPr>
              <a:t>random sounds tested</a:t>
            </a:r>
            <a:endParaRPr lang="en-US" sz="1400" dirty="0"/>
          </a:p>
        </p:txBody>
      </p:sp>
      <p:sp>
        <p:nvSpPr>
          <p:cNvPr id="13" name="card"/>
          <p:cNvSpPr/>
          <p:nvPr/>
        </p:nvSpPr>
        <p:spPr>
          <a:xfrm>
            <a:off x="8997696" y="1508760"/>
            <a:ext cx="2606040" cy="1600200"/>
          </a:xfrm>
          <a:prstGeom prst="roundRect">
            <a:avLst>
              <a:gd name="adj" fmla="val 4571"/>
            </a:avLst>
          </a:prstGeom>
          <a:solidFill>
            <a:schemeClr val="bg2"/>
          </a:solidFill>
          <a:ln/>
        </p:spPr>
      </p:sp>
      <p:sp>
        <p:nvSpPr>
          <p:cNvPr id="14" name="Text 11"/>
          <p:cNvSpPr txBox="1"/>
          <p:nvPr/>
        </p:nvSpPr>
        <p:spPr>
          <a:xfrm>
            <a:off x="9226296" y="1645920"/>
            <a:ext cx="2240280" cy="77724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1,000</a:t>
            </a:r>
            <a:endParaRPr lang="en-US" sz="3600" dirty="0"/>
          </a:p>
        </p:txBody>
      </p:sp>
      <p:sp>
        <p:nvSpPr>
          <p:cNvPr id="15" name="Text 12"/>
          <p:cNvSpPr txBox="1"/>
          <p:nvPr/>
        </p:nvSpPr>
        <p:spPr>
          <a:xfrm>
            <a:off x="9226296" y="2468880"/>
            <a:ext cx="2240280" cy="548640"/>
          </a:xfrm>
          <a:prstGeom prst="rect">
            <a:avLst/>
          </a:prstGeom>
          <a:noFill/>
          <a:ln/>
        </p:spPr>
        <p:txBody>
          <a:bodyPr wrap="square" lIns="0" tIns="0" rIns="0" bIns="0" rtlCol="0" anchor="t"/>
          <a:lstStyle/>
          <a:p>
            <a:pPr indent="0" marL="0">
              <a:buNone/>
            </a:pPr>
            <a:r>
              <a:rPr lang="en-US" sz="1400" dirty="0">
                <a:solidFill>
                  <a:schemeClr val="tx2"/>
                </a:solidFill>
              </a:rPr>
              <a:t>repeat runs, identical every time</a:t>
            </a:r>
            <a:endParaRPr lang="en-US" sz="1400" dirty="0"/>
          </a:p>
        </p:txBody>
      </p:sp>
      <p:sp>
        <p:nvSpPr>
          <p:cNvPr id="16" name="Text 13"/>
          <p:cNvSpPr txBox="1"/>
          <p:nvPr/>
        </p:nvSpPr>
        <p:spPr>
          <a:xfrm>
            <a:off x="548640" y="3429000"/>
            <a:ext cx="5394960" cy="365760"/>
          </a:xfrm>
          <a:prstGeom prst="rect">
            <a:avLst/>
          </a:prstGeom>
          <a:noFill/>
          <a:ln/>
        </p:spPr>
        <p:txBody>
          <a:bodyPr wrap="square" lIns="0" tIns="0" rIns="0" bIns="0" rtlCol="0" anchor="t"/>
          <a:lstStyle/>
          <a:p>
            <a:pPr indent="0" marL="0">
              <a:buNone/>
            </a:pPr>
            <a:r>
              <a:rPr lang="en-US" sz="1700" b="1" dirty="0">
                <a:solidFill>
                  <a:schemeClr val="accent1"/>
                </a:solidFill>
              </a:rPr>
              <a:t>Trying to break the engine</a:t>
            </a:r>
            <a:endParaRPr lang="en-US" sz="1700" dirty="0"/>
          </a:p>
        </p:txBody>
      </p:sp>
      <p:sp>
        <p:nvSpPr>
          <p:cNvPr id="17" name="Text 14"/>
          <p:cNvSpPr txBox="1"/>
          <p:nvPr/>
        </p:nvSpPr>
        <p:spPr>
          <a:xfrm>
            <a:off x="548640" y="3840480"/>
            <a:ext cx="5394960" cy="2286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Bad values, including ones that aren't real numbers</a:t>
            </a:r>
            <a:endParaRPr lang="en-US" sz="1400" dirty="0"/>
          </a:p>
          <a:p>
            <a:pPr marL="342900" indent="-342900">
              <a:spcAft>
                <a:spcPts val="400"/>
              </a:spcAft>
              <a:buSzPct val="100000"/>
              <a:buChar char="•"/>
            </a:pPr>
            <a:r>
              <a:rPr lang="en-US" sz="1400" dirty="0">
                <a:solidFill>
                  <a:schemeClr val="tx1"/>
                </a:solidFill>
              </a:rPr>
              <a:t>It never writes outside the space it was given</a:t>
            </a:r>
            <a:endParaRPr lang="en-US" sz="1400" dirty="0"/>
          </a:p>
          <a:p>
            <a:pPr marL="342900" indent="-342900">
              <a:spcAft>
                <a:spcPts val="400"/>
              </a:spcAft>
              <a:buSzPct val="100000"/>
              <a:buChar char="•"/>
            </a:pPr>
            <a:r>
              <a:rPr lang="en-US" sz="1400" dirty="0">
                <a:solidFill>
                  <a:schemeClr val="tx1"/>
                </a:solidFill>
              </a:rPr>
              <a:t>A 441 Hz tone really vibrates 441 times a second</a:t>
            </a:r>
            <a:endParaRPr lang="en-US" sz="1400" dirty="0"/>
          </a:p>
          <a:p>
            <a:pPr marL="342900" indent="-342900">
              <a:spcAft>
                <a:spcPts val="400"/>
              </a:spcAft>
              <a:buSzPct val="100000"/>
              <a:buChar char="•"/>
            </a:pPr>
            <a:r>
              <a:rPr lang="en-US" sz="1400" dirty="0">
                <a:solidFill>
                  <a:schemeClr val="tx1"/>
                </a:solidFill>
              </a:rPr>
              <a:t>The audio-file label is correct, byte by byte</a:t>
            </a:r>
            <a:endParaRPr lang="en-US" sz="1400" dirty="0"/>
          </a:p>
          <a:p>
            <a:pPr marL="342900" indent="-342900">
              <a:spcAft>
                <a:spcPts val="400"/>
              </a:spcAft>
              <a:buSzPct val="100000"/>
              <a:buChar char="•"/>
            </a:pPr>
            <a:r>
              <a:rPr lang="en-US" sz="1400" dirty="0">
                <a:solidFill>
                  <a:schemeClr val="tx1"/>
                </a:solidFill>
              </a:rPr>
              <a:t>The protected processor slots come back untouched</a:t>
            </a:r>
            <a:endParaRPr lang="en-US" sz="1400" dirty="0"/>
          </a:p>
        </p:txBody>
      </p:sp>
      <p:sp>
        <p:nvSpPr>
          <p:cNvPr id="18" name="Text 15"/>
          <p:cNvSpPr txBox="1"/>
          <p:nvPr/>
        </p:nvSpPr>
        <p:spPr>
          <a:xfrm>
            <a:off x="6217920" y="3429000"/>
            <a:ext cx="5394960" cy="365760"/>
          </a:xfrm>
          <a:prstGeom prst="rect">
            <a:avLst/>
          </a:prstGeom>
          <a:noFill/>
          <a:ln/>
        </p:spPr>
        <p:txBody>
          <a:bodyPr wrap="square" lIns="0" tIns="0" rIns="0" bIns="0" rtlCol="0" anchor="t"/>
          <a:lstStyle/>
          <a:p>
            <a:pPr indent="0" marL="0">
              <a:buNone/>
            </a:pPr>
            <a:r>
              <a:rPr lang="en-US" sz="1700" b="1" dirty="0">
                <a:solidFill>
                  <a:schemeClr val="accent1"/>
                </a:solidFill>
              </a:rPr>
              <a:t>Testing the app</a:t>
            </a:r>
            <a:endParaRPr lang="en-US" sz="1700" dirty="0"/>
          </a:p>
        </p:txBody>
      </p:sp>
      <p:sp>
        <p:nvSpPr>
          <p:cNvPr id="19" name="Text 16"/>
          <p:cNvSpPr txBox="1"/>
          <p:nvPr/>
        </p:nvSpPr>
        <p:spPr>
          <a:xfrm>
            <a:off x="6217920" y="3840480"/>
            <a:ext cx="5394960" cy="2286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Pressed Randomize 1,000 times: no errors</a:t>
            </a:r>
            <a:endParaRPr lang="en-US" sz="1400" dirty="0"/>
          </a:p>
          <a:p>
            <a:pPr marL="342900" indent="-342900">
              <a:spcAft>
                <a:spcPts val="400"/>
              </a:spcAft>
              <a:buSzPct val="100000"/>
              <a:buChar char="•"/>
            </a:pPr>
            <a:r>
              <a:rPr lang="en-US" sz="1400" dirty="0">
                <a:solidFill>
                  <a:schemeClr val="tx1"/>
                </a:solidFill>
              </a:rPr>
              <a:t>100 sounds made at the same time, all correct</a:t>
            </a:r>
            <a:endParaRPr lang="en-US" sz="1400" dirty="0"/>
          </a:p>
          <a:p>
            <a:pPr marL="342900" indent="-342900">
              <a:spcAft>
                <a:spcPts val="400"/>
              </a:spcAft>
              <a:buSzPct val="100000"/>
              <a:buChar char="•"/>
            </a:pPr>
            <a:r>
              <a:rPr lang="en-US" sz="1400" dirty="0">
                <a:solidFill>
                  <a:schemeClr val="tx1"/>
                </a:solidFill>
              </a:rPr>
              <a:t>Slider to new picture in about 81 ms (goal: under 100 ms)</a:t>
            </a:r>
            <a:endParaRPr lang="en-US" sz="1400" dirty="0"/>
          </a:p>
          <a:p>
            <a:pPr marL="342900" indent="-342900">
              <a:spcAft>
                <a:spcPts val="400"/>
              </a:spcAft>
              <a:buSzPct val="100000"/>
              <a:buChar char="•"/>
            </a:pPr>
            <a:r>
              <a:rPr lang="en-US" sz="1400" dirty="0">
                <a:solidFill>
                  <a:schemeClr val="tx1"/>
                </a:solidFill>
              </a:rPr>
              <a:t>Every preset makes and saves a working audio file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Fast enough, and changing one line made it 4.5× faster</a:t>
            </a:r>
            <a:endParaRPr lang="en-US" sz="2800" dirty="0"/>
          </a:p>
        </p:txBody>
      </p:sp>
      <p:graphicFrame>
        <p:nvGraphicFramePr>
          <p:cNvPr id="4" name="Chart 0" descr=""/>
          <p:cNvGraphicFramePr/>
          <p:nvPr/>
        </p:nvGraphicFramePr>
        <p:xfrm>
          <a:off x="548640" y="141732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7863840" y="1508760"/>
            <a:ext cx="3749040" cy="1417320"/>
          </a:xfrm>
          <a:prstGeom prst="roundRect">
            <a:avLst>
              <a:gd name="adj" fmla="val 5161"/>
            </a:avLst>
          </a:prstGeom>
          <a:solidFill>
            <a:schemeClr val="tx1"/>
          </a:solidFill>
          <a:ln/>
        </p:spPr>
      </p:sp>
      <p:sp>
        <p:nvSpPr>
          <p:cNvPr id="6" name="Text 2"/>
          <p:cNvSpPr txBox="1"/>
          <p:nvPr/>
        </p:nvSpPr>
        <p:spPr>
          <a:xfrm>
            <a:off x="8092440" y="1627632"/>
            <a:ext cx="3383280" cy="685800"/>
          </a:xfrm>
          <a:prstGeom prst="rect">
            <a:avLst/>
          </a:prstGeom>
          <a:noFill/>
          <a:ln/>
        </p:spPr>
        <p:txBody>
          <a:bodyPr wrap="square" lIns="0" tIns="0" rIns="0" bIns="0" rtlCol="0" anchor="t"/>
          <a:lstStyle/>
          <a:p>
            <a:pPr indent="0" marL="0">
              <a:buNone/>
            </a:pPr>
            <a:r>
              <a:rPr lang="en-US" sz="3000" b="1" dirty="0">
                <a:solidFill>
                  <a:schemeClr val="accent2"/>
                </a:solidFill>
                <a:latin typeface="Arial" pitchFamily="34" charset="0"/>
                <a:ea typeface="Arial" pitchFamily="34" charset="-122"/>
                <a:cs typeface="Arial" pitchFamily="34" charset="-120"/>
              </a:rPr>
              <a:t>Goal: under 5 ms</a:t>
            </a:r>
            <a:endParaRPr lang="en-US" sz="3000" dirty="0"/>
          </a:p>
        </p:txBody>
      </p:sp>
      <p:sp>
        <p:nvSpPr>
          <p:cNvPr id="7" name="Text 3"/>
          <p:cNvSpPr txBox="1"/>
          <p:nvPr/>
        </p:nvSpPr>
        <p:spPr>
          <a:xfrm>
            <a:off x="8092440" y="2331720"/>
            <a:ext cx="3383280" cy="457200"/>
          </a:xfrm>
          <a:prstGeom prst="rect">
            <a:avLst/>
          </a:prstGeom>
          <a:noFill/>
          <a:ln/>
        </p:spPr>
        <p:txBody>
          <a:bodyPr wrap="square" lIns="0" tIns="0" rIns="0" bIns="0" rtlCol="0" anchor="t"/>
          <a:lstStyle/>
          <a:p>
            <a:pPr indent="0" marL="0">
              <a:buNone/>
            </a:pPr>
            <a:r>
              <a:rPr lang="en-US" sz="1400" dirty="0">
                <a:solidFill>
                  <a:schemeClr val="bg1"/>
                </a:solidFill>
              </a:rPr>
              <a:t>Every shape beats it easily</a:t>
            </a:r>
            <a:endParaRPr lang="en-US" sz="1400" dirty="0"/>
          </a:p>
        </p:txBody>
      </p:sp>
      <p:sp>
        <p:nvSpPr>
          <p:cNvPr id="8" name="Text 4"/>
          <p:cNvSpPr txBox="1"/>
          <p:nvPr/>
        </p:nvSpPr>
        <p:spPr>
          <a:xfrm>
            <a:off x="7863840" y="3154680"/>
            <a:ext cx="374904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The problem: one line made each number wait for the one before it, like a queue</a:t>
            </a:r>
            <a:endParaRPr lang="en-US" sz="1400" dirty="0"/>
          </a:p>
          <a:p>
            <a:pPr marL="342900" indent="-342900">
              <a:spcAft>
                <a:spcPts val="600"/>
              </a:spcAft>
              <a:buSzPct val="100000"/>
              <a:buChar char="•"/>
            </a:pPr>
            <a:r>
              <a:rPr lang="en-US" sz="1400" dirty="0">
                <a:solidFill>
                  <a:schemeClr val="tx1"/>
                </a:solidFill>
              </a:rPr>
              <a:t>The change: copy the number in a way that doesn't wait</a:t>
            </a:r>
            <a:endParaRPr lang="en-US" sz="1400" dirty="0"/>
          </a:p>
          <a:p>
            <a:pPr marL="342900" indent="-342900">
              <a:spcAft>
                <a:spcPts val="600"/>
              </a:spcAft>
              <a:buSzPct val="100000"/>
              <a:buChar char="•"/>
            </a:pPr>
            <a:r>
              <a:rPr lang="en-US" sz="1400" dirty="0">
                <a:solidFill>
                  <a:schemeClr val="tx1"/>
                </a:solidFill>
              </a:rPr>
              <a:t>Still correct: all 1.28 million checks pass</a:t>
            </a:r>
            <a:endParaRPr lang="en-US" sz="1400" dirty="0"/>
          </a:p>
        </p:txBody>
      </p:sp>
      <p:sp>
        <p:nvSpPr>
          <p:cNvPr id="9" name="Text 5"/>
          <p:cNvSpPr txBox="1"/>
          <p:nvPr/>
        </p:nvSpPr>
        <p:spPr>
          <a:xfrm>
            <a:off x="7863840" y="5669280"/>
            <a:ext cx="3749040" cy="365760"/>
          </a:xfrm>
          <a:prstGeom prst="rect">
            <a:avLst/>
          </a:prstGeom>
          <a:noFill/>
          <a:ln/>
        </p:spPr>
        <p:txBody>
          <a:bodyPr wrap="square" lIns="0" tIns="0" rIns="0" bIns="0" rtlCol="0" anchor="t"/>
          <a:lstStyle/>
          <a:p>
            <a:pPr indent="0" marL="0">
              <a:buNone/>
            </a:pPr>
            <a:r>
              <a:rPr lang="en-US" sz="1100" dirty="0">
                <a:solidFill>
                  <a:schemeClr val="accent5"/>
                </a:solidFill>
              </a:rPr>
              <a:t>Middle result of 1,000 runs, on one laptop</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What we haven't proven yet, and what comes next</a:t>
            </a:r>
            <a:endParaRPr lang="en-US" sz="2800" dirty="0"/>
          </a:p>
        </p:txBody>
      </p:sp>
      <p:sp>
        <p:nvSpPr>
          <p:cNvPr id="4" name="card"/>
          <p:cNvSpPr/>
          <p:nvPr/>
        </p:nvSpPr>
        <p:spPr>
          <a:xfrm>
            <a:off x="548640" y="1508760"/>
            <a:ext cx="5486400" cy="4572000"/>
          </a:xfrm>
          <a:prstGeom prst="roundRect">
            <a:avLst>
              <a:gd name="adj" fmla="val 1600"/>
            </a:avLst>
          </a:prstGeom>
          <a:solidFill>
            <a:schemeClr val="bg2"/>
          </a:solidFill>
          <a:ln/>
        </p:spPr>
      </p:sp>
      <p:sp>
        <p:nvSpPr>
          <p:cNvPr id="5" name="Text 2"/>
          <p:cNvSpPr txBox="1"/>
          <p:nvPr/>
        </p:nvSpPr>
        <p:spPr>
          <a:xfrm>
            <a:off x="822960" y="1691640"/>
            <a:ext cx="4937760" cy="411480"/>
          </a:xfrm>
          <a:prstGeom prst="rect">
            <a:avLst/>
          </a:prstGeom>
          <a:noFill/>
          <a:ln/>
        </p:spPr>
        <p:txBody>
          <a:bodyPr wrap="square" lIns="0" tIns="0" rIns="0" bIns="0" rtlCol="0" anchor="t"/>
          <a:lstStyle/>
          <a:p>
            <a:pPr indent="0" marL="0">
              <a:buNone/>
            </a:pPr>
            <a:r>
              <a:rPr lang="en-US" sz="2000" b="1" dirty="0">
                <a:solidFill>
                  <a:schemeClr val="accent4"/>
                </a:solidFill>
              </a:rPr>
              <a:t>Not proven yet</a:t>
            </a:r>
            <a:endParaRPr lang="en-US" sz="2000" dirty="0"/>
          </a:p>
        </p:txBody>
      </p:sp>
      <p:sp>
        <p:nvSpPr>
          <p:cNvPr id="6" name="Text 3"/>
          <p:cNvSpPr txBox="1"/>
          <p:nvPr/>
        </p:nvSpPr>
        <p:spPr>
          <a:xfrm>
            <a:off x="822960" y="2240280"/>
            <a:ext cx="4983480" cy="36576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All timings come from one laptop</a:t>
            </a:r>
            <a:endParaRPr lang="en-US" sz="1600" dirty="0"/>
          </a:p>
          <a:p>
            <a:pPr marL="342900" indent="-342900">
              <a:spcAft>
                <a:spcPts val="1000"/>
              </a:spcAft>
              <a:buSzPct val="100000"/>
              <a:buChar char="•"/>
            </a:pPr>
            <a:r>
              <a:rPr lang="en-US" sz="1600" dirty="0">
                <a:solidFill>
                  <a:schemeClr val="tx1"/>
                </a:solidFill>
              </a:rPr>
              <a:t>No listening test with other people yet</a:t>
            </a:r>
            <a:endParaRPr lang="en-US" sz="1600" dirty="0"/>
          </a:p>
          <a:p>
            <a:pPr marL="342900" indent="-342900">
              <a:spcAft>
                <a:spcPts val="1000"/>
              </a:spcAft>
              <a:buSzPct val="100000"/>
              <a:buChar char="•"/>
            </a:pPr>
            <a:r>
              <a:rPr lang="en-US" sz="1600" dirty="0">
                <a:solidFill>
                  <a:schemeClr val="tx1"/>
                </a:solidFill>
              </a:rPr>
              <a:t>The noise sound is a little muffled (a trade-off we chose)</a:t>
            </a:r>
            <a:endParaRPr lang="en-US" sz="1600" dirty="0"/>
          </a:p>
          <a:p>
            <a:pPr marL="342900" indent="-342900">
              <a:spcAft>
                <a:spcPts val="1000"/>
              </a:spcAft>
              <a:buSzPct val="100000"/>
              <a:buChar char="•"/>
            </a:pPr>
            <a:r>
              <a:rPr lang="en-US" sz="1600" dirty="0">
                <a:solidFill>
                  <a:schemeClr val="tx1"/>
                </a:solidFill>
              </a:rPr>
              <a:t>The one-line speed-up was measured in one session only</a:t>
            </a:r>
            <a:endParaRPr lang="en-US" sz="1600" dirty="0"/>
          </a:p>
          <a:p>
            <a:pPr marL="342900" indent="-342900">
              <a:spcAft>
                <a:spcPts val="1000"/>
              </a:spcAft>
              <a:buSzPct val="100000"/>
              <a:buChar char="•"/>
            </a:pPr>
            <a:r>
              <a:rPr lang="en-US" sz="1600" dirty="0">
                <a:solidFill>
                  <a:schemeClr val="tx1"/>
                </a:solidFill>
              </a:rPr>
              <a:t>Still to check playback in other audio players</a:t>
            </a:r>
            <a:endParaRPr lang="en-US" sz="1600" dirty="0"/>
          </a:p>
        </p:txBody>
      </p:sp>
      <p:sp>
        <p:nvSpPr>
          <p:cNvPr id="7" name="card"/>
          <p:cNvSpPr/>
          <p:nvPr/>
        </p:nvSpPr>
        <p:spPr>
          <a:xfrm>
            <a:off x="6263640" y="1508760"/>
            <a:ext cx="5349240" cy="4572000"/>
          </a:xfrm>
          <a:prstGeom prst="roundRect">
            <a:avLst>
              <a:gd name="adj" fmla="val 1600"/>
            </a:avLst>
          </a:prstGeom>
          <a:solidFill>
            <a:schemeClr val="tx1"/>
          </a:solidFill>
          <a:ln/>
        </p:spPr>
      </p:sp>
      <p:sp>
        <p:nvSpPr>
          <p:cNvPr id="8" name="Text 5"/>
          <p:cNvSpPr txBox="1"/>
          <p:nvPr/>
        </p:nvSpPr>
        <p:spPr>
          <a:xfrm>
            <a:off x="6537960" y="1691640"/>
            <a:ext cx="4846320" cy="411480"/>
          </a:xfrm>
          <a:prstGeom prst="rect">
            <a:avLst/>
          </a:prstGeom>
          <a:noFill/>
          <a:ln/>
        </p:spPr>
        <p:txBody>
          <a:bodyPr wrap="square" lIns="0" tIns="0" rIns="0" bIns="0" rtlCol="0" anchor="t"/>
          <a:lstStyle/>
          <a:p>
            <a:pPr indent="0" marL="0">
              <a:buNone/>
            </a:pPr>
            <a:r>
              <a:rPr lang="en-US" sz="2000" b="1" dirty="0">
                <a:solidFill>
                  <a:schemeClr val="accent2"/>
                </a:solidFill>
              </a:rPr>
              <a:t>Next steps</a:t>
            </a:r>
            <a:endParaRPr lang="en-US" sz="2000" dirty="0"/>
          </a:p>
        </p:txBody>
      </p:sp>
      <p:sp>
        <p:nvSpPr>
          <p:cNvPr id="9" name="Shape 6"/>
          <p:cNvSpPr/>
          <p:nvPr/>
        </p:nvSpPr>
        <p:spPr>
          <a:xfrm>
            <a:off x="6537960" y="2286000"/>
            <a:ext cx="457200" cy="457200"/>
          </a:xfrm>
          <a:prstGeom prst="ellipse">
            <a:avLst/>
          </a:prstGeom>
          <a:solidFill>
            <a:schemeClr val="accent2"/>
          </a:solidFill>
          <a:ln/>
        </p:spPr>
      </p:sp>
      <p:sp>
        <p:nvSpPr>
          <p:cNvPr id="10" name="Text 7"/>
          <p:cNvSpPr txBox="1"/>
          <p:nvPr/>
        </p:nvSpPr>
        <p:spPr>
          <a:xfrm>
            <a:off x="6537960" y="228600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1" name="Text 8"/>
          <p:cNvSpPr txBox="1"/>
          <p:nvPr/>
        </p:nvSpPr>
        <p:spPr>
          <a:xfrm>
            <a:off x="7178040" y="2286000"/>
            <a:ext cx="4206240" cy="457200"/>
          </a:xfrm>
          <a:prstGeom prst="rect">
            <a:avLst/>
          </a:prstGeom>
          <a:noFill/>
          <a:ln/>
        </p:spPr>
        <p:txBody>
          <a:bodyPr wrap="square" lIns="0" tIns="0" rIns="0" bIns="0" rtlCol="0" anchor="ctr"/>
          <a:lstStyle/>
          <a:p>
            <a:pPr indent="0" marL="0">
              <a:buNone/>
            </a:pPr>
            <a:r>
              <a:rPr lang="en-US" sz="1500" dirty="0">
                <a:solidFill>
                  <a:schemeClr val="bg1"/>
                </a:solidFill>
              </a:rPr>
              <a:t>Test on a second laptop</a:t>
            </a:r>
            <a:endParaRPr lang="en-US" sz="1500" dirty="0"/>
          </a:p>
        </p:txBody>
      </p:sp>
      <p:sp>
        <p:nvSpPr>
          <p:cNvPr id="12" name="Shape 9"/>
          <p:cNvSpPr/>
          <p:nvPr/>
        </p:nvSpPr>
        <p:spPr>
          <a:xfrm>
            <a:off x="6537960" y="3154680"/>
            <a:ext cx="457200" cy="457200"/>
          </a:xfrm>
          <a:prstGeom prst="ellipse">
            <a:avLst/>
          </a:prstGeom>
          <a:solidFill>
            <a:schemeClr val="accent2"/>
          </a:solidFill>
          <a:ln/>
        </p:spPr>
      </p:sp>
      <p:sp>
        <p:nvSpPr>
          <p:cNvPr id="13" name="Text 10"/>
          <p:cNvSpPr txBox="1"/>
          <p:nvPr/>
        </p:nvSpPr>
        <p:spPr>
          <a:xfrm>
            <a:off x="6537960" y="315468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4" name="Text 11"/>
          <p:cNvSpPr txBox="1"/>
          <p:nvPr/>
        </p:nvSpPr>
        <p:spPr>
          <a:xfrm>
            <a:off x="7178040" y="3154680"/>
            <a:ext cx="4206240" cy="457200"/>
          </a:xfrm>
          <a:prstGeom prst="rect">
            <a:avLst/>
          </a:prstGeom>
          <a:noFill/>
          <a:ln/>
        </p:spPr>
        <p:txBody>
          <a:bodyPr wrap="square" lIns="0" tIns="0" rIns="0" bIns="0" rtlCol="0" anchor="ctr"/>
          <a:lstStyle/>
          <a:p>
            <a:pPr indent="0" marL="0">
              <a:buNone/>
            </a:pPr>
            <a:r>
              <a:rPr lang="en-US" sz="1500" dirty="0">
                <a:solidFill>
                  <a:schemeClr val="bg1"/>
                </a:solidFill>
              </a:rPr>
              <a:t>Listening test and a long-running test</a:t>
            </a:r>
            <a:endParaRPr lang="en-US" sz="1500" dirty="0"/>
          </a:p>
        </p:txBody>
      </p:sp>
      <p:sp>
        <p:nvSpPr>
          <p:cNvPr id="15" name="Shape 12"/>
          <p:cNvSpPr/>
          <p:nvPr/>
        </p:nvSpPr>
        <p:spPr>
          <a:xfrm>
            <a:off x="6537960" y="4023360"/>
            <a:ext cx="457200" cy="457200"/>
          </a:xfrm>
          <a:prstGeom prst="ellipse">
            <a:avLst/>
          </a:prstGeom>
          <a:solidFill>
            <a:schemeClr val="accent2"/>
          </a:solidFill>
          <a:ln/>
        </p:spPr>
      </p:sp>
      <p:sp>
        <p:nvSpPr>
          <p:cNvPr id="16" name="Text 13"/>
          <p:cNvSpPr txBox="1"/>
          <p:nvPr/>
        </p:nvSpPr>
        <p:spPr>
          <a:xfrm>
            <a:off x="6537960" y="402336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7" name="Text 14"/>
          <p:cNvSpPr txBox="1"/>
          <p:nvPr/>
        </p:nvSpPr>
        <p:spPr>
          <a:xfrm>
            <a:off x="7178040" y="4023360"/>
            <a:ext cx="4206240" cy="457200"/>
          </a:xfrm>
          <a:prstGeom prst="rect">
            <a:avLst/>
          </a:prstGeom>
          <a:noFill/>
          <a:ln/>
        </p:spPr>
        <p:txBody>
          <a:bodyPr wrap="square" lIns="0" tIns="0" rIns="0" bIns="0" rtlCol="0" anchor="ctr"/>
          <a:lstStyle/>
          <a:p>
            <a:pPr indent="0" marL="0">
              <a:buNone/>
            </a:pPr>
            <a:r>
              <a:rPr lang="en-US" sz="1500" dirty="0">
                <a:solidFill>
                  <a:schemeClr val="bg1"/>
                </a:solidFill>
              </a:rPr>
              <a:t>Repeat the speed comparison on another computer</a:t>
            </a:r>
            <a:endParaRPr lang="en-US" sz="1500" dirty="0"/>
          </a:p>
        </p:txBody>
      </p:sp>
      <p:sp>
        <p:nvSpPr>
          <p:cNvPr id="18" name="Shape 15"/>
          <p:cNvSpPr/>
          <p:nvPr/>
        </p:nvSpPr>
        <p:spPr>
          <a:xfrm>
            <a:off x="6537960" y="4892040"/>
            <a:ext cx="457200" cy="457200"/>
          </a:xfrm>
          <a:prstGeom prst="ellipse">
            <a:avLst/>
          </a:prstGeom>
          <a:solidFill>
            <a:schemeClr val="accent2"/>
          </a:solidFill>
          <a:ln/>
        </p:spPr>
      </p:sp>
      <p:sp>
        <p:nvSpPr>
          <p:cNvPr id="19" name="Text 16"/>
          <p:cNvSpPr txBox="1"/>
          <p:nvPr/>
        </p:nvSpPr>
        <p:spPr>
          <a:xfrm>
            <a:off x="6537960" y="489204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0" name="Text 17"/>
          <p:cNvSpPr txBox="1"/>
          <p:nvPr/>
        </p:nvSpPr>
        <p:spPr>
          <a:xfrm>
            <a:off x="7178040" y="4892040"/>
            <a:ext cx="4206240" cy="457200"/>
          </a:xfrm>
          <a:prstGeom prst="rect">
            <a:avLst/>
          </a:prstGeom>
          <a:noFill/>
          <a:ln/>
        </p:spPr>
        <p:txBody>
          <a:bodyPr wrap="square" lIns="0" tIns="0" rIns="0" bIns="0" rtlCol="0" anchor="ctr"/>
          <a:lstStyle/>
          <a:p>
            <a:pPr indent="0" marL="0">
              <a:buNone/>
            </a:pPr>
            <a:r>
              <a:rPr lang="en-US" sz="1500" dirty="0">
                <a:solidFill>
                  <a:schemeClr val="bg1"/>
                </a:solidFill>
              </a:rPr>
              <a:t>Have another member review the app</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10881360" cy="1737360"/>
          </a:xfrm>
          <a:prstGeom prst="rect">
            <a:avLst/>
          </a:prstGeom>
          <a:noFill/>
          <a:ln/>
        </p:spPr>
        <p:txBody>
          <a:bodyPr wrap="square" lIns="0" tIns="0" rIns="0" bIns="0" rtlCol="0" anchor="b"/>
          <a:lstStyle/>
          <a:p>
            <a:pPr algn="l" indent="0" marL="0">
              <a:buNone/>
            </a:pPr>
            <a:r>
              <a:rPr lang="en-US" sz="4400" b="1" dirty="0">
                <a:solidFill>
                  <a:schemeClr val="bg1"/>
                </a:solidFill>
              </a:rPr>
              <a:t>Live demo, then questions</a:t>
            </a:r>
            <a:endParaRPr lang="en-US" sz="4400" dirty="0"/>
          </a:p>
        </p:txBody>
      </p:sp>
      <p:sp>
        <p:nvSpPr>
          <p:cNvPr id="3" name="Text 0"/>
          <p:cNvSpPr/>
          <p:nvPr>
            <p:ph idx="101" type="body" hasCustomPrompt="1"/>
          </p:nvPr>
        </p:nvSpPr>
        <p:spPr>
          <a:xfrm>
            <a:off x="640080" y="3291840"/>
            <a:ext cx="10881360" cy="822960"/>
          </a:xfrm>
          <a:prstGeom prst="rect">
            <a:avLst/>
          </a:prstGeom>
          <a:noFill/>
          <a:ln/>
        </p:spPr>
        <p:txBody>
          <a:bodyPr wrap="square" lIns="0" tIns="0" rIns="0" bIns="0" rtlCol="0" anchor="t"/>
          <a:lstStyle/>
          <a:p>
            <a:pPr indent="0" marL="0">
              <a:buNone/>
            </a:pPr>
            <a:r>
              <a:rPr lang="en-US" sz="2000" dirty="0">
                <a:solidFill>
                  <a:schemeClr val="accent2"/>
                </a:solidFill>
              </a:rPr>
              <a:t>Coin → Laser → Explosion → Randomize → Save WAV</a:t>
            </a:r>
            <a:endParaRPr lang="en-US" sz="2000" dirty="0"/>
          </a:p>
        </p:txBody>
      </p:sp>
      <p:sp>
        <p:nvSpPr>
          <p:cNvPr id="4" name="Shape 2"/>
          <p:cNvSpPr/>
          <p:nvPr/>
        </p:nvSpPr>
        <p:spPr>
          <a:xfrm>
            <a:off x="640080" y="4572000"/>
            <a:ext cx="457200" cy="0"/>
          </a:xfrm>
          <a:prstGeom prst="line">
            <a:avLst/>
          </a:prstGeom>
          <a:noFill/>
          <a:ln w="38100">
            <a:solidFill>
              <a:srgbClr val="58DBBC"/>
            </a:solidFill>
            <a:prstDash val="solid"/>
          </a:ln>
        </p:spPr>
      </p:sp>
      <p:sp>
        <p:nvSpPr>
          <p:cNvPr id="5" name="Shape 3"/>
          <p:cNvSpPr/>
          <p:nvPr/>
        </p:nvSpPr>
        <p:spPr>
          <a:xfrm>
            <a:off x="1097280" y="4572000"/>
            <a:ext cx="0" cy="640080"/>
          </a:xfrm>
          <a:prstGeom prst="line">
            <a:avLst/>
          </a:prstGeom>
          <a:noFill/>
          <a:ln w="38100">
            <a:solidFill>
              <a:srgbClr val="58DBBC"/>
            </a:solidFill>
            <a:prstDash val="solid"/>
          </a:ln>
        </p:spPr>
      </p:sp>
      <p:sp>
        <p:nvSpPr>
          <p:cNvPr id="6" name="Shape 4"/>
          <p:cNvSpPr/>
          <p:nvPr/>
        </p:nvSpPr>
        <p:spPr>
          <a:xfrm>
            <a:off x="1097280" y="5212080"/>
            <a:ext cx="457200" cy="0"/>
          </a:xfrm>
          <a:prstGeom prst="line">
            <a:avLst/>
          </a:prstGeom>
          <a:noFill/>
          <a:ln w="38100">
            <a:solidFill>
              <a:srgbClr val="58DBBC"/>
            </a:solidFill>
            <a:prstDash val="solid"/>
          </a:ln>
        </p:spPr>
      </p:sp>
      <p:sp>
        <p:nvSpPr>
          <p:cNvPr id="7" name="Shape 5"/>
          <p:cNvSpPr/>
          <p:nvPr/>
        </p:nvSpPr>
        <p:spPr>
          <a:xfrm>
            <a:off x="1554480" y="4572000"/>
            <a:ext cx="0" cy="640080"/>
          </a:xfrm>
          <a:prstGeom prst="line">
            <a:avLst/>
          </a:prstGeom>
          <a:noFill/>
          <a:ln w="38100">
            <a:solidFill>
              <a:srgbClr val="58DBBC"/>
            </a:solidFill>
            <a:prstDash val="solid"/>
          </a:ln>
        </p:spPr>
      </p:sp>
      <p:sp>
        <p:nvSpPr>
          <p:cNvPr id="8" name="Shape 6"/>
          <p:cNvSpPr/>
          <p:nvPr/>
        </p:nvSpPr>
        <p:spPr>
          <a:xfrm>
            <a:off x="1554480" y="4572000"/>
            <a:ext cx="0" cy="0"/>
          </a:xfrm>
          <a:prstGeom prst="line">
            <a:avLst/>
          </a:prstGeom>
          <a:noFill/>
          <a:ln w="38100">
            <a:solidFill>
              <a:srgbClr val="58DBBC"/>
            </a:solidFill>
            <a:prstDash val="solid"/>
          </a:ln>
        </p:spPr>
      </p:sp>
      <p:sp>
        <p:nvSpPr>
          <p:cNvPr id="9" name="Shape 7"/>
          <p:cNvSpPr/>
          <p:nvPr/>
        </p:nvSpPr>
        <p:spPr>
          <a:xfrm>
            <a:off x="1554480" y="4572000"/>
            <a:ext cx="457200" cy="0"/>
          </a:xfrm>
          <a:prstGeom prst="line">
            <a:avLst/>
          </a:prstGeom>
          <a:noFill/>
          <a:ln w="38100">
            <a:solidFill>
              <a:srgbClr val="58DBBC"/>
            </a:solidFill>
            <a:prstDash val="solid"/>
          </a:ln>
        </p:spPr>
      </p:sp>
      <p:sp>
        <p:nvSpPr>
          <p:cNvPr id="10" name="Shape 8"/>
          <p:cNvSpPr/>
          <p:nvPr/>
        </p:nvSpPr>
        <p:spPr>
          <a:xfrm>
            <a:off x="2011680" y="4572000"/>
            <a:ext cx="0" cy="640080"/>
          </a:xfrm>
          <a:prstGeom prst="line">
            <a:avLst/>
          </a:prstGeom>
          <a:noFill/>
          <a:ln w="38100">
            <a:solidFill>
              <a:srgbClr val="58DBBC"/>
            </a:solidFill>
            <a:prstDash val="solid"/>
          </a:ln>
        </p:spPr>
      </p:sp>
      <p:sp>
        <p:nvSpPr>
          <p:cNvPr id="11" name="Shape 9"/>
          <p:cNvSpPr/>
          <p:nvPr/>
        </p:nvSpPr>
        <p:spPr>
          <a:xfrm>
            <a:off x="2011680" y="5212080"/>
            <a:ext cx="457200" cy="0"/>
          </a:xfrm>
          <a:prstGeom prst="line">
            <a:avLst/>
          </a:prstGeom>
          <a:noFill/>
          <a:ln w="38100">
            <a:solidFill>
              <a:srgbClr val="58DBBC"/>
            </a:solidFill>
            <a:prstDash val="solid"/>
          </a:ln>
        </p:spPr>
      </p:sp>
      <p:sp>
        <p:nvSpPr>
          <p:cNvPr id="12" name="Shape 10"/>
          <p:cNvSpPr/>
          <p:nvPr/>
        </p:nvSpPr>
        <p:spPr>
          <a:xfrm>
            <a:off x="2468880" y="4572000"/>
            <a:ext cx="0" cy="640080"/>
          </a:xfrm>
          <a:prstGeom prst="line">
            <a:avLst/>
          </a:prstGeom>
          <a:noFill/>
          <a:ln w="38100">
            <a:solidFill>
              <a:srgbClr val="58DBBC"/>
            </a:solidFill>
            <a:prstDash val="solid"/>
          </a:ln>
        </p:spPr>
      </p:sp>
      <p:sp>
        <p:nvSpPr>
          <p:cNvPr id="13" name="Shape 11"/>
          <p:cNvSpPr/>
          <p:nvPr/>
        </p:nvSpPr>
        <p:spPr>
          <a:xfrm>
            <a:off x="2468880" y="4572000"/>
            <a:ext cx="0" cy="0"/>
          </a:xfrm>
          <a:prstGeom prst="line">
            <a:avLst/>
          </a:prstGeom>
          <a:noFill/>
          <a:ln w="38100">
            <a:solidFill>
              <a:srgbClr val="58DBBC"/>
            </a:solidFill>
            <a:prstDash val="solid"/>
          </a:ln>
        </p:spPr>
      </p:sp>
      <p:sp>
        <p:nvSpPr>
          <p:cNvPr id="14" name="Shape 12"/>
          <p:cNvSpPr/>
          <p:nvPr/>
        </p:nvSpPr>
        <p:spPr>
          <a:xfrm>
            <a:off x="2468880" y="4572000"/>
            <a:ext cx="457200" cy="0"/>
          </a:xfrm>
          <a:prstGeom prst="line">
            <a:avLst/>
          </a:prstGeom>
          <a:noFill/>
          <a:ln w="38100">
            <a:solidFill>
              <a:srgbClr val="58DBBC"/>
            </a:solidFill>
            <a:prstDash val="solid"/>
          </a:ln>
        </p:spPr>
      </p:sp>
      <p:sp>
        <p:nvSpPr>
          <p:cNvPr id="15" name="Shape 13"/>
          <p:cNvSpPr/>
          <p:nvPr/>
        </p:nvSpPr>
        <p:spPr>
          <a:xfrm>
            <a:off x="2926080" y="4572000"/>
            <a:ext cx="0" cy="640080"/>
          </a:xfrm>
          <a:prstGeom prst="line">
            <a:avLst/>
          </a:prstGeom>
          <a:noFill/>
          <a:ln w="38100">
            <a:solidFill>
              <a:srgbClr val="58DBBC"/>
            </a:solidFill>
            <a:prstDash val="solid"/>
          </a:ln>
        </p:spPr>
      </p:sp>
      <p:sp>
        <p:nvSpPr>
          <p:cNvPr id="16" name="Shape 14"/>
          <p:cNvSpPr/>
          <p:nvPr/>
        </p:nvSpPr>
        <p:spPr>
          <a:xfrm>
            <a:off x="2926080" y="5212080"/>
            <a:ext cx="457200" cy="0"/>
          </a:xfrm>
          <a:prstGeom prst="line">
            <a:avLst/>
          </a:prstGeom>
          <a:noFill/>
          <a:ln w="38100">
            <a:solidFill>
              <a:srgbClr val="58DBBC"/>
            </a:solidFill>
            <a:prstDash val="solid"/>
          </a:ln>
        </p:spPr>
      </p:sp>
      <p:sp>
        <p:nvSpPr>
          <p:cNvPr id="17" name="Shape 15"/>
          <p:cNvSpPr/>
          <p:nvPr/>
        </p:nvSpPr>
        <p:spPr>
          <a:xfrm flipV="1">
            <a:off x="3611880" y="4572000"/>
            <a:ext cx="914400" cy="640080"/>
          </a:xfrm>
          <a:prstGeom prst="line">
            <a:avLst/>
          </a:prstGeom>
          <a:noFill/>
          <a:ln w="38100">
            <a:solidFill>
              <a:srgbClr val="58DBBC"/>
            </a:solidFill>
            <a:prstDash val="solid"/>
          </a:ln>
        </p:spPr>
      </p:sp>
      <p:sp>
        <p:nvSpPr>
          <p:cNvPr id="18" name="Shape 16"/>
          <p:cNvSpPr/>
          <p:nvPr/>
        </p:nvSpPr>
        <p:spPr>
          <a:xfrm>
            <a:off x="4526280" y="4572000"/>
            <a:ext cx="0" cy="640080"/>
          </a:xfrm>
          <a:prstGeom prst="line">
            <a:avLst/>
          </a:prstGeom>
          <a:noFill/>
          <a:ln w="38100">
            <a:solidFill>
              <a:srgbClr val="58DBBC"/>
            </a:solidFill>
            <a:prstDash val="solid"/>
          </a:ln>
        </p:spPr>
      </p:sp>
      <p:sp>
        <p:nvSpPr>
          <p:cNvPr id="19" name="Shape 17"/>
          <p:cNvSpPr/>
          <p:nvPr/>
        </p:nvSpPr>
        <p:spPr>
          <a:xfrm>
            <a:off x="4526280" y="5212080"/>
            <a:ext cx="0" cy="0"/>
          </a:xfrm>
          <a:prstGeom prst="line">
            <a:avLst/>
          </a:prstGeom>
          <a:noFill/>
          <a:ln w="38100">
            <a:solidFill>
              <a:srgbClr val="58DBBC"/>
            </a:solidFill>
            <a:prstDash val="solid"/>
          </a:ln>
        </p:spPr>
      </p:sp>
      <p:sp>
        <p:nvSpPr>
          <p:cNvPr id="20" name="Shape 18"/>
          <p:cNvSpPr/>
          <p:nvPr/>
        </p:nvSpPr>
        <p:spPr>
          <a:xfrm flipV="1">
            <a:off x="4526280" y="4572000"/>
            <a:ext cx="914400" cy="640080"/>
          </a:xfrm>
          <a:prstGeom prst="line">
            <a:avLst/>
          </a:prstGeom>
          <a:noFill/>
          <a:ln w="38100">
            <a:solidFill>
              <a:srgbClr val="58DBBC"/>
            </a:solidFill>
            <a:prstDash val="solid"/>
          </a:ln>
        </p:spPr>
      </p:sp>
      <p:sp>
        <p:nvSpPr>
          <p:cNvPr id="21" name="Shape 19"/>
          <p:cNvSpPr/>
          <p:nvPr/>
        </p:nvSpPr>
        <p:spPr>
          <a:xfrm>
            <a:off x="5440680" y="4572000"/>
            <a:ext cx="0" cy="640080"/>
          </a:xfrm>
          <a:prstGeom prst="line">
            <a:avLst/>
          </a:prstGeom>
          <a:noFill/>
          <a:ln w="38100">
            <a:solidFill>
              <a:srgbClr val="58DBBC"/>
            </a:solidFill>
            <a:prstDash val="solid"/>
          </a:ln>
        </p:spPr>
      </p:sp>
      <p:sp>
        <p:nvSpPr>
          <p:cNvPr id="22" name="Shape 20"/>
          <p:cNvSpPr/>
          <p:nvPr/>
        </p:nvSpPr>
        <p:spPr>
          <a:xfrm>
            <a:off x="5440680" y="5212080"/>
            <a:ext cx="0" cy="0"/>
          </a:xfrm>
          <a:prstGeom prst="line">
            <a:avLst/>
          </a:prstGeom>
          <a:noFill/>
          <a:ln w="38100">
            <a:solidFill>
              <a:srgbClr val="58DBBC"/>
            </a:solidFill>
            <a:prstDash val="solid"/>
          </a:ln>
        </p:spPr>
      </p:sp>
      <p:sp>
        <p:nvSpPr>
          <p:cNvPr id="23" name="Shape 21"/>
          <p:cNvSpPr/>
          <p:nvPr/>
        </p:nvSpPr>
        <p:spPr>
          <a:xfrm flipV="1">
            <a:off x="5440680" y="4572000"/>
            <a:ext cx="914400" cy="640080"/>
          </a:xfrm>
          <a:prstGeom prst="line">
            <a:avLst/>
          </a:prstGeom>
          <a:noFill/>
          <a:ln w="38100">
            <a:solidFill>
              <a:srgbClr val="58DBBC"/>
            </a:solidFill>
            <a:prstDash val="solid"/>
          </a:ln>
        </p:spPr>
      </p:sp>
      <p:sp>
        <p:nvSpPr>
          <p:cNvPr id="24" name="Shape 22"/>
          <p:cNvSpPr/>
          <p:nvPr/>
        </p:nvSpPr>
        <p:spPr>
          <a:xfrm flipV="1">
            <a:off x="6583680" y="4572000"/>
            <a:ext cx="457200" cy="640080"/>
          </a:xfrm>
          <a:prstGeom prst="line">
            <a:avLst/>
          </a:prstGeom>
          <a:noFill/>
          <a:ln w="38100">
            <a:solidFill>
              <a:srgbClr val="58DBBC"/>
            </a:solidFill>
            <a:prstDash val="solid"/>
          </a:ln>
        </p:spPr>
      </p:sp>
      <p:sp>
        <p:nvSpPr>
          <p:cNvPr id="25" name="Shape 23"/>
          <p:cNvSpPr/>
          <p:nvPr/>
        </p:nvSpPr>
        <p:spPr>
          <a:xfrm>
            <a:off x="7040880" y="4572000"/>
            <a:ext cx="457200" cy="640080"/>
          </a:xfrm>
          <a:prstGeom prst="line">
            <a:avLst/>
          </a:prstGeom>
          <a:noFill/>
          <a:ln w="38100">
            <a:solidFill>
              <a:srgbClr val="58DBBC"/>
            </a:solidFill>
            <a:prstDash val="solid"/>
          </a:ln>
        </p:spPr>
      </p:sp>
      <p:sp>
        <p:nvSpPr>
          <p:cNvPr id="26" name="Shape 24"/>
          <p:cNvSpPr/>
          <p:nvPr/>
        </p:nvSpPr>
        <p:spPr>
          <a:xfrm>
            <a:off x="7498080" y="5212080"/>
            <a:ext cx="0" cy="0"/>
          </a:xfrm>
          <a:prstGeom prst="line">
            <a:avLst/>
          </a:prstGeom>
          <a:noFill/>
          <a:ln w="38100">
            <a:solidFill>
              <a:srgbClr val="58DBBC"/>
            </a:solidFill>
            <a:prstDash val="solid"/>
          </a:ln>
        </p:spPr>
      </p:sp>
      <p:sp>
        <p:nvSpPr>
          <p:cNvPr id="27" name="Shape 25"/>
          <p:cNvSpPr/>
          <p:nvPr/>
        </p:nvSpPr>
        <p:spPr>
          <a:xfrm flipV="1">
            <a:off x="7498080" y="4572000"/>
            <a:ext cx="457200" cy="640080"/>
          </a:xfrm>
          <a:prstGeom prst="line">
            <a:avLst/>
          </a:prstGeom>
          <a:noFill/>
          <a:ln w="38100">
            <a:solidFill>
              <a:srgbClr val="58DBBC"/>
            </a:solidFill>
            <a:prstDash val="solid"/>
          </a:ln>
        </p:spPr>
      </p:sp>
      <p:sp>
        <p:nvSpPr>
          <p:cNvPr id="28" name="Shape 26"/>
          <p:cNvSpPr/>
          <p:nvPr/>
        </p:nvSpPr>
        <p:spPr>
          <a:xfrm>
            <a:off x="7955280" y="4572000"/>
            <a:ext cx="457200" cy="640080"/>
          </a:xfrm>
          <a:prstGeom prst="line">
            <a:avLst/>
          </a:prstGeom>
          <a:noFill/>
          <a:ln w="38100">
            <a:solidFill>
              <a:srgbClr val="58DBBC"/>
            </a:solidFill>
            <a:prstDash val="solid"/>
          </a:ln>
        </p:spPr>
      </p:sp>
      <p:sp>
        <p:nvSpPr>
          <p:cNvPr id="29" name="Shape 27"/>
          <p:cNvSpPr/>
          <p:nvPr/>
        </p:nvSpPr>
        <p:spPr>
          <a:xfrm>
            <a:off x="8412480" y="5212080"/>
            <a:ext cx="0" cy="0"/>
          </a:xfrm>
          <a:prstGeom prst="line">
            <a:avLst/>
          </a:prstGeom>
          <a:noFill/>
          <a:ln w="38100">
            <a:solidFill>
              <a:srgbClr val="58DBBC"/>
            </a:solidFill>
            <a:prstDash val="solid"/>
          </a:ln>
        </p:spPr>
      </p:sp>
      <p:sp>
        <p:nvSpPr>
          <p:cNvPr id="30" name="Shape 28"/>
          <p:cNvSpPr/>
          <p:nvPr/>
        </p:nvSpPr>
        <p:spPr>
          <a:xfrm flipV="1">
            <a:off x="8412480" y="4572000"/>
            <a:ext cx="457200" cy="640080"/>
          </a:xfrm>
          <a:prstGeom prst="line">
            <a:avLst/>
          </a:prstGeom>
          <a:noFill/>
          <a:ln w="38100">
            <a:solidFill>
              <a:srgbClr val="58DBBC"/>
            </a:solidFill>
            <a:prstDash val="solid"/>
          </a:ln>
        </p:spPr>
      </p:sp>
      <p:sp>
        <p:nvSpPr>
          <p:cNvPr id="31" name="Shape 29"/>
          <p:cNvSpPr/>
          <p:nvPr/>
        </p:nvSpPr>
        <p:spPr>
          <a:xfrm>
            <a:off x="8869680" y="4572000"/>
            <a:ext cx="457200" cy="640080"/>
          </a:xfrm>
          <a:prstGeom prst="line">
            <a:avLst/>
          </a:prstGeom>
          <a:noFill/>
          <a:ln w="38100">
            <a:solidFill>
              <a:srgbClr val="58DBBC"/>
            </a:solidFill>
            <a:prstDash val="solid"/>
          </a:ln>
        </p:spPr>
      </p:sp>
      <p:sp>
        <p:nvSpPr>
          <p:cNvPr id="32" name="Shape 30"/>
          <p:cNvSpPr/>
          <p:nvPr/>
        </p:nvSpPr>
        <p:spPr>
          <a:xfrm>
            <a:off x="9555480" y="4700016"/>
            <a:ext cx="163830" cy="0"/>
          </a:xfrm>
          <a:prstGeom prst="line">
            <a:avLst/>
          </a:prstGeom>
          <a:noFill/>
          <a:ln w="38100">
            <a:solidFill>
              <a:srgbClr val="58DBBC"/>
            </a:solidFill>
            <a:prstDash val="solid"/>
          </a:ln>
        </p:spPr>
      </p:sp>
      <p:sp>
        <p:nvSpPr>
          <p:cNvPr id="33" name="Shape 31"/>
          <p:cNvSpPr/>
          <p:nvPr/>
        </p:nvSpPr>
        <p:spPr>
          <a:xfrm>
            <a:off x="9719310" y="4700016"/>
            <a:ext cx="0" cy="448056"/>
          </a:xfrm>
          <a:prstGeom prst="line">
            <a:avLst/>
          </a:prstGeom>
          <a:noFill/>
          <a:ln w="38100">
            <a:solidFill>
              <a:srgbClr val="58DBBC"/>
            </a:solidFill>
            <a:prstDash val="solid"/>
          </a:ln>
        </p:spPr>
      </p:sp>
      <p:sp>
        <p:nvSpPr>
          <p:cNvPr id="34" name="Shape 32"/>
          <p:cNvSpPr/>
          <p:nvPr/>
        </p:nvSpPr>
        <p:spPr>
          <a:xfrm>
            <a:off x="9719310" y="5148072"/>
            <a:ext cx="163830" cy="0"/>
          </a:xfrm>
          <a:prstGeom prst="line">
            <a:avLst/>
          </a:prstGeom>
          <a:noFill/>
          <a:ln w="38100">
            <a:solidFill>
              <a:srgbClr val="58DBBC"/>
            </a:solidFill>
            <a:prstDash val="solid"/>
          </a:ln>
        </p:spPr>
      </p:sp>
      <p:sp>
        <p:nvSpPr>
          <p:cNvPr id="35" name="Shape 33"/>
          <p:cNvSpPr/>
          <p:nvPr/>
        </p:nvSpPr>
        <p:spPr>
          <a:xfrm>
            <a:off x="9883140" y="4796028"/>
            <a:ext cx="0" cy="352044"/>
          </a:xfrm>
          <a:prstGeom prst="line">
            <a:avLst/>
          </a:prstGeom>
          <a:noFill/>
          <a:ln w="38100">
            <a:solidFill>
              <a:srgbClr val="58DBBC"/>
            </a:solidFill>
            <a:prstDash val="solid"/>
          </a:ln>
        </p:spPr>
      </p:sp>
      <p:sp>
        <p:nvSpPr>
          <p:cNvPr id="36" name="Shape 34"/>
          <p:cNvSpPr/>
          <p:nvPr/>
        </p:nvSpPr>
        <p:spPr>
          <a:xfrm>
            <a:off x="9883140" y="4796028"/>
            <a:ext cx="163830" cy="0"/>
          </a:xfrm>
          <a:prstGeom prst="line">
            <a:avLst/>
          </a:prstGeom>
          <a:noFill/>
          <a:ln w="38100">
            <a:solidFill>
              <a:srgbClr val="58DBBC"/>
            </a:solidFill>
            <a:prstDash val="solid"/>
          </a:ln>
        </p:spPr>
      </p:sp>
      <p:sp>
        <p:nvSpPr>
          <p:cNvPr id="37" name="Shape 35"/>
          <p:cNvSpPr/>
          <p:nvPr/>
        </p:nvSpPr>
        <p:spPr>
          <a:xfrm>
            <a:off x="10046970" y="4796028"/>
            <a:ext cx="0" cy="224028"/>
          </a:xfrm>
          <a:prstGeom prst="line">
            <a:avLst/>
          </a:prstGeom>
          <a:noFill/>
          <a:ln w="38100">
            <a:solidFill>
              <a:srgbClr val="58DBBC"/>
            </a:solidFill>
            <a:prstDash val="solid"/>
          </a:ln>
        </p:spPr>
      </p:sp>
      <p:sp>
        <p:nvSpPr>
          <p:cNvPr id="38" name="Shape 36"/>
          <p:cNvSpPr/>
          <p:nvPr/>
        </p:nvSpPr>
        <p:spPr>
          <a:xfrm>
            <a:off x="10046970" y="5020056"/>
            <a:ext cx="163830" cy="0"/>
          </a:xfrm>
          <a:prstGeom prst="line">
            <a:avLst/>
          </a:prstGeom>
          <a:noFill/>
          <a:ln w="38100">
            <a:solidFill>
              <a:srgbClr val="58DBBC"/>
            </a:solidFill>
            <a:prstDash val="solid"/>
          </a:ln>
        </p:spPr>
      </p:sp>
      <p:sp>
        <p:nvSpPr>
          <p:cNvPr id="39" name="Shape 37"/>
          <p:cNvSpPr/>
          <p:nvPr/>
        </p:nvSpPr>
        <p:spPr>
          <a:xfrm>
            <a:off x="10210800" y="4604004"/>
            <a:ext cx="0" cy="416052"/>
          </a:xfrm>
          <a:prstGeom prst="line">
            <a:avLst/>
          </a:prstGeom>
          <a:noFill/>
          <a:ln w="38100">
            <a:solidFill>
              <a:srgbClr val="58DBBC"/>
            </a:solidFill>
            <a:prstDash val="solid"/>
          </a:ln>
        </p:spPr>
      </p:sp>
      <p:sp>
        <p:nvSpPr>
          <p:cNvPr id="40" name="Shape 38"/>
          <p:cNvSpPr/>
          <p:nvPr/>
        </p:nvSpPr>
        <p:spPr>
          <a:xfrm>
            <a:off x="10210800" y="4604004"/>
            <a:ext cx="163830" cy="0"/>
          </a:xfrm>
          <a:prstGeom prst="line">
            <a:avLst/>
          </a:prstGeom>
          <a:noFill/>
          <a:ln w="38100">
            <a:solidFill>
              <a:srgbClr val="58DBBC"/>
            </a:solidFill>
            <a:prstDash val="solid"/>
          </a:ln>
        </p:spPr>
      </p:sp>
      <p:sp>
        <p:nvSpPr>
          <p:cNvPr id="41" name="Shape 39"/>
          <p:cNvSpPr/>
          <p:nvPr/>
        </p:nvSpPr>
        <p:spPr>
          <a:xfrm>
            <a:off x="10374630" y="4604004"/>
            <a:ext cx="0" cy="320040"/>
          </a:xfrm>
          <a:prstGeom prst="line">
            <a:avLst/>
          </a:prstGeom>
          <a:noFill/>
          <a:ln w="38100">
            <a:solidFill>
              <a:srgbClr val="58DBBC"/>
            </a:solidFill>
            <a:prstDash val="solid"/>
          </a:ln>
        </p:spPr>
      </p:sp>
      <p:sp>
        <p:nvSpPr>
          <p:cNvPr id="42" name="Shape 40"/>
          <p:cNvSpPr/>
          <p:nvPr/>
        </p:nvSpPr>
        <p:spPr>
          <a:xfrm>
            <a:off x="10374630" y="4924044"/>
            <a:ext cx="163830" cy="0"/>
          </a:xfrm>
          <a:prstGeom prst="line">
            <a:avLst/>
          </a:prstGeom>
          <a:noFill/>
          <a:ln w="38100">
            <a:solidFill>
              <a:srgbClr val="58DBBC"/>
            </a:solidFill>
            <a:prstDash val="solid"/>
          </a:ln>
        </p:spPr>
      </p:sp>
      <p:sp>
        <p:nvSpPr>
          <p:cNvPr id="43" name="Shape 41"/>
          <p:cNvSpPr/>
          <p:nvPr/>
        </p:nvSpPr>
        <p:spPr>
          <a:xfrm>
            <a:off x="10538460" y="4924044"/>
            <a:ext cx="0" cy="256032"/>
          </a:xfrm>
          <a:prstGeom prst="line">
            <a:avLst/>
          </a:prstGeom>
          <a:noFill/>
          <a:ln w="38100">
            <a:solidFill>
              <a:srgbClr val="58DBBC"/>
            </a:solidFill>
            <a:prstDash val="solid"/>
          </a:ln>
        </p:spPr>
      </p:sp>
      <p:sp>
        <p:nvSpPr>
          <p:cNvPr id="44" name="Shape 42"/>
          <p:cNvSpPr/>
          <p:nvPr/>
        </p:nvSpPr>
        <p:spPr>
          <a:xfrm>
            <a:off x="10538460" y="5180076"/>
            <a:ext cx="163830" cy="0"/>
          </a:xfrm>
          <a:prstGeom prst="line">
            <a:avLst/>
          </a:prstGeom>
          <a:noFill/>
          <a:ln w="38100">
            <a:solidFill>
              <a:srgbClr val="58DBBC"/>
            </a:solidFill>
            <a:prstDash val="solid"/>
          </a:ln>
        </p:spPr>
      </p:sp>
      <p:sp>
        <p:nvSpPr>
          <p:cNvPr id="45" name="Shape 43"/>
          <p:cNvSpPr/>
          <p:nvPr/>
        </p:nvSpPr>
        <p:spPr>
          <a:xfrm>
            <a:off x="10702290" y="4668012"/>
            <a:ext cx="0" cy="512064"/>
          </a:xfrm>
          <a:prstGeom prst="line">
            <a:avLst/>
          </a:prstGeom>
          <a:noFill/>
          <a:ln w="38100">
            <a:solidFill>
              <a:srgbClr val="58DBBC"/>
            </a:solidFill>
            <a:prstDash val="solid"/>
          </a:ln>
        </p:spPr>
      </p:sp>
      <p:sp>
        <p:nvSpPr>
          <p:cNvPr id="46" name="Shape 44"/>
          <p:cNvSpPr/>
          <p:nvPr/>
        </p:nvSpPr>
        <p:spPr>
          <a:xfrm>
            <a:off x="10702290" y="4668012"/>
            <a:ext cx="163830" cy="0"/>
          </a:xfrm>
          <a:prstGeom prst="line">
            <a:avLst/>
          </a:prstGeom>
          <a:noFill/>
          <a:ln w="38100">
            <a:solidFill>
              <a:srgbClr val="58DBBC"/>
            </a:solidFill>
            <a:prstDash val="solid"/>
          </a:ln>
        </p:spPr>
      </p:sp>
      <p:sp>
        <p:nvSpPr>
          <p:cNvPr id="47" name="Shape 45"/>
          <p:cNvSpPr/>
          <p:nvPr/>
        </p:nvSpPr>
        <p:spPr>
          <a:xfrm>
            <a:off x="10866120" y="4668012"/>
            <a:ext cx="0" cy="288036"/>
          </a:xfrm>
          <a:prstGeom prst="line">
            <a:avLst/>
          </a:prstGeom>
          <a:noFill/>
          <a:ln w="38100">
            <a:solidFill>
              <a:srgbClr val="58DBBC"/>
            </a:solidFill>
            <a:prstDash val="solid"/>
          </a:ln>
        </p:spPr>
      </p:sp>
      <p:sp>
        <p:nvSpPr>
          <p:cNvPr id="48" name="Shape 46"/>
          <p:cNvSpPr/>
          <p:nvPr/>
        </p:nvSpPr>
        <p:spPr>
          <a:xfrm>
            <a:off x="10866120" y="4956048"/>
            <a:ext cx="163830" cy="0"/>
          </a:xfrm>
          <a:prstGeom prst="line">
            <a:avLst/>
          </a:prstGeom>
          <a:noFill/>
          <a:ln w="38100">
            <a:solidFill>
              <a:srgbClr val="58DBBC"/>
            </a:solidFill>
            <a:prstDash val="solid"/>
          </a:ln>
        </p:spPr>
      </p:sp>
      <p:sp>
        <p:nvSpPr>
          <p:cNvPr id="49" name="Shape 47"/>
          <p:cNvSpPr/>
          <p:nvPr/>
        </p:nvSpPr>
        <p:spPr>
          <a:xfrm>
            <a:off x="11029950" y="4764024"/>
            <a:ext cx="0" cy="192024"/>
          </a:xfrm>
          <a:prstGeom prst="line">
            <a:avLst/>
          </a:prstGeom>
          <a:noFill/>
          <a:ln w="38100">
            <a:solidFill>
              <a:srgbClr val="58DBBC"/>
            </a:solidFill>
            <a:prstDash val="solid"/>
          </a:ln>
        </p:spPr>
      </p:sp>
      <p:sp>
        <p:nvSpPr>
          <p:cNvPr id="50" name="Shape 48"/>
          <p:cNvSpPr/>
          <p:nvPr/>
        </p:nvSpPr>
        <p:spPr>
          <a:xfrm>
            <a:off x="11029950" y="4764024"/>
            <a:ext cx="163830" cy="0"/>
          </a:xfrm>
          <a:prstGeom prst="line">
            <a:avLst/>
          </a:prstGeom>
          <a:noFill/>
          <a:ln w="38100">
            <a:solidFill>
              <a:srgbClr val="58DBBC"/>
            </a:solidFill>
            <a:prstDash val="solid"/>
          </a:ln>
        </p:spPr>
      </p:sp>
      <p:sp>
        <p:nvSpPr>
          <p:cNvPr id="51" name="Shape 49"/>
          <p:cNvSpPr/>
          <p:nvPr/>
        </p:nvSpPr>
        <p:spPr>
          <a:xfrm>
            <a:off x="11193780" y="4764024"/>
            <a:ext cx="0" cy="320040"/>
          </a:xfrm>
          <a:prstGeom prst="line">
            <a:avLst/>
          </a:prstGeom>
          <a:noFill/>
          <a:ln w="38100">
            <a:solidFill>
              <a:srgbClr val="58DBBC"/>
            </a:solidFill>
            <a:prstDash val="solid"/>
          </a:ln>
        </p:spPr>
      </p:sp>
      <p:sp>
        <p:nvSpPr>
          <p:cNvPr id="52" name="Shape 50"/>
          <p:cNvSpPr/>
          <p:nvPr/>
        </p:nvSpPr>
        <p:spPr>
          <a:xfrm>
            <a:off x="11193780" y="5084064"/>
            <a:ext cx="163830" cy="0"/>
          </a:xfrm>
          <a:prstGeom prst="line">
            <a:avLst/>
          </a:prstGeom>
          <a:noFill/>
          <a:ln w="38100">
            <a:solidFill>
              <a:srgbClr val="58DBBC"/>
            </a:solidFill>
            <a:prstDash val="solid"/>
          </a:ln>
        </p:spPr>
      </p:sp>
      <p:sp>
        <p:nvSpPr>
          <p:cNvPr id="53" name="Shape 51"/>
          <p:cNvSpPr/>
          <p:nvPr/>
        </p:nvSpPr>
        <p:spPr>
          <a:xfrm>
            <a:off x="11357610" y="4860036"/>
            <a:ext cx="0" cy="224028"/>
          </a:xfrm>
          <a:prstGeom prst="line">
            <a:avLst/>
          </a:prstGeom>
          <a:noFill/>
          <a:ln w="38100">
            <a:solidFill>
              <a:srgbClr val="58DBBC"/>
            </a:solidFill>
            <a:prstDash val="solid"/>
          </a:ln>
        </p:spPr>
      </p:sp>
      <p:sp>
        <p:nvSpPr>
          <p:cNvPr id="54" name="Shape 52"/>
          <p:cNvSpPr/>
          <p:nvPr/>
        </p:nvSpPr>
        <p:spPr>
          <a:xfrm>
            <a:off x="11357610" y="4860036"/>
            <a:ext cx="163830" cy="0"/>
          </a:xfrm>
          <a:prstGeom prst="line">
            <a:avLst/>
          </a:prstGeom>
          <a:noFill/>
          <a:ln w="38100">
            <a:solidFill>
              <a:srgbClr val="58DBBC"/>
            </a:solidFill>
            <a:prstDash val="solid"/>
          </a:ln>
        </p:spPr>
      </p:sp>
      <p:sp>
        <p:nvSpPr>
          <p:cNvPr id="55" name="Text 53"/>
          <p:cNvSpPr txBox="1"/>
          <p:nvPr/>
        </p:nvSpPr>
        <p:spPr>
          <a:xfrm>
            <a:off x="640080" y="5715000"/>
            <a:ext cx="10881360" cy="411480"/>
          </a:xfrm>
          <a:prstGeom prst="rect">
            <a:avLst/>
          </a:prstGeom>
          <a:noFill/>
          <a:ln/>
        </p:spPr>
        <p:txBody>
          <a:bodyPr wrap="square" lIns="0" tIns="0" rIns="0" bIns="0" rtlCol="0" anchor="t"/>
          <a:lstStyle/>
          <a:p>
            <a:pPr indent="0" marL="0">
              <a:buNone/>
            </a:pPr>
            <a:r>
              <a:rPr lang="en-US" sz="1800" b="1" dirty="0">
                <a:solidFill>
                  <a:schemeClr val="bg1"/>
                </a:solidFill>
              </a:rPr>
              <a:t>Thank you</a:t>
            </a:r>
            <a:endParaRPr lang="en-US" sz="1800" dirty="0"/>
          </a:p>
        </p:txBody>
      </p:sp>
    </p:spTree>
  </p:cSld>
  <p:clrMapOvr>
    <a:masterClrMapping/>
  </p:clrMapOvr>
</p:sld>
</file>

<file path=ppt/theme/theme1.xml><?xml version="1.0" encoding="utf-8"?>
<a:theme xmlns:a="http://schemas.openxmlformats.org/drawingml/2006/main" name="Oscilloscope">
  <a:themeElements>
    <a:clrScheme name="Oscilloscope">
      <a:dk1>
        <a:srgbClr val="101820"/>
      </a:dk1>
      <a:lt1>
        <a:srgbClr val="FFFFFF"/>
      </a:lt1>
      <a:dk2>
        <a:srgbClr val="2A3B47"/>
      </a:dk2>
      <a:lt2>
        <a:srgbClr val="EEF3F5"/>
      </a:lt2>
      <a:accent1>
        <a:srgbClr val="13836C"/>
      </a:accent1>
      <a:accent2>
        <a:srgbClr val="58DBBC"/>
      </a:accent2>
      <a:accent3>
        <a:srgbClr val="E8A33D"/>
      </a:accent3>
      <a:accent4>
        <a:srgbClr val="C8483F"/>
      </a:accent4>
      <a:accent5>
        <a:srgbClr val="6B7F8E"/>
      </a:accent5>
      <a:accent6>
        <a:srgbClr val="2C6E91"/>
      </a:accent6>
      <a:hlink>
        <a:srgbClr val="2C6E91"/>
      </a:hlink>
      <a:folHlink>
        <a:srgbClr val="6B7F8E"/>
      </a:folHlink>
    </a:clrScheme>
    <a:fontScheme name="Oscilloscop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Procedural Game Sound Effects in x86-64 Assembly</dc:title>
  <dc:subject>PptxGenJS Presentation</dc:subject>
  <dc:creator>Jose Gian M. Tubera</dc:creator>
  <cp:lastModifiedBy>Jose Gian M. Tubera</cp:lastModifiedBy>
  <cp:revision>1</cp:revision>
  <dcterms:created xsi:type="dcterms:W3CDTF">2026-10-28T00:47:56Z</dcterms:created>
  <dcterms:modified xsi:type="dcterms:W3CDTF">2026-10-28T00:47:56Z</dcterms:modified>
</cp:coreProperties>
</file>