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0ce2768-501c-2e64-709f-48d0203ff1a2}">
          <p14:sldIdLst>
            <p14:sldId id="256"/>
          </p14:sldIdLst>
        </p14:section>
        <p14:section name="The program" id="{a321a7d7-42a5-bd37-8068-a3cf1e0ccb6b}">
          <p14:sldIdLst>
            <p14:sldId id="257"/>
            <p14:sldId id="258"/>
          </p14:sldIdLst>
        </p14:section>
        <p14:section name="Inside the engine" id="{882cb723-0537-f2e9-8b03-04599b638d2e}">
          <p14:sldIdLst>
            <p14:sldId id="259"/>
            <p14:sldId id="260"/>
            <p14:sldId id="261"/>
            <p14:sldId id="262"/>
            <p14:sldId id="263"/>
            <p14:sldId id="264"/>
            <p14:sldId id="265"/>
          </p14:sldIdLst>
        </p14:section>
        <p14:section name="Evidence" id="{da386d99-8dc7-7b2b-6d4d-10e25dfda0ac}">
          <p14:sldIdLst>
            <p14:sldId id="266"/>
            <p14:sldId id="267"/>
            <p14:sldId id="268"/>
          </p14:sldIdLst>
        </p14:section>
        <p14:section name="Close" id="{9c66b5af-f38f-e436-5842-a7f42e4a32df}">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1820"/>
                </a:solidFill>
                <a:latin typeface="+mn-lt"/>
              </a:defRPr>
            </a:pPr>
            <a:r>
              <a:rPr sz="1400" b="0" i="0" u="none" strike="noStrike">
                <a:solidFill>
                  <a:srgbClr val="101820"/>
                </a:solidFill>
                <a:latin typeface="+mn-lt"/>
              </a:rPr>
              <a:t>Median time to generate 1 s of sound (ms)</a:t>
            </a:r>
          </a:p>
        </c:rich>
      </c:tx>
      <c:layout/>
      <c:overlay val="0"/>
    </c:title>
    <c:autoTitleDeleted val="0"/>
    <c:plotArea>
      <c:layout/>
      <c:barChart>
        <c:barDir val="col"/>
        <c:grouping val="clustered"/>
        <c:varyColors val="0"/>
        <c:ser>
          <c:idx val="0"/>
          <c:order val="0"/>
          <c:tx>
            <c:strRef>
              <c:f>Sheet1!$B$1</c:f>
              <c:strCache>
                <c:ptCount val="1"/>
                <c:pt idx="0">
                  <c:v>Assembly (first build)</c:v>
                </c:pt>
              </c:strCache>
            </c:strRef>
          </c:tx>
          <c:spPr>
            <a:solidFill>
              <a:srgbClr val="C8483F"/>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Sheet1!$B$2:$B$5</c:f>
              <c:numCache>
                <c:formatCode>General</c:formatCode>
                <c:ptCount val="4"/>
                <c:pt idx="0">
                  <c:v>0.35</c:v>
                </c:pt>
                <c:pt idx="1">
                  <c:v>1.58</c:v>
                </c:pt>
                <c:pt idx="2">
                  <c:v>1.68</c:v>
                </c:pt>
                <c:pt idx="3">
                  <c:v>0.33</c:v>
                </c:pt>
              </c:numCache>
            </c:numRef>
          </c:val>
        </c:ser>
        <c:ser>
          <c:idx val="1"/>
          <c:order val="1"/>
          <c:tx>
            <c:strRef>
              <c:f>Sheet1!$C$1</c:f>
              <c:strCache>
                <c:ptCount val="1"/>
                <c:pt idx="0">
                  <c:v>Assembly + movaps fix</c:v>
                </c:pt>
              </c:strCache>
            </c:strRef>
          </c:tx>
          <c:spPr>
            <a:solidFill>
              <a:srgbClr val="13836C"/>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Sheet1!$C$2:$C$5</c:f>
              <c:numCache>
                <c:formatCode>General</c:formatCode>
                <c:ptCount val="4"/>
                <c:pt idx="0">
                  <c:v>0.26</c:v>
                </c:pt>
                <c:pt idx="1">
                  <c:v>0.35</c:v>
                </c:pt>
                <c:pt idx="2">
                  <c:v>0.4</c:v>
                </c:pt>
                <c:pt idx="3">
                  <c:v>0.24</c:v>
                </c:pt>
              </c:numCache>
            </c:numRef>
          </c:val>
        </c:ser>
        <c:ser>
          <c:idx val="2"/>
          <c:order val="2"/>
          <c:tx>
            <c:strRef>
              <c:f>Sheet1!$D$1</c:f>
              <c:strCache>
                <c:ptCount val="1"/>
                <c:pt idx="0">
                  <c:v>C -O2</c:v>
                </c:pt>
              </c:strCache>
            </c:strRef>
          </c:tx>
          <c:spPr>
            <a:solidFill>
              <a:srgbClr val="6B7F8E"/>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Sheet1!$D$2:$D$5</c:f>
              <c:numCache>
                <c:formatCode>General</c:formatCode>
                <c:ptCount val="4"/>
                <c:pt idx="0">
                  <c:v>0.31</c:v>
                </c:pt>
                <c:pt idx="1">
                  <c:v>0.32</c:v>
                </c:pt>
                <c:pt idx="2">
                  <c:v>0.4</c:v>
                </c:pt>
                <c:pt idx="3">
                  <c:v>0.26</c:v>
                </c:pt>
              </c:numCache>
            </c:numRef>
          </c:val>
        </c:ser>
        <c:ser>
          <c:idx val="3"/>
          <c:order val="3"/>
          <c:tx>
            <c:strRef>
              <c:f>Sheet1!$E$1</c:f>
              <c:strCache>
                <c:ptCount val="1"/>
                <c:pt idx="0">
                  <c:v>C -O0</c:v>
                </c:pt>
              </c:strCache>
            </c:strRef>
          </c:tx>
          <c:spPr>
            <a:solidFill>
              <a:srgbClr val="B8C4CC"/>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Sheet1!$E$2:$E$5</c:f>
              <c:numCache>
                <c:formatCode>General</c:formatCode>
                <c:ptCount val="4"/>
                <c:pt idx="0">
                  <c:v>0.94</c:v>
                </c:pt>
                <c:pt idx="1">
                  <c:v>1.71</c:v>
                </c:pt>
                <c:pt idx="2">
                  <c:v>2.05</c:v>
                </c:pt>
                <c:pt idx="3">
                  <c:v>0.96</c:v>
                </c:pt>
              </c:numCache>
            </c:numRef>
          </c:val>
        </c:ser>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A3B47"/>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DDE3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8E"/>
                </a:solidFill>
                <a:latin typeface="+mn-lt"/>
              </a:defRPr>
            </a:pPr>
            <a:endParaRPr lang="en-US"/>
          </a:p>
        </c:txPr>
        <c:crossAx val="2094734554"/>
        <c:crosses val="autoZero"/>
        <c:crossBetween val="between"/>
        <c:majorUnit val="0.5"/>
      </c:valAx>
      <c:spPr>
        <a:noFill/>
        <a:ln>
          <a:noFill/>
        </a:ln>
        <a:effectLst/>
      </c:spPr>
    </c:plotArea>
    <c:legend>
      <c:legendPos val="t"/>
      <c:overlay val="0"/>
      <c:txPr>
        <a:bodyPr/>
        <a:lstStyle/>
        <a:p>
          <a:pPr>
            <a:defRPr sz="1200">
              <a:solidFill>
                <a:srgbClr val="10182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Our project is a sound-effect generator for retro-style video games. Think of the coin sound in Mario, or a laser in an old arcade game. You pick a sound, adjust it with sliders, and the program builds that sound from scratch. The interesting part is that the piece that actually calculates the sound is written in Assembly. Assembly is the lowest-level programming language there is. It's basically the processor's own instructions, written out by hand. Python only handles the window and the buttons. [Point at the four lines at the bottom] Those are the four basic sound shapes our engine can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you see when you use it. There are seven presets, like Coin, Laser and Explosion, plus a Randomize button. Each slider changes one ingredient of the sound: how high or low it is, whether the pitch slides up or down, a little wobble, how long it lasts, and how loud it is. Every time you move something, the sound is rebuilt instantly, the picture of the wave updates, and you can play it or save it as a normal audio file. A bit of background on how digital sound works: a sound is just a long list of numbers. Each number says how far the speaker should push out at that moment. We make 44,100 of those numbers for every second of sound, which is CD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so I'll go slowly. Think of a restaurant. [Point left] The Python window is the waiter. It takes your order from the sliders. [Point middle] This middle piece is the order slip. It writes your choices down in a fixed format the kitchen understands. [Point right] And the Assembly engine is the kitchen. It actually cooks the sound. [Point at the five steps] Every click goes through the same five steps: ask the engine how long the sound will be, set aside space for it, fill that space with the sound, wrap it up as an audio file, then show it and play it. We also wrote the exact same recipe a second time in C, which is a more everyday programming language. The app never uses that copy. It's our answer key. We use it to check that the Assembly gets every single number right, and to compare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and Assembly don't speak the same language, so they need a shared form to fill in. [Point at the row of boxes] This is that form. It has eleven boxes in a fixed order: things like which wave shape, the starting pitch, how long the fade-out is, and the volume. Every box is exactly the same size, so the whole form is 44 bytes. A byte is just the basic unit of computer memory. The Assembly side doesn't know any of the names. It only knows positions. It's like saying 'look at the seventh box' instead of 'look at the fade-in time'. That's why we wrote this layout three times, once per language, and they have to match perfectly. And if anything on the form is out of range or doesn't make sense, the engine refuses to make the sound and just reports an error. It never crashes."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engine does exactly three jobs. [Point at each box in turn] One: tell me how long this sound will be. Two: actually make the sound. Three: turn it into a proper audio file. Windows has strict rules about how programs pass information to each other: where each piece of information goes, and where the answer comes back. We follow those rules exactly, and that's what the small print on these boxes shows. [Point at the bottom] The bottom part is about good manners. The processor has a small number of super-fast storage slots. Windows says some of them are yours to scribble on, and some you have to hand back exactly as you found them. Our engine only ever uses the ones it's allowed to scribble on, so it never has to back anything up. We also wrote a separate test that checks we really do leave the others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program. The engine runs one loop, and every lap of the loop produces one of those numbers we talked about. So it runs 44,100 times for every second of sound. [Run your hand along the seven steps] On each lap it does seven small jobs. One: nudge the pitch up or down a tiny bit if the sound is meant to slide. If it slides too low, the sound just ends early. Two: add a small wobble to the pitch, called vibrato. Three: move forward through the wave. Four: work out the shape: square, sawtooth, triangle or noise. Five: apply the volume fade, meaning fade in, hold, fade out. Six: convert it into the number format audio files use. Seven: save it and go round again. The important values stay inside the processor the whole time instead of going back and forth to memory, and that's why it's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get four different shapes? We keep track of one number called the phase. The easiest way to picture it is a clock hand. It starts at the top, goes round, and after one full lap it's back at the start. Every wave shape is just a simple rule for turning the clock position into a height. [Point at each drawing] Square: high for the first half of the lap, low for the second half. Sawtooth: a steady ramp up, then a drop. Triangle: up, then back down. Noise: a random height that changes once every lap. The nice thing is that changing the pitch only changes how fast the clock hand moves, so pitch slides and wobbles stay smooth."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six problems that a normal programming language solves for you behind the scenes. In Assembly, we had to solve them ourselves. [Point at each box as you go] One, bad input. If someone sends a value that isn't even a real number, comparisons behave strangely, so we added an extra check that catches it. Two, no power button. The processor has no built-in way to do 'two to the power of something', which pitch slides need, so we used a short maths shortcut. It's accurate because each step is tiny. Three, the clock hand. We cap the pitch at 20,000 vibrations a second, so the hand can never skip more than one lap at a time. Four, making numbers positive. There's no built-in way to do that for decimals, so we use a trick that switches off the minus sign directly. Five, too loud. If a value goes over the maximum, we clip it at the maximum instead of letting it wrap round to a big negative number, which would make a nasty click. Six, random but repeatable. Our noise uses a tiny random-number recipe, so the same starting number always gives exactly the same sound. That's what lets us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engine keep its working data while it runs? Only two places. One is the processor's own storage slots. The other is one small scratch area, 152 bytes, that it borrows while it works and gives back when it's done. Think of a sticky note you throw away afterwards. [Point at the diagram] Windows is fussy about the size and position of that scratch area, and 152 is the number that fits its rules. Because the engine doesn't keep anything permanently, lots of parts of a program can use it at the same time without getting in each other's way. We tested a hundred at once. The whole engine file is tiny, about 5.6 kilobytes, and it doesn't depend on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job is turning all those numbers into a real audio file, a WAV file, the kind any media player can open. A WAV file starts with a short label that tells the player things like 'this is CD quality, one channel'. [Point at the strip] That label is the same every time except for two numbers, highlighted here, which say how big the file is. So the engine copies a ready-made label, fills in those two numbers, puts the sound right after it, and that's a finished file. Python then plays it or saves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know it actually works? Remember the answer-key copy written in C. We made 10,000 random sounds plus 20 hand-picked ones, including every preset, and compared every single number from our Assembly with the answer key. That's about 1.28 million checks. Our requirement allowed a tiny difference of one; we got zero differences. We also tried to break it. We fed it bad values, checked it never writes outside the space it was given, checked the audio file label one byte at a time, and checked that a tone meant to be 441 vibrations a second really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speed. We timed how long it takes to make one second of sound, did that a thousand times, and took the middle result. [Point at the chart] Our goal was under 5 milliseconds, which is five thousandths of a second. Every shape beats that easily. Here's the interesting part. [Point at the red bars] Our first version was noticeably slower than the C version on two of the shapes, sawtooth and triangle. We dug into why, and it came down to one single line of code. That line copied a number in a way that made the processor wait for the previous sample to completely finish before it could start the next one. It's like a queue where nobody can move until the person in front is done. We swapped that line for a different copying instruction that doesn't cause the wait. [Point at the green bars] Those two shapes got about four and a half times faster, roughly the same speed as C, and all 1.28 million correctness checks still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want to be upfront about what we haven't proven yet. All our timings come from one laptop. We haven't done a proper listening test with other people, so we're not claiming the presets sound perfect to everyone. The noise sound is a little muffled, which was a trade-off we chose to keep things simple. And the speed-up from that one-line change was measured in one session, so we'd want to repeat it on another computer. [Point right] These are our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it working." [Click Coin] "That's a short beep that slides up in pitch, like picking up a coin." [Click Laser] "This one slides down fast, which gives you the laser sound." [Click Explosion] "This is noise that drops in pitch with a long fade-out." [Press Randomize twice] "Randomize sets every slider to something random, and the sound is rebuilt instantly." [Click Save WAV] "And this saves it as a normal audio file. [Point at the bar at the bottom] Down here it shows how long the sound is and how many milliseconds our engine took to make it.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291840"/>
            <a:ext cx="10881360" cy="82296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CA010 · Procedural SFX Generator in Assembly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737360"/>
          </a:xfrm>
          <a:prstGeom prst="rect">
            <a:avLst/>
          </a:prstGeom>
          <a:noFill/>
          <a:ln/>
        </p:spPr>
        <p:txBody>
          <a:bodyPr wrap="square" lIns="0" tIns="0" rIns="0" bIns="0" rtlCol="0" anchor="b"/>
          <a:lstStyle/>
          <a:p>
            <a:pPr algn="l" indent="0" marL="0">
              <a:buNone/>
            </a:pPr>
            <a:r>
              <a:rPr lang="en-US" sz="4400" b="1" dirty="0">
                <a:solidFill>
                  <a:schemeClr val="bg1"/>
                </a:solidFill>
              </a:rPr>
              <a:t>Procedural Game Sound Effects</a:t>
            </a:r>
            <a:endParaRPr lang="en-US" sz="4400" dirty="0"/>
          </a:p>
          <a:p>
            <a:pPr algn="l" indent="0" marL="0">
              <a:buNone/>
            </a:pPr>
            <a:r>
              <a:rPr lang="en-US" sz="4400" b="1" dirty="0">
                <a:solidFill>
                  <a:schemeClr val="bg1"/>
                </a:solidFill>
              </a:rPr>
              <a:t>in x86-64 Assembly</a:t>
            </a:r>
            <a:endParaRPr lang="en-US" sz="4400" dirty="0"/>
          </a:p>
        </p:txBody>
      </p:sp>
      <p:sp>
        <p:nvSpPr>
          <p:cNvPr id="3" name="Text 0"/>
          <p:cNvSpPr/>
          <p:nvPr>
            <p:ph idx="101" type="body" hasCustomPrompt="1"/>
          </p:nvPr>
        </p:nvSpPr>
        <p:spPr>
          <a:xfrm>
            <a:off x="640080" y="3291840"/>
            <a:ext cx="10881360" cy="822960"/>
          </a:xfrm>
          <a:prstGeom prst="rect">
            <a:avLst/>
          </a:prstGeom>
          <a:noFill/>
          <a:ln/>
        </p:spPr>
        <p:txBody>
          <a:bodyPr wrap="square" lIns="0" tIns="0" rIns="0" bIns="0" rtlCol="0" anchor="t"/>
          <a:lstStyle/>
          <a:p>
            <a:pPr indent="0" marL="0">
              <a:buNone/>
            </a:pPr>
            <a:r>
              <a:rPr lang="en-US" sz="2000" dirty="0">
                <a:solidFill>
                  <a:schemeClr val="accent2"/>
                </a:solidFill>
              </a:rPr>
              <a:t>Every audio sample is computed by hand-written NASM; Python only draws the buttons</a:t>
            </a:r>
            <a:endParaRPr lang="en-US" sz="2000" dirty="0"/>
          </a:p>
        </p:txBody>
      </p:sp>
      <p:sp>
        <p:nvSpPr>
          <p:cNvPr id="4" name="Shape 2"/>
          <p:cNvSpPr/>
          <p:nvPr/>
        </p:nvSpPr>
        <p:spPr>
          <a:xfrm>
            <a:off x="640080" y="4572000"/>
            <a:ext cx="457200" cy="0"/>
          </a:xfrm>
          <a:prstGeom prst="line">
            <a:avLst/>
          </a:prstGeom>
          <a:noFill/>
          <a:ln w="38100">
            <a:solidFill>
              <a:srgbClr val="58DBBC"/>
            </a:solidFill>
            <a:prstDash val="solid"/>
          </a:ln>
        </p:spPr>
      </p:sp>
      <p:sp>
        <p:nvSpPr>
          <p:cNvPr id="5" name="Shape 3"/>
          <p:cNvSpPr/>
          <p:nvPr/>
        </p:nvSpPr>
        <p:spPr>
          <a:xfrm>
            <a:off x="1097280" y="4572000"/>
            <a:ext cx="0" cy="640080"/>
          </a:xfrm>
          <a:prstGeom prst="line">
            <a:avLst/>
          </a:prstGeom>
          <a:noFill/>
          <a:ln w="38100">
            <a:solidFill>
              <a:srgbClr val="58DBBC"/>
            </a:solidFill>
            <a:prstDash val="solid"/>
          </a:ln>
        </p:spPr>
      </p:sp>
      <p:sp>
        <p:nvSpPr>
          <p:cNvPr id="6" name="Shape 4"/>
          <p:cNvSpPr/>
          <p:nvPr/>
        </p:nvSpPr>
        <p:spPr>
          <a:xfrm>
            <a:off x="1097280" y="5212080"/>
            <a:ext cx="457200" cy="0"/>
          </a:xfrm>
          <a:prstGeom prst="line">
            <a:avLst/>
          </a:prstGeom>
          <a:noFill/>
          <a:ln w="38100">
            <a:solidFill>
              <a:srgbClr val="58DBBC"/>
            </a:solidFill>
            <a:prstDash val="solid"/>
          </a:ln>
        </p:spPr>
      </p:sp>
      <p:sp>
        <p:nvSpPr>
          <p:cNvPr id="7" name="Shape 5"/>
          <p:cNvSpPr/>
          <p:nvPr/>
        </p:nvSpPr>
        <p:spPr>
          <a:xfrm>
            <a:off x="1554480" y="4572000"/>
            <a:ext cx="0" cy="640080"/>
          </a:xfrm>
          <a:prstGeom prst="line">
            <a:avLst/>
          </a:prstGeom>
          <a:noFill/>
          <a:ln w="38100">
            <a:solidFill>
              <a:srgbClr val="58DBBC"/>
            </a:solidFill>
            <a:prstDash val="solid"/>
          </a:ln>
        </p:spPr>
      </p:sp>
      <p:sp>
        <p:nvSpPr>
          <p:cNvPr id="8" name="Shape 6"/>
          <p:cNvSpPr/>
          <p:nvPr/>
        </p:nvSpPr>
        <p:spPr>
          <a:xfrm>
            <a:off x="1554480" y="4572000"/>
            <a:ext cx="0" cy="0"/>
          </a:xfrm>
          <a:prstGeom prst="line">
            <a:avLst/>
          </a:prstGeom>
          <a:noFill/>
          <a:ln w="38100">
            <a:solidFill>
              <a:srgbClr val="58DBBC"/>
            </a:solidFill>
            <a:prstDash val="solid"/>
          </a:ln>
        </p:spPr>
      </p:sp>
      <p:sp>
        <p:nvSpPr>
          <p:cNvPr id="9" name="Shape 7"/>
          <p:cNvSpPr/>
          <p:nvPr/>
        </p:nvSpPr>
        <p:spPr>
          <a:xfrm>
            <a:off x="1554480" y="4572000"/>
            <a:ext cx="457200" cy="0"/>
          </a:xfrm>
          <a:prstGeom prst="line">
            <a:avLst/>
          </a:prstGeom>
          <a:noFill/>
          <a:ln w="38100">
            <a:solidFill>
              <a:srgbClr val="58DBBC"/>
            </a:solidFill>
            <a:prstDash val="solid"/>
          </a:ln>
        </p:spPr>
      </p:sp>
      <p:sp>
        <p:nvSpPr>
          <p:cNvPr id="10" name="Shape 8"/>
          <p:cNvSpPr/>
          <p:nvPr/>
        </p:nvSpPr>
        <p:spPr>
          <a:xfrm>
            <a:off x="2011680" y="4572000"/>
            <a:ext cx="0" cy="640080"/>
          </a:xfrm>
          <a:prstGeom prst="line">
            <a:avLst/>
          </a:prstGeom>
          <a:noFill/>
          <a:ln w="38100">
            <a:solidFill>
              <a:srgbClr val="58DBBC"/>
            </a:solidFill>
            <a:prstDash val="solid"/>
          </a:ln>
        </p:spPr>
      </p:sp>
      <p:sp>
        <p:nvSpPr>
          <p:cNvPr id="11" name="Shape 9"/>
          <p:cNvSpPr/>
          <p:nvPr/>
        </p:nvSpPr>
        <p:spPr>
          <a:xfrm>
            <a:off x="2011680" y="5212080"/>
            <a:ext cx="457200" cy="0"/>
          </a:xfrm>
          <a:prstGeom prst="line">
            <a:avLst/>
          </a:prstGeom>
          <a:noFill/>
          <a:ln w="38100">
            <a:solidFill>
              <a:srgbClr val="58DBBC"/>
            </a:solidFill>
            <a:prstDash val="solid"/>
          </a:ln>
        </p:spPr>
      </p:sp>
      <p:sp>
        <p:nvSpPr>
          <p:cNvPr id="12" name="Shape 10"/>
          <p:cNvSpPr/>
          <p:nvPr/>
        </p:nvSpPr>
        <p:spPr>
          <a:xfrm>
            <a:off x="2468880" y="4572000"/>
            <a:ext cx="0" cy="640080"/>
          </a:xfrm>
          <a:prstGeom prst="line">
            <a:avLst/>
          </a:prstGeom>
          <a:noFill/>
          <a:ln w="38100">
            <a:solidFill>
              <a:srgbClr val="58DBBC"/>
            </a:solidFill>
            <a:prstDash val="solid"/>
          </a:ln>
        </p:spPr>
      </p:sp>
      <p:sp>
        <p:nvSpPr>
          <p:cNvPr id="13" name="Shape 11"/>
          <p:cNvSpPr/>
          <p:nvPr/>
        </p:nvSpPr>
        <p:spPr>
          <a:xfrm>
            <a:off x="2468880" y="4572000"/>
            <a:ext cx="0" cy="0"/>
          </a:xfrm>
          <a:prstGeom prst="line">
            <a:avLst/>
          </a:prstGeom>
          <a:noFill/>
          <a:ln w="38100">
            <a:solidFill>
              <a:srgbClr val="58DBBC"/>
            </a:solidFill>
            <a:prstDash val="solid"/>
          </a:ln>
        </p:spPr>
      </p:sp>
      <p:sp>
        <p:nvSpPr>
          <p:cNvPr id="14" name="Shape 12"/>
          <p:cNvSpPr/>
          <p:nvPr/>
        </p:nvSpPr>
        <p:spPr>
          <a:xfrm>
            <a:off x="2468880" y="4572000"/>
            <a:ext cx="457200" cy="0"/>
          </a:xfrm>
          <a:prstGeom prst="line">
            <a:avLst/>
          </a:prstGeom>
          <a:noFill/>
          <a:ln w="38100">
            <a:solidFill>
              <a:srgbClr val="58DBBC"/>
            </a:solidFill>
            <a:prstDash val="solid"/>
          </a:ln>
        </p:spPr>
      </p:sp>
      <p:sp>
        <p:nvSpPr>
          <p:cNvPr id="15" name="Shape 13"/>
          <p:cNvSpPr/>
          <p:nvPr/>
        </p:nvSpPr>
        <p:spPr>
          <a:xfrm>
            <a:off x="2926080" y="4572000"/>
            <a:ext cx="0" cy="640080"/>
          </a:xfrm>
          <a:prstGeom prst="line">
            <a:avLst/>
          </a:prstGeom>
          <a:noFill/>
          <a:ln w="38100">
            <a:solidFill>
              <a:srgbClr val="58DBBC"/>
            </a:solidFill>
            <a:prstDash val="solid"/>
          </a:ln>
        </p:spPr>
      </p:sp>
      <p:sp>
        <p:nvSpPr>
          <p:cNvPr id="16" name="Shape 14"/>
          <p:cNvSpPr/>
          <p:nvPr/>
        </p:nvSpPr>
        <p:spPr>
          <a:xfrm>
            <a:off x="2926080" y="5212080"/>
            <a:ext cx="457200" cy="0"/>
          </a:xfrm>
          <a:prstGeom prst="line">
            <a:avLst/>
          </a:prstGeom>
          <a:noFill/>
          <a:ln w="38100">
            <a:solidFill>
              <a:srgbClr val="58DBBC"/>
            </a:solidFill>
            <a:prstDash val="solid"/>
          </a:ln>
        </p:spPr>
      </p:sp>
      <p:sp>
        <p:nvSpPr>
          <p:cNvPr id="17" name="Shape 15"/>
          <p:cNvSpPr/>
          <p:nvPr/>
        </p:nvSpPr>
        <p:spPr>
          <a:xfrm flipV="1">
            <a:off x="3611880" y="4572000"/>
            <a:ext cx="914400" cy="640080"/>
          </a:xfrm>
          <a:prstGeom prst="line">
            <a:avLst/>
          </a:prstGeom>
          <a:noFill/>
          <a:ln w="38100">
            <a:solidFill>
              <a:srgbClr val="58DBBC"/>
            </a:solidFill>
            <a:prstDash val="solid"/>
          </a:ln>
        </p:spPr>
      </p:sp>
      <p:sp>
        <p:nvSpPr>
          <p:cNvPr id="18" name="Shape 16"/>
          <p:cNvSpPr/>
          <p:nvPr/>
        </p:nvSpPr>
        <p:spPr>
          <a:xfrm>
            <a:off x="4526280" y="4572000"/>
            <a:ext cx="0" cy="640080"/>
          </a:xfrm>
          <a:prstGeom prst="line">
            <a:avLst/>
          </a:prstGeom>
          <a:noFill/>
          <a:ln w="38100">
            <a:solidFill>
              <a:srgbClr val="58DBBC"/>
            </a:solidFill>
            <a:prstDash val="solid"/>
          </a:ln>
        </p:spPr>
      </p:sp>
      <p:sp>
        <p:nvSpPr>
          <p:cNvPr id="19" name="Shape 17"/>
          <p:cNvSpPr/>
          <p:nvPr/>
        </p:nvSpPr>
        <p:spPr>
          <a:xfrm>
            <a:off x="4526280" y="5212080"/>
            <a:ext cx="0" cy="0"/>
          </a:xfrm>
          <a:prstGeom prst="line">
            <a:avLst/>
          </a:prstGeom>
          <a:noFill/>
          <a:ln w="38100">
            <a:solidFill>
              <a:srgbClr val="58DBBC"/>
            </a:solidFill>
            <a:prstDash val="solid"/>
          </a:ln>
        </p:spPr>
      </p:sp>
      <p:sp>
        <p:nvSpPr>
          <p:cNvPr id="20" name="Shape 18"/>
          <p:cNvSpPr/>
          <p:nvPr/>
        </p:nvSpPr>
        <p:spPr>
          <a:xfrm flipV="1">
            <a:off x="4526280" y="4572000"/>
            <a:ext cx="914400" cy="640080"/>
          </a:xfrm>
          <a:prstGeom prst="line">
            <a:avLst/>
          </a:prstGeom>
          <a:noFill/>
          <a:ln w="38100">
            <a:solidFill>
              <a:srgbClr val="58DBBC"/>
            </a:solidFill>
            <a:prstDash val="solid"/>
          </a:ln>
        </p:spPr>
      </p:sp>
      <p:sp>
        <p:nvSpPr>
          <p:cNvPr id="21" name="Shape 19"/>
          <p:cNvSpPr/>
          <p:nvPr/>
        </p:nvSpPr>
        <p:spPr>
          <a:xfrm>
            <a:off x="5440680" y="4572000"/>
            <a:ext cx="0" cy="640080"/>
          </a:xfrm>
          <a:prstGeom prst="line">
            <a:avLst/>
          </a:prstGeom>
          <a:noFill/>
          <a:ln w="38100">
            <a:solidFill>
              <a:srgbClr val="58DBBC"/>
            </a:solidFill>
            <a:prstDash val="solid"/>
          </a:ln>
        </p:spPr>
      </p:sp>
      <p:sp>
        <p:nvSpPr>
          <p:cNvPr id="22" name="Shape 20"/>
          <p:cNvSpPr/>
          <p:nvPr/>
        </p:nvSpPr>
        <p:spPr>
          <a:xfrm>
            <a:off x="5440680" y="5212080"/>
            <a:ext cx="0" cy="0"/>
          </a:xfrm>
          <a:prstGeom prst="line">
            <a:avLst/>
          </a:prstGeom>
          <a:noFill/>
          <a:ln w="38100">
            <a:solidFill>
              <a:srgbClr val="58DBBC"/>
            </a:solidFill>
            <a:prstDash val="solid"/>
          </a:ln>
        </p:spPr>
      </p:sp>
      <p:sp>
        <p:nvSpPr>
          <p:cNvPr id="23" name="Shape 21"/>
          <p:cNvSpPr/>
          <p:nvPr/>
        </p:nvSpPr>
        <p:spPr>
          <a:xfrm flipV="1">
            <a:off x="5440680" y="4572000"/>
            <a:ext cx="914400" cy="640080"/>
          </a:xfrm>
          <a:prstGeom prst="line">
            <a:avLst/>
          </a:prstGeom>
          <a:noFill/>
          <a:ln w="38100">
            <a:solidFill>
              <a:srgbClr val="58DBBC"/>
            </a:solidFill>
            <a:prstDash val="solid"/>
          </a:ln>
        </p:spPr>
      </p:sp>
      <p:sp>
        <p:nvSpPr>
          <p:cNvPr id="24" name="Shape 22"/>
          <p:cNvSpPr/>
          <p:nvPr/>
        </p:nvSpPr>
        <p:spPr>
          <a:xfrm flipV="1">
            <a:off x="6583680" y="4572000"/>
            <a:ext cx="457200" cy="640080"/>
          </a:xfrm>
          <a:prstGeom prst="line">
            <a:avLst/>
          </a:prstGeom>
          <a:noFill/>
          <a:ln w="38100">
            <a:solidFill>
              <a:srgbClr val="58DBBC"/>
            </a:solidFill>
            <a:prstDash val="solid"/>
          </a:ln>
        </p:spPr>
      </p:sp>
      <p:sp>
        <p:nvSpPr>
          <p:cNvPr id="25" name="Shape 23"/>
          <p:cNvSpPr/>
          <p:nvPr/>
        </p:nvSpPr>
        <p:spPr>
          <a:xfrm>
            <a:off x="7040880" y="4572000"/>
            <a:ext cx="457200" cy="640080"/>
          </a:xfrm>
          <a:prstGeom prst="line">
            <a:avLst/>
          </a:prstGeom>
          <a:noFill/>
          <a:ln w="38100">
            <a:solidFill>
              <a:srgbClr val="58DBBC"/>
            </a:solidFill>
            <a:prstDash val="solid"/>
          </a:ln>
        </p:spPr>
      </p:sp>
      <p:sp>
        <p:nvSpPr>
          <p:cNvPr id="26" name="Shape 24"/>
          <p:cNvSpPr/>
          <p:nvPr/>
        </p:nvSpPr>
        <p:spPr>
          <a:xfrm>
            <a:off x="7498080" y="5212080"/>
            <a:ext cx="0" cy="0"/>
          </a:xfrm>
          <a:prstGeom prst="line">
            <a:avLst/>
          </a:prstGeom>
          <a:noFill/>
          <a:ln w="38100">
            <a:solidFill>
              <a:srgbClr val="58DBBC"/>
            </a:solidFill>
            <a:prstDash val="solid"/>
          </a:ln>
        </p:spPr>
      </p:sp>
      <p:sp>
        <p:nvSpPr>
          <p:cNvPr id="27" name="Shape 25"/>
          <p:cNvSpPr/>
          <p:nvPr/>
        </p:nvSpPr>
        <p:spPr>
          <a:xfrm flipV="1">
            <a:off x="7498080" y="4572000"/>
            <a:ext cx="457200" cy="640080"/>
          </a:xfrm>
          <a:prstGeom prst="line">
            <a:avLst/>
          </a:prstGeom>
          <a:noFill/>
          <a:ln w="38100">
            <a:solidFill>
              <a:srgbClr val="58DBBC"/>
            </a:solidFill>
            <a:prstDash val="solid"/>
          </a:ln>
        </p:spPr>
      </p:sp>
      <p:sp>
        <p:nvSpPr>
          <p:cNvPr id="28" name="Shape 26"/>
          <p:cNvSpPr/>
          <p:nvPr/>
        </p:nvSpPr>
        <p:spPr>
          <a:xfrm>
            <a:off x="7955280" y="4572000"/>
            <a:ext cx="457200" cy="640080"/>
          </a:xfrm>
          <a:prstGeom prst="line">
            <a:avLst/>
          </a:prstGeom>
          <a:noFill/>
          <a:ln w="38100">
            <a:solidFill>
              <a:srgbClr val="58DBBC"/>
            </a:solidFill>
            <a:prstDash val="solid"/>
          </a:ln>
        </p:spPr>
      </p:sp>
      <p:sp>
        <p:nvSpPr>
          <p:cNvPr id="29" name="Shape 27"/>
          <p:cNvSpPr/>
          <p:nvPr/>
        </p:nvSpPr>
        <p:spPr>
          <a:xfrm>
            <a:off x="8412480" y="5212080"/>
            <a:ext cx="0" cy="0"/>
          </a:xfrm>
          <a:prstGeom prst="line">
            <a:avLst/>
          </a:prstGeom>
          <a:noFill/>
          <a:ln w="38100">
            <a:solidFill>
              <a:srgbClr val="58DBBC"/>
            </a:solidFill>
            <a:prstDash val="solid"/>
          </a:ln>
        </p:spPr>
      </p:sp>
      <p:sp>
        <p:nvSpPr>
          <p:cNvPr id="30" name="Shape 28"/>
          <p:cNvSpPr/>
          <p:nvPr/>
        </p:nvSpPr>
        <p:spPr>
          <a:xfrm flipV="1">
            <a:off x="8412480" y="4572000"/>
            <a:ext cx="457200" cy="640080"/>
          </a:xfrm>
          <a:prstGeom prst="line">
            <a:avLst/>
          </a:prstGeom>
          <a:noFill/>
          <a:ln w="38100">
            <a:solidFill>
              <a:srgbClr val="58DBBC"/>
            </a:solidFill>
            <a:prstDash val="solid"/>
          </a:ln>
        </p:spPr>
      </p:sp>
      <p:sp>
        <p:nvSpPr>
          <p:cNvPr id="31" name="Shape 29"/>
          <p:cNvSpPr/>
          <p:nvPr/>
        </p:nvSpPr>
        <p:spPr>
          <a:xfrm>
            <a:off x="8869680" y="4572000"/>
            <a:ext cx="457200" cy="640080"/>
          </a:xfrm>
          <a:prstGeom prst="line">
            <a:avLst/>
          </a:prstGeom>
          <a:noFill/>
          <a:ln w="38100">
            <a:solidFill>
              <a:srgbClr val="58DBBC"/>
            </a:solidFill>
            <a:prstDash val="solid"/>
          </a:ln>
        </p:spPr>
      </p:sp>
      <p:sp>
        <p:nvSpPr>
          <p:cNvPr id="32" name="Shape 30"/>
          <p:cNvSpPr/>
          <p:nvPr/>
        </p:nvSpPr>
        <p:spPr>
          <a:xfrm>
            <a:off x="9555480" y="4700016"/>
            <a:ext cx="163830" cy="0"/>
          </a:xfrm>
          <a:prstGeom prst="line">
            <a:avLst/>
          </a:prstGeom>
          <a:noFill/>
          <a:ln w="38100">
            <a:solidFill>
              <a:srgbClr val="58DBBC"/>
            </a:solidFill>
            <a:prstDash val="solid"/>
          </a:ln>
        </p:spPr>
      </p:sp>
      <p:sp>
        <p:nvSpPr>
          <p:cNvPr id="33" name="Shape 31"/>
          <p:cNvSpPr/>
          <p:nvPr/>
        </p:nvSpPr>
        <p:spPr>
          <a:xfrm>
            <a:off x="9719310" y="4700016"/>
            <a:ext cx="0" cy="448056"/>
          </a:xfrm>
          <a:prstGeom prst="line">
            <a:avLst/>
          </a:prstGeom>
          <a:noFill/>
          <a:ln w="38100">
            <a:solidFill>
              <a:srgbClr val="58DBBC"/>
            </a:solidFill>
            <a:prstDash val="solid"/>
          </a:ln>
        </p:spPr>
      </p:sp>
      <p:sp>
        <p:nvSpPr>
          <p:cNvPr id="34" name="Shape 32"/>
          <p:cNvSpPr/>
          <p:nvPr/>
        </p:nvSpPr>
        <p:spPr>
          <a:xfrm>
            <a:off x="9719310" y="5148072"/>
            <a:ext cx="163830" cy="0"/>
          </a:xfrm>
          <a:prstGeom prst="line">
            <a:avLst/>
          </a:prstGeom>
          <a:noFill/>
          <a:ln w="38100">
            <a:solidFill>
              <a:srgbClr val="58DBBC"/>
            </a:solidFill>
            <a:prstDash val="solid"/>
          </a:ln>
        </p:spPr>
      </p:sp>
      <p:sp>
        <p:nvSpPr>
          <p:cNvPr id="35" name="Shape 33"/>
          <p:cNvSpPr/>
          <p:nvPr/>
        </p:nvSpPr>
        <p:spPr>
          <a:xfrm>
            <a:off x="9883140" y="4796028"/>
            <a:ext cx="0" cy="352044"/>
          </a:xfrm>
          <a:prstGeom prst="line">
            <a:avLst/>
          </a:prstGeom>
          <a:noFill/>
          <a:ln w="38100">
            <a:solidFill>
              <a:srgbClr val="58DBBC"/>
            </a:solidFill>
            <a:prstDash val="solid"/>
          </a:ln>
        </p:spPr>
      </p:sp>
      <p:sp>
        <p:nvSpPr>
          <p:cNvPr id="36" name="Shape 34"/>
          <p:cNvSpPr/>
          <p:nvPr/>
        </p:nvSpPr>
        <p:spPr>
          <a:xfrm>
            <a:off x="9883140" y="4796028"/>
            <a:ext cx="163830" cy="0"/>
          </a:xfrm>
          <a:prstGeom prst="line">
            <a:avLst/>
          </a:prstGeom>
          <a:noFill/>
          <a:ln w="38100">
            <a:solidFill>
              <a:srgbClr val="58DBBC"/>
            </a:solidFill>
            <a:prstDash val="solid"/>
          </a:ln>
        </p:spPr>
      </p:sp>
      <p:sp>
        <p:nvSpPr>
          <p:cNvPr id="37" name="Shape 35"/>
          <p:cNvSpPr/>
          <p:nvPr/>
        </p:nvSpPr>
        <p:spPr>
          <a:xfrm>
            <a:off x="10046970" y="4796028"/>
            <a:ext cx="0" cy="224028"/>
          </a:xfrm>
          <a:prstGeom prst="line">
            <a:avLst/>
          </a:prstGeom>
          <a:noFill/>
          <a:ln w="38100">
            <a:solidFill>
              <a:srgbClr val="58DBBC"/>
            </a:solidFill>
            <a:prstDash val="solid"/>
          </a:ln>
        </p:spPr>
      </p:sp>
      <p:sp>
        <p:nvSpPr>
          <p:cNvPr id="38" name="Shape 36"/>
          <p:cNvSpPr/>
          <p:nvPr/>
        </p:nvSpPr>
        <p:spPr>
          <a:xfrm>
            <a:off x="10046970" y="5020056"/>
            <a:ext cx="163830" cy="0"/>
          </a:xfrm>
          <a:prstGeom prst="line">
            <a:avLst/>
          </a:prstGeom>
          <a:noFill/>
          <a:ln w="38100">
            <a:solidFill>
              <a:srgbClr val="58DBBC"/>
            </a:solidFill>
            <a:prstDash val="solid"/>
          </a:ln>
        </p:spPr>
      </p:sp>
      <p:sp>
        <p:nvSpPr>
          <p:cNvPr id="39" name="Shape 37"/>
          <p:cNvSpPr/>
          <p:nvPr/>
        </p:nvSpPr>
        <p:spPr>
          <a:xfrm>
            <a:off x="10210800" y="4604004"/>
            <a:ext cx="0" cy="416052"/>
          </a:xfrm>
          <a:prstGeom prst="line">
            <a:avLst/>
          </a:prstGeom>
          <a:noFill/>
          <a:ln w="38100">
            <a:solidFill>
              <a:srgbClr val="58DBBC"/>
            </a:solidFill>
            <a:prstDash val="solid"/>
          </a:ln>
        </p:spPr>
      </p:sp>
      <p:sp>
        <p:nvSpPr>
          <p:cNvPr id="40" name="Shape 38"/>
          <p:cNvSpPr/>
          <p:nvPr/>
        </p:nvSpPr>
        <p:spPr>
          <a:xfrm>
            <a:off x="10210800" y="4604004"/>
            <a:ext cx="163830" cy="0"/>
          </a:xfrm>
          <a:prstGeom prst="line">
            <a:avLst/>
          </a:prstGeom>
          <a:noFill/>
          <a:ln w="38100">
            <a:solidFill>
              <a:srgbClr val="58DBBC"/>
            </a:solidFill>
            <a:prstDash val="solid"/>
          </a:ln>
        </p:spPr>
      </p:sp>
      <p:sp>
        <p:nvSpPr>
          <p:cNvPr id="41" name="Shape 39"/>
          <p:cNvSpPr/>
          <p:nvPr/>
        </p:nvSpPr>
        <p:spPr>
          <a:xfrm>
            <a:off x="10374630" y="4604004"/>
            <a:ext cx="0" cy="320040"/>
          </a:xfrm>
          <a:prstGeom prst="line">
            <a:avLst/>
          </a:prstGeom>
          <a:noFill/>
          <a:ln w="38100">
            <a:solidFill>
              <a:srgbClr val="58DBBC"/>
            </a:solidFill>
            <a:prstDash val="solid"/>
          </a:ln>
        </p:spPr>
      </p:sp>
      <p:sp>
        <p:nvSpPr>
          <p:cNvPr id="42" name="Shape 40"/>
          <p:cNvSpPr/>
          <p:nvPr/>
        </p:nvSpPr>
        <p:spPr>
          <a:xfrm>
            <a:off x="10374630" y="4924044"/>
            <a:ext cx="163830" cy="0"/>
          </a:xfrm>
          <a:prstGeom prst="line">
            <a:avLst/>
          </a:prstGeom>
          <a:noFill/>
          <a:ln w="38100">
            <a:solidFill>
              <a:srgbClr val="58DBBC"/>
            </a:solidFill>
            <a:prstDash val="solid"/>
          </a:ln>
        </p:spPr>
      </p:sp>
      <p:sp>
        <p:nvSpPr>
          <p:cNvPr id="43" name="Shape 41"/>
          <p:cNvSpPr/>
          <p:nvPr/>
        </p:nvSpPr>
        <p:spPr>
          <a:xfrm>
            <a:off x="10538460" y="4924044"/>
            <a:ext cx="0" cy="256032"/>
          </a:xfrm>
          <a:prstGeom prst="line">
            <a:avLst/>
          </a:prstGeom>
          <a:noFill/>
          <a:ln w="38100">
            <a:solidFill>
              <a:srgbClr val="58DBBC"/>
            </a:solidFill>
            <a:prstDash val="solid"/>
          </a:ln>
        </p:spPr>
      </p:sp>
      <p:sp>
        <p:nvSpPr>
          <p:cNvPr id="44" name="Shape 42"/>
          <p:cNvSpPr/>
          <p:nvPr/>
        </p:nvSpPr>
        <p:spPr>
          <a:xfrm>
            <a:off x="10538460" y="5180076"/>
            <a:ext cx="163830" cy="0"/>
          </a:xfrm>
          <a:prstGeom prst="line">
            <a:avLst/>
          </a:prstGeom>
          <a:noFill/>
          <a:ln w="38100">
            <a:solidFill>
              <a:srgbClr val="58DBBC"/>
            </a:solidFill>
            <a:prstDash val="solid"/>
          </a:ln>
        </p:spPr>
      </p:sp>
      <p:sp>
        <p:nvSpPr>
          <p:cNvPr id="45" name="Shape 43"/>
          <p:cNvSpPr/>
          <p:nvPr/>
        </p:nvSpPr>
        <p:spPr>
          <a:xfrm>
            <a:off x="10702290" y="4668012"/>
            <a:ext cx="0" cy="512064"/>
          </a:xfrm>
          <a:prstGeom prst="line">
            <a:avLst/>
          </a:prstGeom>
          <a:noFill/>
          <a:ln w="38100">
            <a:solidFill>
              <a:srgbClr val="58DBBC"/>
            </a:solidFill>
            <a:prstDash val="solid"/>
          </a:ln>
        </p:spPr>
      </p:sp>
      <p:sp>
        <p:nvSpPr>
          <p:cNvPr id="46" name="Shape 44"/>
          <p:cNvSpPr/>
          <p:nvPr/>
        </p:nvSpPr>
        <p:spPr>
          <a:xfrm>
            <a:off x="10702290" y="4668012"/>
            <a:ext cx="163830" cy="0"/>
          </a:xfrm>
          <a:prstGeom prst="line">
            <a:avLst/>
          </a:prstGeom>
          <a:noFill/>
          <a:ln w="38100">
            <a:solidFill>
              <a:srgbClr val="58DBBC"/>
            </a:solidFill>
            <a:prstDash val="solid"/>
          </a:ln>
        </p:spPr>
      </p:sp>
      <p:sp>
        <p:nvSpPr>
          <p:cNvPr id="47" name="Shape 45"/>
          <p:cNvSpPr/>
          <p:nvPr/>
        </p:nvSpPr>
        <p:spPr>
          <a:xfrm>
            <a:off x="10866120" y="4668012"/>
            <a:ext cx="0" cy="288036"/>
          </a:xfrm>
          <a:prstGeom prst="line">
            <a:avLst/>
          </a:prstGeom>
          <a:noFill/>
          <a:ln w="38100">
            <a:solidFill>
              <a:srgbClr val="58DBBC"/>
            </a:solidFill>
            <a:prstDash val="solid"/>
          </a:ln>
        </p:spPr>
      </p:sp>
      <p:sp>
        <p:nvSpPr>
          <p:cNvPr id="48" name="Shape 46"/>
          <p:cNvSpPr/>
          <p:nvPr/>
        </p:nvSpPr>
        <p:spPr>
          <a:xfrm>
            <a:off x="10866120" y="4956048"/>
            <a:ext cx="163830" cy="0"/>
          </a:xfrm>
          <a:prstGeom prst="line">
            <a:avLst/>
          </a:prstGeom>
          <a:noFill/>
          <a:ln w="38100">
            <a:solidFill>
              <a:srgbClr val="58DBBC"/>
            </a:solidFill>
            <a:prstDash val="solid"/>
          </a:ln>
        </p:spPr>
      </p:sp>
      <p:sp>
        <p:nvSpPr>
          <p:cNvPr id="49" name="Shape 47"/>
          <p:cNvSpPr/>
          <p:nvPr/>
        </p:nvSpPr>
        <p:spPr>
          <a:xfrm>
            <a:off x="11029950" y="4764024"/>
            <a:ext cx="0" cy="192024"/>
          </a:xfrm>
          <a:prstGeom prst="line">
            <a:avLst/>
          </a:prstGeom>
          <a:noFill/>
          <a:ln w="38100">
            <a:solidFill>
              <a:srgbClr val="58DBBC"/>
            </a:solidFill>
            <a:prstDash val="solid"/>
          </a:ln>
        </p:spPr>
      </p:sp>
      <p:sp>
        <p:nvSpPr>
          <p:cNvPr id="50" name="Shape 48"/>
          <p:cNvSpPr/>
          <p:nvPr/>
        </p:nvSpPr>
        <p:spPr>
          <a:xfrm>
            <a:off x="11029950" y="4764024"/>
            <a:ext cx="163830" cy="0"/>
          </a:xfrm>
          <a:prstGeom prst="line">
            <a:avLst/>
          </a:prstGeom>
          <a:noFill/>
          <a:ln w="38100">
            <a:solidFill>
              <a:srgbClr val="58DBBC"/>
            </a:solidFill>
            <a:prstDash val="solid"/>
          </a:ln>
        </p:spPr>
      </p:sp>
      <p:sp>
        <p:nvSpPr>
          <p:cNvPr id="51" name="Shape 49"/>
          <p:cNvSpPr/>
          <p:nvPr/>
        </p:nvSpPr>
        <p:spPr>
          <a:xfrm>
            <a:off x="11193780" y="4764024"/>
            <a:ext cx="0" cy="320040"/>
          </a:xfrm>
          <a:prstGeom prst="line">
            <a:avLst/>
          </a:prstGeom>
          <a:noFill/>
          <a:ln w="38100">
            <a:solidFill>
              <a:srgbClr val="58DBBC"/>
            </a:solidFill>
            <a:prstDash val="solid"/>
          </a:ln>
        </p:spPr>
      </p:sp>
      <p:sp>
        <p:nvSpPr>
          <p:cNvPr id="52" name="Shape 50"/>
          <p:cNvSpPr/>
          <p:nvPr/>
        </p:nvSpPr>
        <p:spPr>
          <a:xfrm>
            <a:off x="11193780" y="5084064"/>
            <a:ext cx="163830" cy="0"/>
          </a:xfrm>
          <a:prstGeom prst="line">
            <a:avLst/>
          </a:prstGeom>
          <a:noFill/>
          <a:ln w="38100">
            <a:solidFill>
              <a:srgbClr val="58DBBC"/>
            </a:solidFill>
            <a:prstDash val="solid"/>
          </a:ln>
        </p:spPr>
      </p:sp>
      <p:sp>
        <p:nvSpPr>
          <p:cNvPr id="53" name="Shape 51"/>
          <p:cNvSpPr/>
          <p:nvPr/>
        </p:nvSpPr>
        <p:spPr>
          <a:xfrm>
            <a:off x="11357610" y="4860036"/>
            <a:ext cx="0" cy="224028"/>
          </a:xfrm>
          <a:prstGeom prst="line">
            <a:avLst/>
          </a:prstGeom>
          <a:noFill/>
          <a:ln w="38100">
            <a:solidFill>
              <a:srgbClr val="58DBBC"/>
            </a:solidFill>
            <a:prstDash val="solid"/>
          </a:ln>
        </p:spPr>
      </p:sp>
      <p:sp>
        <p:nvSpPr>
          <p:cNvPr id="54" name="Shape 52"/>
          <p:cNvSpPr/>
          <p:nvPr/>
        </p:nvSpPr>
        <p:spPr>
          <a:xfrm>
            <a:off x="11357610" y="4860036"/>
            <a:ext cx="163830" cy="0"/>
          </a:xfrm>
          <a:prstGeom prst="line">
            <a:avLst/>
          </a:prstGeom>
          <a:noFill/>
          <a:ln w="38100">
            <a:solidFill>
              <a:srgbClr val="58DBBC"/>
            </a:solidFill>
            <a:prstDash val="solid"/>
          </a:ln>
        </p:spPr>
      </p:sp>
      <p:sp>
        <p:nvSpPr>
          <p:cNvPr id="55" name="Text 53"/>
          <p:cNvSpPr txBox="1"/>
          <p:nvPr/>
        </p:nvSpPr>
        <p:spPr>
          <a:xfrm>
            <a:off x="640080" y="5623560"/>
            <a:ext cx="10881360" cy="320040"/>
          </a:xfrm>
          <a:prstGeom prst="rect">
            <a:avLst/>
          </a:prstGeom>
          <a:noFill/>
          <a:ln/>
        </p:spPr>
        <p:txBody>
          <a:bodyPr wrap="square" lIns="0" tIns="0" rIns="0" bIns="0" rtlCol="0" anchor="t"/>
          <a:lstStyle/>
          <a:p>
            <a:pPr indent="0" marL="0">
              <a:buNone/>
            </a:pPr>
            <a:r>
              <a:rPr lang="en-US" sz="1400" dirty="0">
                <a:solidFill>
                  <a:schemeClr val="bg1"/>
                </a:solidFill>
              </a:rPr>
              <a:t>Allein Edward Miranda · Jan Emil Stenland · Jose Gian M. Tubera · Ray A. Nicolas</a:t>
            </a:r>
            <a:endParaRPr lang="en-US" sz="1400" dirty="0"/>
          </a:p>
        </p:txBody>
      </p:sp>
      <p:sp>
        <p:nvSpPr>
          <p:cNvPr id="56" name="Text 54"/>
          <p:cNvSpPr txBox="1"/>
          <p:nvPr/>
        </p:nvSpPr>
        <p:spPr>
          <a:xfrm>
            <a:off x="640080" y="5989320"/>
            <a:ext cx="10881360" cy="320040"/>
          </a:xfrm>
          <a:prstGeom prst="rect">
            <a:avLst/>
          </a:prstGeom>
          <a:noFill/>
          <a:ln/>
        </p:spPr>
        <p:txBody>
          <a:bodyPr wrap="square" lIns="0" tIns="0" rIns="0" bIns="0" rtlCol="0" anchor="t"/>
          <a:lstStyle/>
          <a:p>
            <a:pPr indent="0" marL="0">
              <a:buNone/>
            </a:pPr>
            <a:r>
              <a:rPr lang="en-US" sz="1200" dirty="0">
                <a:solidFill>
                  <a:schemeClr val="accent5"/>
                </a:solidFill>
              </a:rPr>
              <a:t>CA010 Computer Architecture and Organization · College of Computer Studies, Angeles University Foundation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Pick a preset or move a slider; Assembly builds the sound</a:t>
            </a:r>
            <a:endParaRPr lang="en-US" sz="2800" dirty="0"/>
          </a:p>
        </p:txBody>
      </p:sp>
      <p:sp>
        <p:nvSpPr>
          <p:cNvPr id="4" name="Text 1"/>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Presets</a:t>
            </a:r>
            <a:endParaRPr lang="en-US" sz="1800" dirty="0"/>
          </a:p>
        </p:txBody>
      </p:sp>
      <p:sp>
        <p:nvSpPr>
          <p:cNvPr id="5" name="Shape 2"/>
          <p:cNvSpPr/>
          <p:nvPr/>
        </p:nvSpPr>
        <p:spPr>
          <a:xfrm>
            <a:off x="548640" y="1920240"/>
            <a:ext cx="1325880" cy="502920"/>
          </a:xfrm>
          <a:prstGeom prst="roundRect">
            <a:avLst>
              <a:gd name="adj" fmla="val 49091"/>
            </a:avLst>
          </a:prstGeom>
          <a:solidFill>
            <a:schemeClr val="tx1"/>
          </a:solidFill>
          <a:ln/>
        </p:spPr>
      </p:sp>
      <p:sp>
        <p:nvSpPr>
          <p:cNvPr id="6" name="Text 3"/>
          <p:cNvSpPr txBox="1"/>
          <p:nvPr/>
        </p:nvSpPr>
        <p:spPr>
          <a:xfrm>
            <a:off x="54864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Coin</a:t>
            </a:r>
            <a:endParaRPr lang="en-US" sz="1400" dirty="0"/>
          </a:p>
        </p:txBody>
      </p:sp>
      <p:sp>
        <p:nvSpPr>
          <p:cNvPr id="7" name="Shape 4"/>
          <p:cNvSpPr/>
          <p:nvPr/>
        </p:nvSpPr>
        <p:spPr>
          <a:xfrm>
            <a:off x="2011680" y="1920240"/>
            <a:ext cx="1325880" cy="502920"/>
          </a:xfrm>
          <a:prstGeom prst="roundRect">
            <a:avLst>
              <a:gd name="adj" fmla="val 49091"/>
            </a:avLst>
          </a:prstGeom>
          <a:solidFill>
            <a:schemeClr val="tx1"/>
          </a:solidFill>
          <a:ln/>
        </p:spPr>
      </p:sp>
      <p:sp>
        <p:nvSpPr>
          <p:cNvPr id="8" name="Text 5"/>
          <p:cNvSpPr txBox="1"/>
          <p:nvPr/>
        </p:nvSpPr>
        <p:spPr>
          <a:xfrm>
            <a:off x="201168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Laser</a:t>
            </a:r>
            <a:endParaRPr lang="en-US" sz="1400" dirty="0"/>
          </a:p>
        </p:txBody>
      </p:sp>
      <p:sp>
        <p:nvSpPr>
          <p:cNvPr id="9" name="Shape 6"/>
          <p:cNvSpPr/>
          <p:nvPr/>
        </p:nvSpPr>
        <p:spPr>
          <a:xfrm>
            <a:off x="3474720" y="1920240"/>
            <a:ext cx="1325880" cy="502920"/>
          </a:xfrm>
          <a:prstGeom prst="roundRect">
            <a:avLst>
              <a:gd name="adj" fmla="val 49091"/>
            </a:avLst>
          </a:prstGeom>
          <a:solidFill>
            <a:schemeClr val="tx1"/>
          </a:solidFill>
          <a:ln/>
        </p:spPr>
      </p:sp>
      <p:sp>
        <p:nvSpPr>
          <p:cNvPr id="10" name="Text 7"/>
          <p:cNvSpPr txBox="1"/>
          <p:nvPr/>
        </p:nvSpPr>
        <p:spPr>
          <a:xfrm>
            <a:off x="347472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Explosion</a:t>
            </a:r>
            <a:endParaRPr lang="en-US" sz="1400" dirty="0"/>
          </a:p>
        </p:txBody>
      </p:sp>
      <p:sp>
        <p:nvSpPr>
          <p:cNvPr id="11" name="Shape 8"/>
          <p:cNvSpPr/>
          <p:nvPr/>
        </p:nvSpPr>
        <p:spPr>
          <a:xfrm>
            <a:off x="4937760" y="1920240"/>
            <a:ext cx="1325880" cy="502920"/>
          </a:xfrm>
          <a:prstGeom prst="roundRect">
            <a:avLst>
              <a:gd name="adj" fmla="val 49091"/>
            </a:avLst>
          </a:prstGeom>
          <a:solidFill>
            <a:schemeClr val="tx1"/>
          </a:solidFill>
          <a:ln/>
        </p:spPr>
      </p:sp>
      <p:sp>
        <p:nvSpPr>
          <p:cNvPr id="12" name="Text 9"/>
          <p:cNvSpPr txBox="1"/>
          <p:nvPr/>
        </p:nvSpPr>
        <p:spPr>
          <a:xfrm>
            <a:off x="493776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Jump</a:t>
            </a:r>
            <a:endParaRPr lang="en-US" sz="1400" dirty="0"/>
          </a:p>
        </p:txBody>
      </p:sp>
      <p:sp>
        <p:nvSpPr>
          <p:cNvPr id="13" name="Shape 10"/>
          <p:cNvSpPr/>
          <p:nvPr/>
        </p:nvSpPr>
        <p:spPr>
          <a:xfrm>
            <a:off x="548640" y="2606040"/>
            <a:ext cx="1325880" cy="502920"/>
          </a:xfrm>
          <a:prstGeom prst="roundRect">
            <a:avLst>
              <a:gd name="adj" fmla="val 49091"/>
            </a:avLst>
          </a:prstGeom>
          <a:solidFill>
            <a:schemeClr val="tx1"/>
          </a:solidFill>
          <a:ln/>
        </p:spPr>
      </p:sp>
      <p:sp>
        <p:nvSpPr>
          <p:cNvPr id="14" name="Text 11"/>
          <p:cNvSpPr txBox="1"/>
          <p:nvPr/>
        </p:nvSpPr>
        <p:spPr>
          <a:xfrm>
            <a:off x="548640" y="26060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Hit</a:t>
            </a:r>
            <a:endParaRPr lang="en-US" sz="1400" dirty="0"/>
          </a:p>
        </p:txBody>
      </p:sp>
      <p:sp>
        <p:nvSpPr>
          <p:cNvPr id="15" name="Shape 12"/>
          <p:cNvSpPr/>
          <p:nvPr/>
        </p:nvSpPr>
        <p:spPr>
          <a:xfrm>
            <a:off x="2011680" y="2606040"/>
            <a:ext cx="1325880" cy="502920"/>
          </a:xfrm>
          <a:prstGeom prst="roundRect">
            <a:avLst>
              <a:gd name="adj" fmla="val 49091"/>
            </a:avLst>
          </a:prstGeom>
          <a:solidFill>
            <a:schemeClr val="tx1"/>
          </a:solidFill>
          <a:ln/>
        </p:spPr>
      </p:sp>
      <p:sp>
        <p:nvSpPr>
          <p:cNvPr id="16" name="Text 13"/>
          <p:cNvSpPr txBox="1"/>
          <p:nvPr/>
        </p:nvSpPr>
        <p:spPr>
          <a:xfrm>
            <a:off x="2011680" y="26060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Power-Up</a:t>
            </a:r>
            <a:endParaRPr lang="en-US" sz="1400" dirty="0"/>
          </a:p>
        </p:txBody>
      </p:sp>
      <p:sp>
        <p:nvSpPr>
          <p:cNvPr id="17" name="Shape 14"/>
          <p:cNvSpPr/>
          <p:nvPr/>
        </p:nvSpPr>
        <p:spPr>
          <a:xfrm>
            <a:off x="3474720" y="2606040"/>
            <a:ext cx="1325880" cy="502920"/>
          </a:xfrm>
          <a:prstGeom prst="roundRect">
            <a:avLst>
              <a:gd name="adj" fmla="val 49091"/>
            </a:avLst>
          </a:prstGeom>
          <a:solidFill>
            <a:schemeClr val="tx1"/>
          </a:solidFill>
          <a:ln/>
        </p:spPr>
      </p:sp>
      <p:sp>
        <p:nvSpPr>
          <p:cNvPr id="18" name="Text 15"/>
          <p:cNvSpPr txBox="1"/>
          <p:nvPr/>
        </p:nvSpPr>
        <p:spPr>
          <a:xfrm>
            <a:off x="3474720" y="26060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Blip</a:t>
            </a:r>
            <a:endParaRPr lang="en-US" sz="1400" dirty="0"/>
          </a:p>
        </p:txBody>
      </p:sp>
      <p:sp>
        <p:nvSpPr>
          <p:cNvPr id="19" name="Shape 16"/>
          <p:cNvSpPr/>
          <p:nvPr/>
        </p:nvSpPr>
        <p:spPr>
          <a:xfrm>
            <a:off x="4937760" y="2606040"/>
            <a:ext cx="1325880" cy="502920"/>
          </a:xfrm>
          <a:prstGeom prst="roundRect">
            <a:avLst>
              <a:gd name="adj" fmla="val 49091"/>
            </a:avLst>
          </a:prstGeom>
          <a:solidFill>
            <a:schemeClr val="accent3"/>
          </a:solidFill>
          <a:ln/>
        </p:spPr>
      </p:sp>
      <p:sp>
        <p:nvSpPr>
          <p:cNvPr id="20" name="Text 17"/>
          <p:cNvSpPr txBox="1"/>
          <p:nvPr/>
        </p:nvSpPr>
        <p:spPr>
          <a:xfrm>
            <a:off x="4937760" y="2606040"/>
            <a:ext cx="1325880" cy="502920"/>
          </a:xfrm>
          <a:prstGeom prst="rect">
            <a:avLst/>
          </a:prstGeom>
          <a:noFill/>
          <a:ln/>
        </p:spPr>
        <p:txBody>
          <a:bodyPr wrap="square" lIns="0" tIns="0" rIns="0" bIns="0" rtlCol="0" anchor="ctr"/>
          <a:lstStyle/>
          <a:p>
            <a:pPr algn="ctr" indent="0" marL="0">
              <a:buNone/>
            </a:pPr>
            <a:r>
              <a:rPr lang="en-US" sz="1400" b="1" dirty="0">
                <a:solidFill>
                  <a:schemeClr val="tx1"/>
                </a:solidFill>
              </a:rPr>
              <a:t>Randomize</a:t>
            </a:r>
            <a:endParaRPr lang="en-US" sz="1400" dirty="0"/>
          </a:p>
        </p:txBody>
      </p:sp>
      <p:sp>
        <p:nvSpPr>
          <p:cNvPr id="21" name="Text 18"/>
          <p:cNvSpPr txBox="1"/>
          <p:nvPr/>
        </p:nvSpPr>
        <p:spPr>
          <a:xfrm>
            <a:off x="548640" y="342900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Controls</a:t>
            </a:r>
            <a:endParaRPr lang="en-US" sz="1800" dirty="0"/>
          </a:p>
        </p:txBody>
      </p:sp>
      <p:sp>
        <p:nvSpPr>
          <p:cNvPr id="22" name="Text 19"/>
          <p:cNvSpPr txBox="1"/>
          <p:nvPr/>
        </p:nvSpPr>
        <p:spPr>
          <a:xfrm>
            <a:off x="548640" y="3840480"/>
            <a:ext cx="566928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Waveform: square, sawtooth, triangle, noise</a:t>
            </a:r>
            <a:endParaRPr lang="en-US" sz="1600" dirty="0"/>
          </a:p>
          <a:p>
            <a:pPr marL="342900" indent="-342900">
              <a:spcAft>
                <a:spcPts val="600"/>
              </a:spcAft>
              <a:buSzPct val="100000"/>
              <a:buChar char="•"/>
            </a:pPr>
            <a:r>
              <a:rPr lang="en-US" sz="1600" dirty="0">
                <a:solidFill>
                  <a:schemeClr val="tx1"/>
                </a:solidFill>
              </a:rPr>
              <a:t>Pitch: start, slide (octaves/s), minimum, vibrato</a:t>
            </a:r>
            <a:endParaRPr lang="en-US" sz="1600" dirty="0"/>
          </a:p>
          <a:p>
            <a:pPr marL="342900" indent="-342900">
              <a:spcAft>
                <a:spcPts val="600"/>
              </a:spcAft>
              <a:buSzPct val="100000"/>
              <a:buChar char="•"/>
            </a:pPr>
            <a:r>
              <a:rPr lang="en-US" sz="1600" dirty="0">
                <a:solidFill>
                  <a:schemeClr val="tx1"/>
                </a:solidFill>
              </a:rPr>
              <a:t>Envelope: attack, sustain, decay, volume</a:t>
            </a:r>
            <a:endParaRPr lang="en-US" sz="1600" dirty="0"/>
          </a:p>
          <a:p>
            <a:pPr marL="342900" indent="-342900">
              <a:spcAft>
                <a:spcPts val="600"/>
              </a:spcAft>
              <a:buSzPct val="100000"/>
              <a:buChar char="•"/>
            </a:pPr>
            <a:r>
              <a:rPr lang="en-US" sz="1600" dirty="0">
                <a:solidFill>
                  <a:schemeClr val="tx1"/>
                </a:solidFill>
              </a:rPr>
              <a:t>Noise seed: same seed gives the identical sound</a:t>
            </a:r>
            <a:endParaRPr lang="en-US" sz="1600" dirty="0"/>
          </a:p>
        </p:txBody>
      </p:sp>
      <p:sp>
        <p:nvSpPr>
          <p:cNvPr id="23" name="card"/>
          <p:cNvSpPr/>
          <p:nvPr/>
        </p:nvSpPr>
        <p:spPr>
          <a:xfrm>
            <a:off x="6858000" y="1463040"/>
            <a:ext cx="4754880" cy="1325880"/>
          </a:xfrm>
          <a:prstGeom prst="roundRect">
            <a:avLst>
              <a:gd name="adj" fmla="val 5517"/>
            </a:avLst>
          </a:prstGeom>
          <a:solidFill>
            <a:schemeClr val="bg2"/>
          </a:solidFill>
          <a:ln/>
        </p:spPr>
      </p:sp>
      <p:sp>
        <p:nvSpPr>
          <p:cNvPr id="24" name="Text 21"/>
          <p:cNvSpPr txBox="1"/>
          <p:nvPr/>
        </p:nvSpPr>
        <p:spPr>
          <a:xfrm>
            <a:off x="7132320" y="1600200"/>
            <a:ext cx="429768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4</a:t>
            </a:r>
            <a:endParaRPr lang="en-US" sz="4000" dirty="0"/>
          </a:p>
        </p:txBody>
      </p:sp>
      <p:sp>
        <p:nvSpPr>
          <p:cNvPr id="25" name="Text 22"/>
          <p:cNvSpPr txBox="1"/>
          <p:nvPr/>
        </p:nvSpPr>
        <p:spPr>
          <a:xfrm>
            <a:off x="7132320" y="2331720"/>
            <a:ext cx="4297680" cy="365760"/>
          </a:xfrm>
          <a:prstGeom prst="rect">
            <a:avLst/>
          </a:prstGeom>
          <a:noFill/>
          <a:ln/>
        </p:spPr>
        <p:txBody>
          <a:bodyPr wrap="square" lIns="0" tIns="0" rIns="0" bIns="0" rtlCol="0" anchor="t"/>
          <a:lstStyle/>
          <a:p>
            <a:pPr indent="0" marL="0">
              <a:buNone/>
            </a:pPr>
            <a:r>
              <a:rPr lang="en-US" sz="1400" dirty="0">
                <a:solidFill>
                  <a:schemeClr val="accent5"/>
                </a:solidFill>
              </a:rPr>
              <a:t>waveforms</a:t>
            </a:r>
            <a:endParaRPr lang="en-US" sz="1400" dirty="0"/>
          </a:p>
        </p:txBody>
      </p:sp>
      <p:sp>
        <p:nvSpPr>
          <p:cNvPr id="26" name="card"/>
          <p:cNvSpPr/>
          <p:nvPr/>
        </p:nvSpPr>
        <p:spPr>
          <a:xfrm>
            <a:off x="6858000" y="2971800"/>
            <a:ext cx="4754880" cy="1325880"/>
          </a:xfrm>
          <a:prstGeom prst="roundRect">
            <a:avLst>
              <a:gd name="adj" fmla="val 5517"/>
            </a:avLst>
          </a:prstGeom>
          <a:solidFill>
            <a:schemeClr val="bg2"/>
          </a:solidFill>
          <a:ln/>
        </p:spPr>
      </p:sp>
      <p:sp>
        <p:nvSpPr>
          <p:cNvPr id="27" name="Text 24"/>
          <p:cNvSpPr txBox="1"/>
          <p:nvPr/>
        </p:nvSpPr>
        <p:spPr>
          <a:xfrm>
            <a:off x="7132320" y="3108960"/>
            <a:ext cx="429768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44.1 kHz</a:t>
            </a:r>
            <a:endParaRPr lang="en-US" sz="4000" dirty="0"/>
          </a:p>
        </p:txBody>
      </p:sp>
      <p:sp>
        <p:nvSpPr>
          <p:cNvPr id="28" name="Text 25"/>
          <p:cNvSpPr txBox="1"/>
          <p:nvPr/>
        </p:nvSpPr>
        <p:spPr>
          <a:xfrm>
            <a:off x="7132320" y="3840480"/>
            <a:ext cx="4297680" cy="365760"/>
          </a:xfrm>
          <a:prstGeom prst="rect">
            <a:avLst/>
          </a:prstGeom>
          <a:noFill/>
          <a:ln/>
        </p:spPr>
        <p:txBody>
          <a:bodyPr wrap="square" lIns="0" tIns="0" rIns="0" bIns="0" rtlCol="0" anchor="t"/>
          <a:lstStyle/>
          <a:p>
            <a:pPr indent="0" marL="0">
              <a:buNone/>
            </a:pPr>
            <a:r>
              <a:rPr lang="en-US" sz="1400" dirty="0">
                <a:solidFill>
                  <a:schemeClr val="accent5"/>
                </a:solidFill>
              </a:rPr>
              <a:t>16-bit mono PCM</a:t>
            </a:r>
            <a:endParaRPr lang="en-US" sz="1400" dirty="0"/>
          </a:p>
        </p:txBody>
      </p:sp>
      <p:sp>
        <p:nvSpPr>
          <p:cNvPr id="29" name="card"/>
          <p:cNvSpPr/>
          <p:nvPr/>
        </p:nvSpPr>
        <p:spPr>
          <a:xfrm>
            <a:off x="6858000" y="4480560"/>
            <a:ext cx="4754880" cy="1325880"/>
          </a:xfrm>
          <a:prstGeom prst="roundRect">
            <a:avLst>
              <a:gd name="adj" fmla="val 5517"/>
            </a:avLst>
          </a:prstGeom>
          <a:solidFill>
            <a:schemeClr val="bg2"/>
          </a:solidFill>
          <a:ln/>
        </p:spPr>
      </p:sp>
      <p:sp>
        <p:nvSpPr>
          <p:cNvPr id="30" name="Text 27"/>
          <p:cNvSpPr txBox="1"/>
          <p:nvPr/>
        </p:nvSpPr>
        <p:spPr>
          <a:xfrm>
            <a:off x="7132320" y="4617720"/>
            <a:ext cx="429768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 5 s</a:t>
            </a:r>
            <a:endParaRPr lang="en-US" sz="4000" dirty="0"/>
          </a:p>
        </p:txBody>
      </p:sp>
      <p:sp>
        <p:nvSpPr>
          <p:cNvPr id="31" name="Text 28"/>
          <p:cNvSpPr txBox="1"/>
          <p:nvPr/>
        </p:nvSpPr>
        <p:spPr>
          <a:xfrm>
            <a:off x="7132320" y="5349240"/>
            <a:ext cx="4297680" cy="365760"/>
          </a:xfrm>
          <a:prstGeom prst="rect">
            <a:avLst/>
          </a:prstGeom>
          <a:noFill/>
          <a:ln/>
        </p:spPr>
        <p:txBody>
          <a:bodyPr wrap="square" lIns="0" tIns="0" rIns="0" bIns="0" rtlCol="0" anchor="t"/>
          <a:lstStyle/>
          <a:p>
            <a:pPr indent="0" marL="0">
              <a:buNone/>
            </a:pPr>
            <a:r>
              <a:rPr lang="en-US" sz="1400" dirty="0">
                <a:solidFill>
                  <a:schemeClr val="accent5"/>
                </a:solidFill>
              </a:rPr>
              <a:t>220,500 samples max</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Three layers, and only the bottom one makes sound</a:t>
            </a:r>
            <a:endParaRPr lang="en-US" sz="2800" dirty="0"/>
          </a:p>
        </p:txBody>
      </p:sp>
      <p:sp>
        <p:nvSpPr>
          <p:cNvPr id="4" name="card"/>
          <p:cNvSpPr/>
          <p:nvPr/>
        </p:nvSpPr>
        <p:spPr>
          <a:xfrm>
            <a:off x="548640" y="1508760"/>
            <a:ext cx="3291840" cy="2011680"/>
          </a:xfrm>
          <a:prstGeom prst="roundRect">
            <a:avLst>
              <a:gd name="adj" fmla="val 3636"/>
            </a:avLst>
          </a:prstGeom>
          <a:solidFill>
            <a:schemeClr val="bg2"/>
          </a:solidFill>
          <a:ln/>
        </p:spPr>
      </p:sp>
      <p:sp>
        <p:nvSpPr>
          <p:cNvPr id="5" name="Text 2"/>
          <p:cNvSpPr txBox="1"/>
          <p:nvPr/>
        </p:nvSpPr>
        <p:spPr>
          <a:xfrm>
            <a:off x="822960" y="1691640"/>
            <a:ext cx="27432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GUI</a:t>
            </a:r>
            <a:endParaRPr lang="en-US" sz="2200" dirty="0"/>
          </a:p>
        </p:txBody>
      </p:sp>
      <p:sp>
        <p:nvSpPr>
          <p:cNvPr id="6" name="Text 3"/>
          <p:cNvSpPr txBox="1"/>
          <p:nvPr/>
        </p:nvSpPr>
        <p:spPr>
          <a:xfrm>
            <a:off x="822960" y="2148840"/>
            <a:ext cx="2743200" cy="320040"/>
          </a:xfrm>
          <a:prstGeom prst="rect">
            <a:avLst/>
          </a:prstGeom>
          <a:noFill/>
          <a:ln/>
        </p:spPr>
        <p:txBody>
          <a:bodyPr wrap="square" lIns="0" tIns="0" rIns="0" bIns="0" rtlCol="0" anchor="t"/>
          <a:lstStyle/>
          <a:p>
            <a:pPr indent="0" marL="0">
              <a:buNone/>
            </a:pPr>
            <a:r>
              <a:rPr lang="en-US" sz="1400" b="1" dirty="0">
                <a:solidFill>
                  <a:schemeClr val="accent1"/>
                </a:solidFill>
              </a:rPr>
              <a:t>Python + Tkinter</a:t>
            </a:r>
            <a:endParaRPr lang="en-US" sz="1400" dirty="0"/>
          </a:p>
        </p:txBody>
      </p:sp>
      <p:sp>
        <p:nvSpPr>
          <p:cNvPr id="7" name="Text 4"/>
          <p:cNvSpPr txBox="1"/>
          <p:nvPr/>
        </p:nvSpPr>
        <p:spPr>
          <a:xfrm>
            <a:off x="822960" y="2560320"/>
            <a:ext cx="2743200" cy="868680"/>
          </a:xfrm>
          <a:prstGeom prst="rect">
            <a:avLst/>
          </a:prstGeom>
          <a:noFill/>
          <a:ln/>
        </p:spPr>
        <p:txBody>
          <a:bodyPr wrap="square" lIns="0" tIns="0" rIns="0" bIns="0" rtlCol="0" anchor="t"/>
          <a:lstStyle/>
          <a:p>
            <a:pPr indent="0" marL="0">
              <a:buNone/>
            </a:pPr>
            <a:r>
              <a:rPr lang="en-US" sz="1400" dirty="0">
                <a:solidFill>
                  <a:schemeClr val="tx1"/>
                </a:solidFill>
              </a:rPr>
              <a:t>Sliders, presets, waveform view, Play, Save WAV</a:t>
            </a:r>
            <a:endParaRPr lang="en-US" sz="1400" dirty="0"/>
          </a:p>
        </p:txBody>
      </p:sp>
      <p:sp>
        <p:nvSpPr>
          <p:cNvPr id="8" name="Shape 5"/>
          <p:cNvSpPr/>
          <p:nvPr/>
        </p:nvSpPr>
        <p:spPr>
          <a:xfrm>
            <a:off x="3886200" y="2514600"/>
            <a:ext cx="548640" cy="0"/>
          </a:xfrm>
          <a:prstGeom prst="line">
            <a:avLst/>
          </a:prstGeom>
          <a:noFill/>
          <a:ln w="25400">
            <a:solidFill>
              <a:schemeClr val="accent5"/>
            </a:solidFill>
            <a:prstDash val="solid"/>
            <a:tailEnd type="triangle"/>
          </a:ln>
        </p:spPr>
      </p:sp>
      <p:sp>
        <p:nvSpPr>
          <p:cNvPr id="9" name="card"/>
          <p:cNvSpPr/>
          <p:nvPr/>
        </p:nvSpPr>
        <p:spPr>
          <a:xfrm>
            <a:off x="4480560" y="1508760"/>
            <a:ext cx="3291840" cy="2011680"/>
          </a:xfrm>
          <a:prstGeom prst="roundRect">
            <a:avLst>
              <a:gd name="adj" fmla="val 3636"/>
            </a:avLst>
          </a:prstGeom>
          <a:solidFill>
            <a:schemeClr val="bg2"/>
          </a:solidFill>
          <a:ln/>
        </p:spPr>
      </p:sp>
      <p:sp>
        <p:nvSpPr>
          <p:cNvPr id="10" name="Text 7"/>
          <p:cNvSpPr txBox="1"/>
          <p:nvPr/>
        </p:nvSpPr>
        <p:spPr>
          <a:xfrm>
            <a:off x="4754880" y="1691640"/>
            <a:ext cx="27432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Binding</a:t>
            </a:r>
            <a:endParaRPr lang="en-US" sz="2200" dirty="0"/>
          </a:p>
        </p:txBody>
      </p:sp>
      <p:sp>
        <p:nvSpPr>
          <p:cNvPr id="11" name="Text 8"/>
          <p:cNvSpPr txBox="1"/>
          <p:nvPr/>
        </p:nvSpPr>
        <p:spPr>
          <a:xfrm>
            <a:off x="4754880" y="2148840"/>
            <a:ext cx="2743200" cy="320040"/>
          </a:xfrm>
          <a:prstGeom prst="rect">
            <a:avLst/>
          </a:prstGeom>
          <a:noFill/>
          <a:ln/>
        </p:spPr>
        <p:txBody>
          <a:bodyPr wrap="square" lIns="0" tIns="0" rIns="0" bIns="0" rtlCol="0" anchor="t"/>
          <a:lstStyle/>
          <a:p>
            <a:pPr indent="0" marL="0">
              <a:buNone/>
            </a:pPr>
            <a:r>
              <a:rPr lang="en-US" sz="1400" b="1" dirty="0">
                <a:solidFill>
                  <a:schemeClr val="accent1"/>
                </a:solidFill>
              </a:rPr>
              <a:t>Python ctypes</a:t>
            </a:r>
            <a:endParaRPr lang="en-US" sz="1400" dirty="0"/>
          </a:p>
        </p:txBody>
      </p:sp>
      <p:sp>
        <p:nvSpPr>
          <p:cNvPr id="12" name="Text 9"/>
          <p:cNvSpPr txBox="1"/>
          <p:nvPr/>
        </p:nvSpPr>
        <p:spPr>
          <a:xfrm>
            <a:off x="4754880" y="2560320"/>
            <a:ext cx="2743200" cy="868680"/>
          </a:xfrm>
          <a:prstGeom prst="rect">
            <a:avLst/>
          </a:prstGeom>
          <a:noFill/>
          <a:ln/>
        </p:spPr>
        <p:txBody>
          <a:bodyPr wrap="square" lIns="0" tIns="0" rIns="0" bIns="0" rtlCol="0" anchor="t"/>
          <a:lstStyle/>
          <a:p>
            <a:pPr indent="0" marL="0">
              <a:buNone/>
            </a:pPr>
            <a:r>
              <a:rPr lang="en-US" sz="1400" dirty="0">
                <a:solidFill>
                  <a:schemeClr val="tx1"/>
                </a:solidFill>
              </a:rPr>
              <a:t>Fills the 44-byte struct, allocates buffers, turns 0 into an error</a:t>
            </a:r>
            <a:endParaRPr lang="en-US" sz="1400" dirty="0"/>
          </a:p>
        </p:txBody>
      </p:sp>
      <p:sp>
        <p:nvSpPr>
          <p:cNvPr id="13" name="Shape 10"/>
          <p:cNvSpPr/>
          <p:nvPr/>
        </p:nvSpPr>
        <p:spPr>
          <a:xfrm>
            <a:off x="7818120" y="2514600"/>
            <a:ext cx="548640" cy="0"/>
          </a:xfrm>
          <a:prstGeom prst="line">
            <a:avLst/>
          </a:prstGeom>
          <a:noFill/>
          <a:ln w="25400">
            <a:solidFill>
              <a:schemeClr val="accent5"/>
            </a:solidFill>
            <a:prstDash val="solid"/>
            <a:tailEnd type="triangle"/>
          </a:ln>
        </p:spPr>
      </p:sp>
      <p:sp>
        <p:nvSpPr>
          <p:cNvPr id="14" name="card"/>
          <p:cNvSpPr/>
          <p:nvPr/>
        </p:nvSpPr>
        <p:spPr>
          <a:xfrm>
            <a:off x="8412480" y="1508760"/>
            <a:ext cx="3291840" cy="2011680"/>
          </a:xfrm>
          <a:prstGeom prst="roundRect">
            <a:avLst>
              <a:gd name="adj" fmla="val 3636"/>
            </a:avLst>
          </a:prstGeom>
          <a:solidFill>
            <a:schemeClr val="tx1"/>
          </a:solidFill>
          <a:ln/>
        </p:spPr>
      </p:sp>
      <p:sp>
        <p:nvSpPr>
          <p:cNvPr id="15" name="Text 12"/>
          <p:cNvSpPr txBox="1"/>
          <p:nvPr/>
        </p:nvSpPr>
        <p:spPr>
          <a:xfrm>
            <a:off x="8686800" y="1691640"/>
            <a:ext cx="274320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Engine  sfx.dll</a:t>
            </a:r>
            <a:endParaRPr lang="en-US" sz="2200" dirty="0"/>
          </a:p>
        </p:txBody>
      </p:sp>
      <p:sp>
        <p:nvSpPr>
          <p:cNvPr id="16" name="Text 13"/>
          <p:cNvSpPr txBox="1"/>
          <p:nvPr/>
        </p:nvSpPr>
        <p:spPr>
          <a:xfrm>
            <a:off x="8686800" y="2148840"/>
            <a:ext cx="2743200" cy="320040"/>
          </a:xfrm>
          <a:prstGeom prst="rect">
            <a:avLst/>
          </a:prstGeom>
          <a:noFill/>
          <a:ln/>
        </p:spPr>
        <p:txBody>
          <a:bodyPr wrap="square" lIns="0" tIns="0" rIns="0" bIns="0" rtlCol="0" anchor="t"/>
          <a:lstStyle/>
          <a:p>
            <a:pPr indent="0" marL="0">
              <a:buNone/>
            </a:pPr>
            <a:r>
              <a:rPr lang="en-US" sz="1400" b="1" dirty="0">
                <a:solidFill>
                  <a:schemeClr val="accent2"/>
                </a:solidFill>
              </a:rPr>
              <a:t>NASM x86-64 Assembly</a:t>
            </a:r>
            <a:endParaRPr lang="en-US" sz="1400" dirty="0"/>
          </a:p>
        </p:txBody>
      </p:sp>
      <p:sp>
        <p:nvSpPr>
          <p:cNvPr id="17" name="Text 14"/>
          <p:cNvSpPr txBox="1"/>
          <p:nvPr/>
        </p:nvSpPr>
        <p:spPr>
          <a:xfrm>
            <a:off x="8686800" y="2560320"/>
            <a:ext cx="2743200" cy="868680"/>
          </a:xfrm>
          <a:prstGeom prst="rect">
            <a:avLst/>
          </a:prstGeom>
          <a:noFill/>
          <a:ln/>
        </p:spPr>
        <p:txBody>
          <a:bodyPr wrap="square" lIns="0" tIns="0" rIns="0" bIns="0" rtlCol="0" anchor="t"/>
          <a:lstStyle/>
          <a:p>
            <a:pPr indent="0" marL="0">
              <a:buNone/>
            </a:pPr>
            <a:r>
              <a:rPr lang="en-US" sz="1400" dirty="0">
                <a:solidFill>
                  <a:schemeClr val="bg1"/>
                </a:solidFill>
              </a:rPr>
              <a:t>Computes every sample and builds the WAV bytes</a:t>
            </a:r>
            <a:endParaRPr lang="en-US" sz="1400" dirty="0"/>
          </a:p>
        </p:txBody>
      </p:sp>
      <p:sp>
        <p:nvSpPr>
          <p:cNvPr id="18" name="Text 15"/>
          <p:cNvSpPr txBox="1"/>
          <p:nvPr/>
        </p:nvSpPr>
        <p:spPr>
          <a:xfrm>
            <a:off x="548640" y="388620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One regeneration, step by step</a:t>
            </a:r>
            <a:endParaRPr lang="en-US" sz="1800" dirty="0"/>
          </a:p>
        </p:txBody>
      </p:sp>
      <p:sp>
        <p:nvSpPr>
          <p:cNvPr id="19" name="Shape 16"/>
          <p:cNvSpPr/>
          <p:nvPr/>
        </p:nvSpPr>
        <p:spPr>
          <a:xfrm>
            <a:off x="548640" y="4434840"/>
            <a:ext cx="457200" cy="457200"/>
          </a:xfrm>
          <a:prstGeom prst="ellipse">
            <a:avLst/>
          </a:prstGeom>
          <a:solidFill>
            <a:schemeClr val="accent1"/>
          </a:solidFill>
          <a:ln/>
        </p:spPr>
      </p:sp>
      <p:sp>
        <p:nvSpPr>
          <p:cNvPr id="20" name="Text 17"/>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8"/>
          <p:cNvSpPr txBox="1"/>
          <p:nvPr/>
        </p:nvSpPr>
        <p:spPr>
          <a:xfrm>
            <a:off x="1097280" y="4434840"/>
            <a:ext cx="164592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sfx_sample_count</a:t>
            </a:r>
            <a:endParaRPr lang="en-US" sz="1300" dirty="0"/>
          </a:p>
        </p:txBody>
      </p:sp>
      <p:sp>
        <p:nvSpPr>
          <p:cNvPr id="22" name="Shape 19"/>
          <p:cNvSpPr/>
          <p:nvPr/>
        </p:nvSpPr>
        <p:spPr>
          <a:xfrm>
            <a:off x="2816352" y="4434840"/>
            <a:ext cx="457200" cy="457200"/>
          </a:xfrm>
          <a:prstGeom prst="ellipse">
            <a:avLst/>
          </a:prstGeom>
          <a:solidFill>
            <a:schemeClr val="accent5"/>
          </a:solidFill>
          <a:ln/>
        </p:spPr>
      </p:sp>
      <p:sp>
        <p:nvSpPr>
          <p:cNvPr id="23" name="Text 20"/>
          <p:cNvSpPr txBox="1"/>
          <p:nvPr/>
        </p:nvSpPr>
        <p:spPr>
          <a:xfrm>
            <a:off x="2816352"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4" name="Text 21"/>
          <p:cNvSpPr txBox="1"/>
          <p:nvPr/>
        </p:nvSpPr>
        <p:spPr>
          <a:xfrm>
            <a:off x="3364992" y="4434840"/>
            <a:ext cx="1645920" cy="457200"/>
          </a:xfrm>
          <a:prstGeom prst="rect">
            <a:avLst/>
          </a:prstGeom>
          <a:noFill/>
          <a:ln/>
        </p:spPr>
        <p:txBody>
          <a:bodyPr wrap="square" lIns="0" tIns="0" rIns="0" bIns="0" rtlCol="0" anchor="ctr"/>
          <a:lstStyle/>
          <a:p>
            <a:pPr indent="0" marL="0">
              <a:buNone/>
            </a:pPr>
            <a:r>
              <a:rPr lang="en-US" sz="1300" b="1" dirty="0">
                <a:solidFill>
                  <a:schemeClr val="tx1"/>
                </a:solidFill>
              </a:rPr>
              <a:t>allocate buffer</a:t>
            </a:r>
            <a:endParaRPr lang="en-US" sz="1300" dirty="0"/>
          </a:p>
        </p:txBody>
      </p:sp>
      <p:sp>
        <p:nvSpPr>
          <p:cNvPr id="25" name="Shape 22"/>
          <p:cNvSpPr/>
          <p:nvPr/>
        </p:nvSpPr>
        <p:spPr>
          <a:xfrm>
            <a:off x="5084064" y="4434840"/>
            <a:ext cx="457200" cy="457200"/>
          </a:xfrm>
          <a:prstGeom prst="ellipse">
            <a:avLst/>
          </a:prstGeom>
          <a:solidFill>
            <a:schemeClr val="accent1"/>
          </a:solidFill>
          <a:ln/>
        </p:spPr>
      </p:sp>
      <p:sp>
        <p:nvSpPr>
          <p:cNvPr id="26" name="Text 23"/>
          <p:cNvSpPr txBox="1"/>
          <p:nvPr/>
        </p:nvSpPr>
        <p:spPr>
          <a:xfrm>
            <a:off x="5084064"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7" name="Text 24"/>
          <p:cNvSpPr txBox="1"/>
          <p:nvPr/>
        </p:nvSpPr>
        <p:spPr>
          <a:xfrm>
            <a:off x="5632704" y="4434840"/>
            <a:ext cx="164592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sfx_generate</a:t>
            </a:r>
            <a:endParaRPr lang="en-US" sz="1300" dirty="0"/>
          </a:p>
        </p:txBody>
      </p:sp>
      <p:sp>
        <p:nvSpPr>
          <p:cNvPr id="28" name="Shape 25"/>
          <p:cNvSpPr/>
          <p:nvPr/>
        </p:nvSpPr>
        <p:spPr>
          <a:xfrm>
            <a:off x="7351776" y="4434840"/>
            <a:ext cx="457200" cy="457200"/>
          </a:xfrm>
          <a:prstGeom prst="ellipse">
            <a:avLst/>
          </a:prstGeom>
          <a:solidFill>
            <a:schemeClr val="accent1"/>
          </a:solidFill>
          <a:ln/>
        </p:spPr>
      </p:sp>
      <p:sp>
        <p:nvSpPr>
          <p:cNvPr id="29" name="Text 26"/>
          <p:cNvSpPr txBox="1"/>
          <p:nvPr/>
        </p:nvSpPr>
        <p:spPr>
          <a:xfrm>
            <a:off x="7351776"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Text 27"/>
          <p:cNvSpPr txBox="1"/>
          <p:nvPr/>
        </p:nvSpPr>
        <p:spPr>
          <a:xfrm>
            <a:off x="7900416" y="4434840"/>
            <a:ext cx="164592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sfx_write_wav</a:t>
            </a:r>
            <a:endParaRPr lang="en-US" sz="1300" dirty="0"/>
          </a:p>
        </p:txBody>
      </p:sp>
      <p:sp>
        <p:nvSpPr>
          <p:cNvPr id="31" name="Shape 28"/>
          <p:cNvSpPr/>
          <p:nvPr/>
        </p:nvSpPr>
        <p:spPr>
          <a:xfrm>
            <a:off x="9619488" y="4434840"/>
            <a:ext cx="457200" cy="457200"/>
          </a:xfrm>
          <a:prstGeom prst="ellipse">
            <a:avLst/>
          </a:prstGeom>
          <a:solidFill>
            <a:schemeClr val="accent5"/>
          </a:solidFill>
          <a:ln/>
        </p:spPr>
      </p:sp>
      <p:sp>
        <p:nvSpPr>
          <p:cNvPr id="32" name="Text 29"/>
          <p:cNvSpPr txBox="1"/>
          <p:nvPr/>
        </p:nvSpPr>
        <p:spPr>
          <a:xfrm>
            <a:off x="9619488"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3" name="Text 30"/>
          <p:cNvSpPr txBox="1"/>
          <p:nvPr/>
        </p:nvSpPr>
        <p:spPr>
          <a:xfrm>
            <a:off x="10168128" y="4434840"/>
            <a:ext cx="1645920" cy="457200"/>
          </a:xfrm>
          <a:prstGeom prst="rect">
            <a:avLst/>
          </a:prstGeom>
          <a:noFill/>
          <a:ln/>
        </p:spPr>
        <p:txBody>
          <a:bodyPr wrap="square" lIns="0" tIns="0" rIns="0" bIns="0" rtlCol="0" anchor="ctr"/>
          <a:lstStyle/>
          <a:p>
            <a:pPr indent="0" marL="0">
              <a:buNone/>
            </a:pPr>
            <a:r>
              <a:rPr lang="en-US" sz="1300" b="1" dirty="0">
                <a:solidFill>
                  <a:schemeClr val="tx1"/>
                </a:solidFill>
              </a:rPr>
              <a:t>draw · play · save</a:t>
            </a:r>
            <a:endParaRPr lang="en-US" sz="1300" dirty="0"/>
          </a:p>
        </p:txBody>
      </p:sp>
      <p:sp>
        <p:nvSpPr>
          <p:cNvPr id="34" name="card"/>
          <p:cNvSpPr/>
          <p:nvPr/>
        </p:nvSpPr>
        <p:spPr>
          <a:xfrm>
            <a:off x="548640" y="5257800"/>
            <a:ext cx="11064240" cy="868680"/>
          </a:xfrm>
          <a:prstGeom prst="roundRect">
            <a:avLst>
              <a:gd name="adj" fmla="val 8421"/>
            </a:avLst>
          </a:prstGeom>
          <a:solidFill>
            <a:schemeClr val="bg2"/>
          </a:solidFill>
          <a:ln/>
        </p:spPr>
      </p:sp>
      <p:sp>
        <p:nvSpPr>
          <p:cNvPr id="35" name="Text 32"/>
          <p:cNvSpPr txBox="1"/>
          <p:nvPr/>
        </p:nvSpPr>
        <p:spPr>
          <a:xfrm>
            <a:off x="822960" y="5257800"/>
            <a:ext cx="10515600" cy="868680"/>
          </a:xfrm>
          <a:prstGeom prst="rect">
            <a:avLst/>
          </a:prstGeom>
          <a:noFill/>
          <a:ln/>
        </p:spPr>
        <p:txBody>
          <a:bodyPr wrap="square" lIns="0" tIns="0" rIns="0" bIns="0" rtlCol="0" anchor="ctr"/>
          <a:lstStyle/>
          <a:p>
            <a:pPr indent="0" marL="0">
              <a:buNone/>
            </a:pPr>
            <a:r>
              <a:rPr lang="en-US" sz="1500" b="1" dirty="0">
                <a:solidFill>
                  <a:schemeClr val="tx1"/>
                </a:solidFill>
              </a:rPr>
              <a:t>Also built: </a:t>
            </a:r>
            <a:pPr indent="0" marL="0">
              <a:buNone/>
            </a:pPr>
            <a:r>
              <a:rPr lang="en-US" sz="1500" dirty="0">
                <a:solidFill>
                  <a:schemeClr val="tx1"/>
                </a:solidFill>
              </a:rPr>
              <a:t>ref/sfx_ref.c, the same algorithm in C. The app never uses it; it is the answer key for tests and the speed baseline.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A 44-byte struct is the contract between Python and Assembly</a:t>
            </a:r>
            <a:endParaRPr lang="en-US" sz="2800" dirty="0"/>
          </a:p>
        </p:txBody>
      </p:sp>
      <p:sp>
        <p:nvSpPr>
          <p:cNvPr id="4" name="Shape 1"/>
          <p:cNvSpPr/>
          <p:nvPr/>
        </p:nvSpPr>
        <p:spPr>
          <a:xfrm>
            <a:off x="548640" y="1600200"/>
            <a:ext cx="950976" cy="1737360"/>
          </a:xfrm>
          <a:prstGeom prst="rect">
            <a:avLst/>
          </a:prstGeom>
          <a:solidFill>
            <a:schemeClr val="accent3"/>
          </a:solidFill>
          <a:ln/>
        </p:spPr>
      </p:sp>
      <p:sp>
        <p:nvSpPr>
          <p:cNvPr id="5" name="Text 2"/>
          <p:cNvSpPr txBox="1"/>
          <p:nvPr/>
        </p:nvSpPr>
        <p:spPr>
          <a:xfrm>
            <a:off x="621792" y="1691640"/>
            <a:ext cx="822960"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+0</a:t>
            </a:r>
            <a:endParaRPr lang="en-US" sz="1200" dirty="0"/>
          </a:p>
        </p:txBody>
      </p:sp>
      <p:sp>
        <p:nvSpPr>
          <p:cNvPr id="6" name="Text 3"/>
          <p:cNvSpPr txBox="1"/>
          <p:nvPr/>
        </p:nvSpPr>
        <p:spPr>
          <a:xfrm>
            <a:off x="594360" y="2057400"/>
            <a:ext cx="914400" cy="54864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waveform</a:t>
            </a:r>
            <a:endParaRPr lang="en-US" sz="1100" dirty="0"/>
          </a:p>
        </p:txBody>
      </p:sp>
      <p:sp>
        <p:nvSpPr>
          <p:cNvPr id="7" name="Text 4"/>
          <p:cNvSpPr txBox="1"/>
          <p:nvPr/>
        </p:nvSpPr>
        <p:spPr>
          <a:xfrm>
            <a:off x="621792" y="2697480"/>
            <a:ext cx="822960" cy="548640"/>
          </a:xfrm>
          <a:prstGeom prst="rect">
            <a:avLst/>
          </a:prstGeom>
          <a:noFill/>
          <a:ln/>
        </p:spPr>
        <p:txBody>
          <a:bodyPr wrap="square" lIns="0" tIns="0" rIns="0" bIns="0" rtlCol="0" anchor="t"/>
          <a:lstStyle/>
          <a:p>
            <a:pPr indent="0" marL="0">
              <a:buNone/>
            </a:pPr>
            <a:r>
              <a:rPr lang="en-US" sz="1100" dirty="0">
                <a:solidFill>
                  <a:schemeClr val="tx1"/>
                </a:solidFill>
              </a:rPr>
              <a:t>0–3</a:t>
            </a:r>
            <a:endParaRPr lang="en-US" sz="1100" dirty="0"/>
          </a:p>
        </p:txBody>
      </p:sp>
      <p:sp>
        <p:nvSpPr>
          <p:cNvPr id="8" name="Shape 5"/>
          <p:cNvSpPr/>
          <p:nvPr/>
        </p:nvSpPr>
        <p:spPr>
          <a:xfrm>
            <a:off x="1554480" y="1600200"/>
            <a:ext cx="950976" cy="1737360"/>
          </a:xfrm>
          <a:prstGeom prst="rect">
            <a:avLst/>
          </a:prstGeom>
          <a:solidFill>
            <a:schemeClr val="tx1"/>
          </a:solidFill>
          <a:ln/>
        </p:spPr>
      </p:sp>
      <p:sp>
        <p:nvSpPr>
          <p:cNvPr id="9" name="Text 6"/>
          <p:cNvSpPr txBox="1"/>
          <p:nvPr/>
        </p:nvSpPr>
        <p:spPr>
          <a:xfrm>
            <a:off x="162763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+4</a:t>
            </a:r>
            <a:endParaRPr lang="en-US" sz="1200" dirty="0"/>
          </a:p>
        </p:txBody>
      </p:sp>
      <p:sp>
        <p:nvSpPr>
          <p:cNvPr id="10" name="Text 7"/>
          <p:cNvSpPr txBox="1"/>
          <p:nvPr/>
        </p:nvSpPr>
        <p:spPr>
          <a:xfrm>
            <a:off x="160020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base_freq</a:t>
            </a:r>
            <a:endParaRPr lang="en-US" sz="1100" dirty="0"/>
          </a:p>
        </p:txBody>
      </p:sp>
      <p:sp>
        <p:nvSpPr>
          <p:cNvPr id="11" name="Text 8"/>
          <p:cNvSpPr txBox="1"/>
          <p:nvPr/>
        </p:nvSpPr>
        <p:spPr>
          <a:xfrm>
            <a:off x="162763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20–4000 Hz</a:t>
            </a:r>
            <a:endParaRPr lang="en-US" sz="1100" dirty="0"/>
          </a:p>
        </p:txBody>
      </p:sp>
      <p:sp>
        <p:nvSpPr>
          <p:cNvPr id="12" name="Shape 9"/>
          <p:cNvSpPr/>
          <p:nvPr/>
        </p:nvSpPr>
        <p:spPr>
          <a:xfrm>
            <a:off x="2560320" y="1600200"/>
            <a:ext cx="950976" cy="1737360"/>
          </a:xfrm>
          <a:prstGeom prst="rect">
            <a:avLst/>
          </a:prstGeom>
          <a:solidFill>
            <a:schemeClr val="tx1"/>
          </a:solidFill>
          <a:ln/>
        </p:spPr>
      </p:sp>
      <p:sp>
        <p:nvSpPr>
          <p:cNvPr id="13" name="Text 10"/>
          <p:cNvSpPr txBox="1"/>
          <p:nvPr/>
        </p:nvSpPr>
        <p:spPr>
          <a:xfrm>
            <a:off x="263347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+8</a:t>
            </a:r>
            <a:endParaRPr lang="en-US" sz="1200" dirty="0"/>
          </a:p>
        </p:txBody>
      </p:sp>
      <p:sp>
        <p:nvSpPr>
          <p:cNvPr id="14" name="Text 11"/>
          <p:cNvSpPr txBox="1"/>
          <p:nvPr/>
        </p:nvSpPr>
        <p:spPr>
          <a:xfrm>
            <a:off x="260604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slide</a:t>
            </a:r>
            <a:endParaRPr lang="en-US" sz="1100" dirty="0"/>
          </a:p>
        </p:txBody>
      </p:sp>
      <p:sp>
        <p:nvSpPr>
          <p:cNvPr id="15" name="Text 12"/>
          <p:cNvSpPr txBox="1"/>
          <p:nvPr/>
        </p:nvSpPr>
        <p:spPr>
          <a:xfrm>
            <a:off x="263347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±4 oct/s</a:t>
            </a:r>
            <a:endParaRPr lang="en-US" sz="1100" dirty="0"/>
          </a:p>
        </p:txBody>
      </p:sp>
      <p:sp>
        <p:nvSpPr>
          <p:cNvPr id="16" name="Shape 13"/>
          <p:cNvSpPr/>
          <p:nvPr/>
        </p:nvSpPr>
        <p:spPr>
          <a:xfrm>
            <a:off x="3566160" y="1600200"/>
            <a:ext cx="950976" cy="1737360"/>
          </a:xfrm>
          <a:prstGeom prst="rect">
            <a:avLst/>
          </a:prstGeom>
          <a:solidFill>
            <a:schemeClr val="tx1"/>
          </a:solidFill>
          <a:ln/>
        </p:spPr>
      </p:sp>
      <p:sp>
        <p:nvSpPr>
          <p:cNvPr id="17" name="Text 14"/>
          <p:cNvSpPr txBox="1"/>
          <p:nvPr/>
        </p:nvSpPr>
        <p:spPr>
          <a:xfrm>
            <a:off x="363931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+12</a:t>
            </a:r>
            <a:endParaRPr lang="en-US" sz="1200" dirty="0"/>
          </a:p>
        </p:txBody>
      </p:sp>
      <p:sp>
        <p:nvSpPr>
          <p:cNvPr id="18" name="Text 15"/>
          <p:cNvSpPr txBox="1"/>
          <p:nvPr/>
        </p:nvSpPr>
        <p:spPr>
          <a:xfrm>
            <a:off x="361188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min_freq</a:t>
            </a:r>
            <a:endParaRPr lang="en-US" sz="1100" dirty="0"/>
          </a:p>
        </p:txBody>
      </p:sp>
      <p:sp>
        <p:nvSpPr>
          <p:cNvPr id="19" name="Text 16"/>
          <p:cNvSpPr txBox="1"/>
          <p:nvPr/>
        </p:nvSpPr>
        <p:spPr>
          <a:xfrm>
            <a:off x="363931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20–1000 Hz</a:t>
            </a:r>
            <a:endParaRPr lang="en-US" sz="1100" dirty="0"/>
          </a:p>
        </p:txBody>
      </p:sp>
      <p:sp>
        <p:nvSpPr>
          <p:cNvPr id="20" name="Shape 17"/>
          <p:cNvSpPr/>
          <p:nvPr/>
        </p:nvSpPr>
        <p:spPr>
          <a:xfrm>
            <a:off x="4572000" y="1600200"/>
            <a:ext cx="950976" cy="1737360"/>
          </a:xfrm>
          <a:prstGeom prst="rect">
            <a:avLst/>
          </a:prstGeom>
          <a:solidFill>
            <a:schemeClr val="tx1"/>
          </a:solidFill>
          <a:ln/>
        </p:spPr>
      </p:sp>
      <p:sp>
        <p:nvSpPr>
          <p:cNvPr id="21" name="Text 18"/>
          <p:cNvSpPr txBox="1"/>
          <p:nvPr/>
        </p:nvSpPr>
        <p:spPr>
          <a:xfrm>
            <a:off x="464515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+16</a:t>
            </a:r>
            <a:endParaRPr lang="en-US" sz="1200" dirty="0"/>
          </a:p>
        </p:txBody>
      </p:sp>
      <p:sp>
        <p:nvSpPr>
          <p:cNvPr id="22" name="Text 19"/>
          <p:cNvSpPr txBox="1"/>
          <p:nvPr/>
        </p:nvSpPr>
        <p:spPr>
          <a:xfrm>
            <a:off x="461772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vib_depth</a:t>
            </a:r>
            <a:endParaRPr lang="en-US" sz="1100" dirty="0"/>
          </a:p>
        </p:txBody>
      </p:sp>
      <p:sp>
        <p:nvSpPr>
          <p:cNvPr id="23" name="Text 20"/>
          <p:cNvSpPr txBox="1"/>
          <p:nvPr/>
        </p:nvSpPr>
        <p:spPr>
          <a:xfrm>
            <a:off x="464515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0–0.5</a:t>
            </a:r>
            <a:endParaRPr lang="en-US" sz="1100" dirty="0"/>
          </a:p>
        </p:txBody>
      </p:sp>
      <p:sp>
        <p:nvSpPr>
          <p:cNvPr id="24" name="Shape 21"/>
          <p:cNvSpPr/>
          <p:nvPr/>
        </p:nvSpPr>
        <p:spPr>
          <a:xfrm>
            <a:off x="5577840" y="1600200"/>
            <a:ext cx="950976" cy="1737360"/>
          </a:xfrm>
          <a:prstGeom prst="rect">
            <a:avLst/>
          </a:prstGeom>
          <a:solidFill>
            <a:schemeClr val="tx1"/>
          </a:solidFill>
          <a:ln/>
        </p:spPr>
      </p:sp>
      <p:sp>
        <p:nvSpPr>
          <p:cNvPr id="25" name="Text 22"/>
          <p:cNvSpPr txBox="1"/>
          <p:nvPr/>
        </p:nvSpPr>
        <p:spPr>
          <a:xfrm>
            <a:off x="565099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+20</a:t>
            </a:r>
            <a:endParaRPr lang="en-US" sz="1200" dirty="0"/>
          </a:p>
        </p:txBody>
      </p:sp>
      <p:sp>
        <p:nvSpPr>
          <p:cNvPr id="26" name="Text 23"/>
          <p:cNvSpPr txBox="1"/>
          <p:nvPr/>
        </p:nvSpPr>
        <p:spPr>
          <a:xfrm>
            <a:off x="562356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vib_rate</a:t>
            </a:r>
            <a:endParaRPr lang="en-US" sz="1100" dirty="0"/>
          </a:p>
        </p:txBody>
      </p:sp>
      <p:sp>
        <p:nvSpPr>
          <p:cNvPr id="27" name="Text 24"/>
          <p:cNvSpPr txBox="1"/>
          <p:nvPr/>
        </p:nvSpPr>
        <p:spPr>
          <a:xfrm>
            <a:off x="565099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0–30 Hz</a:t>
            </a:r>
            <a:endParaRPr lang="en-US" sz="1100" dirty="0"/>
          </a:p>
        </p:txBody>
      </p:sp>
      <p:sp>
        <p:nvSpPr>
          <p:cNvPr id="28" name="Shape 25"/>
          <p:cNvSpPr/>
          <p:nvPr/>
        </p:nvSpPr>
        <p:spPr>
          <a:xfrm>
            <a:off x="6583680" y="1600200"/>
            <a:ext cx="950976" cy="1737360"/>
          </a:xfrm>
          <a:prstGeom prst="rect">
            <a:avLst/>
          </a:prstGeom>
          <a:solidFill>
            <a:schemeClr val="tx1"/>
          </a:solidFill>
          <a:ln/>
        </p:spPr>
      </p:sp>
      <p:sp>
        <p:nvSpPr>
          <p:cNvPr id="29" name="Text 26"/>
          <p:cNvSpPr txBox="1"/>
          <p:nvPr/>
        </p:nvSpPr>
        <p:spPr>
          <a:xfrm>
            <a:off x="665683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+24</a:t>
            </a:r>
            <a:endParaRPr lang="en-US" sz="1200" dirty="0"/>
          </a:p>
        </p:txBody>
      </p:sp>
      <p:sp>
        <p:nvSpPr>
          <p:cNvPr id="30" name="Text 27"/>
          <p:cNvSpPr txBox="1"/>
          <p:nvPr/>
        </p:nvSpPr>
        <p:spPr>
          <a:xfrm>
            <a:off x="662940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attack</a:t>
            </a:r>
            <a:endParaRPr lang="en-US" sz="1100" dirty="0"/>
          </a:p>
        </p:txBody>
      </p:sp>
      <p:sp>
        <p:nvSpPr>
          <p:cNvPr id="31" name="Text 28"/>
          <p:cNvSpPr txBox="1"/>
          <p:nvPr/>
        </p:nvSpPr>
        <p:spPr>
          <a:xfrm>
            <a:off x="665683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0–2 s</a:t>
            </a:r>
            <a:endParaRPr lang="en-US" sz="1100" dirty="0"/>
          </a:p>
        </p:txBody>
      </p:sp>
      <p:sp>
        <p:nvSpPr>
          <p:cNvPr id="32" name="Shape 29"/>
          <p:cNvSpPr/>
          <p:nvPr/>
        </p:nvSpPr>
        <p:spPr>
          <a:xfrm>
            <a:off x="7589520" y="1600200"/>
            <a:ext cx="950976" cy="1737360"/>
          </a:xfrm>
          <a:prstGeom prst="rect">
            <a:avLst/>
          </a:prstGeom>
          <a:solidFill>
            <a:schemeClr val="tx1"/>
          </a:solidFill>
          <a:ln/>
        </p:spPr>
      </p:sp>
      <p:sp>
        <p:nvSpPr>
          <p:cNvPr id="33" name="Text 30"/>
          <p:cNvSpPr txBox="1"/>
          <p:nvPr/>
        </p:nvSpPr>
        <p:spPr>
          <a:xfrm>
            <a:off x="766267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+28</a:t>
            </a:r>
            <a:endParaRPr lang="en-US" sz="1200" dirty="0"/>
          </a:p>
        </p:txBody>
      </p:sp>
      <p:sp>
        <p:nvSpPr>
          <p:cNvPr id="34" name="Text 31"/>
          <p:cNvSpPr txBox="1"/>
          <p:nvPr/>
        </p:nvSpPr>
        <p:spPr>
          <a:xfrm>
            <a:off x="763524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sustain</a:t>
            </a:r>
            <a:endParaRPr lang="en-US" sz="1100" dirty="0"/>
          </a:p>
        </p:txBody>
      </p:sp>
      <p:sp>
        <p:nvSpPr>
          <p:cNvPr id="35" name="Text 32"/>
          <p:cNvSpPr txBox="1"/>
          <p:nvPr/>
        </p:nvSpPr>
        <p:spPr>
          <a:xfrm>
            <a:off x="766267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0–2 s</a:t>
            </a:r>
            <a:endParaRPr lang="en-US" sz="1100" dirty="0"/>
          </a:p>
        </p:txBody>
      </p:sp>
      <p:sp>
        <p:nvSpPr>
          <p:cNvPr id="36" name="Shape 33"/>
          <p:cNvSpPr/>
          <p:nvPr/>
        </p:nvSpPr>
        <p:spPr>
          <a:xfrm>
            <a:off x="8595360" y="1600200"/>
            <a:ext cx="950976" cy="1737360"/>
          </a:xfrm>
          <a:prstGeom prst="rect">
            <a:avLst/>
          </a:prstGeom>
          <a:solidFill>
            <a:schemeClr val="tx1"/>
          </a:solidFill>
          <a:ln/>
        </p:spPr>
      </p:sp>
      <p:sp>
        <p:nvSpPr>
          <p:cNvPr id="37" name="Text 34"/>
          <p:cNvSpPr txBox="1"/>
          <p:nvPr/>
        </p:nvSpPr>
        <p:spPr>
          <a:xfrm>
            <a:off x="866851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+32</a:t>
            </a:r>
            <a:endParaRPr lang="en-US" sz="1200" dirty="0"/>
          </a:p>
        </p:txBody>
      </p:sp>
      <p:sp>
        <p:nvSpPr>
          <p:cNvPr id="38" name="Text 35"/>
          <p:cNvSpPr txBox="1"/>
          <p:nvPr/>
        </p:nvSpPr>
        <p:spPr>
          <a:xfrm>
            <a:off x="864108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decay</a:t>
            </a:r>
            <a:endParaRPr lang="en-US" sz="1100" dirty="0"/>
          </a:p>
        </p:txBody>
      </p:sp>
      <p:sp>
        <p:nvSpPr>
          <p:cNvPr id="39" name="Text 36"/>
          <p:cNvSpPr txBox="1"/>
          <p:nvPr/>
        </p:nvSpPr>
        <p:spPr>
          <a:xfrm>
            <a:off x="866851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0–3 s</a:t>
            </a:r>
            <a:endParaRPr lang="en-US" sz="1100" dirty="0"/>
          </a:p>
        </p:txBody>
      </p:sp>
      <p:sp>
        <p:nvSpPr>
          <p:cNvPr id="40" name="Shape 37"/>
          <p:cNvSpPr/>
          <p:nvPr/>
        </p:nvSpPr>
        <p:spPr>
          <a:xfrm>
            <a:off x="9601200" y="1600200"/>
            <a:ext cx="950976" cy="1737360"/>
          </a:xfrm>
          <a:prstGeom prst="rect">
            <a:avLst/>
          </a:prstGeom>
          <a:solidFill>
            <a:schemeClr val="tx1"/>
          </a:solidFill>
          <a:ln/>
        </p:spPr>
      </p:sp>
      <p:sp>
        <p:nvSpPr>
          <p:cNvPr id="41" name="Text 38"/>
          <p:cNvSpPr txBox="1"/>
          <p:nvPr/>
        </p:nvSpPr>
        <p:spPr>
          <a:xfrm>
            <a:off x="967435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+36</a:t>
            </a:r>
            <a:endParaRPr lang="en-US" sz="1200" dirty="0"/>
          </a:p>
        </p:txBody>
      </p:sp>
      <p:sp>
        <p:nvSpPr>
          <p:cNvPr id="42" name="Text 39"/>
          <p:cNvSpPr txBox="1"/>
          <p:nvPr/>
        </p:nvSpPr>
        <p:spPr>
          <a:xfrm>
            <a:off x="964692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volume</a:t>
            </a:r>
            <a:endParaRPr lang="en-US" sz="1100" dirty="0"/>
          </a:p>
        </p:txBody>
      </p:sp>
      <p:sp>
        <p:nvSpPr>
          <p:cNvPr id="43" name="Text 40"/>
          <p:cNvSpPr txBox="1"/>
          <p:nvPr/>
        </p:nvSpPr>
        <p:spPr>
          <a:xfrm>
            <a:off x="967435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0–1</a:t>
            </a:r>
            <a:endParaRPr lang="en-US" sz="1100" dirty="0"/>
          </a:p>
        </p:txBody>
      </p:sp>
      <p:sp>
        <p:nvSpPr>
          <p:cNvPr id="44" name="Shape 41"/>
          <p:cNvSpPr/>
          <p:nvPr/>
        </p:nvSpPr>
        <p:spPr>
          <a:xfrm>
            <a:off x="10607040" y="1600200"/>
            <a:ext cx="950976" cy="1737360"/>
          </a:xfrm>
          <a:prstGeom prst="rect">
            <a:avLst/>
          </a:prstGeom>
          <a:solidFill>
            <a:schemeClr val="accent3"/>
          </a:solidFill>
          <a:ln/>
        </p:spPr>
      </p:sp>
      <p:sp>
        <p:nvSpPr>
          <p:cNvPr id="45" name="Text 42"/>
          <p:cNvSpPr txBox="1"/>
          <p:nvPr/>
        </p:nvSpPr>
        <p:spPr>
          <a:xfrm>
            <a:off x="10680192" y="1691640"/>
            <a:ext cx="822960"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+40</a:t>
            </a:r>
            <a:endParaRPr lang="en-US" sz="1200" dirty="0"/>
          </a:p>
        </p:txBody>
      </p:sp>
      <p:sp>
        <p:nvSpPr>
          <p:cNvPr id="46" name="Text 43"/>
          <p:cNvSpPr txBox="1"/>
          <p:nvPr/>
        </p:nvSpPr>
        <p:spPr>
          <a:xfrm>
            <a:off x="10652760" y="2057400"/>
            <a:ext cx="914400" cy="54864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seed</a:t>
            </a:r>
            <a:endParaRPr lang="en-US" sz="1100" dirty="0"/>
          </a:p>
        </p:txBody>
      </p:sp>
      <p:sp>
        <p:nvSpPr>
          <p:cNvPr id="47" name="Text 44"/>
          <p:cNvSpPr txBox="1"/>
          <p:nvPr/>
        </p:nvSpPr>
        <p:spPr>
          <a:xfrm>
            <a:off x="10680192" y="2697480"/>
            <a:ext cx="822960" cy="548640"/>
          </a:xfrm>
          <a:prstGeom prst="rect">
            <a:avLst/>
          </a:prstGeom>
          <a:noFill/>
          <a:ln/>
        </p:spPr>
        <p:txBody>
          <a:bodyPr wrap="square" lIns="0" tIns="0" rIns="0" bIns="0" rtlCol="0" anchor="t"/>
          <a:lstStyle/>
          <a:p>
            <a:pPr indent="0" marL="0">
              <a:buNone/>
            </a:pPr>
            <a:r>
              <a:rPr lang="en-US" sz="1100" dirty="0">
                <a:solidFill>
                  <a:schemeClr val="tx1"/>
                </a:solidFill>
              </a:rPr>
              <a:t>≠ 0</a:t>
            </a:r>
            <a:endParaRPr lang="en-US" sz="1100" dirty="0"/>
          </a:p>
        </p:txBody>
      </p:sp>
      <p:sp>
        <p:nvSpPr>
          <p:cNvPr id="48" name="Text 45"/>
          <p:cNvSpPr txBox="1"/>
          <p:nvPr/>
        </p:nvSpPr>
        <p:spPr>
          <a:xfrm>
            <a:off x="548640" y="3474720"/>
            <a:ext cx="10972800" cy="320040"/>
          </a:xfrm>
          <a:prstGeom prst="rect">
            <a:avLst/>
          </a:prstGeom>
          <a:noFill/>
          <a:ln/>
        </p:spPr>
        <p:txBody>
          <a:bodyPr wrap="square" lIns="0" tIns="0" rIns="0" bIns="0" rtlCol="0" anchor="t"/>
          <a:lstStyle/>
          <a:p>
            <a:pPr indent="0" marL="0">
              <a:buNone/>
            </a:pPr>
            <a:r>
              <a:rPr lang="en-US" sz="1300" b="1" dirty="0">
                <a:solidFill>
                  <a:schemeClr val="accent3"/>
                </a:solidFill>
              </a:rPr>
              <a:t>uint32</a:t>
            </a:r>
            <a:pPr indent="0" marL="0">
              <a:buNone/>
            </a:pPr>
            <a:r>
              <a:rPr lang="en-US" sz="1300" dirty="0">
                <a:solidFill>
                  <a:schemeClr val="accent5"/>
                </a:solidFill>
              </a:rPr>
              <a:t>   </a:t>
            </a:r>
            <a:pPr indent="0" marL="0">
              <a:buNone/>
            </a:pPr>
            <a:r>
              <a:rPr lang="en-US" sz="1300" b="1" dirty="0">
                <a:solidFill>
                  <a:schemeClr val="tx1"/>
                </a:solidFill>
              </a:rPr>
              <a:t>float32</a:t>
            </a:r>
            <a:pPr indent="0" marL="0">
              <a:buNone/>
            </a:pPr>
            <a:r>
              <a:rPr lang="en-US" sz="1300" dirty="0">
                <a:solidFill>
                  <a:schemeClr val="accent5"/>
                </a:solidFill>
              </a:rPr>
              <a:t>   Each box = 4 bytes. 11 × 4 = 44 bytes.</a:t>
            </a:r>
            <a:endParaRPr lang="en-US" sz="1300" dirty="0"/>
          </a:p>
        </p:txBody>
      </p:sp>
      <p:sp>
        <p:nvSpPr>
          <p:cNvPr id="49" name="Text 46"/>
          <p:cNvSpPr txBox="1"/>
          <p:nvPr/>
        </p:nvSpPr>
        <p:spPr>
          <a:xfrm>
            <a:off x="548640" y="402336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Written three times, must match byte for byte</a:t>
            </a:r>
            <a:endParaRPr lang="en-US" sz="1800" dirty="0"/>
          </a:p>
        </p:txBody>
      </p:sp>
      <p:sp>
        <p:nvSpPr>
          <p:cNvPr id="50" name="card"/>
          <p:cNvSpPr/>
          <p:nvPr/>
        </p:nvSpPr>
        <p:spPr>
          <a:xfrm>
            <a:off x="548640" y="4526280"/>
            <a:ext cx="3566160" cy="1463040"/>
          </a:xfrm>
          <a:prstGeom prst="roundRect">
            <a:avLst>
              <a:gd name="adj" fmla="val 5000"/>
            </a:avLst>
          </a:prstGeom>
          <a:solidFill>
            <a:schemeClr val="bg2"/>
          </a:solidFill>
          <a:ln/>
        </p:spPr>
      </p:sp>
      <p:sp>
        <p:nvSpPr>
          <p:cNvPr id="51" name="Text 48"/>
          <p:cNvSpPr txBox="1"/>
          <p:nvPr/>
        </p:nvSpPr>
        <p:spPr>
          <a:xfrm>
            <a:off x="777240" y="46634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NASM</a:t>
            </a:r>
            <a:endParaRPr lang="en-US" sz="1800" dirty="0"/>
          </a:p>
        </p:txBody>
      </p:sp>
      <p:sp>
        <p:nvSpPr>
          <p:cNvPr id="52" name="Text 49"/>
          <p:cNvSpPr txBox="1"/>
          <p:nvPr/>
        </p:nvSpPr>
        <p:spPr>
          <a:xfrm>
            <a:off x="777240" y="5074920"/>
            <a:ext cx="3200400" cy="41148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struc SfxParams</a:t>
            </a:r>
            <a:endParaRPr lang="en-US" sz="1200" dirty="0"/>
          </a:p>
        </p:txBody>
      </p:sp>
      <p:sp>
        <p:nvSpPr>
          <p:cNvPr id="53" name="Text 50"/>
          <p:cNvSpPr txBox="1"/>
          <p:nvPr/>
        </p:nvSpPr>
        <p:spPr>
          <a:xfrm>
            <a:off x="777240" y="5532120"/>
            <a:ext cx="3108960" cy="320040"/>
          </a:xfrm>
          <a:prstGeom prst="rect">
            <a:avLst/>
          </a:prstGeom>
          <a:noFill/>
          <a:ln/>
        </p:spPr>
        <p:txBody>
          <a:bodyPr wrap="square" lIns="0" tIns="0" rIns="0" bIns="0" rtlCol="0" anchor="t"/>
          <a:lstStyle/>
          <a:p>
            <a:pPr indent="0" marL="0">
              <a:buNone/>
            </a:pPr>
            <a:r>
              <a:rPr lang="en-US" sz="1200" dirty="0">
                <a:solidFill>
                  <a:schemeClr val="accent5"/>
                </a:solidFill>
              </a:rPr>
              <a:t>engine/sfx.asm</a:t>
            </a:r>
            <a:endParaRPr lang="en-US" sz="1200" dirty="0"/>
          </a:p>
        </p:txBody>
      </p:sp>
      <p:sp>
        <p:nvSpPr>
          <p:cNvPr id="54" name="card"/>
          <p:cNvSpPr/>
          <p:nvPr/>
        </p:nvSpPr>
        <p:spPr>
          <a:xfrm>
            <a:off x="4297680" y="4526280"/>
            <a:ext cx="3566160" cy="1463040"/>
          </a:xfrm>
          <a:prstGeom prst="roundRect">
            <a:avLst>
              <a:gd name="adj" fmla="val 5000"/>
            </a:avLst>
          </a:prstGeom>
          <a:solidFill>
            <a:schemeClr val="bg2"/>
          </a:solidFill>
          <a:ln/>
        </p:spPr>
      </p:sp>
      <p:sp>
        <p:nvSpPr>
          <p:cNvPr id="55" name="Text 52"/>
          <p:cNvSpPr txBox="1"/>
          <p:nvPr/>
        </p:nvSpPr>
        <p:spPr>
          <a:xfrm>
            <a:off x="4526280" y="46634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C</a:t>
            </a:r>
            <a:endParaRPr lang="en-US" sz="1800" dirty="0"/>
          </a:p>
        </p:txBody>
      </p:sp>
      <p:sp>
        <p:nvSpPr>
          <p:cNvPr id="56" name="Text 53"/>
          <p:cNvSpPr txBox="1"/>
          <p:nvPr/>
        </p:nvSpPr>
        <p:spPr>
          <a:xfrm>
            <a:off x="4526280" y="5074920"/>
            <a:ext cx="3200400" cy="41148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typedef struct SfxParams</a:t>
            </a:r>
            <a:endParaRPr lang="en-US" sz="1200" dirty="0"/>
          </a:p>
        </p:txBody>
      </p:sp>
      <p:sp>
        <p:nvSpPr>
          <p:cNvPr id="57" name="Text 54"/>
          <p:cNvSpPr txBox="1"/>
          <p:nvPr/>
        </p:nvSpPr>
        <p:spPr>
          <a:xfrm>
            <a:off x="4526280" y="5532120"/>
            <a:ext cx="3108960" cy="320040"/>
          </a:xfrm>
          <a:prstGeom prst="rect">
            <a:avLst/>
          </a:prstGeom>
          <a:noFill/>
          <a:ln/>
        </p:spPr>
        <p:txBody>
          <a:bodyPr wrap="square" lIns="0" tIns="0" rIns="0" bIns="0" rtlCol="0" anchor="t"/>
          <a:lstStyle/>
          <a:p>
            <a:pPr indent="0" marL="0">
              <a:buNone/>
            </a:pPr>
            <a:r>
              <a:rPr lang="en-US" sz="1200" dirty="0">
                <a:solidFill>
                  <a:schemeClr val="accent5"/>
                </a:solidFill>
              </a:rPr>
              <a:t>ref/sfx.h</a:t>
            </a:r>
            <a:endParaRPr lang="en-US" sz="1200" dirty="0"/>
          </a:p>
        </p:txBody>
      </p:sp>
      <p:sp>
        <p:nvSpPr>
          <p:cNvPr id="58" name="card"/>
          <p:cNvSpPr/>
          <p:nvPr/>
        </p:nvSpPr>
        <p:spPr>
          <a:xfrm>
            <a:off x="8046720" y="4526280"/>
            <a:ext cx="3566160" cy="1463040"/>
          </a:xfrm>
          <a:prstGeom prst="roundRect">
            <a:avLst>
              <a:gd name="adj" fmla="val 5000"/>
            </a:avLst>
          </a:prstGeom>
          <a:solidFill>
            <a:schemeClr val="bg2"/>
          </a:solidFill>
          <a:ln/>
        </p:spPr>
      </p:sp>
      <p:sp>
        <p:nvSpPr>
          <p:cNvPr id="59" name="Text 56"/>
          <p:cNvSpPr txBox="1"/>
          <p:nvPr/>
        </p:nvSpPr>
        <p:spPr>
          <a:xfrm>
            <a:off x="8275320" y="46634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Python</a:t>
            </a:r>
            <a:endParaRPr lang="en-US" sz="1800" dirty="0"/>
          </a:p>
        </p:txBody>
      </p:sp>
      <p:sp>
        <p:nvSpPr>
          <p:cNvPr id="60" name="Text 57"/>
          <p:cNvSpPr txBox="1"/>
          <p:nvPr/>
        </p:nvSpPr>
        <p:spPr>
          <a:xfrm>
            <a:off x="8275320" y="5074920"/>
            <a:ext cx="3200400" cy="41148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class SfxParams(ctypes.Structure)</a:t>
            </a:r>
            <a:endParaRPr lang="en-US" sz="1200" dirty="0"/>
          </a:p>
        </p:txBody>
      </p:sp>
      <p:sp>
        <p:nvSpPr>
          <p:cNvPr id="61" name="Text 58"/>
          <p:cNvSpPr txBox="1"/>
          <p:nvPr/>
        </p:nvSpPr>
        <p:spPr>
          <a:xfrm>
            <a:off x="8275320" y="5532120"/>
            <a:ext cx="3108960" cy="320040"/>
          </a:xfrm>
          <a:prstGeom prst="rect">
            <a:avLst/>
          </a:prstGeom>
          <a:noFill/>
          <a:ln/>
        </p:spPr>
        <p:txBody>
          <a:bodyPr wrap="square" lIns="0" tIns="0" rIns="0" bIns="0" rtlCol="0" anchor="t"/>
          <a:lstStyle/>
          <a:p>
            <a:pPr indent="0" marL="0">
              <a:buNone/>
            </a:pPr>
            <a:r>
              <a:rPr lang="en-US" sz="1200" dirty="0">
                <a:solidFill>
                  <a:schemeClr val="accent5"/>
                </a:solidFill>
              </a:rPr>
              <a:t>gui/sfx_binding.py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Three exported functions follow the Windows x64 calling rules</a:t>
            </a:r>
            <a:endParaRPr lang="en-US" sz="2800" dirty="0"/>
          </a:p>
        </p:txBody>
      </p:sp>
      <p:sp>
        <p:nvSpPr>
          <p:cNvPr id="4" name="card"/>
          <p:cNvSpPr/>
          <p:nvPr/>
        </p:nvSpPr>
        <p:spPr>
          <a:xfrm>
            <a:off x="548640" y="1508760"/>
            <a:ext cx="3566160" cy="2514600"/>
          </a:xfrm>
          <a:prstGeom prst="roundRect">
            <a:avLst>
              <a:gd name="adj" fmla="val 2909"/>
            </a:avLst>
          </a:prstGeom>
          <a:solidFill>
            <a:schemeClr val="bg2"/>
          </a:solidFill>
          <a:ln/>
        </p:spPr>
      </p:sp>
      <p:sp>
        <p:nvSpPr>
          <p:cNvPr id="5" name="Text 2"/>
          <p:cNvSpPr txBox="1"/>
          <p:nvPr/>
        </p:nvSpPr>
        <p:spPr>
          <a:xfrm>
            <a:off x="777240" y="1691640"/>
            <a:ext cx="3200400" cy="41148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sfx_sample_count</a:t>
            </a:r>
            <a:endParaRPr lang="en-US" sz="1800" dirty="0"/>
          </a:p>
        </p:txBody>
      </p:sp>
      <p:sp>
        <p:nvSpPr>
          <p:cNvPr id="6" name="Text 3"/>
          <p:cNvSpPr txBox="1"/>
          <p:nvPr/>
        </p:nvSpPr>
        <p:spPr>
          <a:xfrm>
            <a:off x="777240" y="2148840"/>
            <a:ext cx="3108960" cy="365760"/>
          </a:xfrm>
          <a:prstGeom prst="rect">
            <a:avLst/>
          </a:prstGeom>
          <a:noFill/>
          <a:ln/>
        </p:spPr>
        <p:txBody>
          <a:bodyPr wrap="square" lIns="0" tIns="0" rIns="0" bIns="0" rtlCol="0" anchor="t"/>
          <a:lstStyle/>
          <a:p>
            <a:pPr indent="0" marL="0">
              <a:buNone/>
            </a:pPr>
            <a:r>
              <a:rPr lang="en-US" sz="1500" b="1" dirty="0">
                <a:solidFill>
                  <a:schemeClr val="tx1"/>
                </a:solidFill>
              </a:rPr>
              <a:t>Validate every field, compute length</a:t>
            </a:r>
            <a:endParaRPr lang="en-US" sz="1500" dirty="0"/>
          </a:p>
        </p:txBody>
      </p:sp>
      <p:sp>
        <p:nvSpPr>
          <p:cNvPr id="7" name="Text 4"/>
          <p:cNvSpPr txBox="1"/>
          <p:nvPr/>
        </p:nvSpPr>
        <p:spPr>
          <a:xfrm>
            <a:off x="777240" y="2560320"/>
            <a:ext cx="3154680" cy="9144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In:  RCX = params</a:t>
            </a:r>
            <a:endParaRPr lang="en-US" sz="1200" dirty="0"/>
          </a:p>
        </p:txBody>
      </p:sp>
      <p:sp>
        <p:nvSpPr>
          <p:cNvPr id="8" name="Text 5"/>
          <p:cNvSpPr txBox="1"/>
          <p:nvPr/>
        </p:nvSpPr>
        <p:spPr>
          <a:xfrm>
            <a:off x="777240" y="3566160"/>
            <a:ext cx="3154680" cy="41148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Out: EAX = planned samples</a:t>
            </a:r>
            <a:endParaRPr lang="en-US" sz="1300" dirty="0"/>
          </a:p>
        </p:txBody>
      </p:sp>
      <p:sp>
        <p:nvSpPr>
          <p:cNvPr id="9" name="card"/>
          <p:cNvSpPr/>
          <p:nvPr/>
        </p:nvSpPr>
        <p:spPr>
          <a:xfrm>
            <a:off x="4297680" y="1508760"/>
            <a:ext cx="3566160" cy="2514600"/>
          </a:xfrm>
          <a:prstGeom prst="roundRect">
            <a:avLst>
              <a:gd name="adj" fmla="val 2909"/>
            </a:avLst>
          </a:prstGeom>
          <a:solidFill>
            <a:schemeClr val="bg2"/>
          </a:solidFill>
          <a:ln/>
        </p:spPr>
      </p:sp>
      <p:sp>
        <p:nvSpPr>
          <p:cNvPr id="10" name="Text 7"/>
          <p:cNvSpPr txBox="1"/>
          <p:nvPr/>
        </p:nvSpPr>
        <p:spPr>
          <a:xfrm>
            <a:off x="4526280" y="1691640"/>
            <a:ext cx="3200400" cy="41148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sfx_generate</a:t>
            </a:r>
            <a:endParaRPr lang="en-US" sz="1800" dirty="0"/>
          </a:p>
        </p:txBody>
      </p:sp>
      <p:sp>
        <p:nvSpPr>
          <p:cNvPr id="11" name="Text 8"/>
          <p:cNvSpPr txBox="1"/>
          <p:nvPr/>
        </p:nvSpPr>
        <p:spPr>
          <a:xfrm>
            <a:off x="4526280" y="2148840"/>
            <a:ext cx="3108960" cy="365760"/>
          </a:xfrm>
          <a:prstGeom prst="rect">
            <a:avLst/>
          </a:prstGeom>
          <a:noFill/>
          <a:ln/>
        </p:spPr>
        <p:txBody>
          <a:bodyPr wrap="square" lIns="0" tIns="0" rIns="0" bIns="0" rtlCol="0" anchor="t"/>
          <a:lstStyle/>
          <a:p>
            <a:pPr indent="0" marL="0">
              <a:buNone/>
            </a:pPr>
            <a:r>
              <a:rPr lang="en-US" sz="1500" b="1" dirty="0">
                <a:solidFill>
                  <a:schemeClr val="tx1"/>
                </a:solidFill>
              </a:rPr>
              <a:t>The synthesizer loop</a:t>
            </a:r>
            <a:endParaRPr lang="en-US" sz="1500" dirty="0"/>
          </a:p>
        </p:txBody>
      </p:sp>
      <p:sp>
        <p:nvSpPr>
          <p:cNvPr id="12" name="Text 9"/>
          <p:cNvSpPr txBox="1"/>
          <p:nvPr/>
        </p:nvSpPr>
        <p:spPr>
          <a:xfrm>
            <a:off x="4526280" y="2560320"/>
            <a:ext cx="3154680" cy="9144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In:  RCX = params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RDX = out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R8D = capacity</a:t>
            </a:r>
            <a:endParaRPr lang="en-US" sz="1200" dirty="0"/>
          </a:p>
        </p:txBody>
      </p:sp>
      <p:sp>
        <p:nvSpPr>
          <p:cNvPr id="13" name="Text 10"/>
          <p:cNvSpPr txBox="1"/>
          <p:nvPr/>
        </p:nvSpPr>
        <p:spPr>
          <a:xfrm>
            <a:off x="4526280" y="3566160"/>
            <a:ext cx="3154680" cy="41148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Out: EAX = samples written</a:t>
            </a:r>
            <a:endParaRPr lang="en-US" sz="1300" dirty="0"/>
          </a:p>
        </p:txBody>
      </p:sp>
      <p:sp>
        <p:nvSpPr>
          <p:cNvPr id="14" name="card"/>
          <p:cNvSpPr/>
          <p:nvPr/>
        </p:nvSpPr>
        <p:spPr>
          <a:xfrm>
            <a:off x="8046720" y="1508760"/>
            <a:ext cx="3566160" cy="2514600"/>
          </a:xfrm>
          <a:prstGeom prst="roundRect">
            <a:avLst>
              <a:gd name="adj" fmla="val 2909"/>
            </a:avLst>
          </a:prstGeom>
          <a:solidFill>
            <a:schemeClr val="bg2"/>
          </a:solidFill>
          <a:ln/>
        </p:spPr>
      </p:sp>
      <p:sp>
        <p:nvSpPr>
          <p:cNvPr id="15" name="Text 12"/>
          <p:cNvSpPr txBox="1"/>
          <p:nvPr/>
        </p:nvSpPr>
        <p:spPr>
          <a:xfrm>
            <a:off x="8275320" y="1691640"/>
            <a:ext cx="3200400" cy="41148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sfx_write_wav</a:t>
            </a:r>
            <a:endParaRPr lang="en-US" sz="1800" dirty="0"/>
          </a:p>
        </p:txBody>
      </p:sp>
      <p:sp>
        <p:nvSpPr>
          <p:cNvPr id="16" name="Text 13"/>
          <p:cNvSpPr txBox="1"/>
          <p:nvPr/>
        </p:nvSpPr>
        <p:spPr>
          <a:xfrm>
            <a:off x="8275320" y="2148840"/>
            <a:ext cx="3108960" cy="365760"/>
          </a:xfrm>
          <a:prstGeom prst="rect">
            <a:avLst/>
          </a:prstGeom>
          <a:noFill/>
          <a:ln/>
        </p:spPr>
        <p:txBody>
          <a:bodyPr wrap="square" lIns="0" tIns="0" rIns="0" bIns="0" rtlCol="0" anchor="t"/>
          <a:lstStyle/>
          <a:p>
            <a:pPr indent="0" marL="0">
              <a:buNone/>
            </a:pPr>
            <a:r>
              <a:rPr lang="en-US" sz="1500" b="1" dirty="0">
                <a:solidFill>
                  <a:schemeClr val="tx1"/>
                </a:solidFill>
              </a:rPr>
              <a:t>44-byte header + copy samples</a:t>
            </a:r>
            <a:endParaRPr lang="en-US" sz="1500" dirty="0"/>
          </a:p>
        </p:txBody>
      </p:sp>
      <p:sp>
        <p:nvSpPr>
          <p:cNvPr id="17" name="Text 14"/>
          <p:cNvSpPr txBox="1"/>
          <p:nvPr/>
        </p:nvSpPr>
        <p:spPr>
          <a:xfrm>
            <a:off x="8275320" y="2560320"/>
            <a:ext cx="3154680" cy="9144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In:  RCX = samples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EDX = count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R8  = out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R9D = capacity</a:t>
            </a:r>
            <a:endParaRPr lang="en-US" sz="1200" dirty="0"/>
          </a:p>
        </p:txBody>
      </p:sp>
      <p:sp>
        <p:nvSpPr>
          <p:cNvPr id="18" name="Text 15"/>
          <p:cNvSpPr txBox="1"/>
          <p:nvPr/>
        </p:nvSpPr>
        <p:spPr>
          <a:xfrm>
            <a:off x="8275320" y="3566160"/>
            <a:ext cx="3154680" cy="41148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Out: EAX = bytes written</a:t>
            </a:r>
            <a:endParaRPr lang="en-US" sz="1300" dirty="0"/>
          </a:p>
        </p:txBody>
      </p:sp>
      <p:sp>
        <p:nvSpPr>
          <p:cNvPr id="19" name="Text 16"/>
          <p:cNvSpPr txBox="1"/>
          <p:nvPr/>
        </p:nvSpPr>
        <p:spPr>
          <a:xfrm>
            <a:off x="548640" y="4160520"/>
            <a:ext cx="10972800" cy="320040"/>
          </a:xfrm>
          <a:prstGeom prst="rect">
            <a:avLst/>
          </a:prstGeom>
          <a:noFill/>
          <a:ln/>
        </p:spPr>
        <p:txBody>
          <a:bodyPr wrap="square" lIns="0" tIns="0" rIns="0" bIns="0" rtlCol="0" anchor="t"/>
          <a:lstStyle/>
          <a:p>
            <a:pPr indent="0" marL="0">
              <a:buNone/>
            </a:pPr>
            <a:r>
              <a:rPr lang="en-US" sz="1400" i="1" dirty="0">
                <a:solidFill>
                  <a:schemeClr val="accent5"/>
                </a:solidFill>
              </a:rPr>
              <a:t>Returns 0 on any error: NULL pointer, invalid parameter, buffer too small</a:t>
            </a:r>
            <a:endParaRPr lang="en-US" sz="1400" dirty="0"/>
          </a:p>
        </p:txBody>
      </p:sp>
      <p:sp>
        <p:nvSpPr>
          <p:cNvPr id="20" name="card"/>
          <p:cNvSpPr/>
          <p:nvPr/>
        </p:nvSpPr>
        <p:spPr>
          <a:xfrm>
            <a:off x="548640" y="4663440"/>
            <a:ext cx="5394960" cy="1417320"/>
          </a:xfrm>
          <a:prstGeom prst="roundRect">
            <a:avLst>
              <a:gd name="adj" fmla="val 5161"/>
            </a:avLst>
          </a:prstGeom>
          <a:solidFill>
            <a:schemeClr val="tx1"/>
          </a:solidFill>
          <a:ln/>
        </p:spPr>
      </p:sp>
      <p:sp>
        <p:nvSpPr>
          <p:cNvPr id="21" name="Text 18"/>
          <p:cNvSpPr txBox="1"/>
          <p:nvPr/>
        </p:nvSpPr>
        <p:spPr>
          <a:xfrm>
            <a:off x="777240" y="4800600"/>
            <a:ext cx="4937760" cy="365760"/>
          </a:xfrm>
          <a:prstGeom prst="rect">
            <a:avLst/>
          </a:prstGeom>
          <a:noFill/>
          <a:ln/>
        </p:spPr>
        <p:txBody>
          <a:bodyPr wrap="square" lIns="0" tIns="0" rIns="0" bIns="0" rtlCol="0" anchor="t"/>
          <a:lstStyle/>
          <a:p>
            <a:pPr indent="0" marL="0">
              <a:buNone/>
            </a:pPr>
            <a:r>
              <a:rPr lang="en-US" sz="1500" b="1" dirty="0">
                <a:solidFill>
                  <a:schemeClr val="accent2"/>
                </a:solidFill>
              </a:rPr>
              <a:t>Used by the engine (volatile)</a:t>
            </a:r>
            <a:endParaRPr lang="en-US" sz="1500" dirty="0"/>
          </a:p>
        </p:txBody>
      </p:sp>
      <p:sp>
        <p:nvSpPr>
          <p:cNvPr id="22" name="Text 19"/>
          <p:cNvSpPr txBox="1"/>
          <p:nvPr/>
        </p:nvSpPr>
        <p:spPr>
          <a:xfrm>
            <a:off x="777240" y="5650992"/>
            <a:ext cx="5029200" cy="320040"/>
          </a:xfrm>
          <a:prstGeom prst="rect">
            <a:avLst/>
          </a:prstGeom>
          <a:noFill/>
          <a:ln/>
        </p:spPr>
        <p:txBody>
          <a:bodyPr wrap="square" lIns="0" tIns="0" rIns="0" bIns="0" rtlCol="0" anchor="t"/>
          <a:lstStyle/>
          <a:p>
            <a:pPr indent="0" marL="0">
              <a:buNone/>
            </a:pPr>
            <a:r>
              <a:rPr lang="en-US" sz="1300" dirty="0">
                <a:solidFill>
                  <a:schemeClr val="bg2"/>
                </a:solidFill>
              </a:rPr>
              <a:t>Free to overwrite; the caller expects them to change</a:t>
            </a:r>
            <a:endParaRPr lang="en-US" sz="1300" dirty="0"/>
          </a:p>
        </p:txBody>
      </p:sp>
      <p:sp>
        <p:nvSpPr>
          <p:cNvPr id="23" name="Text 20"/>
          <p:cNvSpPr txBox="1"/>
          <p:nvPr/>
        </p:nvSpPr>
        <p:spPr>
          <a:xfrm>
            <a:off x="777240" y="5212080"/>
            <a:ext cx="5029200" cy="41148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RAX RCX RDX R8–R11  XMM0–XMM5</a:t>
            </a:r>
            <a:endParaRPr lang="en-US" sz="1600" dirty="0"/>
          </a:p>
        </p:txBody>
      </p:sp>
      <p:sp>
        <p:nvSpPr>
          <p:cNvPr id="24" name="card"/>
          <p:cNvSpPr/>
          <p:nvPr/>
        </p:nvSpPr>
        <p:spPr>
          <a:xfrm>
            <a:off x="6217920" y="4663440"/>
            <a:ext cx="5394960" cy="1417320"/>
          </a:xfrm>
          <a:prstGeom prst="roundRect">
            <a:avLst>
              <a:gd name="adj" fmla="val 5161"/>
            </a:avLst>
          </a:prstGeom>
          <a:solidFill>
            <a:schemeClr val="bg2"/>
          </a:solidFill>
          <a:ln/>
        </p:spPr>
      </p:sp>
      <p:sp>
        <p:nvSpPr>
          <p:cNvPr id="25" name="Text 22"/>
          <p:cNvSpPr txBox="1"/>
          <p:nvPr/>
        </p:nvSpPr>
        <p:spPr>
          <a:xfrm>
            <a:off x="6446520" y="4800600"/>
            <a:ext cx="4937760" cy="365760"/>
          </a:xfrm>
          <a:prstGeom prst="rect">
            <a:avLst/>
          </a:prstGeom>
          <a:noFill/>
          <a:ln/>
        </p:spPr>
        <p:txBody>
          <a:bodyPr wrap="square" lIns="0" tIns="0" rIns="0" bIns="0" rtlCol="0" anchor="t"/>
          <a:lstStyle/>
          <a:p>
            <a:pPr indent="0" marL="0">
              <a:buNone/>
            </a:pPr>
            <a:r>
              <a:rPr lang="en-US" sz="1500" b="1" dirty="0">
                <a:solidFill>
                  <a:schemeClr val="accent4"/>
                </a:solidFill>
              </a:rPr>
              <a:t>Never touched (non-volatile)</a:t>
            </a:r>
            <a:endParaRPr lang="en-US" sz="1500" dirty="0"/>
          </a:p>
        </p:txBody>
      </p:sp>
      <p:sp>
        <p:nvSpPr>
          <p:cNvPr id="26" name="Text 23"/>
          <p:cNvSpPr txBox="1"/>
          <p:nvPr/>
        </p:nvSpPr>
        <p:spPr>
          <a:xfrm>
            <a:off x="6446520" y="5212080"/>
            <a:ext cx="5029200" cy="41148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RBX RBP RSI RDI R12–R15  XMM6–XMM15</a:t>
            </a:r>
            <a:endParaRPr lang="en-US" sz="1600" dirty="0"/>
          </a:p>
        </p:txBody>
      </p:sp>
      <p:sp>
        <p:nvSpPr>
          <p:cNvPr id="27" name="Text 24"/>
          <p:cNvSpPr txBox="1"/>
          <p:nvPr/>
        </p:nvSpPr>
        <p:spPr>
          <a:xfrm>
            <a:off x="6446520" y="5650992"/>
            <a:ext cx="5029200" cy="320040"/>
          </a:xfrm>
          <a:prstGeom prst="rect">
            <a:avLst/>
          </a:prstGeom>
          <a:noFill/>
          <a:ln/>
        </p:spPr>
        <p:txBody>
          <a:bodyPr wrap="square" lIns="0" tIns="0" rIns="0" bIns="0" rtlCol="0" anchor="t"/>
          <a:lstStyle/>
          <a:p>
            <a:pPr indent="0" marL="0">
              <a:buNone/>
            </a:pPr>
            <a:r>
              <a:rPr lang="en-US" sz="1300" dirty="0">
                <a:solidFill>
                  <a:schemeClr val="accent5"/>
                </a:solidFill>
              </a:rPr>
              <a:t>Nothing to save or restore; verified by tests/abi_probe.asm</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Every sample passes through 7 steps, 44,100 times per second</a:t>
            </a:r>
            <a:endParaRPr lang="en-US" sz="2800" dirty="0"/>
          </a:p>
        </p:txBody>
      </p:sp>
      <p:sp>
        <p:nvSpPr>
          <p:cNvPr id="4" name="Shape 1"/>
          <p:cNvSpPr/>
          <p:nvPr/>
        </p:nvSpPr>
        <p:spPr>
          <a:xfrm>
            <a:off x="1188720" y="1783080"/>
            <a:ext cx="894806" cy="0"/>
          </a:xfrm>
          <a:prstGeom prst="line">
            <a:avLst/>
          </a:prstGeom>
          <a:noFill/>
          <a:ln w="19050">
            <a:solidFill>
              <a:srgbClr val="6B7F8E"/>
            </a:solidFill>
            <a:prstDash val="solid"/>
            <a:tailEnd type="triangle"/>
          </a:ln>
        </p:spPr>
      </p:sp>
      <p:sp>
        <p:nvSpPr>
          <p:cNvPr id="5" name="Shape 2"/>
          <p:cNvSpPr/>
          <p:nvPr/>
        </p:nvSpPr>
        <p:spPr>
          <a:xfrm>
            <a:off x="548640" y="1508760"/>
            <a:ext cx="548640" cy="548640"/>
          </a:xfrm>
          <a:prstGeom prst="ellipse">
            <a:avLst/>
          </a:prstGeom>
          <a:solidFill>
            <a:schemeClr val="accent1"/>
          </a:solidFill>
          <a:ln/>
        </p:spPr>
      </p:sp>
      <p:sp>
        <p:nvSpPr>
          <p:cNvPr id="6" name="Text 3"/>
          <p:cNvSpPr txBox="1"/>
          <p:nvPr/>
        </p:nvSpPr>
        <p:spPr>
          <a:xfrm>
            <a:off x="548640"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548640"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Slide pitch</a:t>
            </a:r>
            <a:endParaRPr lang="en-US" sz="1600" dirty="0"/>
          </a:p>
        </p:txBody>
      </p:sp>
      <p:sp>
        <p:nvSpPr>
          <p:cNvPr id="8" name="Text 5"/>
          <p:cNvSpPr txBox="1"/>
          <p:nvPr/>
        </p:nvSpPr>
        <p:spPr>
          <a:xfrm>
            <a:off x="548640"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freq ×= MULT</a:t>
            </a:r>
            <a:endParaRPr lang="en-US" sz="1400" dirty="0"/>
          </a:p>
          <a:p>
            <a:pPr indent="0" marL="0">
              <a:buNone/>
            </a:pPr>
            <a:r>
              <a:rPr lang="en-US" sz="1400" dirty="0">
                <a:solidFill>
                  <a:schemeClr val="tx2"/>
                </a:solidFill>
              </a:rPr>
              <a:t>cap at 20 kHz</a:t>
            </a:r>
            <a:endParaRPr lang="en-US" sz="1400" dirty="0"/>
          </a:p>
          <a:p>
            <a:pPr indent="0" marL="0">
              <a:buNone/>
            </a:pPr>
            <a:r>
              <a:rPr lang="en-US" sz="1400" dirty="0">
                <a:solidFill>
                  <a:schemeClr val="tx2"/>
                </a:solidFill>
              </a:rPr>
              <a:t>end if below min_freq</a:t>
            </a:r>
            <a:endParaRPr lang="en-US" sz="1400" dirty="0"/>
          </a:p>
        </p:txBody>
      </p:sp>
      <p:sp>
        <p:nvSpPr>
          <p:cNvPr id="9" name="Shape 6"/>
          <p:cNvSpPr/>
          <p:nvPr/>
        </p:nvSpPr>
        <p:spPr>
          <a:xfrm>
            <a:off x="2769326" y="1783080"/>
            <a:ext cx="894806" cy="0"/>
          </a:xfrm>
          <a:prstGeom prst="line">
            <a:avLst/>
          </a:prstGeom>
          <a:noFill/>
          <a:ln w="19050">
            <a:solidFill>
              <a:srgbClr val="6B7F8E"/>
            </a:solidFill>
            <a:prstDash val="solid"/>
            <a:tailEnd type="triangle"/>
          </a:ln>
        </p:spPr>
      </p:sp>
      <p:sp>
        <p:nvSpPr>
          <p:cNvPr id="10" name="Shape 7"/>
          <p:cNvSpPr/>
          <p:nvPr/>
        </p:nvSpPr>
        <p:spPr>
          <a:xfrm>
            <a:off x="2129246" y="1508760"/>
            <a:ext cx="548640" cy="548640"/>
          </a:xfrm>
          <a:prstGeom prst="ellipse">
            <a:avLst/>
          </a:prstGeom>
          <a:solidFill>
            <a:schemeClr val="accent1"/>
          </a:solidFill>
          <a:ln/>
        </p:spPr>
      </p:sp>
      <p:sp>
        <p:nvSpPr>
          <p:cNvPr id="11" name="Text 8"/>
          <p:cNvSpPr txBox="1"/>
          <p:nvPr/>
        </p:nvSpPr>
        <p:spPr>
          <a:xfrm>
            <a:off x="2129246"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2129246"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Vibrato</a:t>
            </a:r>
            <a:endParaRPr lang="en-US" sz="1600" dirty="0"/>
          </a:p>
        </p:txBody>
      </p:sp>
      <p:sp>
        <p:nvSpPr>
          <p:cNvPr id="13" name="Text 10"/>
          <p:cNvSpPr txBox="1"/>
          <p:nvPr/>
        </p:nvSpPr>
        <p:spPr>
          <a:xfrm>
            <a:off x="2129246"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256-entry sine table</a:t>
            </a:r>
            <a:endParaRPr lang="en-US" sz="1400" dirty="0"/>
          </a:p>
          <a:p>
            <a:pPr indent="0" marL="0">
              <a:buNone/>
            </a:pPr>
            <a:r>
              <a:rPr lang="en-US" sz="1400" dirty="0">
                <a:solidFill>
                  <a:schemeClr val="tx2"/>
                </a:solidFill>
              </a:rPr>
              <a:t>vib = 1 + depth × sine</a:t>
            </a:r>
            <a:endParaRPr lang="en-US" sz="1400" dirty="0"/>
          </a:p>
        </p:txBody>
      </p:sp>
      <p:sp>
        <p:nvSpPr>
          <p:cNvPr id="14" name="Shape 11"/>
          <p:cNvSpPr/>
          <p:nvPr/>
        </p:nvSpPr>
        <p:spPr>
          <a:xfrm>
            <a:off x="4349931" y="1783080"/>
            <a:ext cx="894806" cy="0"/>
          </a:xfrm>
          <a:prstGeom prst="line">
            <a:avLst/>
          </a:prstGeom>
          <a:noFill/>
          <a:ln w="19050">
            <a:solidFill>
              <a:srgbClr val="6B7F8E"/>
            </a:solidFill>
            <a:prstDash val="solid"/>
            <a:tailEnd type="triangle"/>
          </a:ln>
        </p:spPr>
      </p:sp>
      <p:sp>
        <p:nvSpPr>
          <p:cNvPr id="15" name="Shape 12"/>
          <p:cNvSpPr/>
          <p:nvPr/>
        </p:nvSpPr>
        <p:spPr>
          <a:xfrm>
            <a:off x="3709851" y="1508760"/>
            <a:ext cx="548640" cy="548640"/>
          </a:xfrm>
          <a:prstGeom prst="ellipse">
            <a:avLst/>
          </a:prstGeom>
          <a:solidFill>
            <a:schemeClr val="accent1"/>
          </a:solidFill>
          <a:ln/>
        </p:spPr>
      </p:sp>
      <p:sp>
        <p:nvSpPr>
          <p:cNvPr id="16" name="Text 13"/>
          <p:cNvSpPr txBox="1"/>
          <p:nvPr/>
        </p:nvSpPr>
        <p:spPr>
          <a:xfrm>
            <a:off x="3709851"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3709851"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Advance phase</a:t>
            </a:r>
            <a:endParaRPr lang="en-US" sz="1600" dirty="0"/>
          </a:p>
        </p:txBody>
      </p:sp>
      <p:sp>
        <p:nvSpPr>
          <p:cNvPr id="18" name="Text 15"/>
          <p:cNvSpPr txBox="1"/>
          <p:nvPr/>
        </p:nvSpPr>
        <p:spPr>
          <a:xfrm>
            <a:off x="3709851"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phase += freq × vib / 44100</a:t>
            </a:r>
            <a:endParaRPr lang="en-US" sz="1400" dirty="0"/>
          </a:p>
          <a:p>
            <a:pPr indent="0" marL="0">
              <a:buNone/>
            </a:pPr>
            <a:r>
              <a:rPr lang="en-US" sz="1400" dirty="0">
                <a:solidFill>
                  <a:schemeClr val="tx2"/>
                </a:solidFill>
              </a:rPr>
              <a:t>wrap at 1.0</a:t>
            </a:r>
            <a:endParaRPr lang="en-US" sz="1400" dirty="0"/>
          </a:p>
        </p:txBody>
      </p:sp>
      <p:sp>
        <p:nvSpPr>
          <p:cNvPr id="19" name="Shape 16"/>
          <p:cNvSpPr/>
          <p:nvPr/>
        </p:nvSpPr>
        <p:spPr>
          <a:xfrm>
            <a:off x="5930537" y="1783080"/>
            <a:ext cx="894806" cy="0"/>
          </a:xfrm>
          <a:prstGeom prst="line">
            <a:avLst/>
          </a:prstGeom>
          <a:noFill/>
          <a:ln w="19050">
            <a:solidFill>
              <a:srgbClr val="6B7F8E"/>
            </a:solidFill>
            <a:prstDash val="solid"/>
            <a:tailEnd type="triangle"/>
          </a:ln>
        </p:spPr>
      </p:sp>
      <p:sp>
        <p:nvSpPr>
          <p:cNvPr id="20" name="Shape 17"/>
          <p:cNvSpPr/>
          <p:nvPr/>
        </p:nvSpPr>
        <p:spPr>
          <a:xfrm>
            <a:off x="5290457" y="1508760"/>
            <a:ext cx="548640" cy="548640"/>
          </a:xfrm>
          <a:prstGeom prst="ellipse">
            <a:avLst/>
          </a:prstGeom>
          <a:solidFill>
            <a:schemeClr val="accent3"/>
          </a:solidFill>
          <a:ln/>
        </p:spPr>
      </p:sp>
      <p:sp>
        <p:nvSpPr>
          <p:cNvPr id="21" name="Text 18"/>
          <p:cNvSpPr txBox="1"/>
          <p:nvPr/>
        </p:nvSpPr>
        <p:spPr>
          <a:xfrm>
            <a:off x="5290457" y="15087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2" name="Text 19"/>
          <p:cNvSpPr txBox="1"/>
          <p:nvPr/>
        </p:nvSpPr>
        <p:spPr>
          <a:xfrm>
            <a:off x="5290457"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Shape</a:t>
            </a:r>
            <a:endParaRPr lang="en-US" sz="1600" dirty="0"/>
          </a:p>
        </p:txBody>
      </p:sp>
      <p:sp>
        <p:nvSpPr>
          <p:cNvPr id="23" name="Text 20"/>
          <p:cNvSpPr txBox="1"/>
          <p:nvPr/>
        </p:nvSpPr>
        <p:spPr>
          <a:xfrm>
            <a:off x="5290457"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square, sawtooth,</a:t>
            </a:r>
            <a:endParaRPr lang="en-US" sz="1400" dirty="0"/>
          </a:p>
          <a:p>
            <a:pPr indent="0" marL="0">
              <a:buNone/>
            </a:pPr>
            <a:r>
              <a:rPr lang="en-US" sz="1400" dirty="0">
                <a:solidFill>
                  <a:schemeClr val="tx2"/>
                </a:solidFill>
              </a:rPr>
              <a:t>triangle or noise</a:t>
            </a:r>
            <a:endParaRPr lang="en-US" sz="1400" dirty="0"/>
          </a:p>
        </p:txBody>
      </p:sp>
      <p:sp>
        <p:nvSpPr>
          <p:cNvPr id="24" name="Shape 21"/>
          <p:cNvSpPr/>
          <p:nvPr/>
        </p:nvSpPr>
        <p:spPr>
          <a:xfrm>
            <a:off x="7511143" y="1783080"/>
            <a:ext cx="894806" cy="0"/>
          </a:xfrm>
          <a:prstGeom prst="line">
            <a:avLst/>
          </a:prstGeom>
          <a:noFill/>
          <a:ln w="19050">
            <a:solidFill>
              <a:srgbClr val="6B7F8E"/>
            </a:solidFill>
            <a:prstDash val="solid"/>
            <a:tailEnd type="triangle"/>
          </a:ln>
        </p:spPr>
      </p:sp>
      <p:sp>
        <p:nvSpPr>
          <p:cNvPr id="25" name="Shape 22"/>
          <p:cNvSpPr/>
          <p:nvPr/>
        </p:nvSpPr>
        <p:spPr>
          <a:xfrm>
            <a:off x="6871063" y="1508760"/>
            <a:ext cx="548640" cy="548640"/>
          </a:xfrm>
          <a:prstGeom prst="ellipse">
            <a:avLst/>
          </a:prstGeom>
          <a:solidFill>
            <a:schemeClr val="accent1"/>
          </a:solidFill>
          <a:ln/>
        </p:spPr>
      </p:sp>
      <p:sp>
        <p:nvSpPr>
          <p:cNvPr id="26" name="Text 23"/>
          <p:cNvSpPr txBox="1"/>
          <p:nvPr/>
        </p:nvSpPr>
        <p:spPr>
          <a:xfrm>
            <a:off x="6871063"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 24"/>
          <p:cNvSpPr txBox="1"/>
          <p:nvPr/>
        </p:nvSpPr>
        <p:spPr>
          <a:xfrm>
            <a:off x="6871063"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Envelope</a:t>
            </a:r>
            <a:endParaRPr lang="en-US" sz="1600" dirty="0"/>
          </a:p>
        </p:txBody>
      </p:sp>
      <p:sp>
        <p:nvSpPr>
          <p:cNvPr id="28" name="Text 25"/>
          <p:cNvSpPr txBox="1"/>
          <p:nvPr/>
        </p:nvSpPr>
        <p:spPr>
          <a:xfrm>
            <a:off x="6871063"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attack 0 → 1</a:t>
            </a:r>
            <a:endParaRPr lang="en-US" sz="1400" dirty="0"/>
          </a:p>
          <a:p>
            <a:pPr indent="0" marL="0">
              <a:buNone/>
            </a:pPr>
            <a:r>
              <a:rPr lang="en-US" sz="1400" dirty="0">
                <a:solidFill>
                  <a:schemeClr val="tx2"/>
                </a:solidFill>
              </a:rPr>
              <a:t>sustain 1</a:t>
            </a:r>
            <a:endParaRPr lang="en-US" sz="1400" dirty="0"/>
          </a:p>
          <a:p>
            <a:pPr indent="0" marL="0">
              <a:buNone/>
            </a:pPr>
            <a:r>
              <a:rPr lang="en-US" sz="1400" dirty="0">
                <a:solidFill>
                  <a:schemeClr val="tx2"/>
                </a:solidFill>
              </a:rPr>
              <a:t>decay 1 → 0</a:t>
            </a:r>
            <a:endParaRPr lang="en-US" sz="1400" dirty="0"/>
          </a:p>
        </p:txBody>
      </p:sp>
      <p:sp>
        <p:nvSpPr>
          <p:cNvPr id="29" name="Shape 26"/>
          <p:cNvSpPr/>
          <p:nvPr/>
        </p:nvSpPr>
        <p:spPr>
          <a:xfrm>
            <a:off x="9091749" y="1783080"/>
            <a:ext cx="894806" cy="0"/>
          </a:xfrm>
          <a:prstGeom prst="line">
            <a:avLst/>
          </a:prstGeom>
          <a:noFill/>
          <a:ln w="19050">
            <a:solidFill>
              <a:srgbClr val="6B7F8E"/>
            </a:solidFill>
            <a:prstDash val="solid"/>
            <a:tailEnd type="triangle"/>
          </a:ln>
        </p:spPr>
      </p:sp>
      <p:sp>
        <p:nvSpPr>
          <p:cNvPr id="30" name="Shape 27"/>
          <p:cNvSpPr/>
          <p:nvPr/>
        </p:nvSpPr>
        <p:spPr>
          <a:xfrm>
            <a:off x="8451669" y="1508760"/>
            <a:ext cx="548640" cy="548640"/>
          </a:xfrm>
          <a:prstGeom prst="ellipse">
            <a:avLst/>
          </a:prstGeom>
          <a:solidFill>
            <a:schemeClr val="accent1"/>
          </a:solidFill>
          <a:ln/>
        </p:spPr>
      </p:sp>
      <p:sp>
        <p:nvSpPr>
          <p:cNvPr id="31" name="Text 28"/>
          <p:cNvSpPr txBox="1"/>
          <p:nvPr/>
        </p:nvSpPr>
        <p:spPr>
          <a:xfrm>
            <a:off x="8451669"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2" name="Text 29"/>
          <p:cNvSpPr txBox="1"/>
          <p:nvPr/>
        </p:nvSpPr>
        <p:spPr>
          <a:xfrm>
            <a:off x="8451669"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Quantize</a:t>
            </a:r>
            <a:endParaRPr lang="en-US" sz="1600" dirty="0"/>
          </a:p>
        </p:txBody>
      </p:sp>
      <p:sp>
        <p:nvSpPr>
          <p:cNvPr id="33" name="Text 30"/>
          <p:cNvSpPr txBox="1"/>
          <p:nvPr/>
        </p:nvSpPr>
        <p:spPr>
          <a:xfrm>
            <a:off x="8451669"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 gain × volume × 32767</a:t>
            </a:r>
            <a:endParaRPr lang="en-US" sz="1400" dirty="0"/>
          </a:p>
          <a:p>
            <a:pPr indent="0" marL="0">
              <a:buNone/>
            </a:pPr>
            <a:r>
              <a:rPr lang="en-US" sz="1400" dirty="0">
                <a:solidFill>
                  <a:schemeClr val="tx2"/>
                </a:solidFill>
              </a:rPr>
              <a:t>round: cvtss2si</a:t>
            </a:r>
            <a:endParaRPr lang="en-US" sz="1400" dirty="0"/>
          </a:p>
          <a:p>
            <a:pPr indent="0" marL="0">
              <a:buNone/>
            </a:pPr>
            <a:r>
              <a:rPr lang="en-US" sz="1400" dirty="0">
                <a:solidFill>
                  <a:schemeClr val="tx2"/>
                </a:solidFill>
              </a:rPr>
              <a:t>clamp: packssdw</a:t>
            </a:r>
            <a:endParaRPr lang="en-US" sz="1400" dirty="0"/>
          </a:p>
        </p:txBody>
      </p:sp>
      <p:sp>
        <p:nvSpPr>
          <p:cNvPr id="34" name="Shape 31"/>
          <p:cNvSpPr/>
          <p:nvPr/>
        </p:nvSpPr>
        <p:spPr>
          <a:xfrm>
            <a:off x="10032274" y="1508760"/>
            <a:ext cx="548640" cy="548640"/>
          </a:xfrm>
          <a:prstGeom prst="ellipse">
            <a:avLst/>
          </a:prstGeom>
          <a:solidFill>
            <a:schemeClr val="accent1"/>
          </a:solidFill>
          <a:ln/>
        </p:spPr>
      </p:sp>
      <p:sp>
        <p:nvSpPr>
          <p:cNvPr id="35" name="Text 32"/>
          <p:cNvSpPr txBox="1"/>
          <p:nvPr/>
        </p:nvSpPr>
        <p:spPr>
          <a:xfrm>
            <a:off x="10032274"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6" name="Text 33"/>
          <p:cNvSpPr txBox="1"/>
          <p:nvPr/>
        </p:nvSpPr>
        <p:spPr>
          <a:xfrm>
            <a:off x="10032274"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Store</a:t>
            </a:r>
            <a:endParaRPr lang="en-US" sz="1600" dirty="0"/>
          </a:p>
        </p:txBody>
      </p:sp>
      <p:sp>
        <p:nvSpPr>
          <p:cNvPr id="37" name="Text 34"/>
          <p:cNvSpPr txBox="1"/>
          <p:nvPr/>
        </p:nvSpPr>
        <p:spPr>
          <a:xfrm>
            <a:off x="10032274"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out[n] = sample</a:t>
            </a:r>
            <a:endParaRPr lang="en-US" sz="1400" dirty="0"/>
          </a:p>
          <a:p>
            <a:pPr indent="0" marL="0">
              <a:buNone/>
            </a:pPr>
            <a:r>
              <a:rPr lang="en-US" sz="1400" dirty="0">
                <a:solidFill>
                  <a:schemeClr val="tx2"/>
                </a:solidFill>
              </a:rPr>
              <a:t>n++ and loop</a:t>
            </a:r>
            <a:endParaRPr lang="en-US" sz="1400" dirty="0"/>
          </a:p>
        </p:txBody>
      </p:sp>
      <p:sp>
        <p:nvSpPr>
          <p:cNvPr id="38" name="card"/>
          <p:cNvSpPr/>
          <p:nvPr/>
        </p:nvSpPr>
        <p:spPr>
          <a:xfrm>
            <a:off x="548640" y="4206240"/>
            <a:ext cx="11064240" cy="1828800"/>
          </a:xfrm>
          <a:prstGeom prst="roundRect">
            <a:avLst>
              <a:gd name="adj" fmla="val 4000"/>
            </a:avLst>
          </a:prstGeom>
          <a:solidFill>
            <a:schemeClr val="tx1"/>
          </a:solidFill>
          <a:ln/>
        </p:spPr>
      </p:sp>
      <p:sp>
        <p:nvSpPr>
          <p:cNvPr id="39" name="Text 36"/>
          <p:cNvSpPr txBox="1"/>
          <p:nvPr/>
        </p:nvSpPr>
        <p:spPr>
          <a:xfrm>
            <a:off x="822960" y="4389120"/>
            <a:ext cx="10058400" cy="365760"/>
          </a:xfrm>
          <a:prstGeom prst="rect">
            <a:avLst/>
          </a:prstGeom>
          <a:noFill/>
          <a:ln/>
        </p:spPr>
        <p:txBody>
          <a:bodyPr wrap="square" lIns="0" tIns="0" rIns="0" bIns="0" rtlCol="0" anchor="t"/>
          <a:lstStyle/>
          <a:p>
            <a:pPr indent="0" marL="0">
              <a:buNone/>
            </a:pPr>
            <a:r>
              <a:rPr lang="en-US" sz="1500" b="1" dirty="0">
                <a:solidFill>
                  <a:schemeClr val="accent2"/>
                </a:solidFill>
              </a:rPr>
              <a:t>Registers that live across the whole loop</a:t>
            </a:r>
            <a:endParaRPr lang="en-US" sz="1500" dirty="0"/>
          </a:p>
        </p:txBody>
      </p:sp>
      <p:sp>
        <p:nvSpPr>
          <p:cNvPr id="40" name="Text 37"/>
          <p:cNvSpPr txBox="1"/>
          <p:nvPr/>
        </p:nvSpPr>
        <p:spPr>
          <a:xfrm>
            <a:off x="822960" y="4892040"/>
            <a:ext cx="2011680" cy="411480"/>
          </a:xfrm>
          <a:prstGeom prst="rect">
            <a:avLst/>
          </a:prstGeom>
          <a:noFill/>
          <a:ln/>
        </p:spPr>
        <p:txBody>
          <a:bodyPr wrap="square" lIns="0" tIns="0" rIns="0" bIns="0" rtlCol="0" anchor="t"/>
          <a:lstStyle/>
          <a:p>
            <a:pPr indent="0" marL="0">
              <a:buNone/>
            </a:pPr>
            <a:r>
              <a:rPr lang="en-US" sz="2000" b="1" dirty="0">
                <a:solidFill>
                  <a:schemeClr val="bg1"/>
                </a:solidFill>
                <a:latin typeface="Courier New" pitchFamily="34" charset="0"/>
                <a:ea typeface="Courier New" pitchFamily="34" charset="-122"/>
                <a:cs typeface="Courier New" pitchFamily="34" charset="-120"/>
              </a:rPr>
              <a:t>R8D</a:t>
            </a:r>
            <a:endParaRPr lang="en-US" sz="2000" dirty="0"/>
          </a:p>
        </p:txBody>
      </p:sp>
      <p:sp>
        <p:nvSpPr>
          <p:cNvPr id="41" name="Text 38"/>
          <p:cNvSpPr txBox="1"/>
          <p:nvPr/>
        </p:nvSpPr>
        <p:spPr>
          <a:xfrm>
            <a:off x="822960" y="5349240"/>
            <a:ext cx="2011680" cy="365760"/>
          </a:xfrm>
          <a:prstGeom prst="rect">
            <a:avLst/>
          </a:prstGeom>
          <a:noFill/>
          <a:ln/>
        </p:spPr>
        <p:txBody>
          <a:bodyPr wrap="square" lIns="0" tIns="0" rIns="0" bIns="0" rtlCol="0" anchor="t"/>
          <a:lstStyle/>
          <a:p>
            <a:pPr indent="0" marL="0">
              <a:buNone/>
            </a:pPr>
            <a:r>
              <a:rPr lang="en-US" sz="1300" dirty="0">
                <a:solidFill>
                  <a:schemeClr val="bg2"/>
                </a:solidFill>
              </a:rPr>
              <a:t>n, sample index</a:t>
            </a:r>
            <a:endParaRPr lang="en-US" sz="1300" dirty="0"/>
          </a:p>
        </p:txBody>
      </p:sp>
      <p:sp>
        <p:nvSpPr>
          <p:cNvPr id="42" name="Text 39"/>
          <p:cNvSpPr txBox="1"/>
          <p:nvPr/>
        </p:nvSpPr>
        <p:spPr>
          <a:xfrm>
            <a:off x="2971800" y="4892040"/>
            <a:ext cx="2011680" cy="411480"/>
          </a:xfrm>
          <a:prstGeom prst="rect">
            <a:avLst/>
          </a:prstGeom>
          <a:noFill/>
          <a:ln/>
        </p:spPr>
        <p:txBody>
          <a:bodyPr wrap="square" lIns="0" tIns="0" rIns="0" bIns="0" rtlCol="0" anchor="t"/>
          <a:lstStyle/>
          <a:p>
            <a:pPr indent="0" marL="0">
              <a:buNone/>
            </a:pPr>
            <a:r>
              <a:rPr lang="en-US" sz="2000" b="1" dirty="0">
                <a:solidFill>
                  <a:schemeClr val="bg1"/>
                </a:solidFill>
                <a:latin typeface="Courier New" pitchFamily="34" charset="0"/>
                <a:ea typeface="Courier New" pitchFamily="34" charset="-122"/>
                <a:cs typeface="Courier New" pitchFamily="34" charset="-120"/>
              </a:rPr>
              <a:t>XMM3</a:t>
            </a:r>
            <a:endParaRPr lang="en-US" sz="2000" dirty="0"/>
          </a:p>
        </p:txBody>
      </p:sp>
      <p:sp>
        <p:nvSpPr>
          <p:cNvPr id="43" name="Text 40"/>
          <p:cNvSpPr txBox="1"/>
          <p:nvPr/>
        </p:nvSpPr>
        <p:spPr>
          <a:xfrm>
            <a:off x="2971800" y="5349240"/>
            <a:ext cx="2011680" cy="365760"/>
          </a:xfrm>
          <a:prstGeom prst="rect">
            <a:avLst/>
          </a:prstGeom>
          <a:noFill/>
          <a:ln/>
        </p:spPr>
        <p:txBody>
          <a:bodyPr wrap="square" lIns="0" tIns="0" rIns="0" bIns="0" rtlCol="0" anchor="t"/>
          <a:lstStyle/>
          <a:p>
            <a:pPr indent="0" marL="0">
              <a:buNone/>
            </a:pPr>
            <a:r>
              <a:rPr lang="en-US" sz="1300" dirty="0">
                <a:solidFill>
                  <a:schemeClr val="bg2"/>
                </a:solidFill>
              </a:rPr>
              <a:t>phase 0–1</a:t>
            </a:r>
            <a:endParaRPr lang="en-US" sz="1300" dirty="0"/>
          </a:p>
        </p:txBody>
      </p:sp>
      <p:sp>
        <p:nvSpPr>
          <p:cNvPr id="44" name="Text 41"/>
          <p:cNvSpPr txBox="1"/>
          <p:nvPr/>
        </p:nvSpPr>
        <p:spPr>
          <a:xfrm>
            <a:off x="5120640" y="4892040"/>
            <a:ext cx="2011680" cy="411480"/>
          </a:xfrm>
          <a:prstGeom prst="rect">
            <a:avLst/>
          </a:prstGeom>
          <a:noFill/>
          <a:ln/>
        </p:spPr>
        <p:txBody>
          <a:bodyPr wrap="square" lIns="0" tIns="0" rIns="0" bIns="0" rtlCol="0" anchor="t"/>
          <a:lstStyle/>
          <a:p>
            <a:pPr indent="0" marL="0">
              <a:buNone/>
            </a:pPr>
            <a:r>
              <a:rPr lang="en-US" sz="2000" b="1" dirty="0">
                <a:solidFill>
                  <a:schemeClr val="bg1"/>
                </a:solidFill>
                <a:latin typeface="Courier New" pitchFamily="34" charset="0"/>
                <a:ea typeface="Courier New" pitchFamily="34" charset="-122"/>
                <a:cs typeface="Courier New" pitchFamily="34" charset="-120"/>
              </a:rPr>
              <a:t>XMM4</a:t>
            </a:r>
            <a:endParaRPr lang="en-US" sz="2000" dirty="0"/>
          </a:p>
        </p:txBody>
      </p:sp>
      <p:sp>
        <p:nvSpPr>
          <p:cNvPr id="45" name="Text 42"/>
          <p:cNvSpPr txBox="1"/>
          <p:nvPr/>
        </p:nvSpPr>
        <p:spPr>
          <a:xfrm>
            <a:off x="5120640" y="5349240"/>
            <a:ext cx="2011680" cy="365760"/>
          </a:xfrm>
          <a:prstGeom prst="rect">
            <a:avLst/>
          </a:prstGeom>
          <a:noFill/>
          <a:ln/>
        </p:spPr>
        <p:txBody>
          <a:bodyPr wrap="square" lIns="0" tIns="0" rIns="0" bIns="0" rtlCol="0" anchor="t"/>
          <a:lstStyle/>
          <a:p>
            <a:pPr indent="0" marL="0">
              <a:buNone/>
            </a:pPr>
            <a:r>
              <a:rPr lang="en-US" sz="1300" dirty="0">
                <a:solidFill>
                  <a:schemeClr val="bg2"/>
                </a:solidFill>
              </a:rPr>
              <a:t>frequency (Hz)</a:t>
            </a:r>
            <a:endParaRPr lang="en-US" sz="1300" dirty="0"/>
          </a:p>
        </p:txBody>
      </p:sp>
      <p:sp>
        <p:nvSpPr>
          <p:cNvPr id="46" name="Text 43"/>
          <p:cNvSpPr txBox="1"/>
          <p:nvPr/>
        </p:nvSpPr>
        <p:spPr>
          <a:xfrm>
            <a:off x="7269480" y="4892040"/>
            <a:ext cx="2011680" cy="411480"/>
          </a:xfrm>
          <a:prstGeom prst="rect">
            <a:avLst/>
          </a:prstGeom>
          <a:noFill/>
          <a:ln/>
        </p:spPr>
        <p:txBody>
          <a:bodyPr wrap="square" lIns="0" tIns="0" rIns="0" bIns="0" rtlCol="0" anchor="t"/>
          <a:lstStyle/>
          <a:p>
            <a:pPr indent="0" marL="0">
              <a:buNone/>
            </a:pPr>
            <a:r>
              <a:rPr lang="en-US" sz="2000" b="1" dirty="0">
                <a:solidFill>
                  <a:schemeClr val="bg1"/>
                </a:solidFill>
                <a:latin typeface="Courier New" pitchFamily="34" charset="0"/>
                <a:ea typeface="Courier New" pitchFamily="34" charset="-122"/>
                <a:cs typeface="Courier New" pitchFamily="34" charset="-120"/>
              </a:rPr>
              <a:t>XMM5</a:t>
            </a:r>
            <a:endParaRPr lang="en-US" sz="2000" dirty="0"/>
          </a:p>
        </p:txBody>
      </p:sp>
      <p:sp>
        <p:nvSpPr>
          <p:cNvPr id="47" name="Text 44"/>
          <p:cNvSpPr txBox="1"/>
          <p:nvPr/>
        </p:nvSpPr>
        <p:spPr>
          <a:xfrm>
            <a:off x="7269480" y="5349240"/>
            <a:ext cx="2011680" cy="365760"/>
          </a:xfrm>
          <a:prstGeom prst="rect">
            <a:avLst/>
          </a:prstGeom>
          <a:noFill/>
          <a:ln/>
        </p:spPr>
        <p:txBody>
          <a:bodyPr wrap="square" lIns="0" tIns="0" rIns="0" bIns="0" rtlCol="0" anchor="t"/>
          <a:lstStyle/>
          <a:p>
            <a:pPr indent="0" marL="0">
              <a:buNone/>
            </a:pPr>
            <a:r>
              <a:rPr lang="en-US" sz="1300" dirty="0">
                <a:solidFill>
                  <a:schemeClr val="bg2"/>
                </a:solidFill>
              </a:rPr>
              <a:t>vibrato phase</a:t>
            </a:r>
            <a:endParaRPr lang="en-US" sz="1300" dirty="0"/>
          </a:p>
        </p:txBody>
      </p:sp>
      <p:sp>
        <p:nvSpPr>
          <p:cNvPr id="48" name="Text 45"/>
          <p:cNvSpPr txBox="1"/>
          <p:nvPr/>
        </p:nvSpPr>
        <p:spPr>
          <a:xfrm>
            <a:off x="9418320" y="4892040"/>
            <a:ext cx="2011680" cy="411480"/>
          </a:xfrm>
          <a:prstGeom prst="rect">
            <a:avLst/>
          </a:prstGeom>
          <a:noFill/>
          <a:ln/>
        </p:spPr>
        <p:txBody>
          <a:bodyPr wrap="square" lIns="0" tIns="0" rIns="0" bIns="0" rtlCol="0" anchor="t"/>
          <a:lstStyle/>
          <a:p>
            <a:pPr indent="0" marL="0">
              <a:buNone/>
            </a:pPr>
            <a:r>
              <a:rPr lang="en-US" sz="2000" b="1" dirty="0">
                <a:solidFill>
                  <a:schemeClr val="bg1"/>
                </a:solidFill>
                <a:latin typeface="Courier New" pitchFamily="34" charset="0"/>
                <a:ea typeface="Courier New" pitchFamily="34" charset="-122"/>
                <a:cs typeface="Courier New" pitchFamily="34" charset="-120"/>
              </a:rPr>
              <a:t>R9D</a:t>
            </a:r>
            <a:endParaRPr lang="en-US" sz="2000" dirty="0"/>
          </a:p>
        </p:txBody>
      </p:sp>
      <p:sp>
        <p:nvSpPr>
          <p:cNvPr id="49" name="Text 46"/>
          <p:cNvSpPr txBox="1"/>
          <p:nvPr/>
        </p:nvSpPr>
        <p:spPr>
          <a:xfrm>
            <a:off x="9418320" y="5349240"/>
            <a:ext cx="2011680" cy="365760"/>
          </a:xfrm>
          <a:prstGeom prst="rect">
            <a:avLst/>
          </a:prstGeom>
          <a:noFill/>
          <a:ln/>
        </p:spPr>
        <p:txBody>
          <a:bodyPr wrap="square" lIns="0" tIns="0" rIns="0" bIns="0" rtlCol="0" anchor="t"/>
          <a:lstStyle/>
          <a:p>
            <a:pPr indent="0" marL="0">
              <a:buNone/>
            </a:pPr>
            <a:r>
              <a:rPr lang="en-US" sz="1300" dirty="0">
                <a:solidFill>
                  <a:schemeClr val="bg2"/>
                </a:solidFill>
              </a:rPr>
              <a:t>noise state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Four waveforms come from one phase value between 0 and 1</a:t>
            </a:r>
            <a:endParaRPr lang="en-US" sz="2800" dirty="0"/>
          </a:p>
        </p:txBody>
      </p:sp>
      <p:sp>
        <p:nvSpPr>
          <p:cNvPr id="4" name="card"/>
          <p:cNvSpPr/>
          <p:nvPr/>
        </p:nvSpPr>
        <p:spPr>
          <a:xfrm>
            <a:off x="548640" y="1508760"/>
            <a:ext cx="2606040" cy="3657600"/>
          </a:xfrm>
          <a:prstGeom prst="roundRect">
            <a:avLst>
              <a:gd name="adj" fmla="val 2807"/>
            </a:avLst>
          </a:prstGeom>
          <a:solidFill>
            <a:schemeClr val="bg2"/>
          </a:solidFill>
          <a:ln/>
        </p:spPr>
      </p:sp>
      <p:sp>
        <p:nvSpPr>
          <p:cNvPr id="5" name="Shape 2"/>
          <p:cNvSpPr/>
          <p:nvPr/>
        </p:nvSpPr>
        <p:spPr>
          <a:xfrm>
            <a:off x="731520" y="1691640"/>
            <a:ext cx="2240280" cy="1463040"/>
          </a:xfrm>
          <a:prstGeom prst="roundRect">
            <a:avLst>
              <a:gd name="adj" fmla="val 3750"/>
            </a:avLst>
          </a:prstGeom>
          <a:solidFill>
            <a:schemeClr val="tx1"/>
          </a:solidFill>
          <a:ln/>
        </p:spPr>
      </p:sp>
      <p:sp>
        <p:nvSpPr>
          <p:cNvPr id="6" name="Shape 3"/>
          <p:cNvSpPr/>
          <p:nvPr/>
        </p:nvSpPr>
        <p:spPr>
          <a:xfrm>
            <a:off x="822960" y="2423160"/>
            <a:ext cx="2057400" cy="0"/>
          </a:xfrm>
          <a:prstGeom prst="line">
            <a:avLst/>
          </a:prstGeom>
          <a:noFill/>
          <a:ln w="12700">
            <a:solidFill>
              <a:srgbClr val="425565"/>
            </a:solidFill>
            <a:prstDash val="solid"/>
          </a:ln>
        </p:spPr>
      </p:sp>
      <p:sp>
        <p:nvSpPr>
          <p:cNvPr id="7" name="Shape 4"/>
          <p:cNvSpPr/>
          <p:nvPr/>
        </p:nvSpPr>
        <p:spPr>
          <a:xfrm>
            <a:off x="868680" y="1920240"/>
            <a:ext cx="491490" cy="0"/>
          </a:xfrm>
          <a:prstGeom prst="line">
            <a:avLst/>
          </a:prstGeom>
          <a:noFill/>
          <a:ln w="31750">
            <a:solidFill>
              <a:srgbClr val="58DBBC"/>
            </a:solidFill>
            <a:prstDash val="solid"/>
          </a:ln>
        </p:spPr>
      </p:sp>
      <p:sp>
        <p:nvSpPr>
          <p:cNvPr id="8" name="Shape 5"/>
          <p:cNvSpPr/>
          <p:nvPr/>
        </p:nvSpPr>
        <p:spPr>
          <a:xfrm>
            <a:off x="1360170" y="1920240"/>
            <a:ext cx="0" cy="1005840"/>
          </a:xfrm>
          <a:prstGeom prst="line">
            <a:avLst/>
          </a:prstGeom>
          <a:noFill/>
          <a:ln w="31750">
            <a:solidFill>
              <a:srgbClr val="58DBBC"/>
            </a:solidFill>
            <a:prstDash val="solid"/>
          </a:ln>
        </p:spPr>
      </p:sp>
      <p:sp>
        <p:nvSpPr>
          <p:cNvPr id="9" name="Shape 6"/>
          <p:cNvSpPr/>
          <p:nvPr/>
        </p:nvSpPr>
        <p:spPr>
          <a:xfrm>
            <a:off x="1360170" y="2926080"/>
            <a:ext cx="491490" cy="0"/>
          </a:xfrm>
          <a:prstGeom prst="line">
            <a:avLst/>
          </a:prstGeom>
          <a:noFill/>
          <a:ln w="31750">
            <a:solidFill>
              <a:srgbClr val="58DBBC"/>
            </a:solidFill>
            <a:prstDash val="solid"/>
          </a:ln>
        </p:spPr>
      </p:sp>
      <p:sp>
        <p:nvSpPr>
          <p:cNvPr id="10" name="Shape 7"/>
          <p:cNvSpPr/>
          <p:nvPr/>
        </p:nvSpPr>
        <p:spPr>
          <a:xfrm>
            <a:off x="1851660" y="1920240"/>
            <a:ext cx="0" cy="1005840"/>
          </a:xfrm>
          <a:prstGeom prst="line">
            <a:avLst/>
          </a:prstGeom>
          <a:noFill/>
          <a:ln w="31750">
            <a:solidFill>
              <a:srgbClr val="58DBBC"/>
            </a:solidFill>
            <a:prstDash val="solid"/>
          </a:ln>
        </p:spPr>
      </p:sp>
      <p:sp>
        <p:nvSpPr>
          <p:cNvPr id="11" name="Shape 8"/>
          <p:cNvSpPr/>
          <p:nvPr/>
        </p:nvSpPr>
        <p:spPr>
          <a:xfrm>
            <a:off x="1851660" y="1920240"/>
            <a:ext cx="0" cy="0"/>
          </a:xfrm>
          <a:prstGeom prst="line">
            <a:avLst/>
          </a:prstGeom>
          <a:noFill/>
          <a:ln w="31750">
            <a:solidFill>
              <a:srgbClr val="58DBBC"/>
            </a:solidFill>
            <a:prstDash val="solid"/>
          </a:ln>
        </p:spPr>
      </p:sp>
      <p:sp>
        <p:nvSpPr>
          <p:cNvPr id="12" name="Shape 9"/>
          <p:cNvSpPr/>
          <p:nvPr/>
        </p:nvSpPr>
        <p:spPr>
          <a:xfrm>
            <a:off x="1851660" y="1920240"/>
            <a:ext cx="491490" cy="0"/>
          </a:xfrm>
          <a:prstGeom prst="line">
            <a:avLst/>
          </a:prstGeom>
          <a:noFill/>
          <a:ln w="31750">
            <a:solidFill>
              <a:srgbClr val="58DBBC"/>
            </a:solidFill>
            <a:prstDash val="solid"/>
          </a:ln>
        </p:spPr>
      </p:sp>
      <p:sp>
        <p:nvSpPr>
          <p:cNvPr id="13" name="Shape 10"/>
          <p:cNvSpPr/>
          <p:nvPr/>
        </p:nvSpPr>
        <p:spPr>
          <a:xfrm>
            <a:off x="2343150" y="1920240"/>
            <a:ext cx="0" cy="1005840"/>
          </a:xfrm>
          <a:prstGeom prst="line">
            <a:avLst/>
          </a:prstGeom>
          <a:noFill/>
          <a:ln w="31750">
            <a:solidFill>
              <a:srgbClr val="58DBBC"/>
            </a:solidFill>
            <a:prstDash val="solid"/>
          </a:ln>
        </p:spPr>
      </p:sp>
      <p:sp>
        <p:nvSpPr>
          <p:cNvPr id="14" name="Shape 11"/>
          <p:cNvSpPr/>
          <p:nvPr/>
        </p:nvSpPr>
        <p:spPr>
          <a:xfrm>
            <a:off x="2343150" y="2926080"/>
            <a:ext cx="491490" cy="0"/>
          </a:xfrm>
          <a:prstGeom prst="line">
            <a:avLst/>
          </a:prstGeom>
          <a:noFill/>
          <a:ln w="31750">
            <a:solidFill>
              <a:srgbClr val="58DBBC"/>
            </a:solidFill>
            <a:prstDash val="solid"/>
          </a:ln>
        </p:spPr>
      </p:sp>
      <p:sp>
        <p:nvSpPr>
          <p:cNvPr id="15" name="Text 12"/>
          <p:cNvSpPr txBox="1"/>
          <p:nvPr/>
        </p:nvSpPr>
        <p:spPr>
          <a:xfrm>
            <a:off x="777240"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Square</a:t>
            </a:r>
            <a:endParaRPr lang="en-US" sz="2000" dirty="0"/>
          </a:p>
        </p:txBody>
      </p:sp>
      <p:sp>
        <p:nvSpPr>
          <p:cNvPr id="16" name="Text 13"/>
          <p:cNvSpPr txBox="1"/>
          <p:nvPr/>
        </p:nvSpPr>
        <p:spPr>
          <a:xfrm>
            <a:off x="777240" y="3886200"/>
            <a:ext cx="2240280" cy="8229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phase &lt; 0.5 ? +1 : −1</a:t>
            </a:r>
            <a:endParaRPr lang="en-US" sz="1400" dirty="0"/>
          </a:p>
        </p:txBody>
      </p:sp>
      <p:sp>
        <p:nvSpPr>
          <p:cNvPr id="17" name="Text 14"/>
          <p:cNvSpPr txBox="1"/>
          <p:nvPr/>
        </p:nvSpPr>
        <p:spPr>
          <a:xfrm>
            <a:off x="777240" y="4526280"/>
            <a:ext cx="2240280" cy="548640"/>
          </a:xfrm>
          <a:prstGeom prst="rect">
            <a:avLst/>
          </a:prstGeom>
          <a:noFill/>
          <a:ln/>
        </p:spPr>
        <p:txBody>
          <a:bodyPr wrap="square" lIns="0" tIns="0" rIns="0" bIns="0" rtlCol="0" anchor="t"/>
          <a:lstStyle/>
          <a:p>
            <a:pPr indent="0" marL="0">
              <a:buNone/>
            </a:pPr>
            <a:r>
              <a:rPr lang="en-US" sz="1300" dirty="0">
                <a:solidFill>
                  <a:schemeClr val="accent5"/>
                </a:solidFill>
              </a:rPr>
              <a:t>comiss + jb</a:t>
            </a:r>
            <a:endParaRPr lang="en-US" sz="1300" dirty="0"/>
          </a:p>
        </p:txBody>
      </p:sp>
      <p:sp>
        <p:nvSpPr>
          <p:cNvPr id="18" name="card"/>
          <p:cNvSpPr/>
          <p:nvPr/>
        </p:nvSpPr>
        <p:spPr>
          <a:xfrm>
            <a:off x="3364992" y="1508760"/>
            <a:ext cx="2606040" cy="3657600"/>
          </a:xfrm>
          <a:prstGeom prst="roundRect">
            <a:avLst>
              <a:gd name="adj" fmla="val 2807"/>
            </a:avLst>
          </a:prstGeom>
          <a:solidFill>
            <a:schemeClr val="bg2"/>
          </a:solidFill>
          <a:ln/>
        </p:spPr>
      </p:sp>
      <p:sp>
        <p:nvSpPr>
          <p:cNvPr id="19" name="Shape 16"/>
          <p:cNvSpPr/>
          <p:nvPr/>
        </p:nvSpPr>
        <p:spPr>
          <a:xfrm>
            <a:off x="3547872" y="1691640"/>
            <a:ext cx="2240280" cy="1463040"/>
          </a:xfrm>
          <a:prstGeom prst="roundRect">
            <a:avLst>
              <a:gd name="adj" fmla="val 3750"/>
            </a:avLst>
          </a:prstGeom>
          <a:solidFill>
            <a:schemeClr val="tx1"/>
          </a:solidFill>
          <a:ln/>
        </p:spPr>
      </p:sp>
      <p:sp>
        <p:nvSpPr>
          <p:cNvPr id="20" name="Shape 17"/>
          <p:cNvSpPr/>
          <p:nvPr/>
        </p:nvSpPr>
        <p:spPr>
          <a:xfrm>
            <a:off x="3639312" y="2423160"/>
            <a:ext cx="2057400" cy="0"/>
          </a:xfrm>
          <a:prstGeom prst="line">
            <a:avLst/>
          </a:prstGeom>
          <a:noFill/>
          <a:ln w="12700">
            <a:solidFill>
              <a:srgbClr val="425565"/>
            </a:solidFill>
            <a:prstDash val="solid"/>
          </a:ln>
        </p:spPr>
      </p:sp>
      <p:sp>
        <p:nvSpPr>
          <p:cNvPr id="21" name="Shape 18"/>
          <p:cNvSpPr/>
          <p:nvPr/>
        </p:nvSpPr>
        <p:spPr>
          <a:xfrm flipV="1">
            <a:off x="3685032" y="1920240"/>
            <a:ext cx="982980" cy="1005840"/>
          </a:xfrm>
          <a:prstGeom prst="line">
            <a:avLst/>
          </a:prstGeom>
          <a:noFill/>
          <a:ln w="31750">
            <a:solidFill>
              <a:srgbClr val="58DBBC"/>
            </a:solidFill>
            <a:prstDash val="solid"/>
          </a:ln>
        </p:spPr>
      </p:sp>
      <p:sp>
        <p:nvSpPr>
          <p:cNvPr id="22" name="Shape 19"/>
          <p:cNvSpPr/>
          <p:nvPr/>
        </p:nvSpPr>
        <p:spPr>
          <a:xfrm>
            <a:off x="4668012" y="1920240"/>
            <a:ext cx="0" cy="1005840"/>
          </a:xfrm>
          <a:prstGeom prst="line">
            <a:avLst/>
          </a:prstGeom>
          <a:noFill/>
          <a:ln w="31750">
            <a:solidFill>
              <a:srgbClr val="58DBBC"/>
            </a:solidFill>
            <a:prstDash val="solid"/>
          </a:ln>
        </p:spPr>
      </p:sp>
      <p:sp>
        <p:nvSpPr>
          <p:cNvPr id="23" name="Shape 20"/>
          <p:cNvSpPr/>
          <p:nvPr/>
        </p:nvSpPr>
        <p:spPr>
          <a:xfrm>
            <a:off x="4668012" y="2926080"/>
            <a:ext cx="0" cy="0"/>
          </a:xfrm>
          <a:prstGeom prst="line">
            <a:avLst/>
          </a:prstGeom>
          <a:noFill/>
          <a:ln w="31750">
            <a:solidFill>
              <a:srgbClr val="58DBBC"/>
            </a:solidFill>
            <a:prstDash val="solid"/>
          </a:ln>
        </p:spPr>
      </p:sp>
      <p:sp>
        <p:nvSpPr>
          <p:cNvPr id="24" name="Shape 21"/>
          <p:cNvSpPr/>
          <p:nvPr/>
        </p:nvSpPr>
        <p:spPr>
          <a:xfrm flipV="1">
            <a:off x="4668012" y="1920240"/>
            <a:ext cx="982980" cy="1005840"/>
          </a:xfrm>
          <a:prstGeom prst="line">
            <a:avLst/>
          </a:prstGeom>
          <a:noFill/>
          <a:ln w="31750">
            <a:solidFill>
              <a:srgbClr val="58DBBC"/>
            </a:solidFill>
            <a:prstDash val="solid"/>
          </a:ln>
        </p:spPr>
      </p:sp>
      <p:sp>
        <p:nvSpPr>
          <p:cNvPr id="25" name="Text 22"/>
          <p:cNvSpPr txBox="1"/>
          <p:nvPr/>
        </p:nvSpPr>
        <p:spPr>
          <a:xfrm>
            <a:off x="3593592"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Sawtooth</a:t>
            </a:r>
            <a:endParaRPr lang="en-US" sz="2000" dirty="0"/>
          </a:p>
        </p:txBody>
      </p:sp>
      <p:sp>
        <p:nvSpPr>
          <p:cNvPr id="26" name="Text 23"/>
          <p:cNvSpPr txBox="1"/>
          <p:nvPr/>
        </p:nvSpPr>
        <p:spPr>
          <a:xfrm>
            <a:off x="3593592" y="3886200"/>
            <a:ext cx="2240280" cy="8229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2 × phase − 1</a:t>
            </a:r>
            <a:endParaRPr lang="en-US" sz="1400" dirty="0"/>
          </a:p>
        </p:txBody>
      </p:sp>
      <p:sp>
        <p:nvSpPr>
          <p:cNvPr id="27" name="Text 24"/>
          <p:cNvSpPr txBox="1"/>
          <p:nvPr/>
        </p:nvSpPr>
        <p:spPr>
          <a:xfrm>
            <a:off x="3593592" y="4526280"/>
            <a:ext cx="2240280" cy="548640"/>
          </a:xfrm>
          <a:prstGeom prst="rect">
            <a:avLst/>
          </a:prstGeom>
          <a:noFill/>
          <a:ln/>
        </p:spPr>
        <p:txBody>
          <a:bodyPr wrap="square" lIns="0" tIns="0" rIns="0" bIns="0" rtlCol="0" anchor="t"/>
          <a:lstStyle/>
          <a:p>
            <a:pPr indent="0" marL="0">
              <a:buNone/>
            </a:pPr>
            <a:r>
              <a:rPr lang="en-US" sz="1300" dirty="0">
                <a:solidFill>
                  <a:schemeClr val="accent5"/>
                </a:solidFill>
              </a:rPr>
              <a:t>mulss, subss</a:t>
            </a:r>
            <a:endParaRPr lang="en-US" sz="1300" dirty="0"/>
          </a:p>
        </p:txBody>
      </p:sp>
      <p:sp>
        <p:nvSpPr>
          <p:cNvPr id="28" name="card"/>
          <p:cNvSpPr/>
          <p:nvPr/>
        </p:nvSpPr>
        <p:spPr>
          <a:xfrm>
            <a:off x="6181344" y="1508760"/>
            <a:ext cx="2606040" cy="3657600"/>
          </a:xfrm>
          <a:prstGeom prst="roundRect">
            <a:avLst>
              <a:gd name="adj" fmla="val 2807"/>
            </a:avLst>
          </a:prstGeom>
          <a:solidFill>
            <a:schemeClr val="bg2"/>
          </a:solidFill>
          <a:ln/>
        </p:spPr>
      </p:sp>
      <p:sp>
        <p:nvSpPr>
          <p:cNvPr id="29" name="Shape 26"/>
          <p:cNvSpPr/>
          <p:nvPr/>
        </p:nvSpPr>
        <p:spPr>
          <a:xfrm>
            <a:off x="6364224" y="1691640"/>
            <a:ext cx="2240280" cy="1463040"/>
          </a:xfrm>
          <a:prstGeom prst="roundRect">
            <a:avLst>
              <a:gd name="adj" fmla="val 3750"/>
            </a:avLst>
          </a:prstGeom>
          <a:solidFill>
            <a:schemeClr val="tx1"/>
          </a:solidFill>
          <a:ln/>
        </p:spPr>
      </p:sp>
      <p:sp>
        <p:nvSpPr>
          <p:cNvPr id="30" name="Shape 27"/>
          <p:cNvSpPr/>
          <p:nvPr/>
        </p:nvSpPr>
        <p:spPr>
          <a:xfrm>
            <a:off x="6455664" y="2423160"/>
            <a:ext cx="2057400" cy="0"/>
          </a:xfrm>
          <a:prstGeom prst="line">
            <a:avLst/>
          </a:prstGeom>
          <a:noFill/>
          <a:ln w="12700">
            <a:solidFill>
              <a:srgbClr val="425565"/>
            </a:solidFill>
            <a:prstDash val="solid"/>
          </a:ln>
        </p:spPr>
      </p:sp>
      <p:sp>
        <p:nvSpPr>
          <p:cNvPr id="31" name="Shape 28"/>
          <p:cNvSpPr/>
          <p:nvPr/>
        </p:nvSpPr>
        <p:spPr>
          <a:xfrm flipV="1">
            <a:off x="6501384" y="1920240"/>
            <a:ext cx="491490" cy="1005840"/>
          </a:xfrm>
          <a:prstGeom prst="line">
            <a:avLst/>
          </a:prstGeom>
          <a:noFill/>
          <a:ln w="31750">
            <a:solidFill>
              <a:srgbClr val="58DBBC"/>
            </a:solidFill>
            <a:prstDash val="solid"/>
          </a:ln>
        </p:spPr>
      </p:sp>
      <p:sp>
        <p:nvSpPr>
          <p:cNvPr id="32" name="Shape 29"/>
          <p:cNvSpPr/>
          <p:nvPr/>
        </p:nvSpPr>
        <p:spPr>
          <a:xfrm>
            <a:off x="6992874" y="1920240"/>
            <a:ext cx="491490" cy="1005840"/>
          </a:xfrm>
          <a:prstGeom prst="line">
            <a:avLst/>
          </a:prstGeom>
          <a:noFill/>
          <a:ln w="31750">
            <a:solidFill>
              <a:srgbClr val="58DBBC"/>
            </a:solidFill>
            <a:prstDash val="solid"/>
          </a:ln>
        </p:spPr>
      </p:sp>
      <p:sp>
        <p:nvSpPr>
          <p:cNvPr id="33" name="Shape 30"/>
          <p:cNvSpPr/>
          <p:nvPr/>
        </p:nvSpPr>
        <p:spPr>
          <a:xfrm>
            <a:off x="7484364" y="2926080"/>
            <a:ext cx="0" cy="0"/>
          </a:xfrm>
          <a:prstGeom prst="line">
            <a:avLst/>
          </a:prstGeom>
          <a:noFill/>
          <a:ln w="31750">
            <a:solidFill>
              <a:srgbClr val="58DBBC"/>
            </a:solidFill>
            <a:prstDash val="solid"/>
          </a:ln>
        </p:spPr>
      </p:sp>
      <p:sp>
        <p:nvSpPr>
          <p:cNvPr id="34" name="Shape 31"/>
          <p:cNvSpPr/>
          <p:nvPr/>
        </p:nvSpPr>
        <p:spPr>
          <a:xfrm flipV="1">
            <a:off x="7484364" y="1920240"/>
            <a:ext cx="491490" cy="1005840"/>
          </a:xfrm>
          <a:prstGeom prst="line">
            <a:avLst/>
          </a:prstGeom>
          <a:noFill/>
          <a:ln w="31750">
            <a:solidFill>
              <a:srgbClr val="58DBBC"/>
            </a:solidFill>
            <a:prstDash val="solid"/>
          </a:ln>
        </p:spPr>
      </p:sp>
      <p:sp>
        <p:nvSpPr>
          <p:cNvPr id="35" name="Shape 32"/>
          <p:cNvSpPr/>
          <p:nvPr/>
        </p:nvSpPr>
        <p:spPr>
          <a:xfrm>
            <a:off x="7975854" y="1920240"/>
            <a:ext cx="491490" cy="1005840"/>
          </a:xfrm>
          <a:prstGeom prst="line">
            <a:avLst/>
          </a:prstGeom>
          <a:noFill/>
          <a:ln w="31750">
            <a:solidFill>
              <a:srgbClr val="58DBBC"/>
            </a:solidFill>
            <a:prstDash val="solid"/>
          </a:ln>
        </p:spPr>
      </p:sp>
      <p:sp>
        <p:nvSpPr>
          <p:cNvPr id="36" name="Text 33"/>
          <p:cNvSpPr txBox="1"/>
          <p:nvPr/>
        </p:nvSpPr>
        <p:spPr>
          <a:xfrm>
            <a:off x="6409944"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Triangle</a:t>
            </a:r>
            <a:endParaRPr lang="en-US" sz="2000" dirty="0"/>
          </a:p>
        </p:txBody>
      </p:sp>
      <p:sp>
        <p:nvSpPr>
          <p:cNvPr id="37" name="Text 34"/>
          <p:cNvSpPr txBox="1"/>
          <p:nvPr/>
        </p:nvSpPr>
        <p:spPr>
          <a:xfrm>
            <a:off x="6409944" y="3886200"/>
            <a:ext cx="2240280" cy="8229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1 − 4 × |phase − 0.5|</a:t>
            </a:r>
            <a:endParaRPr lang="en-US" sz="1400" dirty="0"/>
          </a:p>
        </p:txBody>
      </p:sp>
      <p:sp>
        <p:nvSpPr>
          <p:cNvPr id="38" name="Text 35"/>
          <p:cNvSpPr txBox="1"/>
          <p:nvPr/>
        </p:nvSpPr>
        <p:spPr>
          <a:xfrm>
            <a:off x="6409944" y="4526280"/>
            <a:ext cx="2240280" cy="548640"/>
          </a:xfrm>
          <a:prstGeom prst="rect">
            <a:avLst/>
          </a:prstGeom>
          <a:noFill/>
          <a:ln/>
        </p:spPr>
        <p:txBody>
          <a:bodyPr wrap="square" lIns="0" tIns="0" rIns="0" bIns="0" rtlCol="0" anchor="t"/>
          <a:lstStyle/>
          <a:p>
            <a:pPr indent="0" marL="0">
              <a:buNone/>
            </a:pPr>
            <a:r>
              <a:rPr lang="en-US" sz="1300" dirty="0">
                <a:solidFill>
                  <a:schemeClr val="accent5"/>
                </a:solidFill>
              </a:rPr>
              <a:t>andps clears the sign bit = abs()</a:t>
            </a:r>
            <a:endParaRPr lang="en-US" sz="1300" dirty="0"/>
          </a:p>
        </p:txBody>
      </p:sp>
      <p:sp>
        <p:nvSpPr>
          <p:cNvPr id="39" name="card"/>
          <p:cNvSpPr/>
          <p:nvPr/>
        </p:nvSpPr>
        <p:spPr>
          <a:xfrm>
            <a:off x="8997696" y="1508760"/>
            <a:ext cx="2606040" cy="3657600"/>
          </a:xfrm>
          <a:prstGeom prst="roundRect">
            <a:avLst>
              <a:gd name="adj" fmla="val 2807"/>
            </a:avLst>
          </a:prstGeom>
          <a:solidFill>
            <a:schemeClr val="bg2"/>
          </a:solidFill>
          <a:ln/>
        </p:spPr>
      </p:sp>
      <p:sp>
        <p:nvSpPr>
          <p:cNvPr id="40" name="Shape 37"/>
          <p:cNvSpPr/>
          <p:nvPr/>
        </p:nvSpPr>
        <p:spPr>
          <a:xfrm>
            <a:off x="9180576" y="1691640"/>
            <a:ext cx="2240280" cy="1463040"/>
          </a:xfrm>
          <a:prstGeom prst="roundRect">
            <a:avLst>
              <a:gd name="adj" fmla="val 3750"/>
            </a:avLst>
          </a:prstGeom>
          <a:solidFill>
            <a:schemeClr val="tx1"/>
          </a:solidFill>
          <a:ln/>
        </p:spPr>
      </p:sp>
      <p:sp>
        <p:nvSpPr>
          <p:cNvPr id="41" name="Shape 38"/>
          <p:cNvSpPr/>
          <p:nvPr/>
        </p:nvSpPr>
        <p:spPr>
          <a:xfrm>
            <a:off x="9272016" y="2423160"/>
            <a:ext cx="2057400" cy="0"/>
          </a:xfrm>
          <a:prstGeom prst="line">
            <a:avLst/>
          </a:prstGeom>
          <a:noFill/>
          <a:ln w="12700">
            <a:solidFill>
              <a:srgbClr val="425565"/>
            </a:solidFill>
            <a:prstDash val="solid"/>
          </a:ln>
        </p:spPr>
      </p:sp>
      <p:sp>
        <p:nvSpPr>
          <p:cNvPr id="42" name="Shape 39"/>
          <p:cNvSpPr/>
          <p:nvPr/>
        </p:nvSpPr>
        <p:spPr>
          <a:xfrm>
            <a:off x="9317736" y="2121408"/>
            <a:ext cx="163830" cy="0"/>
          </a:xfrm>
          <a:prstGeom prst="line">
            <a:avLst/>
          </a:prstGeom>
          <a:noFill/>
          <a:ln w="31750">
            <a:solidFill>
              <a:srgbClr val="58DBBC"/>
            </a:solidFill>
            <a:prstDash val="solid"/>
          </a:ln>
        </p:spPr>
      </p:sp>
      <p:sp>
        <p:nvSpPr>
          <p:cNvPr id="43" name="Shape 40"/>
          <p:cNvSpPr/>
          <p:nvPr/>
        </p:nvSpPr>
        <p:spPr>
          <a:xfrm>
            <a:off x="9481566" y="2121408"/>
            <a:ext cx="0" cy="704088"/>
          </a:xfrm>
          <a:prstGeom prst="line">
            <a:avLst/>
          </a:prstGeom>
          <a:noFill/>
          <a:ln w="31750">
            <a:solidFill>
              <a:srgbClr val="58DBBC"/>
            </a:solidFill>
            <a:prstDash val="solid"/>
          </a:ln>
        </p:spPr>
      </p:sp>
      <p:sp>
        <p:nvSpPr>
          <p:cNvPr id="44" name="Shape 41"/>
          <p:cNvSpPr/>
          <p:nvPr/>
        </p:nvSpPr>
        <p:spPr>
          <a:xfrm>
            <a:off x="9481566" y="2825496"/>
            <a:ext cx="163830" cy="0"/>
          </a:xfrm>
          <a:prstGeom prst="line">
            <a:avLst/>
          </a:prstGeom>
          <a:noFill/>
          <a:ln w="31750">
            <a:solidFill>
              <a:srgbClr val="58DBBC"/>
            </a:solidFill>
            <a:prstDash val="solid"/>
          </a:ln>
        </p:spPr>
      </p:sp>
      <p:sp>
        <p:nvSpPr>
          <p:cNvPr id="45" name="Shape 42"/>
          <p:cNvSpPr/>
          <p:nvPr/>
        </p:nvSpPr>
        <p:spPr>
          <a:xfrm>
            <a:off x="9645396" y="2272284"/>
            <a:ext cx="0" cy="553212"/>
          </a:xfrm>
          <a:prstGeom prst="line">
            <a:avLst/>
          </a:prstGeom>
          <a:noFill/>
          <a:ln w="31750">
            <a:solidFill>
              <a:srgbClr val="58DBBC"/>
            </a:solidFill>
            <a:prstDash val="solid"/>
          </a:ln>
        </p:spPr>
      </p:sp>
      <p:sp>
        <p:nvSpPr>
          <p:cNvPr id="46" name="Shape 43"/>
          <p:cNvSpPr/>
          <p:nvPr/>
        </p:nvSpPr>
        <p:spPr>
          <a:xfrm>
            <a:off x="9645396" y="2272284"/>
            <a:ext cx="163830" cy="0"/>
          </a:xfrm>
          <a:prstGeom prst="line">
            <a:avLst/>
          </a:prstGeom>
          <a:noFill/>
          <a:ln w="31750">
            <a:solidFill>
              <a:srgbClr val="58DBBC"/>
            </a:solidFill>
            <a:prstDash val="solid"/>
          </a:ln>
        </p:spPr>
      </p:sp>
      <p:sp>
        <p:nvSpPr>
          <p:cNvPr id="47" name="Shape 44"/>
          <p:cNvSpPr/>
          <p:nvPr/>
        </p:nvSpPr>
        <p:spPr>
          <a:xfrm>
            <a:off x="9809226" y="2272284"/>
            <a:ext cx="0" cy="352044"/>
          </a:xfrm>
          <a:prstGeom prst="line">
            <a:avLst/>
          </a:prstGeom>
          <a:noFill/>
          <a:ln w="31750">
            <a:solidFill>
              <a:srgbClr val="58DBBC"/>
            </a:solidFill>
            <a:prstDash val="solid"/>
          </a:ln>
        </p:spPr>
      </p:sp>
      <p:sp>
        <p:nvSpPr>
          <p:cNvPr id="48" name="Shape 45"/>
          <p:cNvSpPr/>
          <p:nvPr/>
        </p:nvSpPr>
        <p:spPr>
          <a:xfrm>
            <a:off x="9809226" y="2624328"/>
            <a:ext cx="163830" cy="0"/>
          </a:xfrm>
          <a:prstGeom prst="line">
            <a:avLst/>
          </a:prstGeom>
          <a:noFill/>
          <a:ln w="31750">
            <a:solidFill>
              <a:srgbClr val="58DBBC"/>
            </a:solidFill>
            <a:prstDash val="solid"/>
          </a:ln>
        </p:spPr>
      </p:sp>
      <p:sp>
        <p:nvSpPr>
          <p:cNvPr id="49" name="Shape 46"/>
          <p:cNvSpPr/>
          <p:nvPr/>
        </p:nvSpPr>
        <p:spPr>
          <a:xfrm>
            <a:off x="9973056" y="1970532"/>
            <a:ext cx="0" cy="653796"/>
          </a:xfrm>
          <a:prstGeom prst="line">
            <a:avLst/>
          </a:prstGeom>
          <a:noFill/>
          <a:ln w="31750">
            <a:solidFill>
              <a:srgbClr val="58DBBC"/>
            </a:solidFill>
            <a:prstDash val="solid"/>
          </a:ln>
        </p:spPr>
      </p:sp>
      <p:sp>
        <p:nvSpPr>
          <p:cNvPr id="50" name="Shape 47"/>
          <p:cNvSpPr/>
          <p:nvPr/>
        </p:nvSpPr>
        <p:spPr>
          <a:xfrm>
            <a:off x="9973056" y="1970532"/>
            <a:ext cx="163830" cy="0"/>
          </a:xfrm>
          <a:prstGeom prst="line">
            <a:avLst/>
          </a:prstGeom>
          <a:noFill/>
          <a:ln w="31750">
            <a:solidFill>
              <a:srgbClr val="58DBBC"/>
            </a:solidFill>
            <a:prstDash val="solid"/>
          </a:ln>
        </p:spPr>
      </p:sp>
      <p:sp>
        <p:nvSpPr>
          <p:cNvPr id="51" name="Shape 48"/>
          <p:cNvSpPr/>
          <p:nvPr/>
        </p:nvSpPr>
        <p:spPr>
          <a:xfrm>
            <a:off x="10136886" y="1970532"/>
            <a:ext cx="0" cy="502920"/>
          </a:xfrm>
          <a:prstGeom prst="line">
            <a:avLst/>
          </a:prstGeom>
          <a:noFill/>
          <a:ln w="31750">
            <a:solidFill>
              <a:srgbClr val="58DBBC"/>
            </a:solidFill>
            <a:prstDash val="solid"/>
          </a:ln>
        </p:spPr>
      </p:sp>
      <p:sp>
        <p:nvSpPr>
          <p:cNvPr id="52" name="Shape 49"/>
          <p:cNvSpPr/>
          <p:nvPr/>
        </p:nvSpPr>
        <p:spPr>
          <a:xfrm>
            <a:off x="10136886" y="2473452"/>
            <a:ext cx="163830" cy="0"/>
          </a:xfrm>
          <a:prstGeom prst="line">
            <a:avLst/>
          </a:prstGeom>
          <a:noFill/>
          <a:ln w="31750">
            <a:solidFill>
              <a:srgbClr val="58DBBC"/>
            </a:solidFill>
            <a:prstDash val="solid"/>
          </a:ln>
        </p:spPr>
      </p:sp>
      <p:sp>
        <p:nvSpPr>
          <p:cNvPr id="53" name="Shape 50"/>
          <p:cNvSpPr/>
          <p:nvPr/>
        </p:nvSpPr>
        <p:spPr>
          <a:xfrm>
            <a:off x="10300716" y="2473452"/>
            <a:ext cx="0" cy="402336"/>
          </a:xfrm>
          <a:prstGeom prst="line">
            <a:avLst/>
          </a:prstGeom>
          <a:noFill/>
          <a:ln w="31750">
            <a:solidFill>
              <a:srgbClr val="58DBBC"/>
            </a:solidFill>
            <a:prstDash val="solid"/>
          </a:ln>
        </p:spPr>
      </p:sp>
      <p:sp>
        <p:nvSpPr>
          <p:cNvPr id="54" name="Shape 51"/>
          <p:cNvSpPr/>
          <p:nvPr/>
        </p:nvSpPr>
        <p:spPr>
          <a:xfrm>
            <a:off x="10300716" y="2875788"/>
            <a:ext cx="163830" cy="0"/>
          </a:xfrm>
          <a:prstGeom prst="line">
            <a:avLst/>
          </a:prstGeom>
          <a:noFill/>
          <a:ln w="31750">
            <a:solidFill>
              <a:srgbClr val="58DBBC"/>
            </a:solidFill>
            <a:prstDash val="solid"/>
          </a:ln>
        </p:spPr>
      </p:sp>
      <p:sp>
        <p:nvSpPr>
          <p:cNvPr id="55" name="Shape 52"/>
          <p:cNvSpPr/>
          <p:nvPr/>
        </p:nvSpPr>
        <p:spPr>
          <a:xfrm>
            <a:off x="10464546" y="2071116"/>
            <a:ext cx="0" cy="804672"/>
          </a:xfrm>
          <a:prstGeom prst="line">
            <a:avLst/>
          </a:prstGeom>
          <a:noFill/>
          <a:ln w="31750">
            <a:solidFill>
              <a:srgbClr val="58DBBC"/>
            </a:solidFill>
            <a:prstDash val="solid"/>
          </a:ln>
        </p:spPr>
      </p:sp>
      <p:sp>
        <p:nvSpPr>
          <p:cNvPr id="56" name="Shape 53"/>
          <p:cNvSpPr/>
          <p:nvPr/>
        </p:nvSpPr>
        <p:spPr>
          <a:xfrm>
            <a:off x="10464546" y="2071116"/>
            <a:ext cx="163830" cy="0"/>
          </a:xfrm>
          <a:prstGeom prst="line">
            <a:avLst/>
          </a:prstGeom>
          <a:noFill/>
          <a:ln w="31750">
            <a:solidFill>
              <a:srgbClr val="58DBBC"/>
            </a:solidFill>
            <a:prstDash val="solid"/>
          </a:ln>
        </p:spPr>
      </p:sp>
      <p:sp>
        <p:nvSpPr>
          <p:cNvPr id="57" name="Shape 54"/>
          <p:cNvSpPr/>
          <p:nvPr/>
        </p:nvSpPr>
        <p:spPr>
          <a:xfrm>
            <a:off x="10628376" y="2071116"/>
            <a:ext cx="0" cy="452628"/>
          </a:xfrm>
          <a:prstGeom prst="line">
            <a:avLst/>
          </a:prstGeom>
          <a:noFill/>
          <a:ln w="31750">
            <a:solidFill>
              <a:srgbClr val="58DBBC"/>
            </a:solidFill>
            <a:prstDash val="solid"/>
          </a:ln>
        </p:spPr>
      </p:sp>
      <p:sp>
        <p:nvSpPr>
          <p:cNvPr id="58" name="Shape 55"/>
          <p:cNvSpPr/>
          <p:nvPr/>
        </p:nvSpPr>
        <p:spPr>
          <a:xfrm>
            <a:off x="10628376" y="2523744"/>
            <a:ext cx="163830" cy="0"/>
          </a:xfrm>
          <a:prstGeom prst="line">
            <a:avLst/>
          </a:prstGeom>
          <a:noFill/>
          <a:ln w="31750">
            <a:solidFill>
              <a:srgbClr val="58DBBC"/>
            </a:solidFill>
            <a:prstDash val="solid"/>
          </a:ln>
        </p:spPr>
      </p:sp>
      <p:sp>
        <p:nvSpPr>
          <p:cNvPr id="59" name="Shape 56"/>
          <p:cNvSpPr/>
          <p:nvPr/>
        </p:nvSpPr>
        <p:spPr>
          <a:xfrm>
            <a:off x="10792206" y="2221992"/>
            <a:ext cx="0" cy="301752"/>
          </a:xfrm>
          <a:prstGeom prst="line">
            <a:avLst/>
          </a:prstGeom>
          <a:noFill/>
          <a:ln w="31750">
            <a:solidFill>
              <a:srgbClr val="58DBBC"/>
            </a:solidFill>
            <a:prstDash val="solid"/>
          </a:ln>
        </p:spPr>
      </p:sp>
      <p:sp>
        <p:nvSpPr>
          <p:cNvPr id="60" name="Shape 57"/>
          <p:cNvSpPr/>
          <p:nvPr/>
        </p:nvSpPr>
        <p:spPr>
          <a:xfrm>
            <a:off x="10792206" y="2221992"/>
            <a:ext cx="163830" cy="0"/>
          </a:xfrm>
          <a:prstGeom prst="line">
            <a:avLst/>
          </a:prstGeom>
          <a:noFill/>
          <a:ln w="31750">
            <a:solidFill>
              <a:srgbClr val="58DBBC"/>
            </a:solidFill>
            <a:prstDash val="solid"/>
          </a:ln>
        </p:spPr>
      </p:sp>
      <p:sp>
        <p:nvSpPr>
          <p:cNvPr id="61" name="Shape 58"/>
          <p:cNvSpPr/>
          <p:nvPr/>
        </p:nvSpPr>
        <p:spPr>
          <a:xfrm>
            <a:off x="10956036" y="2221992"/>
            <a:ext cx="0" cy="502920"/>
          </a:xfrm>
          <a:prstGeom prst="line">
            <a:avLst/>
          </a:prstGeom>
          <a:noFill/>
          <a:ln w="31750">
            <a:solidFill>
              <a:srgbClr val="58DBBC"/>
            </a:solidFill>
            <a:prstDash val="solid"/>
          </a:ln>
        </p:spPr>
      </p:sp>
      <p:sp>
        <p:nvSpPr>
          <p:cNvPr id="62" name="Shape 59"/>
          <p:cNvSpPr/>
          <p:nvPr/>
        </p:nvSpPr>
        <p:spPr>
          <a:xfrm>
            <a:off x="10956036" y="2724912"/>
            <a:ext cx="163830" cy="0"/>
          </a:xfrm>
          <a:prstGeom prst="line">
            <a:avLst/>
          </a:prstGeom>
          <a:noFill/>
          <a:ln w="31750">
            <a:solidFill>
              <a:srgbClr val="58DBBC"/>
            </a:solidFill>
            <a:prstDash val="solid"/>
          </a:ln>
        </p:spPr>
      </p:sp>
      <p:sp>
        <p:nvSpPr>
          <p:cNvPr id="63" name="Shape 60"/>
          <p:cNvSpPr/>
          <p:nvPr/>
        </p:nvSpPr>
        <p:spPr>
          <a:xfrm>
            <a:off x="11119866" y="2372868"/>
            <a:ext cx="0" cy="352044"/>
          </a:xfrm>
          <a:prstGeom prst="line">
            <a:avLst/>
          </a:prstGeom>
          <a:noFill/>
          <a:ln w="31750">
            <a:solidFill>
              <a:srgbClr val="58DBBC"/>
            </a:solidFill>
            <a:prstDash val="solid"/>
          </a:ln>
        </p:spPr>
      </p:sp>
      <p:sp>
        <p:nvSpPr>
          <p:cNvPr id="64" name="Shape 61"/>
          <p:cNvSpPr/>
          <p:nvPr/>
        </p:nvSpPr>
        <p:spPr>
          <a:xfrm>
            <a:off x="11119866" y="2372868"/>
            <a:ext cx="163830" cy="0"/>
          </a:xfrm>
          <a:prstGeom prst="line">
            <a:avLst/>
          </a:prstGeom>
          <a:noFill/>
          <a:ln w="31750">
            <a:solidFill>
              <a:srgbClr val="58DBBC"/>
            </a:solidFill>
            <a:prstDash val="solid"/>
          </a:ln>
        </p:spPr>
      </p:sp>
      <p:sp>
        <p:nvSpPr>
          <p:cNvPr id="65" name="Text 62"/>
          <p:cNvSpPr txBox="1"/>
          <p:nvPr/>
        </p:nvSpPr>
        <p:spPr>
          <a:xfrm>
            <a:off x="9226296"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Noise</a:t>
            </a:r>
            <a:endParaRPr lang="en-US" sz="2000" dirty="0"/>
          </a:p>
        </p:txBody>
      </p:sp>
      <p:sp>
        <p:nvSpPr>
          <p:cNvPr id="66" name="Text 63"/>
          <p:cNvSpPr txBox="1"/>
          <p:nvPr/>
        </p:nvSpPr>
        <p:spPr>
          <a:xfrm>
            <a:off x="9226296" y="3886200"/>
            <a:ext cx="2240280" cy="8229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new random value each cycle</a:t>
            </a:r>
            <a:endParaRPr lang="en-US" sz="1400" dirty="0"/>
          </a:p>
        </p:txBody>
      </p:sp>
      <p:sp>
        <p:nvSpPr>
          <p:cNvPr id="67" name="Text 64"/>
          <p:cNvSpPr txBox="1"/>
          <p:nvPr/>
        </p:nvSpPr>
        <p:spPr>
          <a:xfrm>
            <a:off x="9226296" y="4526280"/>
            <a:ext cx="2240280" cy="548640"/>
          </a:xfrm>
          <a:prstGeom prst="rect">
            <a:avLst/>
          </a:prstGeom>
          <a:noFill/>
          <a:ln/>
        </p:spPr>
        <p:txBody>
          <a:bodyPr wrap="square" lIns="0" tIns="0" rIns="0" bIns="0" rtlCol="0" anchor="t"/>
          <a:lstStyle/>
          <a:p>
            <a:pPr indent="0" marL="0">
              <a:buNone/>
            </a:pPr>
            <a:r>
              <a:rPr lang="en-US" sz="1300" dirty="0">
                <a:solidFill>
                  <a:schemeClr val="accent5"/>
                </a:solidFill>
              </a:rPr>
              <a:t>xorshift32 × 2⁻³¹</a:t>
            </a:r>
            <a:endParaRPr lang="en-US" sz="1300" dirty="0"/>
          </a:p>
        </p:txBody>
      </p:sp>
      <p:sp>
        <p:nvSpPr>
          <p:cNvPr id="68" name="card"/>
          <p:cNvSpPr/>
          <p:nvPr/>
        </p:nvSpPr>
        <p:spPr>
          <a:xfrm>
            <a:off x="548640" y="5440680"/>
            <a:ext cx="11064240" cy="640080"/>
          </a:xfrm>
          <a:prstGeom prst="roundRect">
            <a:avLst>
              <a:gd name="adj" fmla="val 11429"/>
            </a:avLst>
          </a:prstGeom>
          <a:solidFill>
            <a:schemeClr val="tx1"/>
          </a:solidFill>
          <a:ln/>
        </p:spPr>
      </p:sp>
      <p:sp>
        <p:nvSpPr>
          <p:cNvPr id="69" name="Text 66"/>
          <p:cNvSpPr txBox="1"/>
          <p:nvPr/>
        </p:nvSpPr>
        <p:spPr>
          <a:xfrm>
            <a:off x="822960" y="5440680"/>
            <a:ext cx="10607040" cy="640080"/>
          </a:xfrm>
          <a:prstGeom prst="rect">
            <a:avLst/>
          </a:prstGeom>
          <a:noFill/>
          <a:ln/>
        </p:spPr>
        <p:txBody>
          <a:bodyPr wrap="square" lIns="0" tIns="0" rIns="0" bIns="0" rtlCol="0" anchor="ctr"/>
          <a:lstStyle/>
          <a:p>
            <a:pPr indent="0" marL="0">
              <a:buNone/>
            </a:pPr>
            <a:r>
              <a:rPr lang="en-US" sz="1500" b="1" dirty="0">
                <a:solidFill>
                  <a:schemeClr val="accent2"/>
                </a:solidFill>
                <a:latin typeface="Courier New" pitchFamily="34" charset="0"/>
                <a:ea typeface="Courier New" pitchFamily="34" charset="-122"/>
                <a:cs typeface="Courier New" pitchFamily="34" charset="-120"/>
              </a:rPr>
              <a:t>phase</a:t>
            </a:r>
            <a:pPr indent="0" marL="0">
              <a:buNone/>
            </a:pPr>
            <a:r>
              <a:rPr lang="en-US" sz="1500" dirty="0">
                <a:solidFill>
                  <a:schemeClr val="bg1"/>
                </a:solidFill>
              </a:rPr>
              <a:t> = how far through one cycle (0 to 1). Frequency only changes how fast phase moves, so slides and vibrato stay smooth.</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Six Assembly techniques that C would have hidden from us</a:t>
            </a:r>
            <a:endParaRPr lang="en-US" sz="2800" dirty="0"/>
          </a:p>
        </p:txBody>
      </p:sp>
      <p:sp>
        <p:nvSpPr>
          <p:cNvPr id="4" name="card"/>
          <p:cNvSpPr/>
          <p:nvPr/>
        </p:nvSpPr>
        <p:spPr>
          <a:xfrm>
            <a:off x="548640" y="1463040"/>
            <a:ext cx="3566160" cy="2194560"/>
          </a:xfrm>
          <a:prstGeom prst="roundRect">
            <a:avLst>
              <a:gd name="adj" fmla="val 3333"/>
            </a:avLst>
          </a:prstGeom>
          <a:solidFill>
            <a:schemeClr val="bg2"/>
          </a:solidFill>
          <a:ln/>
        </p:spPr>
      </p:sp>
      <p:sp>
        <p:nvSpPr>
          <p:cNvPr id="5" name="Shape 2"/>
          <p:cNvSpPr/>
          <p:nvPr/>
        </p:nvSpPr>
        <p:spPr>
          <a:xfrm>
            <a:off x="777240" y="1664208"/>
            <a:ext cx="411480" cy="411480"/>
          </a:xfrm>
          <a:prstGeom prst="ellipse">
            <a:avLst/>
          </a:prstGeom>
          <a:solidFill>
            <a:schemeClr val="accent1"/>
          </a:solidFill>
          <a:ln/>
        </p:spPr>
      </p:sp>
      <p:sp>
        <p:nvSpPr>
          <p:cNvPr id="6" name="Text 3"/>
          <p:cNvSpPr txBox="1"/>
          <p:nvPr/>
        </p:nvSpPr>
        <p:spPr>
          <a:xfrm>
            <a:off x="777240" y="16642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325880" y="166420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NaN-proof validation</a:t>
            </a:r>
            <a:endParaRPr lang="en-US" sz="1600" dirty="0"/>
          </a:p>
        </p:txBody>
      </p:sp>
      <p:sp>
        <p:nvSpPr>
          <p:cNvPr id="8" name="Shape 5"/>
          <p:cNvSpPr/>
          <p:nvPr/>
        </p:nvSpPr>
        <p:spPr>
          <a:xfrm>
            <a:off x="777240" y="2240280"/>
            <a:ext cx="3108960" cy="621792"/>
          </a:xfrm>
          <a:prstGeom prst="rect">
            <a:avLst/>
          </a:prstGeom>
          <a:solidFill>
            <a:schemeClr val="tx1"/>
          </a:solidFill>
          <a:ln/>
        </p:spPr>
      </p:sp>
      <p:sp>
        <p:nvSpPr>
          <p:cNvPr id="9" name="Text 6"/>
          <p:cNvSpPr txBox="1"/>
          <p:nvPr/>
        </p:nvSpPr>
        <p:spPr>
          <a:xfrm>
            <a:off x="868680" y="224028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comiss xmm0,[low]</a:t>
            </a:r>
            <a:endParaRPr lang="en-US" sz="1200" dirty="0"/>
          </a:p>
          <a:p>
            <a:pPr indent="0" marL="0">
              <a:buNone/>
            </a:pPr>
            <a:r>
              <a:rPr lang="en-US" sz="1200" b="1" dirty="0">
                <a:solidFill>
                  <a:schemeClr val="accent2"/>
                </a:solidFill>
                <a:latin typeface="Courier New" pitchFamily="34" charset="0"/>
                <a:ea typeface="Courier New" pitchFamily="34" charset="-122"/>
                <a:cs typeface="Courier New" pitchFamily="34" charset="-120"/>
              </a:rPr>
              <a:t>jp .bad</a:t>
            </a:r>
            <a:endParaRPr lang="en-US" sz="1200" dirty="0"/>
          </a:p>
        </p:txBody>
      </p:sp>
      <p:sp>
        <p:nvSpPr>
          <p:cNvPr id="10" name="Text 7"/>
          <p:cNvSpPr txBox="1"/>
          <p:nvPr/>
        </p:nvSpPr>
        <p:spPr>
          <a:xfrm>
            <a:off x="777240" y="2971800"/>
            <a:ext cx="3154680" cy="640080"/>
          </a:xfrm>
          <a:prstGeom prst="rect">
            <a:avLst/>
          </a:prstGeom>
          <a:noFill/>
          <a:ln/>
        </p:spPr>
        <p:txBody>
          <a:bodyPr wrap="square" lIns="0" tIns="0" rIns="0" bIns="0" rtlCol="0" anchor="t"/>
          <a:lstStyle/>
          <a:p>
            <a:pPr indent="0" marL="0">
              <a:buNone/>
            </a:pPr>
            <a:r>
              <a:rPr lang="en-US" sz="1300" dirty="0">
                <a:solidFill>
                  <a:schemeClr val="tx2"/>
                </a:solidFill>
              </a:rPr>
              <a:t>NaN sets the parity flag; 9 fields checked by one table-driven loop</a:t>
            </a:r>
            <a:endParaRPr lang="en-US" sz="1300" dirty="0"/>
          </a:p>
        </p:txBody>
      </p:sp>
      <p:sp>
        <p:nvSpPr>
          <p:cNvPr id="11" name="card"/>
          <p:cNvSpPr/>
          <p:nvPr/>
        </p:nvSpPr>
        <p:spPr>
          <a:xfrm>
            <a:off x="4297680" y="1463040"/>
            <a:ext cx="3566160" cy="2194560"/>
          </a:xfrm>
          <a:prstGeom prst="roundRect">
            <a:avLst>
              <a:gd name="adj" fmla="val 3333"/>
            </a:avLst>
          </a:prstGeom>
          <a:solidFill>
            <a:schemeClr val="bg2"/>
          </a:solidFill>
          <a:ln/>
        </p:spPr>
      </p:sp>
      <p:sp>
        <p:nvSpPr>
          <p:cNvPr id="12" name="Shape 9"/>
          <p:cNvSpPr/>
          <p:nvPr/>
        </p:nvSpPr>
        <p:spPr>
          <a:xfrm>
            <a:off x="4526280" y="1664208"/>
            <a:ext cx="411480" cy="411480"/>
          </a:xfrm>
          <a:prstGeom prst="ellipse">
            <a:avLst/>
          </a:prstGeom>
          <a:solidFill>
            <a:schemeClr val="accent1"/>
          </a:solidFill>
          <a:ln/>
        </p:spPr>
      </p:sp>
      <p:sp>
        <p:nvSpPr>
          <p:cNvPr id="13" name="Text 10"/>
          <p:cNvSpPr txBox="1"/>
          <p:nvPr/>
        </p:nvSpPr>
        <p:spPr>
          <a:xfrm>
            <a:off x="4526280" y="16642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5074920" y="166420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Pitch slide without pow()</a:t>
            </a:r>
            <a:endParaRPr lang="en-US" sz="1600" dirty="0"/>
          </a:p>
        </p:txBody>
      </p:sp>
      <p:sp>
        <p:nvSpPr>
          <p:cNvPr id="15" name="Shape 12"/>
          <p:cNvSpPr/>
          <p:nvPr/>
        </p:nvSpPr>
        <p:spPr>
          <a:xfrm>
            <a:off x="4526280" y="2240280"/>
            <a:ext cx="3108960" cy="621792"/>
          </a:xfrm>
          <a:prstGeom prst="rect">
            <a:avLst/>
          </a:prstGeom>
          <a:solidFill>
            <a:schemeClr val="tx1"/>
          </a:solidFill>
          <a:ln/>
        </p:spPr>
      </p:sp>
      <p:sp>
        <p:nvSpPr>
          <p:cNvPr id="16" name="Text 13"/>
          <p:cNvSpPr txBox="1"/>
          <p:nvPr/>
        </p:nvSpPr>
        <p:spPr>
          <a:xfrm>
            <a:off x="4617720" y="224028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2^x ≈ 1 + y + y²/2</a:t>
            </a:r>
            <a:endParaRPr lang="en-US" sz="1200" dirty="0"/>
          </a:p>
        </p:txBody>
      </p:sp>
      <p:sp>
        <p:nvSpPr>
          <p:cNvPr id="17" name="Text 14"/>
          <p:cNvSpPr txBox="1"/>
          <p:nvPr/>
        </p:nvSpPr>
        <p:spPr>
          <a:xfrm>
            <a:off x="4526280" y="2971800"/>
            <a:ext cx="3154680" cy="640080"/>
          </a:xfrm>
          <a:prstGeom prst="rect">
            <a:avLst/>
          </a:prstGeom>
          <a:noFill/>
          <a:ln/>
        </p:spPr>
        <p:txBody>
          <a:bodyPr wrap="square" lIns="0" tIns="0" rIns="0" bIns="0" rtlCol="0" anchor="t"/>
          <a:lstStyle/>
          <a:p>
            <a:pPr indent="0" marL="0">
              <a:buNone/>
            </a:pPr>
            <a:r>
              <a:rPr lang="en-US" sz="1300" dirty="0">
                <a:solidFill>
                  <a:schemeClr val="tx2"/>
                </a:solidFill>
              </a:rPr>
              <a:t>SSE has no exponent instruction; error ≈ 10⁻¹⁴, below float precision</a:t>
            </a:r>
            <a:endParaRPr lang="en-US" sz="1300" dirty="0"/>
          </a:p>
        </p:txBody>
      </p:sp>
      <p:sp>
        <p:nvSpPr>
          <p:cNvPr id="18" name="card"/>
          <p:cNvSpPr/>
          <p:nvPr/>
        </p:nvSpPr>
        <p:spPr>
          <a:xfrm>
            <a:off x="8046720" y="1463040"/>
            <a:ext cx="3566160" cy="2194560"/>
          </a:xfrm>
          <a:prstGeom prst="roundRect">
            <a:avLst>
              <a:gd name="adj" fmla="val 3333"/>
            </a:avLst>
          </a:prstGeom>
          <a:solidFill>
            <a:schemeClr val="bg2"/>
          </a:solidFill>
          <a:ln/>
        </p:spPr>
      </p:sp>
      <p:sp>
        <p:nvSpPr>
          <p:cNvPr id="19" name="Shape 16"/>
          <p:cNvSpPr/>
          <p:nvPr/>
        </p:nvSpPr>
        <p:spPr>
          <a:xfrm>
            <a:off x="8275320" y="1664208"/>
            <a:ext cx="411480" cy="411480"/>
          </a:xfrm>
          <a:prstGeom prst="ellipse">
            <a:avLst/>
          </a:prstGeom>
          <a:solidFill>
            <a:schemeClr val="accent1"/>
          </a:solidFill>
          <a:ln/>
        </p:spPr>
      </p:sp>
      <p:sp>
        <p:nvSpPr>
          <p:cNvPr id="20" name="Text 17"/>
          <p:cNvSpPr txBox="1"/>
          <p:nvPr/>
        </p:nvSpPr>
        <p:spPr>
          <a:xfrm>
            <a:off x="8275320" y="16642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8"/>
          <p:cNvSpPr txBox="1"/>
          <p:nvPr/>
        </p:nvSpPr>
        <p:spPr>
          <a:xfrm>
            <a:off x="8823960" y="166420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Phase accumulator</a:t>
            </a:r>
            <a:endParaRPr lang="en-US" sz="1600" dirty="0"/>
          </a:p>
        </p:txBody>
      </p:sp>
      <p:sp>
        <p:nvSpPr>
          <p:cNvPr id="22" name="Shape 19"/>
          <p:cNvSpPr/>
          <p:nvPr/>
        </p:nvSpPr>
        <p:spPr>
          <a:xfrm>
            <a:off x="8275320" y="2240280"/>
            <a:ext cx="3108960" cy="621792"/>
          </a:xfrm>
          <a:prstGeom prst="rect">
            <a:avLst/>
          </a:prstGeom>
          <a:solidFill>
            <a:schemeClr val="tx1"/>
          </a:solidFill>
          <a:ln/>
        </p:spPr>
      </p:sp>
      <p:sp>
        <p:nvSpPr>
          <p:cNvPr id="23" name="Text 20"/>
          <p:cNvSpPr txBox="1"/>
          <p:nvPr/>
        </p:nvSpPr>
        <p:spPr>
          <a:xfrm>
            <a:off x="8366760" y="224028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minss xmm4,[maxfreq]</a:t>
            </a:r>
            <a:endParaRPr lang="en-US" sz="1200" dirty="0"/>
          </a:p>
        </p:txBody>
      </p:sp>
      <p:sp>
        <p:nvSpPr>
          <p:cNvPr id="24" name="Text 21"/>
          <p:cNvSpPr txBox="1"/>
          <p:nvPr/>
        </p:nvSpPr>
        <p:spPr>
          <a:xfrm>
            <a:off x="8275320" y="2971800"/>
            <a:ext cx="3154680" cy="640080"/>
          </a:xfrm>
          <a:prstGeom prst="rect">
            <a:avLst/>
          </a:prstGeom>
          <a:noFill/>
          <a:ln/>
        </p:spPr>
        <p:txBody>
          <a:bodyPr wrap="square" lIns="0" tIns="0" rIns="0" bIns="0" rtlCol="0" anchor="t"/>
          <a:lstStyle/>
          <a:p>
            <a:pPr indent="0" marL="0">
              <a:buNone/>
            </a:pPr>
            <a:r>
              <a:rPr lang="en-US" sz="1300" dirty="0">
                <a:solidFill>
                  <a:schemeClr val="tx2"/>
                </a:solidFill>
              </a:rPr>
              <a:t>20 kHz cap keeps the step &lt; 1, so one subtraction always wraps</a:t>
            </a:r>
            <a:endParaRPr lang="en-US" sz="1300" dirty="0"/>
          </a:p>
        </p:txBody>
      </p:sp>
      <p:sp>
        <p:nvSpPr>
          <p:cNvPr id="25" name="card"/>
          <p:cNvSpPr/>
          <p:nvPr/>
        </p:nvSpPr>
        <p:spPr>
          <a:xfrm>
            <a:off x="548640" y="3840480"/>
            <a:ext cx="3566160" cy="2194560"/>
          </a:xfrm>
          <a:prstGeom prst="roundRect">
            <a:avLst>
              <a:gd name="adj" fmla="val 3333"/>
            </a:avLst>
          </a:prstGeom>
          <a:solidFill>
            <a:schemeClr val="bg2"/>
          </a:solidFill>
          <a:ln/>
        </p:spPr>
      </p:sp>
      <p:sp>
        <p:nvSpPr>
          <p:cNvPr id="26" name="Shape 23"/>
          <p:cNvSpPr/>
          <p:nvPr/>
        </p:nvSpPr>
        <p:spPr>
          <a:xfrm>
            <a:off x="777240" y="4041648"/>
            <a:ext cx="411480" cy="411480"/>
          </a:xfrm>
          <a:prstGeom prst="ellipse">
            <a:avLst/>
          </a:prstGeom>
          <a:solidFill>
            <a:schemeClr val="accent1"/>
          </a:solidFill>
          <a:ln/>
        </p:spPr>
      </p:sp>
      <p:sp>
        <p:nvSpPr>
          <p:cNvPr id="27" name="Text 24"/>
          <p:cNvSpPr txBox="1"/>
          <p:nvPr/>
        </p:nvSpPr>
        <p:spPr>
          <a:xfrm>
            <a:off x="777240" y="4041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1325880" y="404164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abs() with a bit mask</a:t>
            </a:r>
            <a:endParaRPr lang="en-US" sz="1600" dirty="0"/>
          </a:p>
        </p:txBody>
      </p:sp>
      <p:sp>
        <p:nvSpPr>
          <p:cNvPr id="29" name="Shape 26"/>
          <p:cNvSpPr/>
          <p:nvPr/>
        </p:nvSpPr>
        <p:spPr>
          <a:xfrm>
            <a:off x="777240" y="4617720"/>
            <a:ext cx="3108960" cy="621792"/>
          </a:xfrm>
          <a:prstGeom prst="rect">
            <a:avLst/>
          </a:prstGeom>
          <a:solidFill>
            <a:schemeClr val="tx1"/>
          </a:solidFill>
          <a:ln/>
        </p:spPr>
      </p:sp>
      <p:sp>
        <p:nvSpPr>
          <p:cNvPr id="30" name="Text 27"/>
          <p:cNvSpPr txBox="1"/>
          <p:nvPr/>
        </p:nvSpPr>
        <p:spPr>
          <a:xfrm>
            <a:off x="868680" y="461772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andps xmm2,[absmask]</a:t>
            </a:r>
            <a:endParaRPr lang="en-US" sz="1200" dirty="0"/>
          </a:p>
        </p:txBody>
      </p:sp>
      <p:sp>
        <p:nvSpPr>
          <p:cNvPr id="31" name="Text 28"/>
          <p:cNvSpPr txBox="1"/>
          <p:nvPr/>
        </p:nvSpPr>
        <p:spPr>
          <a:xfrm>
            <a:off x="777240" y="5349240"/>
            <a:ext cx="3154680" cy="640080"/>
          </a:xfrm>
          <a:prstGeom prst="rect">
            <a:avLst/>
          </a:prstGeom>
          <a:noFill/>
          <a:ln/>
        </p:spPr>
        <p:txBody>
          <a:bodyPr wrap="square" lIns="0" tIns="0" rIns="0" bIns="0" rtlCol="0" anchor="t"/>
          <a:lstStyle/>
          <a:p>
            <a:pPr indent="0" marL="0">
              <a:buNone/>
            </a:pPr>
            <a:r>
              <a:rPr lang="en-US" sz="1300" dirty="0">
                <a:solidFill>
                  <a:schemeClr val="tx2"/>
                </a:solidFill>
              </a:rPr>
              <a:t>0x7FFFFFFF clears the float sign bit for the triangle wave</a:t>
            </a:r>
            <a:endParaRPr lang="en-US" sz="1300" dirty="0"/>
          </a:p>
        </p:txBody>
      </p:sp>
      <p:sp>
        <p:nvSpPr>
          <p:cNvPr id="32" name="card"/>
          <p:cNvSpPr/>
          <p:nvPr/>
        </p:nvSpPr>
        <p:spPr>
          <a:xfrm>
            <a:off x="4297680" y="3840480"/>
            <a:ext cx="3566160" cy="2194560"/>
          </a:xfrm>
          <a:prstGeom prst="roundRect">
            <a:avLst>
              <a:gd name="adj" fmla="val 3333"/>
            </a:avLst>
          </a:prstGeom>
          <a:solidFill>
            <a:schemeClr val="bg2"/>
          </a:solidFill>
          <a:ln/>
        </p:spPr>
      </p:sp>
      <p:sp>
        <p:nvSpPr>
          <p:cNvPr id="33" name="Shape 30"/>
          <p:cNvSpPr/>
          <p:nvPr/>
        </p:nvSpPr>
        <p:spPr>
          <a:xfrm>
            <a:off x="4526280" y="4041648"/>
            <a:ext cx="411480" cy="411480"/>
          </a:xfrm>
          <a:prstGeom prst="ellipse">
            <a:avLst/>
          </a:prstGeom>
          <a:solidFill>
            <a:schemeClr val="accent1"/>
          </a:solidFill>
          <a:ln/>
        </p:spPr>
      </p:sp>
      <p:sp>
        <p:nvSpPr>
          <p:cNvPr id="34" name="Text 31"/>
          <p:cNvSpPr txBox="1"/>
          <p:nvPr/>
        </p:nvSpPr>
        <p:spPr>
          <a:xfrm>
            <a:off x="4526280" y="4041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5" name="Text 32"/>
          <p:cNvSpPr txBox="1"/>
          <p:nvPr/>
        </p:nvSpPr>
        <p:spPr>
          <a:xfrm>
            <a:off x="5074920" y="404164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Clipping for free</a:t>
            </a:r>
            <a:endParaRPr lang="en-US" sz="1600" dirty="0"/>
          </a:p>
        </p:txBody>
      </p:sp>
      <p:sp>
        <p:nvSpPr>
          <p:cNvPr id="36" name="Shape 33"/>
          <p:cNvSpPr/>
          <p:nvPr/>
        </p:nvSpPr>
        <p:spPr>
          <a:xfrm>
            <a:off x="4526280" y="4617720"/>
            <a:ext cx="3108960" cy="621792"/>
          </a:xfrm>
          <a:prstGeom prst="rect">
            <a:avLst/>
          </a:prstGeom>
          <a:solidFill>
            <a:schemeClr val="tx1"/>
          </a:solidFill>
          <a:ln/>
        </p:spPr>
      </p:sp>
      <p:sp>
        <p:nvSpPr>
          <p:cNvPr id="37" name="Text 34"/>
          <p:cNvSpPr txBox="1"/>
          <p:nvPr/>
        </p:nvSpPr>
        <p:spPr>
          <a:xfrm>
            <a:off x="4617720" y="461772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packssdw xmm0,xmm0</a:t>
            </a:r>
            <a:endParaRPr lang="en-US" sz="1200" dirty="0"/>
          </a:p>
        </p:txBody>
      </p:sp>
      <p:sp>
        <p:nvSpPr>
          <p:cNvPr id="38" name="Text 35"/>
          <p:cNvSpPr txBox="1"/>
          <p:nvPr/>
        </p:nvSpPr>
        <p:spPr>
          <a:xfrm>
            <a:off x="4526280" y="5349240"/>
            <a:ext cx="3154680" cy="640080"/>
          </a:xfrm>
          <a:prstGeom prst="rect">
            <a:avLst/>
          </a:prstGeom>
          <a:noFill/>
          <a:ln/>
        </p:spPr>
        <p:txBody>
          <a:bodyPr wrap="square" lIns="0" tIns="0" rIns="0" bIns="0" rtlCol="0" anchor="t"/>
          <a:lstStyle/>
          <a:p>
            <a:pPr indent="0" marL="0">
              <a:buNone/>
            </a:pPr>
            <a:r>
              <a:rPr lang="en-US" sz="1300" dirty="0">
                <a:solidFill>
                  <a:schemeClr val="tx2"/>
                </a:solidFill>
              </a:rPr>
              <a:t>Saturates to −32768..32767: loud samples clip, never wrap</a:t>
            </a:r>
            <a:endParaRPr lang="en-US" sz="1300" dirty="0"/>
          </a:p>
        </p:txBody>
      </p:sp>
      <p:sp>
        <p:nvSpPr>
          <p:cNvPr id="39" name="card"/>
          <p:cNvSpPr/>
          <p:nvPr/>
        </p:nvSpPr>
        <p:spPr>
          <a:xfrm>
            <a:off x="8046720" y="3840480"/>
            <a:ext cx="3566160" cy="2194560"/>
          </a:xfrm>
          <a:prstGeom prst="roundRect">
            <a:avLst>
              <a:gd name="adj" fmla="val 3333"/>
            </a:avLst>
          </a:prstGeom>
          <a:solidFill>
            <a:schemeClr val="bg2"/>
          </a:solidFill>
          <a:ln/>
        </p:spPr>
      </p:sp>
      <p:sp>
        <p:nvSpPr>
          <p:cNvPr id="40" name="Shape 37"/>
          <p:cNvSpPr/>
          <p:nvPr/>
        </p:nvSpPr>
        <p:spPr>
          <a:xfrm>
            <a:off x="8275320" y="4041648"/>
            <a:ext cx="411480" cy="411480"/>
          </a:xfrm>
          <a:prstGeom prst="ellipse">
            <a:avLst/>
          </a:prstGeom>
          <a:solidFill>
            <a:schemeClr val="accent1"/>
          </a:solidFill>
          <a:ln/>
        </p:spPr>
      </p:sp>
      <p:sp>
        <p:nvSpPr>
          <p:cNvPr id="41" name="Text 38"/>
          <p:cNvSpPr txBox="1"/>
          <p:nvPr/>
        </p:nvSpPr>
        <p:spPr>
          <a:xfrm>
            <a:off x="8275320" y="4041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2" name="Text 39"/>
          <p:cNvSpPr txBox="1"/>
          <p:nvPr/>
        </p:nvSpPr>
        <p:spPr>
          <a:xfrm>
            <a:off x="8823960" y="404164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Repeatable noise</a:t>
            </a:r>
            <a:endParaRPr lang="en-US" sz="1600" dirty="0"/>
          </a:p>
        </p:txBody>
      </p:sp>
      <p:sp>
        <p:nvSpPr>
          <p:cNvPr id="43" name="Shape 40"/>
          <p:cNvSpPr/>
          <p:nvPr/>
        </p:nvSpPr>
        <p:spPr>
          <a:xfrm>
            <a:off x="8275320" y="4617720"/>
            <a:ext cx="3108960" cy="621792"/>
          </a:xfrm>
          <a:prstGeom prst="rect">
            <a:avLst/>
          </a:prstGeom>
          <a:solidFill>
            <a:schemeClr val="tx1"/>
          </a:solidFill>
          <a:ln/>
        </p:spPr>
      </p:sp>
      <p:sp>
        <p:nvSpPr>
          <p:cNvPr id="44" name="Text 41"/>
          <p:cNvSpPr txBox="1"/>
          <p:nvPr/>
        </p:nvSpPr>
        <p:spPr>
          <a:xfrm>
            <a:off x="8366760" y="461772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x^=x&lt;&lt;13; x^=x&gt;&gt;17; x^=x&lt;&lt;5</a:t>
            </a:r>
            <a:endParaRPr lang="en-US" sz="1200" dirty="0"/>
          </a:p>
        </p:txBody>
      </p:sp>
      <p:sp>
        <p:nvSpPr>
          <p:cNvPr id="45" name="Text 42"/>
          <p:cNvSpPr txBox="1"/>
          <p:nvPr/>
        </p:nvSpPr>
        <p:spPr>
          <a:xfrm>
            <a:off x="8275320" y="5349240"/>
            <a:ext cx="3154680" cy="640080"/>
          </a:xfrm>
          <a:prstGeom prst="rect">
            <a:avLst/>
          </a:prstGeom>
          <a:noFill/>
          <a:ln/>
        </p:spPr>
        <p:txBody>
          <a:bodyPr wrap="square" lIns="0" tIns="0" rIns="0" bIns="0" rtlCol="0" anchor="t"/>
          <a:lstStyle/>
          <a:p>
            <a:pPr indent="0" marL="0">
              <a:buNone/>
            </a:pPr>
            <a:r>
              <a:rPr lang="en-US" sz="1300" dirty="0">
                <a:solidFill>
                  <a:schemeClr val="tx2"/>
                </a:solidFill>
              </a:rPr>
              <a:t>Xorshift32: same seed, same sound; seed 0 rejected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All state lives in registers and one 152-byte stack frame</a:t>
            </a:r>
            <a:endParaRPr lang="en-US" sz="2800" dirty="0"/>
          </a:p>
        </p:txBody>
      </p:sp>
      <p:sp>
        <p:nvSpPr>
          <p:cNvPr id="4" name="Text 1"/>
          <p:cNvSpPr txBox="1"/>
          <p:nvPr/>
        </p:nvSpPr>
        <p:spPr>
          <a:xfrm>
            <a:off x="548640" y="1417320"/>
            <a:ext cx="4754880" cy="320040"/>
          </a:xfrm>
          <a:prstGeom prst="rect">
            <a:avLst/>
          </a:prstGeom>
          <a:noFill/>
          <a:ln/>
        </p:spPr>
        <p:txBody>
          <a:bodyPr wrap="square" lIns="0" tIns="0" rIns="0" bIns="0" rtlCol="0" anchor="t"/>
          <a:lstStyle/>
          <a:p>
            <a:pPr indent="0" marL="0">
              <a:buNone/>
            </a:pPr>
            <a:r>
              <a:rPr lang="en-US" sz="1400" b="1" dirty="0">
                <a:solidFill>
                  <a:schemeClr val="accent1"/>
                </a:solidFill>
              </a:rPr>
              <a:t>sfx_generate stack frame (sub rsp,152)</a:t>
            </a:r>
            <a:endParaRPr lang="en-US" sz="1400" dirty="0"/>
          </a:p>
        </p:txBody>
      </p:sp>
      <p:sp>
        <p:nvSpPr>
          <p:cNvPr id="5" name="Text 2"/>
          <p:cNvSpPr txBox="1"/>
          <p:nvPr/>
        </p:nvSpPr>
        <p:spPr>
          <a:xfrm>
            <a:off x="548640" y="1810512"/>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+152</a:t>
            </a:r>
            <a:endParaRPr lang="en-US" sz="1200" dirty="0"/>
          </a:p>
        </p:txBody>
      </p:sp>
      <p:sp>
        <p:nvSpPr>
          <p:cNvPr id="6" name="Shape 3"/>
          <p:cNvSpPr/>
          <p:nvPr/>
        </p:nvSpPr>
        <p:spPr>
          <a:xfrm>
            <a:off x="1737360" y="1810512"/>
            <a:ext cx="3566160" cy="292608"/>
          </a:xfrm>
          <a:prstGeom prst="rect">
            <a:avLst/>
          </a:prstGeom>
          <a:solidFill>
            <a:schemeClr val="accent5"/>
          </a:solidFill>
          <a:ln/>
        </p:spPr>
      </p:sp>
      <p:sp>
        <p:nvSpPr>
          <p:cNvPr id="7" name="Text 4"/>
          <p:cNvSpPr txBox="1"/>
          <p:nvPr/>
        </p:nvSpPr>
        <p:spPr>
          <a:xfrm>
            <a:off x="1874520" y="1810512"/>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return address</a:t>
            </a:r>
            <a:endParaRPr lang="en-US" sz="1200" dirty="0"/>
          </a:p>
        </p:txBody>
      </p:sp>
      <p:sp>
        <p:nvSpPr>
          <p:cNvPr id="8" name="Text 5"/>
          <p:cNvSpPr txBox="1"/>
          <p:nvPr/>
        </p:nvSpPr>
        <p:spPr>
          <a:xfrm>
            <a:off x="548640" y="2139696"/>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+80–151</a:t>
            </a:r>
            <a:endParaRPr lang="en-US" sz="1200" dirty="0"/>
          </a:p>
        </p:txBody>
      </p:sp>
      <p:sp>
        <p:nvSpPr>
          <p:cNvPr id="9" name="Shape 6"/>
          <p:cNvSpPr/>
          <p:nvPr/>
        </p:nvSpPr>
        <p:spPr>
          <a:xfrm>
            <a:off x="1737360" y="2139696"/>
            <a:ext cx="3566160" cy="292608"/>
          </a:xfrm>
          <a:prstGeom prst="rect">
            <a:avLst/>
          </a:prstGeom>
          <a:solidFill>
            <a:schemeClr val="bg2"/>
          </a:solidFill>
          <a:ln/>
        </p:spPr>
      </p:sp>
      <p:sp>
        <p:nvSpPr>
          <p:cNvPr id="10" name="Text 7"/>
          <p:cNvSpPr txBox="1"/>
          <p:nvPr/>
        </p:nvSpPr>
        <p:spPr>
          <a:xfrm>
            <a:off x="1874520" y="2139696"/>
            <a:ext cx="3383280" cy="292608"/>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spare</a:t>
            </a:r>
            <a:endParaRPr lang="en-US" sz="1200" dirty="0"/>
          </a:p>
        </p:txBody>
      </p:sp>
      <p:sp>
        <p:nvSpPr>
          <p:cNvPr id="11" name="Text 8"/>
          <p:cNvSpPr txBox="1"/>
          <p:nvPr/>
        </p:nvSpPr>
        <p:spPr>
          <a:xfrm>
            <a:off x="548640" y="2468880"/>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+76</a:t>
            </a:r>
            <a:endParaRPr lang="en-US" sz="1200" dirty="0"/>
          </a:p>
        </p:txBody>
      </p:sp>
      <p:sp>
        <p:nvSpPr>
          <p:cNvPr id="12" name="Shape 9"/>
          <p:cNvSpPr/>
          <p:nvPr/>
        </p:nvSpPr>
        <p:spPr>
          <a:xfrm>
            <a:off x="1737360" y="2468880"/>
            <a:ext cx="3566160" cy="292608"/>
          </a:xfrm>
          <a:prstGeom prst="rect">
            <a:avLst/>
          </a:prstGeom>
          <a:solidFill>
            <a:schemeClr val="tx1"/>
          </a:solidFill>
          <a:ln/>
        </p:spPr>
      </p:sp>
      <p:sp>
        <p:nvSpPr>
          <p:cNvPr id="13" name="Text 10"/>
          <p:cNvSpPr txBox="1"/>
          <p:nvPr/>
        </p:nvSpPr>
        <p:spPr>
          <a:xfrm>
            <a:off x="1874520" y="2468880"/>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NOISE</a:t>
            </a:r>
            <a:endParaRPr lang="en-US" sz="1200" dirty="0"/>
          </a:p>
        </p:txBody>
      </p:sp>
      <p:sp>
        <p:nvSpPr>
          <p:cNvPr id="14" name="Text 11"/>
          <p:cNvSpPr txBox="1"/>
          <p:nvPr/>
        </p:nvSpPr>
        <p:spPr>
          <a:xfrm>
            <a:off x="548640" y="2798064"/>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+72</a:t>
            </a:r>
            <a:endParaRPr lang="en-US" sz="1200" dirty="0"/>
          </a:p>
        </p:txBody>
      </p:sp>
      <p:sp>
        <p:nvSpPr>
          <p:cNvPr id="15" name="Shape 12"/>
          <p:cNvSpPr/>
          <p:nvPr/>
        </p:nvSpPr>
        <p:spPr>
          <a:xfrm>
            <a:off x="1737360" y="2798064"/>
            <a:ext cx="3566160" cy="292608"/>
          </a:xfrm>
          <a:prstGeom prst="rect">
            <a:avLst/>
          </a:prstGeom>
          <a:solidFill>
            <a:schemeClr val="tx1"/>
          </a:solidFill>
          <a:ln/>
        </p:spPr>
      </p:sp>
      <p:sp>
        <p:nvSpPr>
          <p:cNvPr id="16" name="Text 13"/>
          <p:cNvSpPr txBox="1"/>
          <p:nvPr/>
        </p:nvSpPr>
        <p:spPr>
          <a:xfrm>
            <a:off x="1874520" y="2798064"/>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MULT (slide)</a:t>
            </a:r>
            <a:endParaRPr lang="en-US" sz="1200" dirty="0"/>
          </a:p>
        </p:txBody>
      </p:sp>
      <p:sp>
        <p:nvSpPr>
          <p:cNvPr id="17" name="Text 14"/>
          <p:cNvSpPr txBox="1"/>
          <p:nvPr/>
        </p:nvSpPr>
        <p:spPr>
          <a:xfrm>
            <a:off x="548640" y="3127248"/>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+68</a:t>
            </a:r>
            <a:endParaRPr lang="en-US" sz="1200" dirty="0"/>
          </a:p>
        </p:txBody>
      </p:sp>
      <p:sp>
        <p:nvSpPr>
          <p:cNvPr id="18" name="Shape 15"/>
          <p:cNvSpPr/>
          <p:nvPr/>
        </p:nvSpPr>
        <p:spPr>
          <a:xfrm>
            <a:off x="1737360" y="3127248"/>
            <a:ext cx="3566160" cy="292608"/>
          </a:xfrm>
          <a:prstGeom prst="rect">
            <a:avLst/>
          </a:prstGeom>
          <a:solidFill>
            <a:schemeClr val="tx1"/>
          </a:solidFill>
          <a:ln/>
        </p:spPr>
      </p:sp>
      <p:sp>
        <p:nvSpPr>
          <p:cNvPr id="19" name="Text 16"/>
          <p:cNvSpPr txBox="1"/>
          <p:nvPr/>
        </p:nvSpPr>
        <p:spPr>
          <a:xfrm>
            <a:off x="1874520" y="3127248"/>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STEP (vibrato)</a:t>
            </a:r>
            <a:endParaRPr lang="en-US" sz="1200" dirty="0"/>
          </a:p>
        </p:txBody>
      </p:sp>
      <p:sp>
        <p:nvSpPr>
          <p:cNvPr id="20" name="Text 17"/>
          <p:cNvSpPr txBox="1"/>
          <p:nvPr/>
        </p:nvSpPr>
        <p:spPr>
          <a:xfrm>
            <a:off x="548640" y="3456432"/>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+64</a:t>
            </a:r>
            <a:endParaRPr lang="en-US" sz="1200" dirty="0"/>
          </a:p>
        </p:txBody>
      </p:sp>
      <p:sp>
        <p:nvSpPr>
          <p:cNvPr id="21" name="Shape 18"/>
          <p:cNvSpPr/>
          <p:nvPr/>
        </p:nvSpPr>
        <p:spPr>
          <a:xfrm>
            <a:off x="1737360" y="3456432"/>
            <a:ext cx="3566160" cy="292608"/>
          </a:xfrm>
          <a:prstGeom prst="rect">
            <a:avLst/>
          </a:prstGeom>
          <a:solidFill>
            <a:schemeClr val="tx1"/>
          </a:solidFill>
          <a:ln/>
        </p:spPr>
      </p:sp>
      <p:sp>
        <p:nvSpPr>
          <p:cNvPr id="22" name="Text 19"/>
          <p:cNvSpPr txBox="1"/>
          <p:nvPr/>
        </p:nvSpPr>
        <p:spPr>
          <a:xfrm>
            <a:off x="1874520" y="3456432"/>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D (decay)</a:t>
            </a:r>
            <a:endParaRPr lang="en-US" sz="1200" dirty="0"/>
          </a:p>
        </p:txBody>
      </p:sp>
      <p:sp>
        <p:nvSpPr>
          <p:cNvPr id="23" name="Text 20"/>
          <p:cNvSpPr txBox="1"/>
          <p:nvPr/>
        </p:nvSpPr>
        <p:spPr>
          <a:xfrm>
            <a:off x="548640" y="3785616"/>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+60</a:t>
            </a:r>
            <a:endParaRPr lang="en-US" sz="1200" dirty="0"/>
          </a:p>
        </p:txBody>
      </p:sp>
      <p:sp>
        <p:nvSpPr>
          <p:cNvPr id="24" name="Shape 21"/>
          <p:cNvSpPr/>
          <p:nvPr/>
        </p:nvSpPr>
        <p:spPr>
          <a:xfrm>
            <a:off x="1737360" y="3785616"/>
            <a:ext cx="3566160" cy="292608"/>
          </a:xfrm>
          <a:prstGeom prst="rect">
            <a:avLst/>
          </a:prstGeom>
          <a:solidFill>
            <a:schemeClr val="tx1"/>
          </a:solidFill>
          <a:ln/>
        </p:spPr>
      </p:sp>
      <p:sp>
        <p:nvSpPr>
          <p:cNvPr id="25" name="Text 22"/>
          <p:cNvSpPr txBox="1"/>
          <p:nvPr/>
        </p:nvSpPr>
        <p:spPr>
          <a:xfrm>
            <a:off x="1874520" y="3785616"/>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AS (attack+sustain)</a:t>
            </a:r>
            <a:endParaRPr lang="en-US" sz="1200" dirty="0"/>
          </a:p>
        </p:txBody>
      </p:sp>
      <p:sp>
        <p:nvSpPr>
          <p:cNvPr id="26" name="Text 23"/>
          <p:cNvSpPr txBox="1"/>
          <p:nvPr/>
        </p:nvSpPr>
        <p:spPr>
          <a:xfrm>
            <a:off x="548640" y="4114800"/>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+56</a:t>
            </a:r>
            <a:endParaRPr lang="en-US" sz="1200" dirty="0"/>
          </a:p>
        </p:txBody>
      </p:sp>
      <p:sp>
        <p:nvSpPr>
          <p:cNvPr id="27" name="Shape 24"/>
          <p:cNvSpPr/>
          <p:nvPr/>
        </p:nvSpPr>
        <p:spPr>
          <a:xfrm>
            <a:off x="1737360" y="4114800"/>
            <a:ext cx="3566160" cy="292608"/>
          </a:xfrm>
          <a:prstGeom prst="rect">
            <a:avLst/>
          </a:prstGeom>
          <a:solidFill>
            <a:schemeClr val="tx1"/>
          </a:solidFill>
          <a:ln/>
        </p:spPr>
      </p:sp>
      <p:sp>
        <p:nvSpPr>
          <p:cNvPr id="28" name="Text 25"/>
          <p:cNvSpPr txBox="1"/>
          <p:nvPr/>
        </p:nvSpPr>
        <p:spPr>
          <a:xfrm>
            <a:off x="1874520" y="4114800"/>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A (attack)</a:t>
            </a:r>
            <a:endParaRPr lang="en-US" sz="1200" dirty="0"/>
          </a:p>
        </p:txBody>
      </p:sp>
      <p:sp>
        <p:nvSpPr>
          <p:cNvPr id="29" name="Text 26"/>
          <p:cNvSpPr txBox="1"/>
          <p:nvPr/>
        </p:nvSpPr>
        <p:spPr>
          <a:xfrm>
            <a:off x="548640" y="4443984"/>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+52</a:t>
            </a:r>
            <a:endParaRPr lang="en-US" sz="1200" dirty="0"/>
          </a:p>
        </p:txBody>
      </p:sp>
      <p:sp>
        <p:nvSpPr>
          <p:cNvPr id="30" name="Shape 27"/>
          <p:cNvSpPr/>
          <p:nvPr/>
        </p:nvSpPr>
        <p:spPr>
          <a:xfrm>
            <a:off x="1737360" y="4443984"/>
            <a:ext cx="3566160" cy="292608"/>
          </a:xfrm>
          <a:prstGeom prst="rect">
            <a:avLst/>
          </a:prstGeom>
          <a:solidFill>
            <a:schemeClr val="tx1"/>
          </a:solidFill>
          <a:ln/>
        </p:spPr>
      </p:sp>
      <p:sp>
        <p:nvSpPr>
          <p:cNvPr id="31" name="Text 28"/>
          <p:cNvSpPr txBox="1"/>
          <p:nvPr/>
        </p:nvSpPr>
        <p:spPr>
          <a:xfrm>
            <a:off x="1874520" y="4443984"/>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TOTAL</a:t>
            </a:r>
            <a:endParaRPr lang="en-US" sz="1200" dirty="0"/>
          </a:p>
        </p:txBody>
      </p:sp>
      <p:sp>
        <p:nvSpPr>
          <p:cNvPr id="32" name="Text 29"/>
          <p:cNvSpPr txBox="1"/>
          <p:nvPr/>
        </p:nvSpPr>
        <p:spPr>
          <a:xfrm>
            <a:off x="548640" y="4773168"/>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+48</a:t>
            </a:r>
            <a:endParaRPr lang="en-US" sz="1200" dirty="0"/>
          </a:p>
        </p:txBody>
      </p:sp>
      <p:sp>
        <p:nvSpPr>
          <p:cNvPr id="33" name="Shape 30"/>
          <p:cNvSpPr/>
          <p:nvPr/>
        </p:nvSpPr>
        <p:spPr>
          <a:xfrm>
            <a:off x="1737360" y="4773168"/>
            <a:ext cx="3566160" cy="292608"/>
          </a:xfrm>
          <a:prstGeom prst="rect">
            <a:avLst/>
          </a:prstGeom>
          <a:solidFill>
            <a:schemeClr val="tx1"/>
          </a:solidFill>
          <a:ln/>
        </p:spPr>
      </p:sp>
      <p:sp>
        <p:nvSpPr>
          <p:cNvPr id="34" name="Text 31"/>
          <p:cNvSpPr txBox="1"/>
          <p:nvPr/>
        </p:nvSpPr>
        <p:spPr>
          <a:xfrm>
            <a:off x="1874520" y="4773168"/>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CAP</a:t>
            </a:r>
            <a:endParaRPr lang="en-US" sz="1200" dirty="0"/>
          </a:p>
        </p:txBody>
      </p:sp>
      <p:sp>
        <p:nvSpPr>
          <p:cNvPr id="35" name="Text 32"/>
          <p:cNvSpPr txBox="1"/>
          <p:nvPr/>
        </p:nvSpPr>
        <p:spPr>
          <a:xfrm>
            <a:off x="548640" y="5102352"/>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+40</a:t>
            </a:r>
            <a:endParaRPr lang="en-US" sz="1200" dirty="0"/>
          </a:p>
        </p:txBody>
      </p:sp>
      <p:sp>
        <p:nvSpPr>
          <p:cNvPr id="36" name="Shape 33"/>
          <p:cNvSpPr/>
          <p:nvPr/>
        </p:nvSpPr>
        <p:spPr>
          <a:xfrm>
            <a:off x="1737360" y="5102352"/>
            <a:ext cx="3566160" cy="292608"/>
          </a:xfrm>
          <a:prstGeom prst="rect">
            <a:avLst/>
          </a:prstGeom>
          <a:solidFill>
            <a:schemeClr val="tx1"/>
          </a:solidFill>
          <a:ln/>
        </p:spPr>
      </p:sp>
      <p:sp>
        <p:nvSpPr>
          <p:cNvPr id="37" name="Text 34"/>
          <p:cNvSpPr txBox="1"/>
          <p:nvPr/>
        </p:nvSpPr>
        <p:spPr>
          <a:xfrm>
            <a:off x="1874520" y="5102352"/>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OUT pointer</a:t>
            </a:r>
            <a:endParaRPr lang="en-US" sz="1200" dirty="0"/>
          </a:p>
        </p:txBody>
      </p:sp>
      <p:sp>
        <p:nvSpPr>
          <p:cNvPr id="38" name="Text 35"/>
          <p:cNvSpPr txBox="1"/>
          <p:nvPr/>
        </p:nvSpPr>
        <p:spPr>
          <a:xfrm>
            <a:off x="548640" y="5431536"/>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+32</a:t>
            </a:r>
            <a:endParaRPr lang="en-US" sz="1200" dirty="0"/>
          </a:p>
        </p:txBody>
      </p:sp>
      <p:sp>
        <p:nvSpPr>
          <p:cNvPr id="39" name="Shape 36"/>
          <p:cNvSpPr/>
          <p:nvPr/>
        </p:nvSpPr>
        <p:spPr>
          <a:xfrm>
            <a:off x="1737360" y="5431536"/>
            <a:ext cx="3566160" cy="292608"/>
          </a:xfrm>
          <a:prstGeom prst="rect">
            <a:avLst/>
          </a:prstGeom>
          <a:solidFill>
            <a:schemeClr val="tx1"/>
          </a:solidFill>
          <a:ln/>
        </p:spPr>
      </p:sp>
      <p:sp>
        <p:nvSpPr>
          <p:cNvPr id="40" name="Text 37"/>
          <p:cNvSpPr txBox="1"/>
          <p:nvPr/>
        </p:nvSpPr>
        <p:spPr>
          <a:xfrm>
            <a:off x="1874520" y="5431536"/>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P params pointer</a:t>
            </a:r>
            <a:endParaRPr lang="en-US" sz="1200" dirty="0"/>
          </a:p>
        </p:txBody>
      </p:sp>
      <p:sp>
        <p:nvSpPr>
          <p:cNvPr id="41" name="Text 38"/>
          <p:cNvSpPr txBox="1"/>
          <p:nvPr/>
        </p:nvSpPr>
        <p:spPr>
          <a:xfrm>
            <a:off x="548640" y="5760720"/>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+0–31</a:t>
            </a:r>
            <a:endParaRPr lang="en-US" sz="1200" dirty="0"/>
          </a:p>
        </p:txBody>
      </p:sp>
      <p:sp>
        <p:nvSpPr>
          <p:cNvPr id="42" name="Shape 39"/>
          <p:cNvSpPr/>
          <p:nvPr/>
        </p:nvSpPr>
        <p:spPr>
          <a:xfrm>
            <a:off x="1737360" y="5760720"/>
            <a:ext cx="3566160" cy="292608"/>
          </a:xfrm>
          <a:prstGeom prst="rect">
            <a:avLst/>
          </a:prstGeom>
          <a:solidFill>
            <a:schemeClr val="accent3"/>
          </a:solidFill>
          <a:ln/>
        </p:spPr>
      </p:sp>
      <p:sp>
        <p:nvSpPr>
          <p:cNvPr id="43" name="Text 40"/>
          <p:cNvSpPr txBox="1"/>
          <p:nvPr/>
        </p:nvSpPr>
        <p:spPr>
          <a:xfrm>
            <a:off x="1874520" y="5760720"/>
            <a:ext cx="3383280" cy="292608"/>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shadow space</a:t>
            </a:r>
            <a:endParaRPr lang="en-US" sz="1200" dirty="0"/>
          </a:p>
        </p:txBody>
      </p:sp>
      <p:sp>
        <p:nvSpPr>
          <p:cNvPr id="44" name="Text 41"/>
          <p:cNvSpPr txBox="1"/>
          <p:nvPr/>
        </p:nvSpPr>
        <p:spPr>
          <a:xfrm>
            <a:off x="548640" y="6126480"/>
            <a:ext cx="1051560" cy="274320"/>
          </a:xfrm>
          <a:prstGeom prst="rect">
            <a:avLst/>
          </a:prstGeom>
          <a:noFill/>
          <a:ln/>
        </p:spPr>
        <p:txBody>
          <a:bodyPr wrap="square" lIns="0" tIns="0" rIns="0" bIns="0" rtlCol="0" anchor="t"/>
          <a:lstStyle/>
          <a:p>
            <a:pPr algn="r" indent="0" marL="0">
              <a:buNone/>
            </a:pPr>
            <a:r>
              <a:rPr lang="en-US" sz="1200" b="1" dirty="0">
                <a:solidFill>
                  <a:schemeClr val="accent4"/>
                </a:solidFill>
              </a:rPr>
              <a:t>RSP →</a:t>
            </a:r>
            <a:endParaRPr lang="en-US" sz="1200" dirty="0"/>
          </a:p>
        </p:txBody>
      </p:sp>
      <p:sp>
        <p:nvSpPr>
          <p:cNvPr id="45" name="card"/>
          <p:cNvSpPr/>
          <p:nvPr/>
        </p:nvSpPr>
        <p:spPr>
          <a:xfrm>
            <a:off x="5852160" y="1463040"/>
            <a:ext cx="5760720" cy="1005840"/>
          </a:xfrm>
          <a:prstGeom prst="roundRect">
            <a:avLst>
              <a:gd name="adj" fmla="val 7273"/>
            </a:avLst>
          </a:prstGeom>
          <a:solidFill>
            <a:schemeClr val="bg2"/>
          </a:solidFill>
          <a:ln/>
        </p:spPr>
      </p:sp>
      <p:sp>
        <p:nvSpPr>
          <p:cNvPr id="46" name="Text 43"/>
          <p:cNvSpPr txBox="1"/>
          <p:nvPr/>
        </p:nvSpPr>
        <p:spPr>
          <a:xfrm>
            <a:off x="6080760" y="1572768"/>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152-byte frame</a:t>
            </a:r>
            <a:endParaRPr lang="en-US" sz="1600" dirty="0"/>
          </a:p>
        </p:txBody>
      </p:sp>
      <p:sp>
        <p:nvSpPr>
          <p:cNvPr id="47" name="Text 44"/>
          <p:cNvSpPr txBox="1"/>
          <p:nvPr/>
        </p:nvSpPr>
        <p:spPr>
          <a:xfrm>
            <a:off x="6080760" y="1920240"/>
            <a:ext cx="5394960" cy="502920"/>
          </a:xfrm>
          <a:prstGeom prst="rect">
            <a:avLst/>
          </a:prstGeom>
          <a:noFill/>
          <a:ln/>
        </p:spPr>
        <p:txBody>
          <a:bodyPr wrap="square" lIns="0" tIns="0" rIns="0" bIns="0" rtlCol="0" anchor="t"/>
          <a:lstStyle/>
          <a:p>
            <a:pPr indent="0" marL="0">
              <a:buNone/>
            </a:pPr>
            <a:r>
              <a:rPr lang="en-US" sz="1300" dirty="0">
                <a:solidFill>
                  <a:schemeClr val="tx1"/>
                </a:solidFill>
              </a:rPr>
              <a:t>152 = 9×16 + 8 restores 16-byte alignment after the return address; well under the 256-byte budget</a:t>
            </a:r>
            <a:endParaRPr lang="en-US" sz="1300" dirty="0"/>
          </a:p>
        </p:txBody>
      </p:sp>
      <p:sp>
        <p:nvSpPr>
          <p:cNvPr id="48" name="card"/>
          <p:cNvSpPr/>
          <p:nvPr/>
        </p:nvSpPr>
        <p:spPr>
          <a:xfrm>
            <a:off x="5852160" y="2633472"/>
            <a:ext cx="5760720" cy="1005840"/>
          </a:xfrm>
          <a:prstGeom prst="roundRect">
            <a:avLst>
              <a:gd name="adj" fmla="val 7273"/>
            </a:avLst>
          </a:prstGeom>
          <a:solidFill>
            <a:schemeClr val="bg2"/>
          </a:solidFill>
          <a:ln/>
        </p:spPr>
      </p:sp>
      <p:sp>
        <p:nvSpPr>
          <p:cNvPr id="49" name="Text 46"/>
          <p:cNvSpPr txBox="1"/>
          <p:nvPr/>
        </p:nvSpPr>
        <p:spPr>
          <a:xfrm>
            <a:off x="6080760" y="2743200"/>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Reentrant and thread-safe</a:t>
            </a:r>
            <a:endParaRPr lang="en-US" sz="1600" dirty="0"/>
          </a:p>
        </p:txBody>
      </p:sp>
      <p:sp>
        <p:nvSpPr>
          <p:cNvPr id="50" name="Text 47"/>
          <p:cNvSpPr txBox="1"/>
          <p:nvPr/>
        </p:nvSpPr>
        <p:spPr>
          <a:xfrm>
            <a:off x="6080760" y="3090672"/>
            <a:ext cx="5394960" cy="502920"/>
          </a:xfrm>
          <a:prstGeom prst="rect">
            <a:avLst/>
          </a:prstGeom>
          <a:noFill/>
          <a:ln/>
        </p:spPr>
        <p:txBody>
          <a:bodyPr wrap="square" lIns="0" tIns="0" rIns="0" bIns="0" rtlCol="0" anchor="t"/>
          <a:lstStyle/>
          <a:p>
            <a:pPr indent="0" marL="0">
              <a:buNone/>
            </a:pPr>
            <a:r>
              <a:rPr lang="en-US" sz="1300" dirty="0">
                <a:solidFill>
                  <a:schemeClr val="tx1"/>
                </a:solidFill>
              </a:rPr>
              <a:t>No writable globals; 100 concurrent calls from Python all correct</a:t>
            </a:r>
            <a:endParaRPr lang="en-US" sz="1300" dirty="0"/>
          </a:p>
        </p:txBody>
      </p:sp>
      <p:sp>
        <p:nvSpPr>
          <p:cNvPr id="51" name="card"/>
          <p:cNvSpPr/>
          <p:nvPr/>
        </p:nvSpPr>
        <p:spPr>
          <a:xfrm>
            <a:off x="5852160" y="3803904"/>
            <a:ext cx="5760720" cy="1005840"/>
          </a:xfrm>
          <a:prstGeom prst="roundRect">
            <a:avLst>
              <a:gd name="adj" fmla="val 7273"/>
            </a:avLst>
          </a:prstGeom>
          <a:solidFill>
            <a:schemeClr val="bg2"/>
          </a:solidFill>
          <a:ln/>
        </p:spPr>
      </p:sp>
      <p:sp>
        <p:nvSpPr>
          <p:cNvPr id="52" name="Text 49"/>
          <p:cNvSpPr txBox="1"/>
          <p:nvPr/>
        </p:nvSpPr>
        <p:spPr>
          <a:xfrm>
            <a:off x="6080760" y="3913632"/>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Self-contained DLL</a:t>
            </a:r>
            <a:endParaRPr lang="en-US" sz="1600" dirty="0"/>
          </a:p>
        </p:txBody>
      </p:sp>
      <p:sp>
        <p:nvSpPr>
          <p:cNvPr id="53" name="Text 50"/>
          <p:cNvSpPr txBox="1"/>
          <p:nvPr/>
        </p:nvSpPr>
        <p:spPr>
          <a:xfrm>
            <a:off x="6080760" y="4261104"/>
            <a:ext cx="5394960" cy="502920"/>
          </a:xfrm>
          <a:prstGeom prst="rect">
            <a:avLst/>
          </a:prstGeom>
          <a:noFill/>
          <a:ln/>
        </p:spPr>
        <p:txBody>
          <a:bodyPr wrap="square" lIns="0" tIns="0" rIns="0" bIns="0" rtlCol="0" anchor="t"/>
          <a:lstStyle/>
          <a:p>
            <a:pPr indent="0" marL="0">
              <a:buNone/>
            </a:pPr>
            <a:r>
              <a:rPr lang="en-US" sz="1300" dirty="0">
                <a:solidFill>
                  <a:schemeClr val="tx1"/>
                </a:solidFill>
              </a:rPr>
              <a:t>5,632 bytes, 0 imported DLLs, every section read-only</a:t>
            </a:r>
            <a:endParaRPr lang="en-US" sz="1300" dirty="0"/>
          </a:p>
        </p:txBody>
      </p:sp>
      <p:sp>
        <p:nvSpPr>
          <p:cNvPr id="54" name="card"/>
          <p:cNvSpPr/>
          <p:nvPr/>
        </p:nvSpPr>
        <p:spPr>
          <a:xfrm>
            <a:off x="5852160" y="4974336"/>
            <a:ext cx="5760720" cy="1005840"/>
          </a:xfrm>
          <a:prstGeom prst="roundRect">
            <a:avLst>
              <a:gd name="adj" fmla="val 7273"/>
            </a:avLst>
          </a:prstGeom>
          <a:solidFill>
            <a:schemeClr val="bg2"/>
          </a:solidFill>
          <a:ln/>
        </p:spPr>
      </p:sp>
      <p:sp>
        <p:nvSpPr>
          <p:cNvPr id="55" name="Text 52"/>
          <p:cNvSpPr txBox="1"/>
          <p:nvPr/>
        </p:nvSpPr>
        <p:spPr>
          <a:xfrm>
            <a:off x="6080760" y="5084064"/>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Windows unwind info</a:t>
            </a:r>
            <a:endParaRPr lang="en-US" sz="1600" dirty="0"/>
          </a:p>
        </p:txBody>
      </p:sp>
      <p:sp>
        <p:nvSpPr>
          <p:cNvPr id="56" name="Text 53"/>
          <p:cNvSpPr txBox="1"/>
          <p:nvPr/>
        </p:nvSpPr>
        <p:spPr>
          <a:xfrm>
            <a:off x="6080760" y="5431536"/>
            <a:ext cx="5394960" cy="502920"/>
          </a:xfrm>
          <a:prstGeom prst="rect">
            <a:avLst/>
          </a:prstGeom>
          <a:noFill/>
          <a:ln/>
        </p:spPr>
        <p:txBody>
          <a:bodyPr wrap="square" lIns="0" tIns="0" rIns="0" bIns="0" rtlCol="0" anchor="t"/>
          <a:lstStyle/>
          <a:p>
            <a:pPr indent="0" marL="0">
              <a:buNone/>
            </a:pPr>
            <a:r>
              <a:rPr lang="en-US" sz="1300" dirty="0">
                <a:solidFill>
                  <a:schemeClr val="tx1"/>
                </a:solidFill>
              </a:rPr>
              <a:t>.pdata/.xdata describe the frame so Windows can walk the stack through sfx_generate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sfx_write_wav wraps the samples in a 44-byte WAV header</a:t>
            </a:r>
            <a:endParaRPr lang="en-US" sz="2800" dirty="0"/>
          </a:p>
        </p:txBody>
      </p:sp>
      <p:sp>
        <p:nvSpPr>
          <p:cNvPr id="4" name="Shape 1"/>
          <p:cNvSpPr/>
          <p:nvPr/>
        </p:nvSpPr>
        <p:spPr>
          <a:xfrm>
            <a:off x="548640" y="1600200"/>
            <a:ext cx="835429" cy="1143000"/>
          </a:xfrm>
          <a:prstGeom prst="rect">
            <a:avLst/>
          </a:prstGeom>
          <a:solidFill>
            <a:schemeClr val="tx1"/>
          </a:solidFill>
          <a:ln/>
        </p:spPr>
      </p:sp>
      <p:sp>
        <p:nvSpPr>
          <p:cNvPr id="5" name="Text 2"/>
          <p:cNvSpPr txBox="1"/>
          <p:nvPr/>
        </p:nvSpPr>
        <p:spPr>
          <a:xfrm>
            <a:off x="603504"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0</a:t>
            </a:r>
            <a:endParaRPr lang="en-US" sz="1100" dirty="0"/>
          </a:p>
        </p:txBody>
      </p:sp>
      <p:sp>
        <p:nvSpPr>
          <p:cNvPr id="6" name="Text 3"/>
          <p:cNvSpPr txBox="1"/>
          <p:nvPr/>
        </p:nvSpPr>
        <p:spPr>
          <a:xfrm>
            <a:off x="603504"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RIFF</a:t>
            </a:r>
            <a:endParaRPr lang="en-US" sz="1200" dirty="0"/>
          </a:p>
        </p:txBody>
      </p:sp>
      <p:sp>
        <p:nvSpPr>
          <p:cNvPr id="7" name="Shape 4"/>
          <p:cNvSpPr/>
          <p:nvPr/>
        </p:nvSpPr>
        <p:spPr>
          <a:xfrm>
            <a:off x="1429789" y="1600200"/>
            <a:ext cx="835429" cy="1143000"/>
          </a:xfrm>
          <a:prstGeom prst="rect">
            <a:avLst/>
          </a:prstGeom>
          <a:solidFill>
            <a:schemeClr val="accent3"/>
          </a:solidFill>
          <a:ln/>
        </p:spPr>
      </p:sp>
      <p:sp>
        <p:nvSpPr>
          <p:cNvPr id="8" name="Text 5"/>
          <p:cNvSpPr txBox="1"/>
          <p:nvPr/>
        </p:nvSpPr>
        <p:spPr>
          <a:xfrm>
            <a:off x="1484653" y="1664208"/>
            <a:ext cx="743989"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4</a:t>
            </a:r>
            <a:endParaRPr lang="en-US" sz="1100" dirty="0"/>
          </a:p>
        </p:txBody>
      </p:sp>
      <p:sp>
        <p:nvSpPr>
          <p:cNvPr id="9" name="Text 6"/>
          <p:cNvSpPr txBox="1"/>
          <p:nvPr/>
        </p:nvSpPr>
        <p:spPr>
          <a:xfrm>
            <a:off x="1484653" y="2011680"/>
            <a:ext cx="771421" cy="640080"/>
          </a:xfrm>
          <a:prstGeom prst="rect">
            <a:avLst/>
          </a:prstGeom>
          <a:noFill/>
          <a:ln/>
        </p:spPr>
        <p:txBody>
          <a:bodyPr wrap="square" lIns="0" tIns="0" rIns="0" bIns="0" rtlCol="0" anchor="t"/>
          <a:lstStyle/>
          <a:p>
            <a:pPr indent="0" marL="0">
              <a:buNone/>
            </a:pPr>
            <a:r>
              <a:rPr lang="en-US" sz="1200" b="1" dirty="0">
                <a:solidFill>
                  <a:schemeClr val="tx1"/>
                </a:solidFill>
              </a:rPr>
              <a:t>36+size</a:t>
            </a:r>
            <a:endParaRPr lang="en-US" sz="1200" dirty="0"/>
          </a:p>
        </p:txBody>
      </p:sp>
      <p:sp>
        <p:nvSpPr>
          <p:cNvPr id="10" name="Shape 7"/>
          <p:cNvSpPr/>
          <p:nvPr/>
        </p:nvSpPr>
        <p:spPr>
          <a:xfrm>
            <a:off x="2310938" y="1600200"/>
            <a:ext cx="835429" cy="1143000"/>
          </a:xfrm>
          <a:prstGeom prst="rect">
            <a:avLst/>
          </a:prstGeom>
          <a:solidFill>
            <a:schemeClr val="tx1"/>
          </a:solidFill>
          <a:ln/>
        </p:spPr>
      </p:sp>
      <p:sp>
        <p:nvSpPr>
          <p:cNvPr id="11" name="Text 8"/>
          <p:cNvSpPr txBox="1"/>
          <p:nvPr/>
        </p:nvSpPr>
        <p:spPr>
          <a:xfrm>
            <a:off x="2365802"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8</a:t>
            </a:r>
            <a:endParaRPr lang="en-US" sz="1100" dirty="0"/>
          </a:p>
        </p:txBody>
      </p:sp>
      <p:sp>
        <p:nvSpPr>
          <p:cNvPr id="12" name="Text 9"/>
          <p:cNvSpPr txBox="1"/>
          <p:nvPr/>
        </p:nvSpPr>
        <p:spPr>
          <a:xfrm>
            <a:off x="2365802"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WAVE</a:t>
            </a:r>
            <a:endParaRPr lang="en-US" sz="1200" dirty="0"/>
          </a:p>
        </p:txBody>
      </p:sp>
      <p:sp>
        <p:nvSpPr>
          <p:cNvPr id="13" name="Shape 10"/>
          <p:cNvSpPr/>
          <p:nvPr/>
        </p:nvSpPr>
        <p:spPr>
          <a:xfrm>
            <a:off x="3192087" y="1600200"/>
            <a:ext cx="835429" cy="1143000"/>
          </a:xfrm>
          <a:prstGeom prst="rect">
            <a:avLst/>
          </a:prstGeom>
          <a:solidFill>
            <a:schemeClr val="tx1"/>
          </a:solidFill>
          <a:ln/>
        </p:spPr>
      </p:sp>
      <p:sp>
        <p:nvSpPr>
          <p:cNvPr id="14" name="Text 11"/>
          <p:cNvSpPr txBox="1"/>
          <p:nvPr/>
        </p:nvSpPr>
        <p:spPr>
          <a:xfrm>
            <a:off x="3246951"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12</a:t>
            </a:r>
            <a:endParaRPr lang="en-US" sz="1100" dirty="0"/>
          </a:p>
        </p:txBody>
      </p:sp>
      <p:sp>
        <p:nvSpPr>
          <p:cNvPr id="15" name="Text 12"/>
          <p:cNvSpPr txBox="1"/>
          <p:nvPr/>
        </p:nvSpPr>
        <p:spPr>
          <a:xfrm>
            <a:off x="3246951"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fmt</a:t>
            </a:r>
            <a:endParaRPr lang="en-US" sz="1200" dirty="0"/>
          </a:p>
        </p:txBody>
      </p:sp>
      <p:sp>
        <p:nvSpPr>
          <p:cNvPr id="16" name="Shape 13"/>
          <p:cNvSpPr/>
          <p:nvPr/>
        </p:nvSpPr>
        <p:spPr>
          <a:xfrm>
            <a:off x="4073236" y="1600200"/>
            <a:ext cx="835429" cy="1143000"/>
          </a:xfrm>
          <a:prstGeom prst="rect">
            <a:avLst/>
          </a:prstGeom>
          <a:solidFill>
            <a:schemeClr val="tx1"/>
          </a:solidFill>
          <a:ln/>
        </p:spPr>
      </p:sp>
      <p:sp>
        <p:nvSpPr>
          <p:cNvPr id="17" name="Text 14"/>
          <p:cNvSpPr txBox="1"/>
          <p:nvPr/>
        </p:nvSpPr>
        <p:spPr>
          <a:xfrm>
            <a:off x="4128100"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16</a:t>
            </a:r>
            <a:endParaRPr lang="en-US" sz="1100" dirty="0"/>
          </a:p>
        </p:txBody>
      </p:sp>
      <p:sp>
        <p:nvSpPr>
          <p:cNvPr id="18" name="Text 15"/>
          <p:cNvSpPr txBox="1"/>
          <p:nvPr/>
        </p:nvSpPr>
        <p:spPr>
          <a:xfrm>
            <a:off x="4128100"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16</a:t>
            </a:r>
            <a:endParaRPr lang="en-US" sz="1200" dirty="0"/>
          </a:p>
        </p:txBody>
      </p:sp>
      <p:sp>
        <p:nvSpPr>
          <p:cNvPr id="19" name="Shape 16"/>
          <p:cNvSpPr/>
          <p:nvPr/>
        </p:nvSpPr>
        <p:spPr>
          <a:xfrm>
            <a:off x="4954385" y="1600200"/>
            <a:ext cx="835429" cy="1143000"/>
          </a:xfrm>
          <a:prstGeom prst="rect">
            <a:avLst/>
          </a:prstGeom>
          <a:solidFill>
            <a:schemeClr val="tx1"/>
          </a:solidFill>
          <a:ln/>
        </p:spPr>
      </p:sp>
      <p:sp>
        <p:nvSpPr>
          <p:cNvPr id="20" name="Text 17"/>
          <p:cNvSpPr txBox="1"/>
          <p:nvPr/>
        </p:nvSpPr>
        <p:spPr>
          <a:xfrm>
            <a:off x="5009249"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20</a:t>
            </a:r>
            <a:endParaRPr lang="en-US" sz="1100" dirty="0"/>
          </a:p>
        </p:txBody>
      </p:sp>
      <p:sp>
        <p:nvSpPr>
          <p:cNvPr id="21" name="Text 18"/>
          <p:cNvSpPr txBox="1"/>
          <p:nvPr/>
        </p:nvSpPr>
        <p:spPr>
          <a:xfrm>
            <a:off x="5009249"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PCM, mono</a:t>
            </a:r>
            <a:endParaRPr lang="en-US" sz="1200" dirty="0"/>
          </a:p>
        </p:txBody>
      </p:sp>
      <p:sp>
        <p:nvSpPr>
          <p:cNvPr id="22" name="Shape 19"/>
          <p:cNvSpPr/>
          <p:nvPr/>
        </p:nvSpPr>
        <p:spPr>
          <a:xfrm>
            <a:off x="5835535" y="1600200"/>
            <a:ext cx="835429" cy="1143000"/>
          </a:xfrm>
          <a:prstGeom prst="rect">
            <a:avLst/>
          </a:prstGeom>
          <a:solidFill>
            <a:schemeClr val="tx1"/>
          </a:solidFill>
          <a:ln/>
        </p:spPr>
      </p:sp>
      <p:sp>
        <p:nvSpPr>
          <p:cNvPr id="23" name="Text 20"/>
          <p:cNvSpPr txBox="1"/>
          <p:nvPr/>
        </p:nvSpPr>
        <p:spPr>
          <a:xfrm>
            <a:off x="5890399"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24</a:t>
            </a:r>
            <a:endParaRPr lang="en-US" sz="1100" dirty="0"/>
          </a:p>
        </p:txBody>
      </p:sp>
      <p:sp>
        <p:nvSpPr>
          <p:cNvPr id="24" name="Text 21"/>
          <p:cNvSpPr txBox="1"/>
          <p:nvPr/>
        </p:nvSpPr>
        <p:spPr>
          <a:xfrm>
            <a:off x="5890399"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44100 Hz</a:t>
            </a:r>
            <a:endParaRPr lang="en-US" sz="1200" dirty="0"/>
          </a:p>
        </p:txBody>
      </p:sp>
      <p:sp>
        <p:nvSpPr>
          <p:cNvPr id="25" name="Shape 22"/>
          <p:cNvSpPr/>
          <p:nvPr/>
        </p:nvSpPr>
        <p:spPr>
          <a:xfrm>
            <a:off x="6716684" y="1600200"/>
            <a:ext cx="835429" cy="1143000"/>
          </a:xfrm>
          <a:prstGeom prst="rect">
            <a:avLst/>
          </a:prstGeom>
          <a:solidFill>
            <a:schemeClr val="tx1"/>
          </a:solidFill>
          <a:ln/>
        </p:spPr>
      </p:sp>
      <p:sp>
        <p:nvSpPr>
          <p:cNvPr id="26" name="Text 23"/>
          <p:cNvSpPr txBox="1"/>
          <p:nvPr/>
        </p:nvSpPr>
        <p:spPr>
          <a:xfrm>
            <a:off x="6771548"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28</a:t>
            </a:r>
            <a:endParaRPr lang="en-US" sz="1100" dirty="0"/>
          </a:p>
        </p:txBody>
      </p:sp>
      <p:sp>
        <p:nvSpPr>
          <p:cNvPr id="27" name="Text 24"/>
          <p:cNvSpPr txBox="1"/>
          <p:nvPr/>
        </p:nvSpPr>
        <p:spPr>
          <a:xfrm>
            <a:off x="6771548"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88200 B/s</a:t>
            </a:r>
            <a:endParaRPr lang="en-US" sz="1200" dirty="0"/>
          </a:p>
        </p:txBody>
      </p:sp>
      <p:sp>
        <p:nvSpPr>
          <p:cNvPr id="28" name="Shape 25"/>
          <p:cNvSpPr/>
          <p:nvPr/>
        </p:nvSpPr>
        <p:spPr>
          <a:xfrm>
            <a:off x="7597833" y="1600200"/>
            <a:ext cx="835429" cy="1143000"/>
          </a:xfrm>
          <a:prstGeom prst="rect">
            <a:avLst/>
          </a:prstGeom>
          <a:solidFill>
            <a:schemeClr val="tx1"/>
          </a:solidFill>
          <a:ln/>
        </p:spPr>
      </p:sp>
      <p:sp>
        <p:nvSpPr>
          <p:cNvPr id="29" name="Text 26"/>
          <p:cNvSpPr txBox="1"/>
          <p:nvPr/>
        </p:nvSpPr>
        <p:spPr>
          <a:xfrm>
            <a:off x="7652697"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32</a:t>
            </a:r>
            <a:endParaRPr lang="en-US" sz="1100" dirty="0"/>
          </a:p>
        </p:txBody>
      </p:sp>
      <p:sp>
        <p:nvSpPr>
          <p:cNvPr id="30" name="Text 27"/>
          <p:cNvSpPr txBox="1"/>
          <p:nvPr/>
        </p:nvSpPr>
        <p:spPr>
          <a:xfrm>
            <a:off x="7652697"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2 B, 16 bit</a:t>
            </a:r>
            <a:endParaRPr lang="en-US" sz="1200" dirty="0"/>
          </a:p>
        </p:txBody>
      </p:sp>
      <p:sp>
        <p:nvSpPr>
          <p:cNvPr id="31" name="Shape 28"/>
          <p:cNvSpPr/>
          <p:nvPr/>
        </p:nvSpPr>
        <p:spPr>
          <a:xfrm>
            <a:off x="8478982" y="1600200"/>
            <a:ext cx="835429" cy="1143000"/>
          </a:xfrm>
          <a:prstGeom prst="rect">
            <a:avLst/>
          </a:prstGeom>
          <a:solidFill>
            <a:schemeClr val="tx1"/>
          </a:solidFill>
          <a:ln/>
        </p:spPr>
      </p:sp>
      <p:sp>
        <p:nvSpPr>
          <p:cNvPr id="32" name="Text 29"/>
          <p:cNvSpPr txBox="1"/>
          <p:nvPr/>
        </p:nvSpPr>
        <p:spPr>
          <a:xfrm>
            <a:off x="8533846"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36</a:t>
            </a:r>
            <a:endParaRPr lang="en-US" sz="1100" dirty="0"/>
          </a:p>
        </p:txBody>
      </p:sp>
      <p:sp>
        <p:nvSpPr>
          <p:cNvPr id="33" name="Text 30"/>
          <p:cNvSpPr txBox="1"/>
          <p:nvPr/>
        </p:nvSpPr>
        <p:spPr>
          <a:xfrm>
            <a:off x="8533846"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data</a:t>
            </a:r>
            <a:endParaRPr lang="en-US" sz="1200" dirty="0"/>
          </a:p>
        </p:txBody>
      </p:sp>
      <p:sp>
        <p:nvSpPr>
          <p:cNvPr id="34" name="Shape 31"/>
          <p:cNvSpPr/>
          <p:nvPr/>
        </p:nvSpPr>
        <p:spPr>
          <a:xfrm>
            <a:off x="9360131" y="1600200"/>
            <a:ext cx="835429" cy="1143000"/>
          </a:xfrm>
          <a:prstGeom prst="rect">
            <a:avLst/>
          </a:prstGeom>
          <a:solidFill>
            <a:schemeClr val="accent3"/>
          </a:solidFill>
          <a:ln/>
        </p:spPr>
      </p:sp>
      <p:sp>
        <p:nvSpPr>
          <p:cNvPr id="35" name="Text 32"/>
          <p:cNvSpPr txBox="1"/>
          <p:nvPr/>
        </p:nvSpPr>
        <p:spPr>
          <a:xfrm>
            <a:off x="9414995" y="1664208"/>
            <a:ext cx="743989"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40</a:t>
            </a:r>
            <a:endParaRPr lang="en-US" sz="1100" dirty="0"/>
          </a:p>
        </p:txBody>
      </p:sp>
      <p:sp>
        <p:nvSpPr>
          <p:cNvPr id="36" name="Text 33"/>
          <p:cNvSpPr txBox="1"/>
          <p:nvPr/>
        </p:nvSpPr>
        <p:spPr>
          <a:xfrm>
            <a:off x="9414995" y="2011680"/>
            <a:ext cx="771421" cy="640080"/>
          </a:xfrm>
          <a:prstGeom prst="rect">
            <a:avLst/>
          </a:prstGeom>
          <a:noFill/>
          <a:ln/>
        </p:spPr>
        <p:txBody>
          <a:bodyPr wrap="square" lIns="0" tIns="0" rIns="0" bIns="0" rtlCol="0" anchor="t"/>
          <a:lstStyle/>
          <a:p>
            <a:pPr indent="0" marL="0">
              <a:buNone/>
            </a:pPr>
            <a:r>
              <a:rPr lang="en-US" sz="1200" b="1" dirty="0">
                <a:solidFill>
                  <a:schemeClr val="tx1"/>
                </a:solidFill>
              </a:rPr>
              <a:t>size = 2n</a:t>
            </a:r>
            <a:endParaRPr lang="en-US" sz="1200" dirty="0"/>
          </a:p>
        </p:txBody>
      </p:sp>
      <p:sp>
        <p:nvSpPr>
          <p:cNvPr id="37" name="Shape 34"/>
          <p:cNvSpPr/>
          <p:nvPr/>
        </p:nvSpPr>
        <p:spPr>
          <a:xfrm>
            <a:off x="10287000" y="1600200"/>
            <a:ext cx="1325880" cy="1143000"/>
          </a:xfrm>
          <a:prstGeom prst="rect">
            <a:avLst/>
          </a:prstGeom>
          <a:solidFill>
            <a:schemeClr val="accent1"/>
          </a:solidFill>
          <a:ln/>
        </p:spPr>
      </p:sp>
      <p:sp>
        <p:nvSpPr>
          <p:cNvPr id="38" name="Text 35"/>
          <p:cNvSpPr txBox="1"/>
          <p:nvPr/>
        </p:nvSpPr>
        <p:spPr>
          <a:xfrm>
            <a:off x="10351008" y="1664208"/>
            <a:ext cx="1188720" cy="27432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44+</a:t>
            </a:r>
            <a:endParaRPr lang="en-US" sz="1100" dirty="0"/>
          </a:p>
        </p:txBody>
      </p:sp>
      <p:sp>
        <p:nvSpPr>
          <p:cNvPr id="39" name="Text 36"/>
          <p:cNvSpPr txBox="1"/>
          <p:nvPr/>
        </p:nvSpPr>
        <p:spPr>
          <a:xfrm>
            <a:off x="10351008" y="2011680"/>
            <a:ext cx="1188720" cy="640080"/>
          </a:xfrm>
          <a:prstGeom prst="rect">
            <a:avLst/>
          </a:prstGeom>
          <a:noFill/>
          <a:ln/>
        </p:spPr>
        <p:txBody>
          <a:bodyPr wrap="square" lIns="0" tIns="0" rIns="0" bIns="0" rtlCol="0" anchor="t"/>
          <a:lstStyle/>
          <a:p>
            <a:pPr indent="0" marL="0">
              <a:buNone/>
            </a:pPr>
            <a:r>
              <a:rPr lang="en-US" sz="1200" b="1" dirty="0">
                <a:solidFill>
                  <a:schemeClr val="bg1"/>
                </a:solidFill>
              </a:rPr>
              <a:t>samples…</a:t>
            </a:r>
            <a:endParaRPr lang="en-US" sz="1200" dirty="0"/>
          </a:p>
        </p:txBody>
      </p:sp>
      <p:sp>
        <p:nvSpPr>
          <p:cNvPr id="40" name="Text 37"/>
          <p:cNvSpPr txBox="1"/>
          <p:nvPr/>
        </p:nvSpPr>
        <p:spPr>
          <a:xfrm>
            <a:off x="548640" y="2852928"/>
            <a:ext cx="10972800" cy="320040"/>
          </a:xfrm>
          <a:prstGeom prst="rect">
            <a:avLst/>
          </a:prstGeom>
          <a:noFill/>
          <a:ln/>
        </p:spPr>
        <p:txBody>
          <a:bodyPr wrap="square" lIns="0" tIns="0" rIns="0" bIns="0" rtlCol="0" anchor="t"/>
          <a:lstStyle/>
          <a:p>
            <a:pPr indent="0" marL="0">
              <a:buNone/>
            </a:pPr>
            <a:r>
              <a:rPr lang="en-US" sz="1300" dirty="0">
                <a:solidFill>
                  <a:schemeClr val="accent5"/>
                </a:solidFill>
              </a:rPr>
              <a:t>Byte offset shown on top. Amber fields are patched per sound; the rest is a constant template in .rdata.</a:t>
            </a:r>
            <a:endParaRPr lang="en-US" sz="1300" dirty="0"/>
          </a:p>
        </p:txBody>
      </p:sp>
      <p:sp>
        <p:nvSpPr>
          <p:cNvPr id="41" name="card"/>
          <p:cNvSpPr/>
          <p:nvPr/>
        </p:nvSpPr>
        <p:spPr>
          <a:xfrm>
            <a:off x="548640" y="3474720"/>
            <a:ext cx="2606040" cy="1828800"/>
          </a:xfrm>
          <a:prstGeom prst="roundRect">
            <a:avLst>
              <a:gd name="adj" fmla="val 4000"/>
            </a:avLst>
          </a:prstGeom>
          <a:solidFill>
            <a:schemeClr val="bg2"/>
          </a:solidFill>
          <a:ln/>
        </p:spPr>
      </p:sp>
      <p:sp>
        <p:nvSpPr>
          <p:cNvPr id="42" name="Shape 39"/>
          <p:cNvSpPr/>
          <p:nvPr/>
        </p:nvSpPr>
        <p:spPr>
          <a:xfrm>
            <a:off x="777240" y="3657600"/>
            <a:ext cx="457200" cy="457200"/>
          </a:xfrm>
          <a:prstGeom prst="ellipse">
            <a:avLst/>
          </a:prstGeom>
          <a:solidFill>
            <a:schemeClr val="accent1"/>
          </a:solidFill>
          <a:ln/>
        </p:spPr>
      </p:sp>
      <p:sp>
        <p:nvSpPr>
          <p:cNvPr id="43" name="Text 40"/>
          <p:cNvSpPr txBox="1"/>
          <p:nvPr/>
        </p:nvSpPr>
        <p:spPr>
          <a:xfrm>
            <a:off x="777240"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4" name="Text 41"/>
          <p:cNvSpPr txBox="1"/>
          <p:nvPr/>
        </p:nvSpPr>
        <p:spPr>
          <a:xfrm>
            <a:off x="777240"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Check</a:t>
            </a:r>
            <a:endParaRPr lang="en-US" sz="1700" dirty="0"/>
          </a:p>
        </p:txBody>
      </p:sp>
      <p:sp>
        <p:nvSpPr>
          <p:cNvPr id="45" name="Text 42"/>
          <p:cNvSpPr txBox="1"/>
          <p:nvPr/>
        </p:nvSpPr>
        <p:spPr>
          <a:xfrm>
            <a:off x="777240" y="4645152"/>
            <a:ext cx="2240280" cy="640080"/>
          </a:xfrm>
          <a:prstGeom prst="rect">
            <a:avLst/>
          </a:prstGeom>
          <a:noFill/>
          <a:ln/>
        </p:spPr>
        <p:txBody>
          <a:bodyPr wrap="square" lIns="0" tIns="0" rIns="0" bIns="0" rtlCol="0" anchor="t"/>
          <a:lstStyle/>
          <a:p>
            <a:pPr indent="0" marL="0">
              <a:buNone/>
            </a:pPr>
            <a:r>
              <a:rPr lang="en-US" sz="1300" dirty="0">
                <a:solidFill>
                  <a:schemeClr val="tx1"/>
                </a:solidFill>
              </a:rPr>
              <a:t>both pointers, 1 ≤ n ≤ 220,500, capacity ≥ 44 + 2n</a:t>
            </a:r>
            <a:endParaRPr lang="en-US" sz="1300" dirty="0"/>
          </a:p>
        </p:txBody>
      </p:sp>
      <p:sp>
        <p:nvSpPr>
          <p:cNvPr id="46" name="card"/>
          <p:cNvSpPr/>
          <p:nvPr/>
        </p:nvSpPr>
        <p:spPr>
          <a:xfrm>
            <a:off x="3364992" y="3474720"/>
            <a:ext cx="2606040" cy="1828800"/>
          </a:xfrm>
          <a:prstGeom prst="roundRect">
            <a:avLst>
              <a:gd name="adj" fmla="val 4000"/>
            </a:avLst>
          </a:prstGeom>
          <a:solidFill>
            <a:schemeClr val="bg2"/>
          </a:solidFill>
          <a:ln/>
        </p:spPr>
      </p:sp>
      <p:sp>
        <p:nvSpPr>
          <p:cNvPr id="47" name="Shape 44"/>
          <p:cNvSpPr/>
          <p:nvPr/>
        </p:nvSpPr>
        <p:spPr>
          <a:xfrm>
            <a:off x="3593592" y="3657600"/>
            <a:ext cx="457200" cy="457200"/>
          </a:xfrm>
          <a:prstGeom prst="ellipse">
            <a:avLst/>
          </a:prstGeom>
          <a:solidFill>
            <a:schemeClr val="accent1"/>
          </a:solidFill>
          <a:ln/>
        </p:spPr>
      </p:sp>
      <p:sp>
        <p:nvSpPr>
          <p:cNvPr id="48" name="Text 45"/>
          <p:cNvSpPr txBox="1"/>
          <p:nvPr/>
        </p:nvSpPr>
        <p:spPr>
          <a:xfrm>
            <a:off x="3593592"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9" name="Text 46"/>
          <p:cNvSpPr txBox="1"/>
          <p:nvPr/>
        </p:nvSpPr>
        <p:spPr>
          <a:xfrm>
            <a:off x="3593592"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Copy header</a:t>
            </a:r>
            <a:endParaRPr lang="en-US" sz="1700" dirty="0"/>
          </a:p>
        </p:txBody>
      </p:sp>
      <p:sp>
        <p:nvSpPr>
          <p:cNvPr id="50" name="Text 47"/>
          <p:cNvSpPr txBox="1"/>
          <p:nvPr/>
        </p:nvSpPr>
        <p:spPr>
          <a:xfrm>
            <a:off x="3593592" y="4645152"/>
            <a:ext cx="2240280" cy="640080"/>
          </a:xfrm>
          <a:prstGeom prst="rect">
            <a:avLst/>
          </a:prstGeom>
          <a:noFill/>
          <a:ln/>
        </p:spPr>
        <p:txBody>
          <a:bodyPr wrap="square" lIns="0" tIns="0" rIns="0" bIns="0" rtlCol="0" anchor="t"/>
          <a:lstStyle/>
          <a:p>
            <a:pPr indent="0" marL="0">
              <a:buNone/>
            </a:pPr>
            <a:r>
              <a:rPr lang="en-US" sz="1300" dirty="0">
                <a:solidFill>
                  <a:schemeClr val="tx1"/>
                </a:solidFill>
              </a:rPr>
              <a:t>44 bytes from the template</a:t>
            </a:r>
            <a:endParaRPr lang="en-US" sz="1300" dirty="0"/>
          </a:p>
        </p:txBody>
      </p:sp>
      <p:sp>
        <p:nvSpPr>
          <p:cNvPr id="51" name="card"/>
          <p:cNvSpPr/>
          <p:nvPr/>
        </p:nvSpPr>
        <p:spPr>
          <a:xfrm>
            <a:off x="6181344" y="3474720"/>
            <a:ext cx="2606040" cy="1828800"/>
          </a:xfrm>
          <a:prstGeom prst="roundRect">
            <a:avLst>
              <a:gd name="adj" fmla="val 4000"/>
            </a:avLst>
          </a:prstGeom>
          <a:solidFill>
            <a:schemeClr val="bg2"/>
          </a:solidFill>
          <a:ln/>
        </p:spPr>
      </p:sp>
      <p:sp>
        <p:nvSpPr>
          <p:cNvPr id="52" name="Shape 49"/>
          <p:cNvSpPr/>
          <p:nvPr/>
        </p:nvSpPr>
        <p:spPr>
          <a:xfrm>
            <a:off x="6409944" y="3657600"/>
            <a:ext cx="457200" cy="457200"/>
          </a:xfrm>
          <a:prstGeom prst="ellipse">
            <a:avLst/>
          </a:prstGeom>
          <a:solidFill>
            <a:schemeClr val="accent1"/>
          </a:solidFill>
          <a:ln/>
        </p:spPr>
      </p:sp>
      <p:sp>
        <p:nvSpPr>
          <p:cNvPr id="53" name="Text 50"/>
          <p:cNvSpPr txBox="1"/>
          <p:nvPr/>
        </p:nvSpPr>
        <p:spPr>
          <a:xfrm>
            <a:off x="6409944"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54" name="Text 51"/>
          <p:cNvSpPr txBox="1"/>
          <p:nvPr/>
        </p:nvSpPr>
        <p:spPr>
          <a:xfrm>
            <a:off x="6409944"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Patch sizes</a:t>
            </a:r>
            <a:endParaRPr lang="en-US" sz="1700" dirty="0"/>
          </a:p>
        </p:txBody>
      </p:sp>
      <p:sp>
        <p:nvSpPr>
          <p:cNvPr id="55" name="Text 52"/>
          <p:cNvSpPr txBox="1"/>
          <p:nvPr/>
        </p:nvSpPr>
        <p:spPr>
          <a:xfrm>
            <a:off x="6409944" y="4645152"/>
            <a:ext cx="2240280" cy="640080"/>
          </a:xfrm>
          <a:prstGeom prst="rect">
            <a:avLst/>
          </a:prstGeom>
          <a:noFill/>
          <a:ln/>
        </p:spPr>
        <p:txBody>
          <a:bodyPr wrap="square" lIns="0" tIns="0" rIns="0" bIns="0" rtlCol="0" anchor="t"/>
          <a:lstStyle/>
          <a:p>
            <a:pPr indent="0" marL="0">
              <a:buNone/>
            </a:pPr>
            <a:r>
              <a:rPr lang="en-US" sz="1300" dirty="0">
                <a:solidFill>
                  <a:schemeClr val="tx1"/>
                </a:solidFill>
              </a:rPr>
              <a:t>byte 40 = 2n; byte 4 = 2n + 36</a:t>
            </a:r>
            <a:endParaRPr lang="en-US" sz="1300" dirty="0"/>
          </a:p>
        </p:txBody>
      </p:sp>
      <p:sp>
        <p:nvSpPr>
          <p:cNvPr id="56" name="card"/>
          <p:cNvSpPr/>
          <p:nvPr/>
        </p:nvSpPr>
        <p:spPr>
          <a:xfrm>
            <a:off x="8997696" y="3474720"/>
            <a:ext cx="2606040" cy="1828800"/>
          </a:xfrm>
          <a:prstGeom prst="roundRect">
            <a:avLst>
              <a:gd name="adj" fmla="val 4000"/>
            </a:avLst>
          </a:prstGeom>
          <a:solidFill>
            <a:schemeClr val="bg2"/>
          </a:solidFill>
          <a:ln/>
        </p:spPr>
      </p:sp>
      <p:sp>
        <p:nvSpPr>
          <p:cNvPr id="57" name="Shape 54"/>
          <p:cNvSpPr/>
          <p:nvPr/>
        </p:nvSpPr>
        <p:spPr>
          <a:xfrm>
            <a:off x="9226296" y="3657600"/>
            <a:ext cx="457200" cy="457200"/>
          </a:xfrm>
          <a:prstGeom prst="ellipse">
            <a:avLst/>
          </a:prstGeom>
          <a:solidFill>
            <a:schemeClr val="accent1"/>
          </a:solidFill>
          <a:ln/>
        </p:spPr>
      </p:sp>
      <p:sp>
        <p:nvSpPr>
          <p:cNvPr id="58" name="Text 55"/>
          <p:cNvSpPr txBox="1"/>
          <p:nvPr/>
        </p:nvSpPr>
        <p:spPr>
          <a:xfrm>
            <a:off x="9226296"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59" name="Text 56"/>
          <p:cNvSpPr txBox="1"/>
          <p:nvPr/>
        </p:nvSpPr>
        <p:spPr>
          <a:xfrm>
            <a:off x="9226296"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Copy samples</a:t>
            </a:r>
            <a:endParaRPr lang="en-US" sz="1700" dirty="0"/>
          </a:p>
        </p:txBody>
      </p:sp>
      <p:sp>
        <p:nvSpPr>
          <p:cNvPr id="60" name="Text 57"/>
          <p:cNvSpPr txBox="1"/>
          <p:nvPr/>
        </p:nvSpPr>
        <p:spPr>
          <a:xfrm>
            <a:off x="9226296" y="4645152"/>
            <a:ext cx="2240280" cy="640080"/>
          </a:xfrm>
          <a:prstGeom prst="rect">
            <a:avLst/>
          </a:prstGeom>
          <a:noFill/>
          <a:ln/>
        </p:spPr>
        <p:txBody>
          <a:bodyPr wrap="square" lIns="0" tIns="0" rIns="0" bIns="0" rtlCol="0" anchor="t"/>
          <a:lstStyle/>
          <a:p>
            <a:pPr indent="0" marL="0">
              <a:buNone/>
            </a:pPr>
            <a:r>
              <a:rPr lang="en-US" sz="1300" dirty="0">
                <a:solidFill>
                  <a:schemeClr val="tx1"/>
                </a:solidFill>
              </a:rPr>
              <a:t>2n bytes after the header; return 44 + 2n</a:t>
            </a:r>
            <a:endParaRPr lang="en-US" sz="1300" dirty="0"/>
          </a:p>
        </p:txBody>
      </p:sp>
      <p:sp>
        <p:nvSpPr>
          <p:cNvPr id="61" name="Text 58"/>
          <p:cNvSpPr txBox="1"/>
          <p:nvPr/>
        </p:nvSpPr>
        <p:spPr>
          <a:xfrm>
            <a:off x="548640" y="5623560"/>
            <a:ext cx="1097280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lea r10d,[rdx*2+44]</a:t>
            </a:r>
            <a:pPr indent="0" marL="0">
              <a:buNone/>
            </a:pPr>
            <a:r>
              <a:rPr lang="en-US" sz="1400" dirty="0">
                <a:solidFill>
                  <a:schemeClr val="tx1"/>
                </a:solidFill>
              </a:rPr>
              <a:t>   computes the file size 44 + 2n in one instruction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Assembly matches the C reference bit for bit on 10,000 sounds</a:t>
            </a:r>
            <a:endParaRPr lang="en-US" sz="2800" dirty="0"/>
          </a:p>
        </p:txBody>
      </p:sp>
      <p:sp>
        <p:nvSpPr>
          <p:cNvPr id="4" name="card"/>
          <p:cNvSpPr/>
          <p:nvPr/>
        </p:nvSpPr>
        <p:spPr>
          <a:xfrm>
            <a:off x="548640" y="1508760"/>
            <a:ext cx="2606040" cy="1600200"/>
          </a:xfrm>
          <a:prstGeom prst="roundRect">
            <a:avLst>
              <a:gd name="adj" fmla="val 4571"/>
            </a:avLst>
          </a:prstGeom>
          <a:solidFill>
            <a:schemeClr val="bg2"/>
          </a:solidFill>
          <a:ln/>
        </p:spPr>
      </p:sp>
      <p:sp>
        <p:nvSpPr>
          <p:cNvPr id="5" name="Text 2"/>
          <p:cNvSpPr txBox="1"/>
          <p:nvPr/>
        </p:nvSpPr>
        <p:spPr>
          <a:xfrm>
            <a:off x="777240" y="1645920"/>
            <a:ext cx="2240280" cy="77724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1,279,144</a:t>
            </a:r>
            <a:endParaRPr lang="en-US" sz="3600" dirty="0"/>
          </a:p>
        </p:txBody>
      </p:sp>
      <p:sp>
        <p:nvSpPr>
          <p:cNvPr id="6" name="Text 3"/>
          <p:cNvSpPr txBox="1"/>
          <p:nvPr/>
        </p:nvSpPr>
        <p:spPr>
          <a:xfrm>
            <a:off x="777240" y="2468880"/>
            <a:ext cx="2240280" cy="548640"/>
          </a:xfrm>
          <a:prstGeom prst="rect">
            <a:avLst/>
          </a:prstGeom>
          <a:noFill/>
          <a:ln/>
        </p:spPr>
        <p:txBody>
          <a:bodyPr wrap="square" lIns="0" tIns="0" rIns="0" bIns="0" rtlCol="0" anchor="t"/>
          <a:lstStyle/>
          <a:p>
            <a:pPr indent="0" marL="0">
              <a:buNone/>
            </a:pPr>
            <a:r>
              <a:rPr lang="en-US" sz="1400" dirty="0">
                <a:solidFill>
                  <a:schemeClr val="tx2"/>
                </a:solidFill>
              </a:rPr>
              <a:t>native checks passed</a:t>
            </a:r>
            <a:endParaRPr lang="en-US" sz="1400" dirty="0"/>
          </a:p>
        </p:txBody>
      </p:sp>
      <p:sp>
        <p:nvSpPr>
          <p:cNvPr id="7" name="card"/>
          <p:cNvSpPr/>
          <p:nvPr/>
        </p:nvSpPr>
        <p:spPr>
          <a:xfrm>
            <a:off x="3364992" y="1508760"/>
            <a:ext cx="2606040" cy="1600200"/>
          </a:xfrm>
          <a:prstGeom prst="roundRect">
            <a:avLst>
              <a:gd name="adj" fmla="val 4571"/>
            </a:avLst>
          </a:prstGeom>
          <a:solidFill>
            <a:schemeClr val="tx1"/>
          </a:solidFill>
          <a:ln/>
        </p:spPr>
      </p:sp>
      <p:sp>
        <p:nvSpPr>
          <p:cNvPr id="8" name="Text 5"/>
          <p:cNvSpPr txBox="1"/>
          <p:nvPr/>
        </p:nvSpPr>
        <p:spPr>
          <a:xfrm>
            <a:off x="3593592" y="1645920"/>
            <a:ext cx="2240280" cy="77724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0</a:t>
            </a:r>
            <a:endParaRPr lang="en-US" sz="3600" dirty="0"/>
          </a:p>
        </p:txBody>
      </p:sp>
      <p:sp>
        <p:nvSpPr>
          <p:cNvPr id="9" name="Text 6"/>
          <p:cNvSpPr txBox="1"/>
          <p:nvPr/>
        </p:nvSpPr>
        <p:spPr>
          <a:xfrm>
            <a:off x="3593592" y="2468880"/>
            <a:ext cx="2240280" cy="548640"/>
          </a:xfrm>
          <a:prstGeom prst="rect">
            <a:avLst/>
          </a:prstGeom>
          <a:noFill/>
          <a:ln/>
        </p:spPr>
        <p:txBody>
          <a:bodyPr wrap="square" lIns="0" tIns="0" rIns="0" bIns="0" rtlCol="0" anchor="t"/>
          <a:lstStyle/>
          <a:p>
            <a:pPr indent="0" marL="0">
              <a:buNone/>
            </a:pPr>
            <a:r>
              <a:rPr lang="en-US" sz="1400" dirty="0">
                <a:solidFill>
                  <a:schemeClr val="bg1"/>
                </a:solidFill>
              </a:rPr>
              <a:t>max sample difference vs C</a:t>
            </a:r>
            <a:endParaRPr lang="en-US" sz="1400" dirty="0"/>
          </a:p>
        </p:txBody>
      </p:sp>
      <p:sp>
        <p:nvSpPr>
          <p:cNvPr id="10" name="card"/>
          <p:cNvSpPr/>
          <p:nvPr/>
        </p:nvSpPr>
        <p:spPr>
          <a:xfrm>
            <a:off x="6181344" y="1508760"/>
            <a:ext cx="2606040" cy="1600200"/>
          </a:xfrm>
          <a:prstGeom prst="roundRect">
            <a:avLst>
              <a:gd name="adj" fmla="val 4571"/>
            </a:avLst>
          </a:prstGeom>
          <a:solidFill>
            <a:schemeClr val="bg2"/>
          </a:solidFill>
          <a:ln/>
        </p:spPr>
      </p:sp>
      <p:sp>
        <p:nvSpPr>
          <p:cNvPr id="11" name="Text 8"/>
          <p:cNvSpPr txBox="1"/>
          <p:nvPr/>
        </p:nvSpPr>
        <p:spPr>
          <a:xfrm>
            <a:off x="6409944" y="1645920"/>
            <a:ext cx="2240280" cy="77724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10,000</a:t>
            </a:r>
            <a:endParaRPr lang="en-US" sz="3600" dirty="0"/>
          </a:p>
        </p:txBody>
      </p:sp>
      <p:sp>
        <p:nvSpPr>
          <p:cNvPr id="12" name="Text 9"/>
          <p:cNvSpPr txBox="1"/>
          <p:nvPr/>
        </p:nvSpPr>
        <p:spPr>
          <a:xfrm>
            <a:off x="6409944" y="2468880"/>
            <a:ext cx="2240280" cy="548640"/>
          </a:xfrm>
          <a:prstGeom prst="rect">
            <a:avLst/>
          </a:prstGeom>
          <a:noFill/>
          <a:ln/>
        </p:spPr>
        <p:txBody>
          <a:bodyPr wrap="square" lIns="0" tIns="0" rIns="0" bIns="0" rtlCol="0" anchor="t"/>
          <a:lstStyle/>
          <a:p>
            <a:pPr indent="0" marL="0">
              <a:buNone/>
            </a:pPr>
            <a:r>
              <a:rPr lang="en-US" sz="1400" dirty="0">
                <a:solidFill>
                  <a:schemeClr val="tx2"/>
                </a:solidFill>
              </a:rPr>
              <a:t>random parameter sets</a:t>
            </a:r>
            <a:endParaRPr lang="en-US" sz="1400" dirty="0"/>
          </a:p>
        </p:txBody>
      </p:sp>
      <p:sp>
        <p:nvSpPr>
          <p:cNvPr id="13" name="card"/>
          <p:cNvSpPr/>
          <p:nvPr/>
        </p:nvSpPr>
        <p:spPr>
          <a:xfrm>
            <a:off x="8997696" y="1508760"/>
            <a:ext cx="2606040" cy="1600200"/>
          </a:xfrm>
          <a:prstGeom prst="roundRect">
            <a:avLst>
              <a:gd name="adj" fmla="val 4571"/>
            </a:avLst>
          </a:prstGeom>
          <a:solidFill>
            <a:schemeClr val="bg2"/>
          </a:solidFill>
          <a:ln/>
        </p:spPr>
      </p:sp>
      <p:sp>
        <p:nvSpPr>
          <p:cNvPr id="14" name="Text 11"/>
          <p:cNvSpPr txBox="1"/>
          <p:nvPr/>
        </p:nvSpPr>
        <p:spPr>
          <a:xfrm>
            <a:off x="9226296" y="1645920"/>
            <a:ext cx="2240280" cy="77724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1,000</a:t>
            </a:r>
            <a:endParaRPr lang="en-US" sz="3600" dirty="0"/>
          </a:p>
        </p:txBody>
      </p:sp>
      <p:sp>
        <p:nvSpPr>
          <p:cNvPr id="15" name="Text 12"/>
          <p:cNvSpPr txBox="1"/>
          <p:nvPr/>
        </p:nvSpPr>
        <p:spPr>
          <a:xfrm>
            <a:off x="9226296" y="2468880"/>
            <a:ext cx="2240280" cy="548640"/>
          </a:xfrm>
          <a:prstGeom prst="rect">
            <a:avLst/>
          </a:prstGeom>
          <a:noFill/>
          <a:ln/>
        </p:spPr>
        <p:txBody>
          <a:bodyPr wrap="square" lIns="0" tIns="0" rIns="0" bIns="0" rtlCol="0" anchor="t"/>
          <a:lstStyle/>
          <a:p>
            <a:pPr indent="0" marL="0">
              <a:buNone/>
            </a:pPr>
            <a:r>
              <a:rPr lang="en-US" sz="1400" dirty="0">
                <a:solidFill>
                  <a:schemeClr val="tx2"/>
                </a:solidFill>
              </a:rPr>
              <a:t>repeat runs, byte-identical</a:t>
            </a:r>
            <a:endParaRPr lang="en-US" sz="1400" dirty="0"/>
          </a:p>
        </p:txBody>
      </p:sp>
      <p:sp>
        <p:nvSpPr>
          <p:cNvPr id="16" name="Text 13"/>
          <p:cNvSpPr txBox="1"/>
          <p:nvPr/>
        </p:nvSpPr>
        <p:spPr>
          <a:xfrm>
            <a:off x="548640" y="3429000"/>
            <a:ext cx="5394960" cy="365760"/>
          </a:xfrm>
          <a:prstGeom prst="rect">
            <a:avLst/>
          </a:prstGeom>
          <a:noFill/>
          <a:ln/>
        </p:spPr>
        <p:txBody>
          <a:bodyPr wrap="square" lIns="0" tIns="0" rIns="0" bIns="0" rtlCol="0" anchor="t"/>
          <a:lstStyle/>
          <a:p>
            <a:pPr indent="0" marL="0">
              <a:buNone/>
            </a:pPr>
            <a:r>
              <a:rPr lang="en-US" sz="1700" b="1" dirty="0">
                <a:solidFill>
                  <a:schemeClr val="accent1"/>
                </a:solidFill>
              </a:rPr>
              <a:t>Engine tests (C harness)</a:t>
            </a:r>
            <a:endParaRPr lang="en-US" sz="1700" dirty="0"/>
          </a:p>
        </p:txBody>
      </p:sp>
      <p:sp>
        <p:nvSpPr>
          <p:cNvPr id="17" name="Text 14"/>
          <p:cNvSpPr txBox="1"/>
          <p:nvPr/>
        </p:nvSpPr>
        <p:spPr>
          <a:xfrm>
            <a:off x="548640" y="3840480"/>
            <a:ext cx="5394960" cy="2286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Invalid input: out of range, NaN, ±infinity, seed 0, NULL</a:t>
            </a:r>
            <a:endParaRPr lang="en-US" sz="1400" dirty="0"/>
          </a:p>
          <a:p>
            <a:pPr marL="342900" indent="-342900">
              <a:spcAft>
                <a:spcPts val="400"/>
              </a:spcAft>
              <a:buSzPct val="100000"/>
              <a:buChar char="•"/>
            </a:pPr>
            <a:r>
              <a:rPr lang="en-US" sz="1400" dirty="0">
                <a:solidFill>
                  <a:schemeClr val="tx1"/>
                </a:solidFill>
              </a:rPr>
              <a:t>Guard bytes: nothing written past the buffer</a:t>
            </a:r>
            <a:endParaRPr lang="en-US" sz="1400" dirty="0"/>
          </a:p>
          <a:p>
            <a:pPr marL="342900" indent="-342900">
              <a:spcAft>
                <a:spcPts val="400"/>
              </a:spcAft>
              <a:buSzPct val="100000"/>
              <a:buChar char="•"/>
            </a:pPr>
            <a:r>
              <a:rPr lang="en-US" sz="1400" dirty="0">
                <a:solidFill>
                  <a:schemeClr val="tx1"/>
                </a:solidFill>
              </a:rPr>
              <a:t>441 Hz tone has 440–441 cycles; slide timing ±1%</a:t>
            </a:r>
            <a:endParaRPr lang="en-US" sz="1400" dirty="0"/>
          </a:p>
          <a:p>
            <a:pPr marL="342900" indent="-342900">
              <a:spcAft>
                <a:spcPts val="400"/>
              </a:spcAft>
              <a:buSzPct val="100000"/>
              <a:buChar char="•"/>
            </a:pPr>
            <a:r>
              <a:rPr lang="en-US" sz="1400" dirty="0">
                <a:solidFill>
                  <a:schemeClr val="tx1"/>
                </a:solidFill>
              </a:rPr>
              <a:t>WAV header byte-for-byte at 1, 44,100, 220,500 samples</a:t>
            </a:r>
            <a:endParaRPr lang="en-US" sz="1400" dirty="0"/>
          </a:p>
          <a:p>
            <a:pPr marL="342900" indent="-342900">
              <a:spcAft>
                <a:spcPts val="400"/>
              </a:spcAft>
              <a:buSzPct val="100000"/>
              <a:buChar char="•"/>
            </a:pPr>
            <a:r>
              <a:rPr lang="en-US" sz="1400" dirty="0">
                <a:solidFill>
                  <a:schemeClr val="tx1"/>
                </a:solidFill>
              </a:rPr>
              <a:t>abi_probe.asm: non-volatile registers untouched</a:t>
            </a:r>
            <a:endParaRPr lang="en-US" sz="1400" dirty="0"/>
          </a:p>
        </p:txBody>
      </p:sp>
      <p:sp>
        <p:nvSpPr>
          <p:cNvPr id="18" name="Text 15"/>
          <p:cNvSpPr txBox="1"/>
          <p:nvPr/>
        </p:nvSpPr>
        <p:spPr>
          <a:xfrm>
            <a:off x="6217920" y="3429000"/>
            <a:ext cx="5394960" cy="365760"/>
          </a:xfrm>
          <a:prstGeom prst="rect">
            <a:avLst/>
          </a:prstGeom>
          <a:noFill/>
          <a:ln/>
        </p:spPr>
        <p:txBody>
          <a:bodyPr wrap="square" lIns="0" tIns="0" rIns="0" bIns="0" rtlCol="0" anchor="t"/>
          <a:lstStyle/>
          <a:p>
            <a:pPr indent="0" marL="0">
              <a:buNone/>
            </a:pPr>
            <a:r>
              <a:rPr lang="en-US" sz="1700" b="1" dirty="0">
                <a:solidFill>
                  <a:schemeClr val="accent1"/>
                </a:solidFill>
              </a:rPr>
              <a:t>Python and GUI tests</a:t>
            </a:r>
            <a:endParaRPr lang="en-US" sz="1700" dirty="0"/>
          </a:p>
        </p:txBody>
      </p:sp>
      <p:sp>
        <p:nvSpPr>
          <p:cNvPr id="19" name="Text 16"/>
          <p:cNvSpPr txBox="1"/>
          <p:nvPr/>
        </p:nvSpPr>
        <p:spPr>
          <a:xfrm>
            <a:off x="6217920" y="3840480"/>
            <a:ext cx="5394960" cy="2286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1,000 Randomize presses, 0 engine errors</a:t>
            </a:r>
            <a:endParaRPr lang="en-US" sz="1400" dirty="0"/>
          </a:p>
          <a:p>
            <a:pPr marL="342900" indent="-342900">
              <a:spcAft>
                <a:spcPts val="400"/>
              </a:spcAft>
              <a:buSzPct val="100000"/>
              <a:buChar char="•"/>
            </a:pPr>
            <a:r>
              <a:rPr lang="en-US" sz="1400" dirty="0">
                <a:solidFill>
                  <a:schemeClr val="tx1"/>
                </a:solidFill>
              </a:rPr>
              <a:t>100 concurrent engine calls</a:t>
            </a:r>
            <a:endParaRPr lang="en-US" sz="1400" dirty="0"/>
          </a:p>
          <a:p>
            <a:pPr marL="342900" indent="-342900">
              <a:spcAft>
                <a:spcPts val="400"/>
              </a:spcAft>
              <a:buSzPct val="100000"/>
              <a:buChar char="•"/>
            </a:pPr>
            <a:r>
              <a:rPr lang="en-US" sz="1400" dirty="0">
                <a:solidFill>
                  <a:schemeClr val="tx1"/>
                </a:solidFill>
              </a:rPr>
              <a:t>Off-screen GUI: slider to redrawn waveform, median 80.8 ms (target 100 ms)</a:t>
            </a:r>
            <a:endParaRPr lang="en-US" sz="1400" dirty="0"/>
          </a:p>
          <a:p>
            <a:pPr marL="342900" indent="-342900">
              <a:spcAft>
                <a:spcPts val="400"/>
              </a:spcAft>
              <a:buSzPct val="100000"/>
              <a:buChar char="•"/>
            </a:pPr>
            <a:r>
              <a:rPr lang="en-US" sz="1400" dirty="0">
                <a:solidFill>
                  <a:schemeClr val="tx1"/>
                </a:solidFill>
              </a:rPr>
              <a:t>Every preset generates and saves a valid WAV</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Under 5 ms everywhere; a tested one-line fix nears C -O2</a:t>
            </a:r>
            <a:endParaRPr lang="en-US" sz="2800" dirty="0"/>
          </a:p>
        </p:txBody>
      </p:sp>
      <p:graphicFrame>
        <p:nvGraphicFramePr>
          <p:cNvPr id="4" name="Chart 0" descr=""/>
          <p:cNvGraphicFramePr/>
          <p:nvPr/>
        </p:nvGraphicFramePr>
        <p:xfrm>
          <a:off x="548640" y="141732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863840" y="1508760"/>
            <a:ext cx="3749040" cy="1417320"/>
          </a:xfrm>
          <a:prstGeom prst="roundRect">
            <a:avLst>
              <a:gd name="adj" fmla="val 5161"/>
            </a:avLst>
          </a:prstGeom>
          <a:solidFill>
            <a:schemeClr val="tx1"/>
          </a:solidFill>
          <a:ln/>
        </p:spPr>
      </p:sp>
      <p:sp>
        <p:nvSpPr>
          <p:cNvPr id="6" name="Text 2"/>
          <p:cNvSpPr txBox="1"/>
          <p:nvPr/>
        </p:nvSpPr>
        <p:spPr>
          <a:xfrm>
            <a:off x="8092440" y="1627632"/>
            <a:ext cx="3383280" cy="68580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4.5×</a:t>
            </a:r>
            <a:endParaRPr lang="en-US" sz="3600" dirty="0"/>
          </a:p>
        </p:txBody>
      </p:sp>
      <p:sp>
        <p:nvSpPr>
          <p:cNvPr id="7" name="Text 3"/>
          <p:cNvSpPr txBox="1"/>
          <p:nvPr/>
        </p:nvSpPr>
        <p:spPr>
          <a:xfrm>
            <a:off x="8092440" y="2331720"/>
            <a:ext cx="3383280" cy="457200"/>
          </a:xfrm>
          <a:prstGeom prst="rect">
            <a:avLst/>
          </a:prstGeom>
          <a:noFill/>
          <a:ln/>
        </p:spPr>
        <p:txBody>
          <a:bodyPr wrap="square" lIns="0" tIns="0" rIns="0" bIns="0" rtlCol="0" anchor="t"/>
          <a:lstStyle/>
          <a:p>
            <a:pPr indent="0" marL="0">
              <a:buNone/>
            </a:pPr>
            <a:r>
              <a:rPr lang="en-US" sz="1300" dirty="0">
                <a:solidFill>
                  <a:schemeClr val="bg1"/>
                </a:solidFill>
              </a:rPr>
              <a:t>faster sawtooth from one changed instruction</a:t>
            </a:r>
            <a:endParaRPr lang="en-US" sz="1300" dirty="0"/>
          </a:p>
        </p:txBody>
      </p:sp>
      <p:sp>
        <p:nvSpPr>
          <p:cNvPr id="8" name="Text 4"/>
          <p:cNvSpPr txBox="1"/>
          <p:nvPr/>
        </p:nvSpPr>
        <p:spPr>
          <a:xfrm>
            <a:off x="7863840" y="3154680"/>
            <a:ext cx="374904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Cause: movss on line 161 made each sample wait for the last one</a:t>
            </a:r>
            <a:endParaRPr lang="en-US" sz="1400" dirty="0"/>
          </a:p>
          <a:p>
            <a:pPr marL="342900" indent="-342900">
              <a:spcAft>
                <a:spcPts val="600"/>
              </a:spcAft>
              <a:buSzPct val="100000"/>
              <a:buChar char="•"/>
            </a:pPr>
            <a:r>
              <a:rPr lang="en-US" sz="1400" dirty="0">
                <a:solidFill>
                  <a:schemeClr val="tx1"/>
                </a:solidFill>
              </a:rPr>
              <a:t>Fix: movaps copies the whole register, so the wait disappears</a:t>
            </a:r>
            <a:endParaRPr lang="en-US" sz="1400" dirty="0"/>
          </a:p>
          <a:p>
            <a:pPr marL="342900" indent="-342900">
              <a:spcAft>
                <a:spcPts val="600"/>
              </a:spcAft>
              <a:buSzPct val="100000"/>
              <a:buChar char="•"/>
            </a:pPr>
            <a:r>
              <a:rPr lang="en-US" sz="1400" dirty="0">
                <a:solidFill>
                  <a:schemeClr val="tx1"/>
                </a:solidFill>
              </a:rPr>
              <a:t>Tested: all 1,279,144 checks pass, max difference still 0</a:t>
            </a:r>
            <a:endParaRPr lang="en-US" sz="1400" dirty="0"/>
          </a:p>
        </p:txBody>
      </p:sp>
      <p:sp>
        <p:nvSpPr>
          <p:cNvPr id="9" name="Text 5"/>
          <p:cNvSpPr txBox="1"/>
          <p:nvPr/>
        </p:nvSpPr>
        <p:spPr>
          <a:xfrm>
            <a:off x="7863840" y="5440680"/>
            <a:ext cx="3749040" cy="685800"/>
          </a:xfrm>
          <a:prstGeom prst="rect">
            <a:avLst/>
          </a:prstGeom>
          <a:noFill/>
          <a:ln/>
        </p:spPr>
        <p:txBody>
          <a:bodyPr wrap="square" lIns="0" tIns="0" rIns="0" bIns="0" rtlCol="0" anchor="t"/>
          <a:lstStyle/>
          <a:p>
            <a:pPr indent="0" marL="0">
              <a:buNone/>
            </a:pPr>
            <a:r>
              <a:rPr lang="en-US" sz="1100" dirty="0">
                <a:solidFill>
                  <a:schemeClr val="accent5"/>
                </a:solidFill>
              </a:rPr>
              <a:t>Median of 1,000 runs after 100 warm-ups; 44,100 samples, slide + vibrato on; one Ryzen 9 8940HX laptop</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What we have not proven yet, and what comes next</a:t>
            </a:r>
            <a:endParaRPr lang="en-US" sz="2800" dirty="0"/>
          </a:p>
        </p:txBody>
      </p:sp>
      <p:sp>
        <p:nvSpPr>
          <p:cNvPr id="4" name="card"/>
          <p:cNvSpPr/>
          <p:nvPr/>
        </p:nvSpPr>
        <p:spPr>
          <a:xfrm>
            <a:off x="548640" y="1508760"/>
            <a:ext cx="5486400" cy="4572000"/>
          </a:xfrm>
          <a:prstGeom prst="roundRect">
            <a:avLst>
              <a:gd name="adj" fmla="val 1600"/>
            </a:avLst>
          </a:prstGeom>
          <a:solidFill>
            <a:schemeClr val="bg2"/>
          </a:solidFill>
          <a:ln/>
        </p:spPr>
      </p:sp>
      <p:sp>
        <p:nvSpPr>
          <p:cNvPr id="5" name="Text 2"/>
          <p:cNvSpPr txBox="1"/>
          <p:nvPr/>
        </p:nvSpPr>
        <p:spPr>
          <a:xfrm>
            <a:off x="822960" y="1691640"/>
            <a:ext cx="4937760" cy="411480"/>
          </a:xfrm>
          <a:prstGeom prst="rect">
            <a:avLst/>
          </a:prstGeom>
          <a:noFill/>
          <a:ln/>
        </p:spPr>
        <p:txBody>
          <a:bodyPr wrap="square" lIns="0" tIns="0" rIns="0" bIns="0" rtlCol="0" anchor="t"/>
          <a:lstStyle/>
          <a:p>
            <a:pPr indent="0" marL="0">
              <a:buNone/>
            </a:pPr>
            <a:r>
              <a:rPr lang="en-US" sz="2000" b="1" dirty="0">
                <a:solidFill>
                  <a:schemeClr val="accent4"/>
                </a:solidFill>
              </a:rPr>
              <a:t>Known limits</a:t>
            </a:r>
            <a:endParaRPr lang="en-US" sz="2000" dirty="0"/>
          </a:p>
        </p:txBody>
      </p:sp>
      <p:sp>
        <p:nvSpPr>
          <p:cNvPr id="6" name="Text 3"/>
          <p:cNvSpPr txBox="1"/>
          <p:nvPr/>
        </p:nvSpPr>
        <p:spPr>
          <a:xfrm>
            <a:off x="822960" y="2240280"/>
            <a:ext cx="498348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Benchmarks from one laptop; background apps and power not controlled</a:t>
            </a:r>
            <a:endParaRPr lang="en-US" sz="1500" dirty="0"/>
          </a:p>
          <a:p>
            <a:pPr marL="342900" indent="-342900">
              <a:spcAft>
                <a:spcPts val="800"/>
              </a:spcAft>
              <a:buSzPct val="100000"/>
              <a:buChar char="•"/>
            </a:pPr>
            <a:r>
              <a:rPr lang="en-US" sz="1500" dirty="0">
                <a:solidFill>
                  <a:schemeClr val="tx1"/>
                </a:solidFill>
              </a:rPr>
              <a:t>No group listening test yet: presets not claimed recognisable</a:t>
            </a:r>
            <a:endParaRPr lang="en-US" sz="1500" dirty="0"/>
          </a:p>
          <a:p>
            <a:pPr marL="342900" indent="-342900">
              <a:spcAft>
                <a:spcPts val="800"/>
              </a:spcAft>
              <a:buSzPct val="100000"/>
              <a:buChar char="•"/>
            </a:pPr>
            <a:r>
              <a:rPr lang="en-US" sz="1500" dirty="0">
                <a:solidFill>
                  <a:schemeClr val="tx1"/>
                </a:solidFill>
              </a:rPr>
              <a:t>Noise changes once per cycle, so it sounds slightly muffled</a:t>
            </a:r>
            <a:endParaRPr lang="en-US" sz="1500" dirty="0"/>
          </a:p>
          <a:p>
            <a:pPr marL="342900" indent="-342900">
              <a:spcAft>
                <a:spcPts val="800"/>
              </a:spcAft>
              <a:buSzPct val="100000"/>
              <a:buChar char="•"/>
            </a:pPr>
            <a:r>
              <a:rPr lang="en-US" sz="1500" dirty="0">
                <a:solidFill>
                  <a:schemeClr val="tx1"/>
                </a:solidFill>
              </a:rPr>
              <a:t>movaps speed-up measured in one session; matching C -O2 not yet shown on other CPUs</a:t>
            </a:r>
            <a:endParaRPr lang="en-US" sz="1500" dirty="0"/>
          </a:p>
          <a:p>
            <a:pPr marL="342900" indent="-342900">
              <a:spcAft>
                <a:spcPts val="800"/>
              </a:spcAft>
              <a:buSzPct val="100000"/>
              <a:buChar char="•"/>
            </a:pPr>
            <a:r>
              <a:rPr lang="en-US" sz="1500" dirty="0">
                <a:solidFill>
                  <a:schemeClr val="tx1"/>
                </a:solidFill>
              </a:rPr>
              <a:t>Playback in real players (Audacity, Media Player) still to confirm</a:t>
            </a:r>
            <a:endParaRPr lang="en-US" sz="1500" dirty="0"/>
          </a:p>
        </p:txBody>
      </p:sp>
      <p:sp>
        <p:nvSpPr>
          <p:cNvPr id="7" name="card"/>
          <p:cNvSpPr/>
          <p:nvPr/>
        </p:nvSpPr>
        <p:spPr>
          <a:xfrm>
            <a:off x="6263640" y="1508760"/>
            <a:ext cx="5349240" cy="4572000"/>
          </a:xfrm>
          <a:prstGeom prst="roundRect">
            <a:avLst>
              <a:gd name="adj" fmla="val 1600"/>
            </a:avLst>
          </a:prstGeom>
          <a:solidFill>
            <a:schemeClr val="tx1"/>
          </a:solidFill>
          <a:ln/>
        </p:spPr>
      </p:sp>
      <p:sp>
        <p:nvSpPr>
          <p:cNvPr id="8" name="Text 5"/>
          <p:cNvSpPr txBox="1"/>
          <p:nvPr/>
        </p:nvSpPr>
        <p:spPr>
          <a:xfrm>
            <a:off x="6537960" y="1691640"/>
            <a:ext cx="4846320" cy="411480"/>
          </a:xfrm>
          <a:prstGeom prst="rect">
            <a:avLst/>
          </a:prstGeom>
          <a:noFill/>
          <a:ln/>
        </p:spPr>
        <p:txBody>
          <a:bodyPr wrap="square" lIns="0" tIns="0" rIns="0" bIns="0" rtlCol="0" anchor="t"/>
          <a:lstStyle/>
          <a:p>
            <a:pPr indent="0" marL="0">
              <a:buNone/>
            </a:pPr>
            <a:r>
              <a:rPr lang="en-US" sz="2000" b="1" dirty="0">
                <a:solidFill>
                  <a:schemeClr val="accent2"/>
                </a:solidFill>
              </a:rPr>
              <a:t>Next steps</a:t>
            </a:r>
            <a:endParaRPr lang="en-US" sz="2000" dirty="0"/>
          </a:p>
        </p:txBody>
      </p:sp>
      <p:sp>
        <p:nvSpPr>
          <p:cNvPr id="9" name="Shape 6"/>
          <p:cNvSpPr/>
          <p:nvPr/>
        </p:nvSpPr>
        <p:spPr>
          <a:xfrm>
            <a:off x="6537960" y="2286000"/>
            <a:ext cx="457200" cy="457200"/>
          </a:xfrm>
          <a:prstGeom prst="ellipse">
            <a:avLst/>
          </a:prstGeom>
          <a:solidFill>
            <a:schemeClr val="accent2"/>
          </a:solidFill>
          <a:ln/>
        </p:spPr>
      </p:sp>
      <p:sp>
        <p:nvSpPr>
          <p:cNvPr id="10" name="Text 7"/>
          <p:cNvSpPr txBox="1"/>
          <p:nvPr/>
        </p:nvSpPr>
        <p:spPr>
          <a:xfrm>
            <a:off x="6537960" y="22860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1" name="Text 8"/>
          <p:cNvSpPr txBox="1"/>
          <p:nvPr/>
        </p:nvSpPr>
        <p:spPr>
          <a:xfrm>
            <a:off x="7178040" y="2286000"/>
            <a:ext cx="4206240" cy="457200"/>
          </a:xfrm>
          <a:prstGeom prst="rect">
            <a:avLst/>
          </a:prstGeom>
          <a:noFill/>
          <a:ln/>
        </p:spPr>
        <p:txBody>
          <a:bodyPr wrap="square" lIns="0" tIns="0" rIns="0" bIns="0" rtlCol="0" anchor="ctr"/>
          <a:lstStyle/>
          <a:p>
            <a:pPr indent="0" marL="0">
              <a:buNone/>
            </a:pPr>
            <a:r>
              <a:rPr lang="en-US" sz="1500" dirty="0">
                <a:solidFill>
                  <a:schemeClr val="bg1"/>
                </a:solidFill>
              </a:rPr>
              <a:t>Benchmark on a second laptop on AC power</a:t>
            </a:r>
            <a:endParaRPr lang="en-US" sz="1500" dirty="0"/>
          </a:p>
        </p:txBody>
      </p:sp>
      <p:sp>
        <p:nvSpPr>
          <p:cNvPr id="12" name="Shape 9"/>
          <p:cNvSpPr/>
          <p:nvPr/>
        </p:nvSpPr>
        <p:spPr>
          <a:xfrm>
            <a:off x="6537960" y="3154680"/>
            <a:ext cx="457200" cy="457200"/>
          </a:xfrm>
          <a:prstGeom prst="ellipse">
            <a:avLst/>
          </a:prstGeom>
          <a:solidFill>
            <a:schemeClr val="accent2"/>
          </a:solidFill>
          <a:ln/>
        </p:spPr>
      </p:sp>
      <p:sp>
        <p:nvSpPr>
          <p:cNvPr id="13" name="Text 10"/>
          <p:cNvSpPr txBox="1"/>
          <p:nvPr/>
        </p:nvSpPr>
        <p:spPr>
          <a:xfrm>
            <a:off x="6537960" y="315468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4" name="Text 11"/>
          <p:cNvSpPr txBox="1"/>
          <p:nvPr/>
        </p:nvSpPr>
        <p:spPr>
          <a:xfrm>
            <a:off x="7178040" y="3154680"/>
            <a:ext cx="4206240" cy="457200"/>
          </a:xfrm>
          <a:prstGeom prst="rect">
            <a:avLst/>
          </a:prstGeom>
          <a:noFill/>
          <a:ln/>
        </p:spPr>
        <p:txBody>
          <a:bodyPr wrap="square" lIns="0" tIns="0" rIns="0" bIns="0" rtlCol="0" anchor="ctr"/>
          <a:lstStyle/>
          <a:p>
            <a:pPr indent="0" marL="0">
              <a:buNone/>
            </a:pPr>
            <a:r>
              <a:rPr lang="en-US" sz="1500" dirty="0">
                <a:solidFill>
                  <a:schemeClr val="bg1"/>
                </a:solidFill>
              </a:rPr>
              <a:t>Group listening test and 10-minute soak test</a:t>
            </a:r>
            <a:endParaRPr lang="en-US" sz="1500" dirty="0"/>
          </a:p>
        </p:txBody>
      </p:sp>
      <p:sp>
        <p:nvSpPr>
          <p:cNvPr id="15" name="Shape 12"/>
          <p:cNvSpPr/>
          <p:nvPr/>
        </p:nvSpPr>
        <p:spPr>
          <a:xfrm>
            <a:off x="6537960" y="4023360"/>
            <a:ext cx="457200" cy="457200"/>
          </a:xfrm>
          <a:prstGeom prst="ellipse">
            <a:avLst/>
          </a:prstGeom>
          <a:solidFill>
            <a:schemeClr val="accent2"/>
          </a:solidFill>
          <a:ln/>
        </p:spPr>
      </p:sp>
      <p:sp>
        <p:nvSpPr>
          <p:cNvPr id="16" name="Text 13"/>
          <p:cNvSpPr txBox="1"/>
          <p:nvPr/>
        </p:nvSpPr>
        <p:spPr>
          <a:xfrm>
            <a:off x="6537960" y="402336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7178040" y="4023360"/>
            <a:ext cx="4206240" cy="457200"/>
          </a:xfrm>
          <a:prstGeom prst="rect">
            <a:avLst/>
          </a:prstGeom>
          <a:noFill/>
          <a:ln/>
        </p:spPr>
        <p:txBody>
          <a:bodyPr wrap="square" lIns="0" tIns="0" rIns="0" bIns="0" rtlCol="0" anchor="ctr"/>
          <a:lstStyle/>
          <a:p>
            <a:pPr indent="0" marL="0">
              <a:buNone/>
            </a:pPr>
            <a:r>
              <a:rPr lang="en-US" sz="1500" dirty="0">
                <a:solidFill>
                  <a:schemeClr val="bg1"/>
                </a:solidFill>
              </a:rPr>
              <a:t>Rerun the C comparison on another CPU</a:t>
            </a:r>
            <a:endParaRPr lang="en-US" sz="1500" dirty="0"/>
          </a:p>
        </p:txBody>
      </p:sp>
      <p:sp>
        <p:nvSpPr>
          <p:cNvPr id="18" name="Shape 15"/>
          <p:cNvSpPr/>
          <p:nvPr/>
        </p:nvSpPr>
        <p:spPr>
          <a:xfrm>
            <a:off x="6537960" y="4892040"/>
            <a:ext cx="457200" cy="457200"/>
          </a:xfrm>
          <a:prstGeom prst="ellipse">
            <a:avLst/>
          </a:prstGeom>
          <a:solidFill>
            <a:schemeClr val="accent2"/>
          </a:solidFill>
          <a:ln/>
        </p:spPr>
      </p:sp>
      <p:sp>
        <p:nvSpPr>
          <p:cNvPr id="19" name="Text 16"/>
          <p:cNvSpPr txBox="1"/>
          <p:nvPr/>
        </p:nvSpPr>
        <p:spPr>
          <a:xfrm>
            <a:off x="6537960" y="48920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0" name="Text 17"/>
          <p:cNvSpPr txBox="1"/>
          <p:nvPr/>
        </p:nvSpPr>
        <p:spPr>
          <a:xfrm>
            <a:off x="7178040" y="4892040"/>
            <a:ext cx="4206240" cy="457200"/>
          </a:xfrm>
          <a:prstGeom prst="rect">
            <a:avLst/>
          </a:prstGeom>
          <a:noFill/>
          <a:ln/>
        </p:spPr>
        <p:txBody>
          <a:bodyPr wrap="square" lIns="0" tIns="0" rIns="0" bIns="0" rtlCol="0" anchor="ctr"/>
          <a:lstStyle/>
          <a:p>
            <a:pPr indent="0" marL="0">
              <a:buNone/>
            </a:pPr>
            <a:r>
              <a:rPr lang="en-US" sz="1500" dirty="0">
                <a:solidFill>
                  <a:schemeClr val="bg1"/>
                </a:solidFill>
              </a:rPr>
              <a:t>Visible-window GUI review by another member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737360"/>
          </a:xfrm>
          <a:prstGeom prst="rect">
            <a:avLst/>
          </a:prstGeom>
          <a:noFill/>
          <a:ln/>
        </p:spPr>
        <p:txBody>
          <a:bodyPr wrap="square" lIns="0" tIns="0" rIns="0" bIns="0" rtlCol="0" anchor="b"/>
          <a:lstStyle/>
          <a:p>
            <a:pPr algn="l" indent="0" marL="0">
              <a:buNone/>
            </a:pPr>
            <a:r>
              <a:rPr lang="en-US" sz="4400" b="1" dirty="0">
                <a:solidFill>
                  <a:schemeClr val="bg1"/>
                </a:solidFill>
              </a:rPr>
              <a:t>Live demo, then questions</a:t>
            </a:r>
            <a:endParaRPr lang="en-US" sz="4400" dirty="0"/>
          </a:p>
        </p:txBody>
      </p:sp>
      <p:sp>
        <p:nvSpPr>
          <p:cNvPr id="3" name="Text 0"/>
          <p:cNvSpPr/>
          <p:nvPr>
            <p:ph idx="101" type="body" hasCustomPrompt="1"/>
          </p:nvPr>
        </p:nvSpPr>
        <p:spPr>
          <a:xfrm>
            <a:off x="640080" y="3291840"/>
            <a:ext cx="10881360" cy="822960"/>
          </a:xfrm>
          <a:prstGeom prst="rect">
            <a:avLst/>
          </a:prstGeom>
          <a:noFill/>
          <a:ln/>
        </p:spPr>
        <p:txBody>
          <a:bodyPr wrap="square" lIns="0" tIns="0" rIns="0" bIns="0" rtlCol="0" anchor="t"/>
          <a:lstStyle/>
          <a:p>
            <a:pPr indent="0" marL="0">
              <a:buNone/>
            </a:pPr>
            <a:r>
              <a:rPr lang="en-US" sz="2000" dirty="0">
                <a:solidFill>
                  <a:schemeClr val="accent2"/>
                </a:solidFill>
              </a:rPr>
              <a:t>Coin → Laser → Explosion → Randomize → Save WAV</a:t>
            </a:r>
            <a:endParaRPr lang="en-US" sz="2000" dirty="0"/>
          </a:p>
        </p:txBody>
      </p:sp>
      <p:sp>
        <p:nvSpPr>
          <p:cNvPr id="4" name="Shape 2"/>
          <p:cNvSpPr/>
          <p:nvPr/>
        </p:nvSpPr>
        <p:spPr>
          <a:xfrm>
            <a:off x="640080" y="4572000"/>
            <a:ext cx="457200" cy="0"/>
          </a:xfrm>
          <a:prstGeom prst="line">
            <a:avLst/>
          </a:prstGeom>
          <a:noFill/>
          <a:ln w="38100">
            <a:solidFill>
              <a:srgbClr val="58DBBC"/>
            </a:solidFill>
            <a:prstDash val="solid"/>
          </a:ln>
        </p:spPr>
      </p:sp>
      <p:sp>
        <p:nvSpPr>
          <p:cNvPr id="5" name="Shape 3"/>
          <p:cNvSpPr/>
          <p:nvPr/>
        </p:nvSpPr>
        <p:spPr>
          <a:xfrm>
            <a:off x="1097280" y="4572000"/>
            <a:ext cx="0" cy="640080"/>
          </a:xfrm>
          <a:prstGeom prst="line">
            <a:avLst/>
          </a:prstGeom>
          <a:noFill/>
          <a:ln w="38100">
            <a:solidFill>
              <a:srgbClr val="58DBBC"/>
            </a:solidFill>
            <a:prstDash val="solid"/>
          </a:ln>
        </p:spPr>
      </p:sp>
      <p:sp>
        <p:nvSpPr>
          <p:cNvPr id="6" name="Shape 4"/>
          <p:cNvSpPr/>
          <p:nvPr/>
        </p:nvSpPr>
        <p:spPr>
          <a:xfrm>
            <a:off x="1097280" y="5212080"/>
            <a:ext cx="457200" cy="0"/>
          </a:xfrm>
          <a:prstGeom prst="line">
            <a:avLst/>
          </a:prstGeom>
          <a:noFill/>
          <a:ln w="38100">
            <a:solidFill>
              <a:srgbClr val="58DBBC"/>
            </a:solidFill>
            <a:prstDash val="solid"/>
          </a:ln>
        </p:spPr>
      </p:sp>
      <p:sp>
        <p:nvSpPr>
          <p:cNvPr id="7" name="Shape 5"/>
          <p:cNvSpPr/>
          <p:nvPr/>
        </p:nvSpPr>
        <p:spPr>
          <a:xfrm>
            <a:off x="1554480" y="4572000"/>
            <a:ext cx="0" cy="640080"/>
          </a:xfrm>
          <a:prstGeom prst="line">
            <a:avLst/>
          </a:prstGeom>
          <a:noFill/>
          <a:ln w="38100">
            <a:solidFill>
              <a:srgbClr val="58DBBC"/>
            </a:solidFill>
            <a:prstDash val="solid"/>
          </a:ln>
        </p:spPr>
      </p:sp>
      <p:sp>
        <p:nvSpPr>
          <p:cNvPr id="8" name="Shape 6"/>
          <p:cNvSpPr/>
          <p:nvPr/>
        </p:nvSpPr>
        <p:spPr>
          <a:xfrm>
            <a:off x="1554480" y="4572000"/>
            <a:ext cx="0" cy="0"/>
          </a:xfrm>
          <a:prstGeom prst="line">
            <a:avLst/>
          </a:prstGeom>
          <a:noFill/>
          <a:ln w="38100">
            <a:solidFill>
              <a:srgbClr val="58DBBC"/>
            </a:solidFill>
            <a:prstDash val="solid"/>
          </a:ln>
        </p:spPr>
      </p:sp>
      <p:sp>
        <p:nvSpPr>
          <p:cNvPr id="9" name="Shape 7"/>
          <p:cNvSpPr/>
          <p:nvPr/>
        </p:nvSpPr>
        <p:spPr>
          <a:xfrm>
            <a:off x="1554480" y="4572000"/>
            <a:ext cx="457200" cy="0"/>
          </a:xfrm>
          <a:prstGeom prst="line">
            <a:avLst/>
          </a:prstGeom>
          <a:noFill/>
          <a:ln w="38100">
            <a:solidFill>
              <a:srgbClr val="58DBBC"/>
            </a:solidFill>
            <a:prstDash val="solid"/>
          </a:ln>
        </p:spPr>
      </p:sp>
      <p:sp>
        <p:nvSpPr>
          <p:cNvPr id="10" name="Shape 8"/>
          <p:cNvSpPr/>
          <p:nvPr/>
        </p:nvSpPr>
        <p:spPr>
          <a:xfrm>
            <a:off x="2011680" y="4572000"/>
            <a:ext cx="0" cy="640080"/>
          </a:xfrm>
          <a:prstGeom prst="line">
            <a:avLst/>
          </a:prstGeom>
          <a:noFill/>
          <a:ln w="38100">
            <a:solidFill>
              <a:srgbClr val="58DBBC"/>
            </a:solidFill>
            <a:prstDash val="solid"/>
          </a:ln>
        </p:spPr>
      </p:sp>
      <p:sp>
        <p:nvSpPr>
          <p:cNvPr id="11" name="Shape 9"/>
          <p:cNvSpPr/>
          <p:nvPr/>
        </p:nvSpPr>
        <p:spPr>
          <a:xfrm>
            <a:off x="2011680" y="5212080"/>
            <a:ext cx="457200" cy="0"/>
          </a:xfrm>
          <a:prstGeom prst="line">
            <a:avLst/>
          </a:prstGeom>
          <a:noFill/>
          <a:ln w="38100">
            <a:solidFill>
              <a:srgbClr val="58DBBC"/>
            </a:solidFill>
            <a:prstDash val="solid"/>
          </a:ln>
        </p:spPr>
      </p:sp>
      <p:sp>
        <p:nvSpPr>
          <p:cNvPr id="12" name="Shape 10"/>
          <p:cNvSpPr/>
          <p:nvPr/>
        </p:nvSpPr>
        <p:spPr>
          <a:xfrm>
            <a:off x="2468880" y="4572000"/>
            <a:ext cx="0" cy="640080"/>
          </a:xfrm>
          <a:prstGeom prst="line">
            <a:avLst/>
          </a:prstGeom>
          <a:noFill/>
          <a:ln w="38100">
            <a:solidFill>
              <a:srgbClr val="58DBBC"/>
            </a:solidFill>
            <a:prstDash val="solid"/>
          </a:ln>
        </p:spPr>
      </p:sp>
      <p:sp>
        <p:nvSpPr>
          <p:cNvPr id="13" name="Shape 11"/>
          <p:cNvSpPr/>
          <p:nvPr/>
        </p:nvSpPr>
        <p:spPr>
          <a:xfrm>
            <a:off x="2468880" y="4572000"/>
            <a:ext cx="0" cy="0"/>
          </a:xfrm>
          <a:prstGeom prst="line">
            <a:avLst/>
          </a:prstGeom>
          <a:noFill/>
          <a:ln w="38100">
            <a:solidFill>
              <a:srgbClr val="58DBBC"/>
            </a:solidFill>
            <a:prstDash val="solid"/>
          </a:ln>
        </p:spPr>
      </p:sp>
      <p:sp>
        <p:nvSpPr>
          <p:cNvPr id="14" name="Shape 12"/>
          <p:cNvSpPr/>
          <p:nvPr/>
        </p:nvSpPr>
        <p:spPr>
          <a:xfrm>
            <a:off x="2468880" y="4572000"/>
            <a:ext cx="457200" cy="0"/>
          </a:xfrm>
          <a:prstGeom prst="line">
            <a:avLst/>
          </a:prstGeom>
          <a:noFill/>
          <a:ln w="38100">
            <a:solidFill>
              <a:srgbClr val="58DBBC"/>
            </a:solidFill>
            <a:prstDash val="solid"/>
          </a:ln>
        </p:spPr>
      </p:sp>
      <p:sp>
        <p:nvSpPr>
          <p:cNvPr id="15" name="Shape 13"/>
          <p:cNvSpPr/>
          <p:nvPr/>
        </p:nvSpPr>
        <p:spPr>
          <a:xfrm>
            <a:off x="2926080" y="4572000"/>
            <a:ext cx="0" cy="640080"/>
          </a:xfrm>
          <a:prstGeom prst="line">
            <a:avLst/>
          </a:prstGeom>
          <a:noFill/>
          <a:ln w="38100">
            <a:solidFill>
              <a:srgbClr val="58DBBC"/>
            </a:solidFill>
            <a:prstDash val="solid"/>
          </a:ln>
        </p:spPr>
      </p:sp>
      <p:sp>
        <p:nvSpPr>
          <p:cNvPr id="16" name="Shape 14"/>
          <p:cNvSpPr/>
          <p:nvPr/>
        </p:nvSpPr>
        <p:spPr>
          <a:xfrm>
            <a:off x="2926080" y="5212080"/>
            <a:ext cx="457200" cy="0"/>
          </a:xfrm>
          <a:prstGeom prst="line">
            <a:avLst/>
          </a:prstGeom>
          <a:noFill/>
          <a:ln w="38100">
            <a:solidFill>
              <a:srgbClr val="58DBBC"/>
            </a:solidFill>
            <a:prstDash val="solid"/>
          </a:ln>
        </p:spPr>
      </p:sp>
      <p:sp>
        <p:nvSpPr>
          <p:cNvPr id="17" name="Shape 15"/>
          <p:cNvSpPr/>
          <p:nvPr/>
        </p:nvSpPr>
        <p:spPr>
          <a:xfrm flipV="1">
            <a:off x="3611880" y="4572000"/>
            <a:ext cx="914400" cy="640080"/>
          </a:xfrm>
          <a:prstGeom prst="line">
            <a:avLst/>
          </a:prstGeom>
          <a:noFill/>
          <a:ln w="38100">
            <a:solidFill>
              <a:srgbClr val="58DBBC"/>
            </a:solidFill>
            <a:prstDash val="solid"/>
          </a:ln>
        </p:spPr>
      </p:sp>
      <p:sp>
        <p:nvSpPr>
          <p:cNvPr id="18" name="Shape 16"/>
          <p:cNvSpPr/>
          <p:nvPr/>
        </p:nvSpPr>
        <p:spPr>
          <a:xfrm>
            <a:off x="4526280" y="4572000"/>
            <a:ext cx="0" cy="640080"/>
          </a:xfrm>
          <a:prstGeom prst="line">
            <a:avLst/>
          </a:prstGeom>
          <a:noFill/>
          <a:ln w="38100">
            <a:solidFill>
              <a:srgbClr val="58DBBC"/>
            </a:solidFill>
            <a:prstDash val="solid"/>
          </a:ln>
        </p:spPr>
      </p:sp>
      <p:sp>
        <p:nvSpPr>
          <p:cNvPr id="19" name="Shape 17"/>
          <p:cNvSpPr/>
          <p:nvPr/>
        </p:nvSpPr>
        <p:spPr>
          <a:xfrm>
            <a:off x="4526280" y="5212080"/>
            <a:ext cx="0" cy="0"/>
          </a:xfrm>
          <a:prstGeom prst="line">
            <a:avLst/>
          </a:prstGeom>
          <a:noFill/>
          <a:ln w="38100">
            <a:solidFill>
              <a:srgbClr val="58DBBC"/>
            </a:solidFill>
            <a:prstDash val="solid"/>
          </a:ln>
        </p:spPr>
      </p:sp>
      <p:sp>
        <p:nvSpPr>
          <p:cNvPr id="20" name="Shape 18"/>
          <p:cNvSpPr/>
          <p:nvPr/>
        </p:nvSpPr>
        <p:spPr>
          <a:xfrm flipV="1">
            <a:off x="4526280" y="4572000"/>
            <a:ext cx="914400" cy="640080"/>
          </a:xfrm>
          <a:prstGeom prst="line">
            <a:avLst/>
          </a:prstGeom>
          <a:noFill/>
          <a:ln w="38100">
            <a:solidFill>
              <a:srgbClr val="58DBBC"/>
            </a:solidFill>
            <a:prstDash val="solid"/>
          </a:ln>
        </p:spPr>
      </p:sp>
      <p:sp>
        <p:nvSpPr>
          <p:cNvPr id="21" name="Shape 19"/>
          <p:cNvSpPr/>
          <p:nvPr/>
        </p:nvSpPr>
        <p:spPr>
          <a:xfrm>
            <a:off x="5440680" y="4572000"/>
            <a:ext cx="0" cy="640080"/>
          </a:xfrm>
          <a:prstGeom prst="line">
            <a:avLst/>
          </a:prstGeom>
          <a:noFill/>
          <a:ln w="38100">
            <a:solidFill>
              <a:srgbClr val="58DBBC"/>
            </a:solidFill>
            <a:prstDash val="solid"/>
          </a:ln>
        </p:spPr>
      </p:sp>
      <p:sp>
        <p:nvSpPr>
          <p:cNvPr id="22" name="Shape 20"/>
          <p:cNvSpPr/>
          <p:nvPr/>
        </p:nvSpPr>
        <p:spPr>
          <a:xfrm>
            <a:off x="5440680" y="5212080"/>
            <a:ext cx="0" cy="0"/>
          </a:xfrm>
          <a:prstGeom prst="line">
            <a:avLst/>
          </a:prstGeom>
          <a:noFill/>
          <a:ln w="38100">
            <a:solidFill>
              <a:srgbClr val="58DBBC"/>
            </a:solidFill>
            <a:prstDash val="solid"/>
          </a:ln>
        </p:spPr>
      </p:sp>
      <p:sp>
        <p:nvSpPr>
          <p:cNvPr id="23" name="Shape 21"/>
          <p:cNvSpPr/>
          <p:nvPr/>
        </p:nvSpPr>
        <p:spPr>
          <a:xfrm flipV="1">
            <a:off x="5440680" y="4572000"/>
            <a:ext cx="914400" cy="640080"/>
          </a:xfrm>
          <a:prstGeom prst="line">
            <a:avLst/>
          </a:prstGeom>
          <a:noFill/>
          <a:ln w="38100">
            <a:solidFill>
              <a:srgbClr val="58DBBC"/>
            </a:solidFill>
            <a:prstDash val="solid"/>
          </a:ln>
        </p:spPr>
      </p:sp>
      <p:sp>
        <p:nvSpPr>
          <p:cNvPr id="24" name="Shape 22"/>
          <p:cNvSpPr/>
          <p:nvPr/>
        </p:nvSpPr>
        <p:spPr>
          <a:xfrm flipV="1">
            <a:off x="6583680" y="4572000"/>
            <a:ext cx="457200" cy="640080"/>
          </a:xfrm>
          <a:prstGeom prst="line">
            <a:avLst/>
          </a:prstGeom>
          <a:noFill/>
          <a:ln w="38100">
            <a:solidFill>
              <a:srgbClr val="58DBBC"/>
            </a:solidFill>
            <a:prstDash val="solid"/>
          </a:ln>
        </p:spPr>
      </p:sp>
      <p:sp>
        <p:nvSpPr>
          <p:cNvPr id="25" name="Shape 23"/>
          <p:cNvSpPr/>
          <p:nvPr/>
        </p:nvSpPr>
        <p:spPr>
          <a:xfrm>
            <a:off x="7040880" y="4572000"/>
            <a:ext cx="457200" cy="640080"/>
          </a:xfrm>
          <a:prstGeom prst="line">
            <a:avLst/>
          </a:prstGeom>
          <a:noFill/>
          <a:ln w="38100">
            <a:solidFill>
              <a:srgbClr val="58DBBC"/>
            </a:solidFill>
            <a:prstDash val="solid"/>
          </a:ln>
        </p:spPr>
      </p:sp>
      <p:sp>
        <p:nvSpPr>
          <p:cNvPr id="26" name="Shape 24"/>
          <p:cNvSpPr/>
          <p:nvPr/>
        </p:nvSpPr>
        <p:spPr>
          <a:xfrm>
            <a:off x="7498080" y="5212080"/>
            <a:ext cx="0" cy="0"/>
          </a:xfrm>
          <a:prstGeom prst="line">
            <a:avLst/>
          </a:prstGeom>
          <a:noFill/>
          <a:ln w="38100">
            <a:solidFill>
              <a:srgbClr val="58DBBC"/>
            </a:solidFill>
            <a:prstDash val="solid"/>
          </a:ln>
        </p:spPr>
      </p:sp>
      <p:sp>
        <p:nvSpPr>
          <p:cNvPr id="27" name="Shape 25"/>
          <p:cNvSpPr/>
          <p:nvPr/>
        </p:nvSpPr>
        <p:spPr>
          <a:xfrm flipV="1">
            <a:off x="7498080" y="4572000"/>
            <a:ext cx="457200" cy="640080"/>
          </a:xfrm>
          <a:prstGeom prst="line">
            <a:avLst/>
          </a:prstGeom>
          <a:noFill/>
          <a:ln w="38100">
            <a:solidFill>
              <a:srgbClr val="58DBBC"/>
            </a:solidFill>
            <a:prstDash val="solid"/>
          </a:ln>
        </p:spPr>
      </p:sp>
      <p:sp>
        <p:nvSpPr>
          <p:cNvPr id="28" name="Shape 26"/>
          <p:cNvSpPr/>
          <p:nvPr/>
        </p:nvSpPr>
        <p:spPr>
          <a:xfrm>
            <a:off x="7955280" y="4572000"/>
            <a:ext cx="457200" cy="640080"/>
          </a:xfrm>
          <a:prstGeom prst="line">
            <a:avLst/>
          </a:prstGeom>
          <a:noFill/>
          <a:ln w="38100">
            <a:solidFill>
              <a:srgbClr val="58DBBC"/>
            </a:solidFill>
            <a:prstDash val="solid"/>
          </a:ln>
        </p:spPr>
      </p:sp>
      <p:sp>
        <p:nvSpPr>
          <p:cNvPr id="29" name="Shape 27"/>
          <p:cNvSpPr/>
          <p:nvPr/>
        </p:nvSpPr>
        <p:spPr>
          <a:xfrm>
            <a:off x="8412480" y="5212080"/>
            <a:ext cx="0" cy="0"/>
          </a:xfrm>
          <a:prstGeom prst="line">
            <a:avLst/>
          </a:prstGeom>
          <a:noFill/>
          <a:ln w="38100">
            <a:solidFill>
              <a:srgbClr val="58DBBC"/>
            </a:solidFill>
            <a:prstDash val="solid"/>
          </a:ln>
        </p:spPr>
      </p:sp>
      <p:sp>
        <p:nvSpPr>
          <p:cNvPr id="30" name="Shape 28"/>
          <p:cNvSpPr/>
          <p:nvPr/>
        </p:nvSpPr>
        <p:spPr>
          <a:xfrm flipV="1">
            <a:off x="8412480" y="4572000"/>
            <a:ext cx="457200" cy="640080"/>
          </a:xfrm>
          <a:prstGeom prst="line">
            <a:avLst/>
          </a:prstGeom>
          <a:noFill/>
          <a:ln w="38100">
            <a:solidFill>
              <a:srgbClr val="58DBBC"/>
            </a:solidFill>
            <a:prstDash val="solid"/>
          </a:ln>
        </p:spPr>
      </p:sp>
      <p:sp>
        <p:nvSpPr>
          <p:cNvPr id="31" name="Shape 29"/>
          <p:cNvSpPr/>
          <p:nvPr/>
        </p:nvSpPr>
        <p:spPr>
          <a:xfrm>
            <a:off x="8869680" y="4572000"/>
            <a:ext cx="457200" cy="640080"/>
          </a:xfrm>
          <a:prstGeom prst="line">
            <a:avLst/>
          </a:prstGeom>
          <a:noFill/>
          <a:ln w="38100">
            <a:solidFill>
              <a:srgbClr val="58DBBC"/>
            </a:solidFill>
            <a:prstDash val="solid"/>
          </a:ln>
        </p:spPr>
      </p:sp>
      <p:sp>
        <p:nvSpPr>
          <p:cNvPr id="32" name="Shape 30"/>
          <p:cNvSpPr/>
          <p:nvPr/>
        </p:nvSpPr>
        <p:spPr>
          <a:xfrm>
            <a:off x="9555480" y="4700016"/>
            <a:ext cx="163830" cy="0"/>
          </a:xfrm>
          <a:prstGeom prst="line">
            <a:avLst/>
          </a:prstGeom>
          <a:noFill/>
          <a:ln w="38100">
            <a:solidFill>
              <a:srgbClr val="58DBBC"/>
            </a:solidFill>
            <a:prstDash val="solid"/>
          </a:ln>
        </p:spPr>
      </p:sp>
      <p:sp>
        <p:nvSpPr>
          <p:cNvPr id="33" name="Shape 31"/>
          <p:cNvSpPr/>
          <p:nvPr/>
        </p:nvSpPr>
        <p:spPr>
          <a:xfrm>
            <a:off x="9719310" y="4700016"/>
            <a:ext cx="0" cy="448056"/>
          </a:xfrm>
          <a:prstGeom prst="line">
            <a:avLst/>
          </a:prstGeom>
          <a:noFill/>
          <a:ln w="38100">
            <a:solidFill>
              <a:srgbClr val="58DBBC"/>
            </a:solidFill>
            <a:prstDash val="solid"/>
          </a:ln>
        </p:spPr>
      </p:sp>
      <p:sp>
        <p:nvSpPr>
          <p:cNvPr id="34" name="Shape 32"/>
          <p:cNvSpPr/>
          <p:nvPr/>
        </p:nvSpPr>
        <p:spPr>
          <a:xfrm>
            <a:off x="9719310" y="5148072"/>
            <a:ext cx="163830" cy="0"/>
          </a:xfrm>
          <a:prstGeom prst="line">
            <a:avLst/>
          </a:prstGeom>
          <a:noFill/>
          <a:ln w="38100">
            <a:solidFill>
              <a:srgbClr val="58DBBC"/>
            </a:solidFill>
            <a:prstDash val="solid"/>
          </a:ln>
        </p:spPr>
      </p:sp>
      <p:sp>
        <p:nvSpPr>
          <p:cNvPr id="35" name="Shape 33"/>
          <p:cNvSpPr/>
          <p:nvPr/>
        </p:nvSpPr>
        <p:spPr>
          <a:xfrm>
            <a:off x="9883140" y="4796028"/>
            <a:ext cx="0" cy="352044"/>
          </a:xfrm>
          <a:prstGeom prst="line">
            <a:avLst/>
          </a:prstGeom>
          <a:noFill/>
          <a:ln w="38100">
            <a:solidFill>
              <a:srgbClr val="58DBBC"/>
            </a:solidFill>
            <a:prstDash val="solid"/>
          </a:ln>
        </p:spPr>
      </p:sp>
      <p:sp>
        <p:nvSpPr>
          <p:cNvPr id="36" name="Shape 34"/>
          <p:cNvSpPr/>
          <p:nvPr/>
        </p:nvSpPr>
        <p:spPr>
          <a:xfrm>
            <a:off x="9883140" y="4796028"/>
            <a:ext cx="163830" cy="0"/>
          </a:xfrm>
          <a:prstGeom prst="line">
            <a:avLst/>
          </a:prstGeom>
          <a:noFill/>
          <a:ln w="38100">
            <a:solidFill>
              <a:srgbClr val="58DBBC"/>
            </a:solidFill>
            <a:prstDash val="solid"/>
          </a:ln>
        </p:spPr>
      </p:sp>
      <p:sp>
        <p:nvSpPr>
          <p:cNvPr id="37" name="Shape 35"/>
          <p:cNvSpPr/>
          <p:nvPr/>
        </p:nvSpPr>
        <p:spPr>
          <a:xfrm>
            <a:off x="10046970" y="4796028"/>
            <a:ext cx="0" cy="224028"/>
          </a:xfrm>
          <a:prstGeom prst="line">
            <a:avLst/>
          </a:prstGeom>
          <a:noFill/>
          <a:ln w="38100">
            <a:solidFill>
              <a:srgbClr val="58DBBC"/>
            </a:solidFill>
            <a:prstDash val="solid"/>
          </a:ln>
        </p:spPr>
      </p:sp>
      <p:sp>
        <p:nvSpPr>
          <p:cNvPr id="38" name="Shape 36"/>
          <p:cNvSpPr/>
          <p:nvPr/>
        </p:nvSpPr>
        <p:spPr>
          <a:xfrm>
            <a:off x="10046970" y="5020056"/>
            <a:ext cx="163830" cy="0"/>
          </a:xfrm>
          <a:prstGeom prst="line">
            <a:avLst/>
          </a:prstGeom>
          <a:noFill/>
          <a:ln w="38100">
            <a:solidFill>
              <a:srgbClr val="58DBBC"/>
            </a:solidFill>
            <a:prstDash val="solid"/>
          </a:ln>
        </p:spPr>
      </p:sp>
      <p:sp>
        <p:nvSpPr>
          <p:cNvPr id="39" name="Shape 37"/>
          <p:cNvSpPr/>
          <p:nvPr/>
        </p:nvSpPr>
        <p:spPr>
          <a:xfrm>
            <a:off x="10210800" y="4604004"/>
            <a:ext cx="0" cy="416052"/>
          </a:xfrm>
          <a:prstGeom prst="line">
            <a:avLst/>
          </a:prstGeom>
          <a:noFill/>
          <a:ln w="38100">
            <a:solidFill>
              <a:srgbClr val="58DBBC"/>
            </a:solidFill>
            <a:prstDash val="solid"/>
          </a:ln>
        </p:spPr>
      </p:sp>
      <p:sp>
        <p:nvSpPr>
          <p:cNvPr id="40" name="Shape 38"/>
          <p:cNvSpPr/>
          <p:nvPr/>
        </p:nvSpPr>
        <p:spPr>
          <a:xfrm>
            <a:off x="10210800" y="4604004"/>
            <a:ext cx="163830" cy="0"/>
          </a:xfrm>
          <a:prstGeom prst="line">
            <a:avLst/>
          </a:prstGeom>
          <a:noFill/>
          <a:ln w="38100">
            <a:solidFill>
              <a:srgbClr val="58DBBC"/>
            </a:solidFill>
            <a:prstDash val="solid"/>
          </a:ln>
        </p:spPr>
      </p:sp>
      <p:sp>
        <p:nvSpPr>
          <p:cNvPr id="41" name="Shape 39"/>
          <p:cNvSpPr/>
          <p:nvPr/>
        </p:nvSpPr>
        <p:spPr>
          <a:xfrm>
            <a:off x="10374630" y="4604004"/>
            <a:ext cx="0" cy="320040"/>
          </a:xfrm>
          <a:prstGeom prst="line">
            <a:avLst/>
          </a:prstGeom>
          <a:noFill/>
          <a:ln w="38100">
            <a:solidFill>
              <a:srgbClr val="58DBBC"/>
            </a:solidFill>
            <a:prstDash val="solid"/>
          </a:ln>
        </p:spPr>
      </p:sp>
      <p:sp>
        <p:nvSpPr>
          <p:cNvPr id="42" name="Shape 40"/>
          <p:cNvSpPr/>
          <p:nvPr/>
        </p:nvSpPr>
        <p:spPr>
          <a:xfrm>
            <a:off x="10374630" y="4924044"/>
            <a:ext cx="163830" cy="0"/>
          </a:xfrm>
          <a:prstGeom prst="line">
            <a:avLst/>
          </a:prstGeom>
          <a:noFill/>
          <a:ln w="38100">
            <a:solidFill>
              <a:srgbClr val="58DBBC"/>
            </a:solidFill>
            <a:prstDash val="solid"/>
          </a:ln>
        </p:spPr>
      </p:sp>
      <p:sp>
        <p:nvSpPr>
          <p:cNvPr id="43" name="Shape 41"/>
          <p:cNvSpPr/>
          <p:nvPr/>
        </p:nvSpPr>
        <p:spPr>
          <a:xfrm>
            <a:off x="10538460" y="4924044"/>
            <a:ext cx="0" cy="256032"/>
          </a:xfrm>
          <a:prstGeom prst="line">
            <a:avLst/>
          </a:prstGeom>
          <a:noFill/>
          <a:ln w="38100">
            <a:solidFill>
              <a:srgbClr val="58DBBC"/>
            </a:solidFill>
            <a:prstDash val="solid"/>
          </a:ln>
        </p:spPr>
      </p:sp>
      <p:sp>
        <p:nvSpPr>
          <p:cNvPr id="44" name="Shape 42"/>
          <p:cNvSpPr/>
          <p:nvPr/>
        </p:nvSpPr>
        <p:spPr>
          <a:xfrm>
            <a:off x="10538460" y="5180076"/>
            <a:ext cx="163830" cy="0"/>
          </a:xfrm>
          <a:prstGeom prst="line">
            <a:avLst/>
          </a:prstGeom>
          <a:noFill/>
          <a:ln w="38100">
            <a:solidFill>
              <a:srgbClr val="58DBBC"/>
            </a:solidFill>
            <a:prstDash val="solid"/>
          </a:ln>
        </p:spPr>
      </p:sp>
      <p:sp>
        <p:nvSpPr>
          <p:cNvPr id="45" name="Shape 43"/>
          <p:cNvSpPr/>
          <p:nvPr/>
        </p:nvSpPr>
        <p:spPr>
          <a:xfrm>
            <a:off x="10702290" y="4668012"/>
            <a:ext cx="0" cy="512064"/>
          </a:xfrm>
          <a:prstGeom prst="line">
            <a:avLst/>
          </a:prstGeom>
          <a:noFill/>
          <a:ln w="38100">
            <a:solidFill>
              <a:srgbClr val="58DBBC"/>
            </a:solidFill>
            <a:prstDash val="solid"/>
          </a:ln>
        </p:spPr>
      </p:sp>
      <p:sp>
        <p:nvSpPr>
          <p:cNvPr id="46" name="Shape 44"/>
          <p:cNvSpPr/>
          <p:nvPr/>
        </p:nvSpPr>
        <p:spPr>
          <a:xfrm>
            <a:off x="10702290" y="4668012"/>
            <a:ext cx="163830" cy="0"/>
          </a:xfrm>
          <a:prstGeom prst="line">
            <a:avLst/>
          </a:prstGeom>
          <a:noFill/>
          <a:ln w="38100">
            <a:solidFill>
              <a:srgbClr val="58DBBC"/>
            </a:solidFill>
            <a:prstDash val="solid"/>
          </a:ln>
        </p:spPr>
      </p:sp>
      <p:sp>
        <p:nvSpPr>
          <p:cNvPr id="47" name="Shape 45"/>
          <p:cNvSpPr/>
          <p:nvPr/>
        </p:nvSpPr>
        <p:spPr>
          <a:xfrm>
            <a:off x="10866120" y="4668012"/>
            <a:ext cx="0" cy="288036"/>
          </a:xfrm>
          <a:prstGeom prst="line">
            <a:avLst/>
          </a:prstGeom>
          <a:noFill/>
          <a:ln w="38100">
            <a:solidFill>
              <a:srgbClr val="58DBBC"/>
            </a:solidFill>
            <a:prstDash val="solid"/>
          </a:ln>
        </p:spPr>
      </p:sp>
      <p:sp>
        <p:nvSpPr>
          <p:cNvPr id="48" name="Shape 46"/>
          <p:cNvSpPr/>
          <p:nvPr/>
        </p:nvSpPr>
        <p:spPr>
          <a:xfrm>
            <a:off x="10866120" y="4956048"/>
            <a:ext cx="163830" cy="0"/>
          </a:xfrm>
          <a:prstGeom prst="line">
            <a:avLst/>
          </a:prstGeom>
          <a:noFill/>
          <a:ln w="38100">
            <a:solidFill>
              <a:srgbClr val="58DBBC"/>
            </a:solidFill>
            <a:prstDash val="solid"/>
          </a:ln>
        </p:spPr>
      </p:sp>
      <p:sp>
        <p:nvSpPr>
          <p:cNvPr id="49" name="Shape 47"/>
          <p:cNvSpPr/>
          <p:nvPr/>
        </p:nvSpPr>
        <p:spPr>
          <a:xfrm>
            <a:off x="11029950" y="4764024"/>
            <a:ext cx="0" cy="192024"/>
          </a:xfrm>
          <a:prstGeom prst="line">
            <a:avLst/>
          </a:prstGeom>
          <a:noFill/>
          <a:ln w="38100">
            <a:solidFill>
              <a:srgbClr val="58DBBC"/>
            </a:solidFill>
            <a:prstDash val="solid"/>
          </a:ln>
        </p:spPr>
      </p:sp>
      <p:sp>
        <p:nvSpPr>
          <p:cNvPr id="50" name="Shape 48"/>
          <p:cNvSpPr/>
          <p:nvPr/>
        </p:nvSpPr>
        <p:spPr>
          <a:xfrm>
            <a:off x="11029950" y="4764024"/>
            <a:ext cx="163830" cy="0"/>
          </a:xfrm>
          <a:prstGeom prst="line">
            <a:avLst/>
          </a:prstGeom>
          <a:noFill/>
          <a:ln w="38100">
            <a:solidFill>
              <a:srgbClr val="58DBBC"/>
            </a:solidFill>
            <a:prstDash val="solid"/>
          </a:ln>
        </p:spPr>
      </p:sp>
      <p:sp>
        <p:nvSpPr>
          <p:cNvPr id="51" name="Shape 49"/>
          <p:cNvSpPr/>
          <p:nvPr/>
        </p:nvSpPr>
        <p:spPr>
          <a:xfrm>
            <a:off x="11193780" y="4764024"/>
            <a:ext cx="0" cy="320040"/>
          </a:xfrm>
          <a:prstGeom prst="line">
            <a:avLst/>
          </a:prstGeom>
          <a:noFill/>
          <a:ln w="38100">
            <a:solidFill>
              <a:srgbClr val="58DBBC"/>
            </a:solidFill>
            <a:prstDash val="solid"/>
          </a:ln>
        </p:spPr>
      </p:sp>
      <p:sp>
        <p:nvSpPr>
          <p:cNvPr id="52" name="Shape 50"/>
          <p:cNvSpPr/>
          <p:nvPr/>
        </p:nvSpPr>
        <p:spPr>
          <a:xfrm>
            <a:off x="11193780" y="5084064"/>
            <a:ext cx="163830" cy="0"/>
          </a:xfrm>
          <a:prstGeom prst="line">
            <a:avLst/>
          </a:prstGeom>
          <a:noFill/>
          <a:ln w="38100">
            <a:solidFill>
              <a:srgbClr val="58DBBC"/>
            </a:solidFill>
            <a:prstDash val="solid"/>
          </a:ln>
        </p:spPr>
      </p:sp>
      <p:sp>
        <p:nvSpPr>
          <p:cNvPr id="53" name="Shape 51"/>
          <p:cNvSpPr/>
          <p:nvPr/>
        </p:nvSpPr>
        <p:spPr>
          <a:xfrm>
            <a:off x="11357610" y="4860036"/>
            <a:ext cx="0" cy="224028"/>
          </a:xfrm>
          <a:prstGeom prst="line">
            <a:avLst/>
          </a:prstGeom>
          <a:noFill/>
          <a:ln w="38100">
            <a:solidFill>
              <a:srgbClr val="58DBBC"/>
            </a:solidFill>
            <a:prstDash val="solid"/>
          </a:ln>
        </p:spPr>
      </p:sp>
      <p:sp>
        <p:nvSpPr>
          <p:cNvPr id="54" name="Shape 52"/>
          <p:cNvSpPr/>
          <p:nvPr/>
        </p:nvSpPr>
        <p:spPr>
          <a:xfrm>
            <a:off x="11357610" y="4860036"/>
            <a:ext cx="163830" cy="0"/>
          </a:xfrm>
          <a:prstGeom prst="line">
            <a:avLst/>
          </a:prstGeom>
          <a:noFill/>
          <a:ln w="38100">
            <a:solidFill>
              <a:srgbClr val="58DBBC"/>
            </a:solidFill>
            <a:prstDash val="solid"/>
          </a:ln>
        </p:spPr>
      </p:sp>
      <p:sp>
        <p:nvSpPr>
          <p:cNvPr id="55" name="Text 53"/>
          <p:cNvSpPr txBox="1"/>
          <p:nvPr/>
        </p:nvSpPr>
        <p:spPr>
          <a:xfrm>
            <a:off x="640080" y="5760720"/>
            <a:ext cx="10881360" cy="36576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Run: launch.bat  ·  Rebuild: build.bat  ·  Tests: python tools/run_checks.py</a:t>
            </a:r>
            <a:endParaRPr lang="en-US" sz="1400" dirty="0"/>
          </a:p>
        </p:txBody>
      </p:sp>
    </p:spTree>
  </p:cSld>
  <p:clrMapOvr>
    <a:masterClrMapping/>
  </p:clrMapOvr>
</p:sld>
</file>

<file path=ppt/theme/theme1.xml><?xml version="1.0" encoding="utf-8"?>
<a:theme xmlns:a="http://schemas.openxmlformats.org/drawingml/2006/main" name="Oscilloscope">
  <a:themeElements>
    <a:clrScheme name="Oscilloscope">
      <a:dk1>
        <a:srgbClr val="101820"/>
      </a:dk1>
      <a:lt1>
        <a:srgbClr val="FFFFFF"/>
      </a:lt1>
      <a:dk2>
        <a:srgbClr val="2A3B47"/>
      </a:dk2>
      <a:lt2>
        <a:srgbClr val="EEF3F5"/>
      </a:lt2>
      <a:accent1>
        <a:srgbClr val="13836C"/>
      </a:accent1>
      <a:accent2>
        <a:srgbClr val="58DBBC"/>
      </a:accent2>
      <a:accent3>
        <a:srgbClr val="E8A33D"/>
      </a:accent3>
      <a:accent4>
        <a:srgbClr val="C8483F"/>
      </a:accent4>
      <a:accent5>
        <a:srgbClr val="6B7F8E"/>
      </a:accent5>
      <a:accent6>
        <a:srgbClr val="2C6E91"/>
      </a:accent6>
      <a:hlink>
        <a:srgbClr val="2C6E91"/>
      </a:hlink>
      <a:folHlink>
        <a:srgbClr val="6B7F8E"/>
      </a:folHlink>
    </a:clrScheme>
    <a:fontScheme name="Oscilloscop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Procedural Game Sound Effects in x86-64 Assembly</dc:title>
  <dc:subject>PptxGenJS Presentation</dc:subject>
  <dc:creator>Jose Gian M. Tubera</dc:creator>
  <cp:lastModifiedBy>Jose Gian M. Tubera</cp:lastModifiedBy>
  <cp:revision>1</cp:revision>
  <dcterms:created xsi:type="dcterms:W3CDTF">2026-10-28T00:05:57Z</dcterms:created>
  <dcterms:modified xsi:type="dcterms:W3CDTF">2026-10-28T00:05:57Z</dcterms:modified>
</cp:coreProperties>
</file>