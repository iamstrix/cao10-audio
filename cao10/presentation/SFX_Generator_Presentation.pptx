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charts/chart1.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b0ce2768-501c-2e64-709f-48d0203ff1a2}">
          <p14:sldIdLst>
            <p14:sldId id="256"/>
          </p14:sldIdLst>
        </p14:section>
        <p14:section name="The program" id="{a321a7d7-42a5-bd37-8068-a3cf1e0ccb6b}">
          <p14:sldIdLst>
            <p14:sldId id="257"/>
            <p14:sldId id="258"/>
          </p14:sldIdLst>
        </p14:section>
        <p14:section name="Inside the engine" id="{882cb723-0537-f2e9-8b03-04599b638d2e}">
          <p14:sldIdLst>
            <p14:sldId id="259"/>
            <p14:sldId id="260"/>
            <p14:sldId id="261"/>
            <p14:sldId id="262"/>
            <p14:sldId id="263"/>
            <p14:sldId id="264"/>
            <p14:sldId id="265"/>
          </p14:sldIdLst>
        </p14:section>
        <p14:section name="Evidence" id="{da386d99-8dc7-7b2b-6d4d-10e25dfda0ac}">
          <p14:sldIdLst>
            <p14:sldId id="266"/>
            <p14:sldId id="267"/>
            <p14:sldId id="268"/>
          </p14:sldIdLst>
        </p14:section>
        <p14:section name="Close" id="{9c66b5af-f38f-e436-5842-a7f42e4a32df}">
          <p14:sldIdLst>
            <p14:sldId id="26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01820"/>
                </a:solidFill>
                <a:latin typeface="+mn-lt"/>
              </a:defRPr>
            </a:pPr>
            <a:r>
              <a:rPr sz="1400" b="0" i="0" u="none" strike="noStrike">
                <a:solidFill>
                  <a:srgbClr val="101820"/>
                </a:solidFill>
                <a:latin typeface="+mn-lt"/>
              </a:rPr>
              <a:t>Median time to generate 1 s of sound (ms)</a:t>
            </a:r>
          </a:p>
        </c:rich>
      </c:tx>
      <c:layout/>
      <c:overlay val="0"/>
    </c:title>
    <c:autoTitleDeleted val="0"/>
    <c:plotArea>
      <c:layout/>
      <c:barChart>
        <c:barDir val="col"/>
        <c:grouping val="clustered"/>
        <c:varyColors val="0"/>
        <c:ser>
          <c:idx val="0"/>
          <c:order val="0"/>
          <c:tx>
            <c:strRef>
              <c:f>Sheet1!$B$1</c:f>
              <c:strCache>
                <c:ptCount val="1"/>
                <c:pt idx="0">
                  <c:v>Assembly (first build)</c:v>
                </c:pt>
              </c:strCache>
            </c:strRef>
          </c:tx>
          <c:spPr>
            <a:solidFill>
              <a:srgbClr val="C8483F"/>
            </a:solidFill>
            <a:effectLst/>
          </c:spPr>
          <c:invertIfNegative val="0"/>
          <c:dLbls>
            <c:numFmt formatCode="0.00" sourceLinked="0"/>
            <c:txPr>
              <a:bodyPr/>
              <a:lstStyle/>
              <a:p>
                <a:pPr>
                  <a:defRPr b="0" i="0" strike="noStrike" sz="1000" u="none">
                    <a:solidFill>
                      <a:srgbClr val="2A3B47"/>
                    </a:solidFill>
                    <a:latin typeface="+mn-lt"/>
                  </a:defRPr>
                </a:pPr>
              </a:p>
            </c:txPr>
            <c:showLegendKey val="0"/>
            <c:showVal val="1"/>
            <c:showCatName val="0"/>
            <c:showSerName val="0"/>
            <c:showPercent val="0"/>
            <c:showBubbleSize val="0"/>
            <c:showLeaderLines val="0"/>
          </c:dLbls>
          <c:cat>
            <c:multiLvlStrRef>
              <c:f>Sheet1!$A$2:$A$5</c:f>
              <c:multiLvlStrCache>
                <c:ptCount val="4"/>
                <c:lvl>
                  <c:pt idx="0">
                    <c:v>Square</c:v>
                  </c:pt>
                  <c:pt idx="1">
                    <c:v>Sawtooth</c:v>
                  </c:pt>
                  <c:pt idx="2">
                    <c:v>Triangle</c:v>
                  </c:pt>
                  <c:pt idx="3">
                    <c:v>Noise</c:v>
                  </c:pt>
                </c:lvl>
              </c:multiLvlStrCache>
            </c:multiLvlStrRef>
          </c:cat>
          <c:val>
            <c:numRef>
              <c:f>Sheet1!$B$2:$B$5</c:f>
              <c:numCache>
                <c:formatCode>General</c:formatCode>
                <c:ptCount val="4"/>
                <c:pt idx="0">
                  <c:v>0.35</c:v>
                </c:pt>
                <c:pt idx="1">
                  <c:v>1.58</c:v>
                </c:pt>
                <c:pt idx="2">
                  <c:v>1.68</c:v>
                </c:pt>
                <c:pt idx="3">
                  <c:v>0.33</c:v>
                </c:pt>
              </c:numCache>
            </c:numRef>
          </c:val>
        </c:ser>
        <c:ser>
          <c:idx val="1"/>
          <c:order val="1"/>
          <c:tx>
            <c:strRef>
              <c:f>Sheet1!$C$1</c:f>
              <c:strCache>
                <c:ptCount val="1"/>
                <c:pt idx="0">
                  <c:v>Assembly + movaps fix</c:v>
                </c:pt>
              </c:strCache>
            </c:strRef>
          </c:tx>
          <c:spPr>
            <a:solidFill>
              <a:srgbClr val="13836C"/>
            </a:solidFill>
            <a:effectLst/>
          </c:spPr>
          <c:invertIfNegative val="0"/>
          <c:dLbls>
            <c:numFmt formatCode="0.00" sourceLinked="0"/>
            <c:txPr>
              <a:bodyPr/>
              <a:lstStyle/>
              <a:p>
                <a:pPr>
                  <a:defRPr b="0" i="0" strike="noStrike" sz="1000" u="none">
                    <a:solidFill>
                      <a:srgbClr val="2A3B47"/>
                    </a:solidFill>
                    <a:latin typeface="+mn-lt"/>
                  </a:defRPr>
                </a:pPr>
              </a:p>
            </c:txPr>
            <c:showLegendKey val="0"/>
            <c:showVal val="1"/>
            <c:showCatName val="0"/>
            <c:showSerName val="0"/>
            <c:showPercent val="0"/>
            <c:showBubbleSize val="0"/>
            <c:showLeaderLines val="0"/>
          </c:dLbls>
          <c:cat>
            <c:multiLvlStrRef>
              <c:f>Sheet1!$A$2:$A$5</c:f>
              <c:multiLvlStrCache>
                <c:ptCount val="4"/>
                <c:lvl>
                  <c:pt idx="0">
                    <c:v>Square</c:v>
                  </c:pt>
                  <c:pt idx="1">
                    <c:v>Sawtooth</c:v>
                  </c:pt>
                  <c:pt idx="2">
                    <c:v>Triangle</c:v>
                  </c:pt>
                  <c:pt idx="3">
                    <c:v>Noise</c:v>
                  </c:pt>
                </c:lvl>
              </c:multiLvlStrCache>
            </c:multiLvlStrRef>
          </c:cat>
          <c:val>
            <c:numRef>
              <c:f>Sheet1!$C$2:$C$5</c:f>
              <c:numCache>
                <c:formatCode>General</c:formatCode>
                <c:ptCount val="4"/>
                <c:pt idx="0">
                  <c:v>0.26</c:v>
                </c:pt>
                <c:pt idx="1">
                  <c:v>0.35</c:v>
                </c:pt>
                <c:pt idx="2">
                  <c:v>0.4</c:v>
                </c:pt>
                <c:pt idx="3">
                  <c:v>0.24</c:v>
                </c:pt>
              </c:numCache>
            </c:numRef>
          </c:val>
        </c:ser>
        <c:ser>
          <c:idx val="2"/>
          <c:order val="2"/>
          <c:tx>
            <c:strRef>
              <c:f>Sheet1!$D$1</c:f>
              <c:strCache>
                <c:ptCount val="1"/>
                <c:pt idx="0">
                  <c:v>C -O2</c:v>
                </c:pt>
              </c:strCache>
            </c:strRef>
          </c:tx>
          <c:spPr>
            <a:solidFill>
              <a:srgbClr val="6B7F8E"/>
            </a:solidFill>
            <a:effectLst/>
          </c:spPr>
          <c:invertIfNegative val="0"/>
          <c:dLbls>
            <c:numFmt formatCode="0.00" sourceLinked="0"/>
            <c:txPr>
              <a:bodyPr/>
              <a:lstStyle/>
              <a:p>
                <a:pPr>
                  <a:defRPr b="0" i="0" strike="noStrike" sz="1000" u="none">
                    <a:solidFill>
                      <a:srgbClr val="2A3B47"/>
                    </a:solidFill>
                    <a:latin typeface="+mn-lt"/>
                  </a:defRPr>
                </a:pPr>
              </a:p>
            </c:txPr>
            <c:showLegendKey val="0"/>
            <c:showVal val="1"/>
            <c:showCatName val="0"/>
            <c:showSerName val="0"/>
            <c:showPercent val="0"/>
            <c:showBubbleSize val="0"/>
            <c:showLeaderLines val="0"/>
          </c:dLbls>
          <c:cat>
            <c:multiLvlStrRef>
              <c:f>Sheet1!$A$2:$A$5</c:f>
              <c:multiLvlStrCache>
                <c:ptCount val="4"/>
                <c:lvl>
                  <c:pt idx="0">
                    <c:v>Square</c:v>
                  </c:pt>
                  <c:pt idx="1">
                    <c:v>Sawtooth</c:v>
                  </c:pt>
                  <c:pt idx="2">
                    <c:v>Triangle</c:v>
                  </c:pt>
                  <c:pt idx="3">
                    <c:v>Noise</c:v>
                  </c:pt>
                </c:lvl>
              </c:multiLvlStrCache>
            </c:multiLvlStrRef>
          </c:cat>
          <c:val>
            <c:numRef>
              <c:f>Sheet1!$D$2:$D$5</c:f>
              <c:numCache>
                <c:formatCode>General</c:formatCode>
                <c:ptCount val="4"/>
                <c:pt idx="0">
                  <c:v>0.31</c:v>
                </c:pt>
                <c:pt idx="1">
                  <c:v>0.32</c:v>
                </c:pt>
                <c:pt idx="2">
                  <c:v>0.4</c:v>
                </c:pt>
                <c:pt idx="3">
                  <c:v>0.26</c:v>
                </c:pt>
              </c:numCache>
            </c:numRef>
          </c:val>
        </c:ser>
        <c:ser>
          <c:idx val="3"/>
          <c:order val="3"/>
          <c:tx>
            <c:strRef>
              <c:f>Sheet1!$E$1</c:f>
              <c:strCache>
                <c:ptCount val="1"/>
                <c:pt idx="0">
                  <c:v>C -O0</c:v>
                </c:pt>
              </c:strCache>
            </c:strRef>
          </c:tx>
          <c:spPr>
            <a:solidFill>
              <a:srgbClr val="B8C4CC"/>
            </a:solidFill>
            <a:effectLst/>
          </c:spPr>
          <c:invertIfNegative val="0"/>
          <c:dLbls>
            <c:numFmt formatCode="0.00" sourceLinked="0"/>
            <c:txPr>
              <a:bodyPr/>
              <a:lstStyle/>
              <a:p>
                <a:pPr>
                  <a:defRPr b="0" i="0" strike="noStrike" sz="1000" u="none">
                    <a:solidFill>
                      <a:srgbClr val="2A3B47"/>
                    </a:solidFill>
                    <a:latin typeface="+mn-lt"/>
                  </a:defRPr>
                </a:pPr>
              </a:p>
            </c:txPr>
            <c:showLegendKey val="0"/>
            <c:showVal val="1"/>
            <c:showCatName val="0"/>
            <c:showSerName val="0"/>
            <c:showPercent val="0"/>
            <c:showBubbleSize val="0"/>
            <c:showLeaderLines val="0"/>
          </c:dLbls>
          <c:cat>
            <c:multiLvlStrRef>
              <c:f>Sheet1!$A$2:$A$5</c:f>
              <c:multiLvlStrCache>
                <c:ptCount val="4"/>
                <c:lvl>
                  <c:pt idx="0">
                    <c:v>Square</c:v>
                  </c:pt>
                  <c:pt idx="1">
                    <c:v>Sawtooth</c:v>
                  </c:pt>
                  <c:pt idx="2">
                    <c:v>Triangle</c:v>
                  </c:pt>
                  <c:pt idx="3">
                    <c:v>Noise</c:v>
                  </c:pt>
                </c:lvl>
              </c:multiLvlStrCache>
            </c:multiLvlStrRef>
          </c:cat>
          <c:val>
            <c:numRef>
              <c:f>Sheet1!$E$2:$E$5</c:f>
              <c:numCache>
                <c:formatCode>General</c:formatCode>
                <c:ptCount val="4"/>
                <c:pt idx="0">
                  <c:v>0.94</c:v>
                </c:pt>
                <c:pt idx="1">
                  <c:v>1.71</c:v>
                </c:pt>
                <c:pt idx="2">
                  <c:v>2.05</c:v>
                </c:pt>
                <c:pt idx="3">
                  <c:v>0.96</c:v>
                </c:pt>
              </c:numCache>
            </c:numRef>
          </c:val>
        </c:ser>
        <c:dLbls>
          <c:numFmt formatCode="0.00" sourceLinked="0"/>
          <c:txPr>
            <a:bodyPr/>
            <a:lstStyle/>
            <a:p>
              <a:pPr>
                <a:defRPr b="0" i="0" strike="noStrike" sz="1000" u="none">
                  <a:solidFill>
                    <a:srgbClr val="2A3B47"/>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2A3B47"/>
                </a:solidFill>
                <a:latin typeface="+mn-lt"/>
              </a:defRPr>
            </a:pPr>
            <a:endParaRPr lang="en-US"/>
          </a:p>
        </c:txPr>
        <c:crossAx val="2094734552"/>
        <c:crosses val="autoZero"/>
        <c:auto val="1"/>
        <c:lblAlgn val="ctr"/>
        <c:noMultiLvlLbl val="1"/>
      </c:catAx>
      <c:valAx>
        <c:axId val="2094734552"/>
        <c:scaling>
          <c:orientation val="minMax"/>
          <c:max val="2.5"/>
          <c:min val="0"/>
        </c:scaling>
        <c:delete val="0"/>
        <c:axPos val="l"/>
        <c:majorGridlines>
          <c:spPr>
            <a:ln w="9525" cap="flat">
              <a:solidFill>
                <a:srgbClr val="DDE3E7"/>
              </a:solidFill>
              <a:prstDash val="solid"/>
              <a:round/>
            </a:ln>
          </c:spPr>
        </c:majorGridlines>
        <c:numFmt formatCode="0.0"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6B7F8E"/>
                </a:solidFill>
                <a:latin typeface="+mn-lt"/>
              </a:defRPr>
            </a:pPr>
            <a:endParaRPr lang="en-US"/>
          </a:p>
        </c:txPr>
        <c:crossAx val="2094734554"/>
        <c:crosses val="autoZero"/>
        <c:crossBetween val="between"/>
        <c:majorUnit val="0.5"/>
      </c:valAx>
      <c:spPr>
        <a:noFill/>
        <a:ln>
          <a:noFill/>
        </a:ln>
        <a:effectLst/>
      </c:spPr>
    </c:plotArea>
    <c:legend>
      <c:legendPos val="t"/>
      <c:overlay val="0"/>
      <c:txPr>
        <a:bodyPr/>
        <a:lstStyle/>
        <a:p>
          <a:pPr>
            <a:defRPr sz="1200">
              <a:solidFill>
                <a:srgbClr val="101820"/>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Our project is a retro game sound-effect generator. The important part: every single audio sample is computed by hand-written x86-64 Assembly. Python only gives us the window, the buttons, the waveform picture and playback. The four shapes at the bottom are the four waveforms our engine can produce: square, sawtooth, triangle and noise.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the user sees: seven presets that sound like classic game effects, plus Randomize. Every slider maps to one sound parameter. When you change anything, the program regenerates the sound, redraws the waveform, and you can play it or save it as a WAV file. The format is fixed: CD-quality sample rate, 16-bit, mono, up to 5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most important picture. On the left is the GUI in Python and Tkinter. In the middle is a tiny binding layer using ctypes, which copies slider values into a 44-byte structure and calls the DLL. On the right is our engine, sfx.dll, written in NASM. Underneath, one click becomes five steps: ask the engine how long the sound is, allocate a buffer, generate the samples, wrap them in a WAV header, then draw, play or save. Separately we wrote the same algorithm in C. It is not used by the app; it is our answer key for testing and our baseline for speed.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Python and Assembly share one data structure: eleven 4-byte fields, 44 bytes, no padding. Each box shows the byte offset, the field and its valid range. Assembly reads a field as 'params plus offset', for example rcx plus 24 is attack. The same layout is written three times, in NASM, C and Python, and they must match exactly. The engine itself rejects anything out of range, NaN, or a seed of zero, by returning 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DLL exports exactly three functions. Windows passes the first four arguments in RCX, RDX, R8 and R9, and the result comes back in EAX. Zero always means error. The key design decision is at the bottom: Windows says some registers are ours to destroy, the volatile ones, and others must come back unchanged. Our engine only uses the volatile set, so it never has to save or restore anything. A separate Assembly test, abi_probe, fills the protected registers with a known pattern, calls our functions, and checks nothing changed.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heart of sfx_generate: one loop iteration per sample. First the pitch slides by multiplying the frequency by a constant, capped at 20 kHz. If it falls below the minimum, the sound ends early. Second, vibrato wobbles the pitch using a 256-entry sine table. Third, the phase, meaning how far we are through one wave cycle, moves forward and wraps at 1. Fourth, the phase is turned into a waveform shape. Fifth, the envelope fades in and out. Sixth, we scale to 16-bit and round. Seventh, store and repeat. The key variables never leave registers.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Because we track phase from 0 to 1, each waveform is a one-line formula. Square: high for the first half of the cycle, low for the second; that's a single compare. Sawtooth: a straight ramp. Triangle: one minus four times the distance from the middle; the absolute value is done with a bit mask that clears the sign bit, because SSE has no abs instruction for floats. Noise: a random number that we only refresh when the phase wraps, so the frequency slider controls how rough the noise sounds.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six things I'd point to as real Assembly thinking. One: NaN. A float compare with a NaN sets the parity flag, so we check jump-if-parity, or a NaN would pass validation. Two: SSE has no power function, so the pitch slide uses a Taylor series, which is accurate far below float precision because the exponent is tiny. Three: the phase accumulator, with the frequency capped at 20 kHz so one subtraction always wraps it. Four: absolute value by masking the sign bit. Five: packssdw saturates instead of wrapping, so loud samples clip rather than flip sign. Six: xorshift noise is deterministic, so the same seed always gives the same sound.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Where does the engine keep its data? Only in registers and in one 152-byte stack frame. 152 is chosen because, after the call pushes 8 bytes, subtracting 152 leaves the stack pointer 16-byte aligned, which Windows requires before we call our helper routines. The bottom 32 bytes are shadow space, also required. Because there are no global variables, the engine is reentrant: two threads can call it at once, and our Python test does 100 concurrent calls. The DLL is 5.6 KB, imports nothing, and every section is read-only.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last routine wraps the samples into a WAV file. A WAV starts with a 44-byte header. Ours is stored as a constant template in read-only memory. The routine checks the buffers, copies the template, patches the two amber size fields, copies the samples after the header, and returns the total byte count. A 1-second sound is 44 plus 88,200 bytes. The Python side then plays those bytes from memory or writes them straight to disk.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do we know it's correct? We wrote the same algorithm in C, using float exactly like the Assembly, and compared every sample. The requirement allowed a difference of one unit; we measured zero. 10,000 random parameter sets plus 20 fixed cases including every preset, 1.28 million checks in total. We also tested every invalid input including NaN and infinity, placed guard bytes around buffers to prove we never write outside them, checked the WAV header byte for byte, measured that a 441 Hz tone really has 441 cycles, and ran the register-preservation probe.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Speed. We timed generating one second of sound, 44,100 samples, with slide and vibrato on, 1,000 times each, and took the median. Every Assembly result is far under our 5 ms target and faster than unoptimised C. Our first build was slower than GCC -O2 on sawtooth and triangle, so we profiled it and traced the gap to one instruction on line 161: movss between registers only replaces the low 32 bits, so the CPU had to wait for the previous sample to finish before starting the next. We swapped it for movaps, which copies the whole register, and tested it: sawtooth went from 1.58 to 0.35 ms and triangle from 1.68 to 0.40 ms, level with optimised C. The full test suite still passes, all 1,279,144 checks, with zero difference from the C reference.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want to be clear about what is not proven yet. All timings come from one laptop, and we didn't control background apps or power. We haven't done the group listening test, so we don't claim the presets sound recognisable to everyone. Noise only changes once per cycle, which makes it a bit muffled; that was a known trade-off. Our speed comparison with C is from one session on one machine, so we would repeat it before claiming we match C everywhere. Next steps are on the right.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finish, a quick demo. Click Coin, then Laser, then Explosion; point at the waveform. Press Randomize a couple of times. Then Save WAV. Watch the status bar: it shows the length, the sample count and the generation time in milliseconds. Then: thank you, we're happy to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_TITLE">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1417320"/>
            <a:ext cx="10881360" cy="1737360"/>
          </a:xfrm>
          <a:prstGeom prst="rect">
            <a:avLst/>
          </a:prstGeom>
          <a:noFill/>
          <a:ln/>
        </p:spPr>
        <p:txBody>
          <a:bodyPr wrap="square" rtlCol="0"/>
          <a:lstStyle>
            <a:lvl1pPr algn="l" indent="0" marL="0">
              <a:buNone/>
              <a:defRPr lang="en-US" sz="4400" b="1" dirty="0">
                <a:solidFill>
                  <a:schemeClr val="bg1"/>
                </a:solidFill>
              </a:defRPr>
            </a:lvl1pPr>
          </a:lstStyle>
          <a:p>
            <a:pPr algn="l" indent="0" marL="0">
              <a:buNone/>
            </a:pPr>
            <a:endParaRPr lang="en-US" sz="4400" dirty="0"/>
          </a:p>
        </p:txBody>
      </p:sp>
      <p:sp>
        <p:nvSpPr>
          <p:cNvPr id="3" name="Text 0"/>
          <p:cNvSpPr/>
          <p:nvPr>
            <p:ph idx="101" type="body" hasCustomPrompt="1"/>
          </p:nvPr>
        </p:nvSpPr>
        <p:spPr>
          <a:xfrm>
            <a:off x="640080" y="3291840"/>
            <a:ext cx="10881360" cy="822960"/>
          </a:xfrm>
          <a:prstGeom prst="rect">
            <a:avLst/>
          </a:prstGeom>
          <a:noFill/>
          <a:ln/>
        </p:spPr>
        <p:txBody>
          <a:bodyPr wrap="square" rtlCol="0"/>
          <a:lstStyle>
            <a:lvl1pPr indent="0" marL="0">
              <a:buNone/>
              <a:defRPr lang="en-US" sz="2000" dirty="0">
                <a:solidFill>
                  <a:schemeClr val="accent2"/>
                </a:solidFill>
              </a:defRPr>
            </a:lvl1pPr>
          </a:lstStyle>
          <a:p>
            <a:pPr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68680"/>
          </a:xfrm>
          <a:prstGeom prst="rect">
            <a:avLst/>
          </a:prstGeom>
          <a:noFill/>
          <a:ln/>
        </p:spPr>
        <p:txBody>
          <a:bodyPr wrap="square" rtlCol="0"/>
          <a:lstStyle>
            <a:lvl1pPr algn="l" indent="0" marL="0">
              <a:buNone/>
              <a:defRPr lang="en-US" sz="2800" b="1" dirty="0">
                <a:solidFill>
                  <a:schemeClr val="tx1"/>
                </a:solidFill>
              </a:defRPr>
            </a:lvl1pPr>
          </a:lstStyle>
          <a:p>
            <a:pPr algn="l" indent="0" marL="0">
              <a:buNone/>
            </a:pPr>
            <a:endParaRPr lang="en-US" sz="2800" dirty="0"/>
          </a:p>
        </p:txBody>
      </p:sp>
      <p:sp>
        <p:nvSpPr>
          <p:cNvPr id="3" name="Text 0"/>
          <p:cNvSpPr/>
          <p:nvPr/>
        </p:nvSpPr>
        <p:spPr>
          <a:xfrm>
            <a:off x="548640" y="6400800"/>
            <a:ext cx="5486400" cy="274320"/>
          </a:xfrm>
          <a:prstGeom prst="rect">
            <a:avLst/>
          </a:prstGeom>
          <a:noFill/>
          <a:ln/>
        </p:spPr>
        <p:txBody>
          <a:bodyPr wrap="square" lIns="0" tIns="0" rIns="0" bIns="0" rtlCol="0" anchor="ctr"/>
          <a:lstStyle/>
          <a:p>
            <a:pPr indent="0" marL="0">
              <a:buNone/>
            </a:pPr>
            <a:r>
              <a:rPr lang="en-US" sz="1000" dirty="0">
                <a:solidFill>
                  <a:schemeClr val="accent5"/>
                </a:solidFill>
              </a:rPr>
              <a:t>CA010 · Procedural SFX Generator in Assembly</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640080" y="1417320"/>
            <a:ext cx="10881360" cy="1737360"/>
          </a:xfrm>
          <a:prstGeom prst="rect">
            <a:avLst/>
          </a:prstGeom>
          <a:noFill/>
          <a:ln/>
        </p:spPr>
        <p:txBody>
          <a:bodyPr wrap="square" lIns="0" tIns="0" rIns="0" bIns="0" rtlCol="0" anchor="b"/>
          <a:lstStyle/>
          <a:p>
            <a:pPr algn="l" indent="0" marL="0">
              <a:buNone/>
            </a:pPr>
            <a:r>
              <a:rPr lang="en-US" sz="4400" b="1" dirty="0">
                <a:solidFill>
                  <a:schemeClr val="bg1"/>
                </a:solidFill>
              </a:rPr>
              <a:t>Procedural Game Sound Effects</a:t>
            </a:r>
            <a:endParaRPr lang="en-US" sz="4400" dirty="0"/>
          </a:p>
          <a:p>
            <a:pPr algn="l" indent="0" marL="0">
              <a:buNone/>
            </a:pPr>
            <a:r>
              <a:rPr lang="en-US" sz="4400" b="1" dirty="0">
                <a:solidFill>
                  <a:schemeClr val="bg1"/>
                </a:solidFill>
              </a:rPr>
              <a:t>in x86-64 Assembly</a:t>
            </a:r>
            <a:endParaRPr lang="en-US" sz="4400" dirty="0"/>
          </a:p>
        </p:txBody>
      </p:sp>
      <p:sp>
        <p:nvSpPr>
          <p:cNvPr id="3" name="Text 0"/>
          <p:cNvSpPr/>
          <p:nvPr>
            <p:ph idx="101" type="body" hasCustomPrompt="1"/>
          </p:nvPr>
        </p:nvSpPr>
        <p:spPr>
          <a:xfrm>
            <a:off x="640080" y="3291840"/>
            <a:ext cx="10881360" cy="822960"/>
          </a:xfrm>
          <a:prstGeom prst="rect">
            <a:avLst/>
          </a:prstGeom>
          <a:noFill/>
          <a:ln/>
        </p:spPr>
        <p:txBody>
          <a:bodyPr wrap="square" lIns="0" tIns="0" rIns="0" bIns="0" rtlCol="0" anchor="t"/>
          <a:lstStyle/>
          <a:p>
            <a:pPr indent="0" marL="0">
              <a:buNone/>
            </a:pPr>
            <a:r>
              <a:rPr lang="en-US" sz="2000" dirty="0">
                <a:solidFill>
                  <a:schemeClr val="accent2"/>
                </a:solidFill>
              </a:rPr>
              <a:t>Every audio sample is computed by hand-written NASM; Python only draws the buttons</a:t>
            </a:r>
            <a:endParaRPr lang="en-US" sz="2000" dirty="0"/>
          </a:p>
        </p:txBody>
      </p:sp>
      <p:sp>
        <p:nvSpPr>
          <p:cNvPr id="4" name="Shape 2"/>
          <p:cNvSpPr/>
          <p:nvPr/>
        </p:nvSpPr>
        <p:spPr>
          <a:xfrm>
            <a:off x="640080" y="4572000"/>
            <a:ext cx="457200" cy="0"/>
          </a:xfrm>
          <a:prstGeom prst="line">
            <a:avLst/>
          </a:prstGeom>
          <a:noFill/>
          <a:ln w="38100">
            <a:solidFill>
              <a:srgbClr val="58DBBC"/>
            </a:solidFill>
            <a:prstDash val="solid"/>
          </a:ln>
        </p:spPr>
      </p:sp>
      <p:sp>
        <p:nvSpPr>
          <p:cNvPr id="5" name="Shape 3"/>
          <p:cNvSpPr/>
          <p:nvPr/>
        </p:nvSpPr>
        <p:spPr>
          <a:xfrm>
            <a:off x="1097280" y="4572000"/>
            <a:ext cx="0" cy="640080"/>
          </a:xfrm>
          <a:prstGeom prst="line">
            <a:avLst/>
          </a:prstGeom>
          <a:noFill/>
          <a:ln w="38100">
            <a:solidFill>
              <a:srgbClr val="58DBBC"/>
            </a:solidFill>
            <a:prstDash val="solid"/>
          </a:ln>
        </p:spPr>
      </p:sp>
      <p:sp>
        <p:nvSpPr>
          <p:cNvPr id="6" name="Shape 4"/>
          <p:cNvSpPr/>
          <p:nvPr/>
        </p:nvSpPr>
        <p:spPr>
          <a:xfrm>
            <a:off x="1097280" y="5212080"/>
            <a:ext cx="457200" cy="0"/>
          </a:xfrm>
          <a:prstGeom prst="line">
            <a:avLst/>
          </a:prstGeom>
          <a:noFill/>
          <a:ln w="38100">
            <a:solidFill>
              <a:srgbClr val="58DBBC"/>
            </a:solidFill>
            <a:prstDash val="solid"/>
          </a:ln>
        </p:spPr>
      </p:sp>
      <p:sp>
        <p:nvSpPr>
          <p:cNvPr id="7" name="Shape 5"/>
          <p:cNvSpPr/>
          <p:nvPr/>
        </p:nvSpPr>
        <p:spPr>
          <a:xfrm>
            <a:off x="1554480" y="4572000"/>
            <a:ext cx="0" cy="640080"/>
          </a:xfrm>
          <a:prstGeom prst="line">
            <a:avLst/>
          </a:prstGeom>
          <a:noFill/>
          <a:ln w="38100">
            <a:solidFill>
              <a:srgbClr val="58DBBC"/>
            </a:solidFill>
            <a:prstDash val="solid"/>
          </a:ln>
        </p:spPr>
      </p:sp>
      <p:sp>
        <p:nvSpPr>
          <p:cNvPr id="8" name="Shape 6"/>
          <p:cNvSpPr/>
          <p:nvPr/>
        </p:nvSpPr>
        <p:spPr>
          <a:xfrm>
            <a:off x="1554480" y="4572000"/>
            <a:ext cx="0" cy="0"/>
          </a:xfrm>
          <a:prstGeom prst="line">
            <a:avLst/>
          </a:prstGeom>
          <a:noFill/>
          <a:ln w="38100">
            <a:solidFill>
              <a:srgbClr val="58DBBC"/>
            </a:solidFill>
            <a:prstDash val="solid"/>
          </a:ln>
        </p:spPr>
      </p:sp>
      <p:sp>
        <p:nvSpPr>
          <p:cNvPr id="9" name="Shape 7"/>
          <p:cNvSpPr/>
          <p:nvPr/>
        </p:nvSpPr>
        <p:spPr>
          <a:xfrm>
            <a:off x="1554480" y="4572000"/>
            <a:ext cx="457200" cy="0"/>
          </a:xfrm>
          <a:prstGeom prst="line">
            <a:avLst/>
          </a:prstGeom>
          <a:noFill/>
          <a:ln w="38100">
            <a:solidFill>
              <a:srgbClr val="58DBBC"/>
            </a:solidFill>
            <a:prstDash val="solid"/>
          </a:ln>
        </p:spPr>
      </p:sp>
      <p:sp>
        <p:nvSpPr>
          <p:cNvPr id="10" name="Shape 8"/>
          <p:cNvSpPr/>
          <p:nvPr/>
        </p:nvSpPr>
        <p:spPr>
          <a:xfrm>
            <a:off x="2011680" y="4572000"/>
            <a:ext cx="0" cy="640080"/>
          </a:xfrm>
          <a:prstGeom prst="line">
            <a:avLst/>
          </a:prstGeom>
          <a:noFill/>
          <a:ln w="38100">
            <a:solidFill>
              <a:srgbClr val="58DBBC"/>
            </a:solidFill>
            <a:prstDash val="solid"/>
          </a:ln>
        </p:spPr>
      </p:sp>
      <p:sp>
        <p:nvSpPr>
          <p:cNvPr id="11" name="Shape 9"/>
          <p:cNvSpPr/>
          <p:nvPr/>
        </p:nvSpPr>
        <p:spPr>
          <a:xfrm>
            <a:off x="2011680" y="5212080"/>
            <a:ext cx="457200" cy="0"/>
          </a:xfrm>
          <a:prstGeom prst="line">
            <a:avLst/>
          </a:prstGeom>
          <a:noFill/>
          <a:ln w="38100">
            <a:solidFill>
              <a:srgbClr val="58DBBC"/>
            </a:solidFill>
            <a:prstDash val="solid"/>
          </a:ln>
        </p:spPr>
      </p:sp>
      <p:sp>
        <p:nvSpPr>
          <p:cNvPr id="12" name="Shape 10"/>
          <p:cNvSpPr/>
          <p:nvPr/>
        </p:nvSpPr>
        <p:spPr>
          <a:xfrm>
            <a:off x="2468880" y="4572000"/>
            <a:ext cx="0" cy="640080"/>
          </a:xfrm>
          <a:prstGeom prst="line">
            <a:avLst/>
          </a:prstGeom>
          <a:noFill/>
          <a:ln w="38100">
            <a:solidFill>
              <a:srgbClr val="58DBBC"/>
            </a:solidFill>
            <a:prstDash val="solid"/>
          </a:ln>
        </p:spPr>
      </p:sp>
      <p:sp>
        <p:nvSpPr>
          <p:cNvPr id="13" name="Shape 11"/>
          <p:cNvSpPr/>
          <p:nvPr/>
        </p:nvSpPr>
        <p:spPr>
          <a:xfrm>
            <a:off x="2468880" y="4572000"/>
            <a:ext cx="0" cy="0"/>
          </a:xfrm>
          <a:prstGeom prst="line">
            <a:avLst/>
          </a:prstGeom>
          <a:noFill/>
          <a:ln w="38100">
            <a:solidFill>
              <a:srgbClr val="58DBBC"/>
            </a:solidFill>
            <a:prstDash val="solid"/>
          </a:ln>
        </p:spPr>
      </p:sp>
      <p:sp>
        <p:nvSpPr>
          <p:cNvPr id="14" name="Shape 12"/>
          <p:cNvSpPr/>
          <p:nvPr/>
        </p:nvSpPr>
        <p:spPr>
          <a:xfrm>
            <a:off x="2468880" y="4572000"/>
            <a:ext cx="457200" cy="0"/>
          </a:xfrm>
          <a:prstGeom prst="line">
            <a:avLst/>
          </a:prstGeom>
          <a:noFill/>
          <a:ln w="38100">
            <a:solidFill>
              <a:srgbClr val="58DBBC"/>
            </a:solidFill>
            <a:prstDash val="solid"/>
          </a:ln>
        </p:spPr>
      </p:sp>
      <p:sp>
        <p:nvSpPr>
          <p:cNvPr id="15" name="Shape 13"/>
          <p:cNvSpPr/>
          <p:nvPr/>
        </p:nvSpPr>
        <p:spPr>
          <a:xfrm>
            <a:off x="2926080" y="4572000"/>
            <a:ext cx="0" cy="640080"/>
          </a:xfrm>
          <a:prstGeom prst="line">
            <a:avLst/>
          </a:prstGeom>
          <a:noFill/>
          <a:ln w="38100">
            <a:solidFill>
              <a:srgbClr val="58DBBC"/>
            </a:solidFill>
            <a:prstDash val="solid"/>
          </a:ln>
        </p:spPr>
      </p:sp>
      <p:sp>
        <p:nvSpPr>
          <p:cNvPr id="16" name="Shape 14"/>
          <p:cNvSpPr/>
          <p:nvPr/>
        </p:nvSpPr>
        <p:spPr>
          <a:xfrm>
            <a:off x="2926080" y="5212080"/>
            <a:ext cx="457200" cy="0"/>
          </a:xfrm>
          <a:prstGeom prst="line">
            <a:avLst/>
          </a:prstGeom>
          <a:noFill/>
          <a:ln w="38100">
            <a:solidFill>
              <a:srgbClr val="58DBBC"/>
            </a:solidFill>
            <a:prstDash val="solid"/>
          </a:ln>
        </p:spPr>
      </p:sp>
      <p:sp>
        <p:nvSpPr>
          <p:cNvPr id="17" name="Shape 15"/>
          <p:cNvSpPr/>
          <p:nvPr/>
        </p:nvSpPr>
        <p:spPr>
          <a:xfrm flipV="1">
            <a:off x="3611880" y="4572000"/>
            <a:ext cx="914400" cy="640080"/>
          </a:xfrm>
          <a:prstGeom prst="line">
            <a:avLst/>
          </a:prstGeom>
          <a:noFill/>
          <a:ln w="38100">
            <a:solidFill>
              <a:srgbClr val="58DBBC"/>
            </a:solidFill>
            <a:prstDash val="solid"/>
          </a:ln>
        </p:spPr>
      </p:sp>
      <p:sp>
        <p:nvSpPr>
          <p:cNvPr id="18" name="Shape 16"/>
          <p:cNvSpPr/>
          <p:nvPr/>
        </p:nvSpPr>
        <p:spPr>
          <a:xfrm>
            <a:off x="4526280" y="4572000"/>
            <a:ext cx="0" cy="640080"/>
          </a:xfrm>
          <a:prstGeom prst="line">
            <a:avLst/>
          </a:prstGeom>
          <a:noFill/>
          <a:ln w="38100">
            <a:solidFill>
              <a:srgbClr val="58DBBC"/>
            </a:solidFill>
            <a:prstDash val="solid"/>
          </a:ln>
        </p:spPr>
      </p:sp>
      <p:sp>
        <p:nvSpPr>
          <p:cNvPr id="19" name="Shape 17"/>
          <p:cNvSpPr/>
          <p:nvPr/>
        </p:nvSpPr>
        <p:spPr>
          <a:xfrm>
            <a:off x="4526280" y="5212080"/>
            <a:ext cx="0" cy="0"/>
          </a:xfrm>
          <a:prstGeom prst="line">
            <a:avLst/>
          </a:prstGeom>
          <a:noFill/>
          <a:ln w="38100">
            <a:solidFill>
              <a:srgbClr val="58DBBC"/>
            </a:solidFill>
            <a:prstDash val="solid"/>
          </a:ln>
        </p:spPr>
      </p:sp>
      <p:sp>
        <p:nvSpPr>
          <p:cNvPr id="20" name="Shape 18"/>
          <p:cNvSpPr/>
          <p:nvPr/>
        </p:nvSpPr>
        <p:spPr>
          <a:xfrm flipV="1">
            <a:off x="4526280" y="4572000"/>
            <a:ext cx="914400" cy="640080"/>
          </a:xfrm>
          <a:prstGeom prst="line">
            <a:avLst/>
          </a:prstGeom>
          <a:noFill/>
          <a:ln w="38100">
            <a:solidFill>
              <a:srgbClr val="58DBBC"/>
            </a:solidFill>
            <a:prstDash val="solid"/>
          </a:ln>
        </p:spPr>
      </p:sp>
      <p:sp>
        <p:nvSpPr>
          <p:cNvPr id="21" name="Shape 19"/>
          <p:cNvSpPr/>
          <p:nvPr/>
        </p:nvSpPr>
        <p:spPr>
          <a:xfrm>
            <a:off x="5440680" y="4572000"/>
            <a:ext cx="0" cy="640080"/>
          </a:xfrm>
          <a:prstGeom prst="line">
            <a:avLst/>
          </a:prstGeom>
          <a:noFill/>
          <a:ln w="38100">
            <a:solidFill>
              <a:srgbClr val="58DBBC"/>
            </a:solidFill>
            <a:prstDash val="solid"/>
          </a:ln>
        </p:spPr>
      </p:sp>
      <p:sp>
        <p:nvSpPr>
          <p:cNvPr id="22" name="Shape 20"/>
          <p:cNvSpPr/>
          <p:nvPr/>
        </p:nvSpPr>
        <p:spPr>
          <a:xfrm>
            <a:off x="5440680" y="5212080"/>
            <a:ext cx="0" cy="0"/>
          </a:xfrm>
          <a:prstGeom prst="line">
            <a:avLst/>
          </a:prstGeom>
          <a:noFill/>
          <a:ln w="38100">
            <a:solidFill>
              <a:srgbClr val="58DBBC"/>
            </a:solidFill>
            <a:prstDash val="solid"/>
          </a:ln>
        </p:spPr>
      </p:sp>
      <p:sp>
        <p:nvSpPr>
          <p:cNvPr id="23" name="Shape 21"/>
          <p:cNvSpPr/>
          <p:nvPr/>
        </p:nvSpPr>
        <p:spPr>
          <a:xfrm flipV="1">
            <a:off x="5440680" y="4572000"/>
            <a:ext cx="914400" cy="640080"/>
          </a:xfrm>
          <a:prstGeom prst="line">
            <a:avLst/>
          </a:prstGeom>
          <a:noFill/>
          <a:ln w="38100">
            <a:solidFill>
              <a:srgbClr val="58DBBC"/>
            </a:solidFill>
            <a:prstDash val="solid"/>
          </a:ln>
        </p:spPr>
      </p:sp>
      <p:sp>
        <p:nvSpPr>
          <p:cNvPr id="24" name="Shape 22"/>
          <p:cNvSpPr/>
          <p:nvPr/>
        </p:nvSpPr>
        <p:spPr>
          <a:xfrm flipV="1">
            <a:off x="6583680" y="4572000"/>
            <a:ext cx="457200" cy="640080"/>
          </a:xfrm>
          <a:prstGeom prst="line">
            <a:avLst/>
          </a:prstGeom>
          <a:noFill/>
          <a:ln w="38100">
            <a:solidFill>
              <a:srgbClr val="58DBBC"/>
            </a:solidFill>
            <a:prstDash val="solid"/>
          </a:ln>
        </p:spPr>
      </p:sp>
      <p:sp>
        <p:nvSpPr>
          <p:cNvPr id="25" name="Shape 23"/>
          <p:cNvSpPr/>
          <p:nvPr/>
        </p:nvSpPr>
        <p:spPr>
          <a:xfrm>
            <a:off x="7040880" y="4572000"/>
            <a:ext cx="457200" cy="640080"/>
          </a:xfrm>
          <a:prstGeom prst="line">
            <a:avLst/>
          </a:prstGeom>
          <a:noFill/>
          <a:ln w="38100">
            <a:solidFill>
              <a:srgbClr val="58DBBC"/>
            </a:solidFill>
            <a:prstDash val="solid"/>
          </a:ln>
        </p:spPr>
      </p:sp>
      <p:sp>
        <p:nvSpPr>
          <p:cNvPr id="26" name="Shape 24"/>
          <p:cNvSpPr/>
          <p:nvPr/>
        </p:nvSpPr>
        <p:spPr>
          <a:xfrm>
            <a:off x="7498080" y="5212080"/>
            <a:ext cx="0" cy="0"/>
          </a:xfrm>
          <a:prstGeom prst="line">
            <a:avLst/>
          </a:prstGeom>
          <a:noFill/>
          <a:ln w="38100">
            <a:solidFill>
              <a:srgbClr val="58DBBC"/>
            </a:solidFill>
            <a:prstDash val="solid"/>
          </a:ln>
        </p:spPr>
      </p:sp>
      <p:sp>
        <p:nvSpPr>
          <p:cNvPr id="27" name="Shape 25"/>
          <p:cNvSpPr/>
          <p:nvPr/>
        </p:nvSpPr>
        <p:spPr>
          <a:xfrm flipV="1">
            <a:off x="7498080" y="4572000"/>
            <a:ext cx="457200" cy="640080"/>
          </a:xfrm>
          <a:prstGeom prst="line">
            <a:avLst/>
          </a:prstGeom>
          <a:noFill/>
          <a:ln w="38100">
            <a:solidFill>
              <a:srgbClr val="58DBBC"/>
            </a:solidFill>
            <a:prstDash val="solid"/>
          </a:ln>
        </p:spPr>
      </p:sp>
      <p:sp>
        <p:nvSpPr>
          <p:cNvPr id="28" name="Shape 26"/>
          <p:cNvSpPr/>
          <p:nvPr/>
        </p:nvSpPr>
        <p:spPr>
          <a:xfrm>
            <a:off x="7955280" y="4572000"/>
            <a:ext cx="457200" cy="640080"/>
          </a:xfrm>
          <a:prstGeom prst="line">
            <a:avLst/>
          </a:prstGeom>
          <a:noFill/>
          <a:ln w="38100">
            <a:solidFill>
              <a:srgbClr val="58DBBC"/>
            </a:solidFill>
            <a:prstDash val="solid"/>
          </a:ln>
        </p:spPr>
      </p:sp>
      <p:sp>
        <p:nvSpPr>
          <p:cNvPr id="29" name="Shape 27"/>
          <p:cNvSpPr/>
          <p:nvPr/>
        </p:nvSpPr>
        <p:spPr>
          <a:xfrm>
            <a:off x="8412480" y="5212080"/>
            <a:ext cx="0" cy="0"/>
          </a:xfrm>
          <a:prstGeom prst="line">
            <a:avLst/>
          </a:prstGeom>
          <a:noFill/>
          <a:ln w="38100">
            <a:solidFill>
              <a:srgbClr val="58DBBC"/>
            </a:solidFill>
            <a:prstDash val="solid"/>
          </a:ln>
        </p:spPr>
      </p:sp>
      <p:sp>
        <p:nvSpPr>
          <p:cNvPr id="30" name="Shape 28"/>
          <p:cNvSpPr/>
          <p:nvPr/>
        </p:nvSpPr>
        <p:spPr>
          <a:xfrm flipV="1">
            <a:off x="8412480" y="4572000"/>
            <a:ext cx="457200" cy="640080"/>
          </a:xfrm>
          <a:prstGeom prst="line">
            <a:avLst/>
          </a:prstGeom>
          <a:noFill/>
          <a:ln w="38100">
            <a:solidFill>
              <a:srgbClr val="58DBBC"/>
            </a:solidFill>
            <a:prstDash val="solid"/>
          </a:ln>
        </p:spPr>
      </p:sp>
      <p:sp>
        <p:nvSpPr>
          <p:cNvPr id="31" name="Shape 29"/>
          <p:cNvSpPr/>
          <p:nvPr/>
        </p:nvSpPr>
        <p:spPr>
          <a:xfrm>
            <a:off x="8869680" y="4572000"/>
            <a:ext cx="457200" cy="640080"/>
          </a:xfrm>
          <a:prstGeom prst="line">
            <a:avLst/>
          </a:prstGeom>
          <a:noFill/>
          <a:ln w="38100">
            <a:solidFill>
              <a:srgbClr val="58DBBC"/>
            </a:solidFill>
            <a:prstDash val="solid"/>
          </a:ln>
        </p:spPr>
      </p:sp>
      <p:sp>
        <p:nvSpPr>
          <p:cNvPr id="32" name="Shape 30"/>
          <p:cNvSpPr/>
          <p:nvPr/>
        </p:nvSpPr>
        <p:spPr>
          <a:xfrm>
            <a:off x="9555480" y="4700016"/>
            <a:ext cx="163830" cy="0"/>
          </a:xfrm>
          <a:prstGeom prst="line">
            <a:avLst/>
          </a:prstGeom>
          <a:noFill/>
          <a:ln w="38100">
            <a:solidFill>
              <a:srgbClr val="58DBBC"/>
            </a:solidFill>
            <a:prstDash val="solid"/>
          </a:ln>
        </p:spPr>
      </p:sp>
      <p:sp>
        <p:nvSpPr>
          <p:cNvPr id="33" name="Shape 31"/>
          <p:cNvSpPr/>
          <p:nvPr/>
        </p:nvSpPr>
        <p:spPr>
          <a:xfrm>
            <a:off x="9719310" y="4700016"/>
            <a:ext cx="0" cy="448056"/>
          </a:xfrm>
          <a:prstGeom prst="line">
            <a:avLst/>
          </a:prstGeom>
          <a:noFill/>
          <a:ln w="38100">
            <a:solidFill>
              <a:srgbClr val="58DBBC"/>
            </a:solidFill>
            <a:prstDash val="solid"/>
          </a:ln>
        </p:spPr>
      </p:sp>
      <p:sp>
        <p:nvSpPr>
          <p:cNvPr id="34" name="Shape 32"/>
          <p:cNvSpPr/>
          <p:nvPr/>
        </p:nvSpPr>
        <p:spPr>
          <a:xfrm>
            <a:off x="9719310" y="5148072"/>
            <a:ext cx="163830" cy="0"/>
          </a:xfrm>
          <a:prstGeom prst="line">
            <a:avLst/>
          </a:prstGeom>
          <a:noFill/>
          <a:ln w="38100">
            <a:solidFill>
              <a:srgbClr val="58DBBC"/>
            </a:solidFill>
            <a:prstDash val="solid"/>
          </a:ln>
        </p:spPr>
      </p:sp>
      <p:sp>
        <p:nvSpPr>
          <p:cNvPr id="35" name="Shape 33"/>
          <p:cNvSpPr/>
          <p:nvPr/>
        </p:nvSpPr>
        <p:spPr>
          <a:xfrm>
            <a:off x="9883140" y="4796028"/>
            <a:ext cx="0" cy="352044"/>
          </a:xfrm>
          <a:prstGeom prst="line">
            <a:avLst/>
          </a:prstGeom>
          <a:noFill/>
          <a:ln w="38100">
            <a:solidFill>
              <a:srgbClr val="58DBBC"/>
            </a:solidFill>
            <a:prstDash val="solid"/>
          </a:ln>
        </p:spPr>
      </p:sp>
      <p:sp>
        <p:nvSpPr>
          <p:cNvPr id="36" name="Shape 34"/>
          <p:cNvSpPr/>
          <p:nvPr/>
        </p:nvSpPr>
        <p:spPr>
          <a:xfrm>
            <a:off x="9883140" y="4796028"/>
            <a:ext cx="163830" cy="0"/>
          </a:xfrm>
          <a:prstGeom prst="line">
            <a:avLst/>
          </a:prstGeom>
          <a:noFill/>
          <a:ln w="38100">
            <a:solidFill>
              <a:srgbClr val="58DBBC"/>
            </a:solidFill>
            <a:prstDash val="solid"/>
          </a:ln>
        </p:spPr>
      </p:sp>
      <p:sp>
        <p:nvSpPr>
          <p:cNvPr id="37" name="Shape 35"/>
          <p:cNvSpPr/>
          <p:nvPr/>
        </p:nvSpPr>
        <p:spPr>
          <a:xfrm>
            <a:off x="10046970" y="4796028"/>
            <a:ext cx="0" cy="224028"/>
          </a:xfrm>
          <a:prstGeom prst="line">
            <a:avLst/>
          </a:prstGeom>
          <a:noFill/>
          <a:ln w="38100">
            <a:solidFill>
              <a:srgbClr val="58DBBC"/>
            </a:solidFill>
            <a:prstDash val="solid"/>
          </a:ln>
        </p:spPr>
      </p:sp>
      <p:sp>
        <p:nvSpPr>
          <p:cNvPr id="38" name="Shape 36"/>
          <p:cNvSpPr/>
          <p:nvPr/>
        </p:nvSpPr>
        <p:spPr>
          <a:xfrm>
            <a:off x="10046970" y="5020056"/>
            <a:ext cx="163830" cy="0"/>
          </a:xfrm>
          <a:prstGeom prst="line">
            <a:avLst/>
          </a:prstGeom>
          <a:noFill/>
          <a:ln w="38100">
            <a:solidFill>
              <a:srgbClr val="58DBBC"/>
            </a:solidFill>
            <a:prstDash val="solid"/>
          </a:ln>
        </p:spPr>
      </p:sp>
      <p:sp>
        <p:nvSpPr>
          <p:cNvPr id="39" name="Shape 37"/>
          <p:cNvSpPr/>
          <p:nvPr/>
        </p:nvSpPr>
        <p:spPr>
          <a:xfrm>
            <a:off x="10210800" y="4604004"/>
            <a:ext cx="0" cy="416052"/>
          </a:xfrm>
          <a:prstGeom prst="line">
            <a:avLst/>
          </a:prstGeom>
          <a:noFill/>
          <a:ln w="38100">
            <a:solidFill>
              <a:srgbClr val="58DBBC"/>
            </a:solidFill>
            <a:prstDash val="solid"/>
          </a:ln>
        </p:spPr>
      </p:sp>
      <p:sp>
        <p:nvSpPr>
          <p:cNvPr id="40" name="Shape 38"/>
          <p:cNvSpPr/>
          <p:nvPr/>
        </p:nvSpPr>
        <p:spPr>
          <a:xfrm>
            <a:off x="10210800" y="4604004"/>
            <a:ext cx="163830" cy="0"/>
          </a:xfrm>
          <a:prstGeom prst="line">
            <a:avLst/>
          </a:prstGeom>
          <a:noFill/>
          <a:ln w="38100">
            <a:solidFill>
              <a:srgbClr val="58DBBC"/>
            </a:solidFill>
            <a:prstDash val="solid"/>
          </a:ln>
        </p:spPr>
      </p:sp>
      <p:sp>
        <p:nvSpPr>
          <p:cNvPr id="41" name="Shape 39"/>
          <p:cNvSpPr/>
          <p:nvPr/>
        </p:nvSpPr>
        <p:spPr>
          <a:xfrm>
            <a:off x="10374630" y="4604004"/>
            <a:ext cx="0" cy="320040"/>
          </a:xfrm>
          <a:prstGeom prst="line">
            <a:avLst/>
          </a:prstGeom>
          <a:noFill/>
          <a:ln w="38100">
            <a:solidFill>
              <a:srgbClr val="58DBBC"/>
            </a:solidFill>
            <a:prstDash val="solid"/>
          </a:ln>
        </p:spPr>
      </p:sp>
      <p:sp>
        <p:nvSpPr>
          <p:cNvPr id="42" name="Shape 40"/>
          <p:cNvSpPr/>
          <p:nvPr/>
        </p:nvSpPr>
        <p:spPr>
          <a:xfrm>
            <a:off x="10374630" y="4924044"/>
            <a:ext cx="163830" cy="0"/>
          </a:xfrm>
          <a:prstGeom prst="line">
            <a:avLst/>
          </a:prstGeom>
          <a:noFill/>
          <a:ln w="38100">
            <a:solidFill>
              <a:srgbClr val="58DBBC"/>
            </a:solidFill>
            <a:prstDash val="solid"/>
          </a:ln>
        </p:spPr>
      </p:sp>
      <p:sp>
        <p:nvSpPr>
          <p:cNvPr id="43" name="Shape 41"/>
          <p:cNvSpPr/>
          <p:nvPr/>
        </p:nvSpPr>
        <p:spPr>
          <a:xfrm>
            <a:off x="10538460" y="4924044"/>
            <a:ext cx="0" cy="256032"/>
          </a:xfrm>
          <a:prstGeom prst="line">
            <a:avLst/>
          </a:prstGeom>
          <a:noFill/>
          <a:ln w="38100">
            <a:solidFill>
              <a:srgbClr val="58DBBC"/>
            </a:solidFill>
            <a:prstDash val="solid"/>
          </a:ln>
        </p:spPr>
      </p:sp>
      <p:sp>
        <p:nvSpPr>
          <p:cNvPr id="44" name="Shape 42"/>
          <p:cNvSpPr/>
          <p:nvPr/>
        </p:nvSpPr>
        <p:spPr>
          <a:xfrm>
            <a:off x="10538460" y="5180076"/>
            <a:ext cx="163830" cy="0"/>
          </a:xfrm>
          <a:prstGeom prst="line">
            <a:avLst/>
          </a:prstGeom>
          <a:noFill/>
          <a:ln w="38100">
            <a:solidFill>
              <a:srgbClr val="58DBBC"/>
            </a:solidFill>
            <a:prstDash val="solid"/>
          </a:ln>
        </p:spPr>
      </p:sp>
      <p:sp>
        <p:nvSpPr>
          <p:cNvPr id="45" name="Shape 43"/>
          <p:cNvSpPr/>
          <p:nvPr/>
        </p:nvSpPr>
        <p:spPr>
          <a:xfrm>
            <a:off x="10702290" y="4668012"/>
            <a:ext cx="0" cy="512064"/>
          </a:xfrm>
          <a:prstGeom prst="line">
            <a:avLst/>
          </a:prstGeom>
          <a:noFill/>
          <a:ln w="38100">
            <a:solidFill>
              <a:srgbClr val="58DBBC"/>
            </a:solidFill>
            <a:prstDash val="solid"/>
          </a:ln>
        </p:spPr>
      </p:sp>
      <p:sp>
        <p:nvSpPr>
          <p:cNvPr id="46" name="Shape 44"/>
          <p:cNvSpPr/>
          <p:nvPr/>
        </p:nvSpPr>
        <p:spPr>
          <a:xfrm>
            <a:off x="10702290" y="4668012"/>
            <a:ext cx="163830" cy="0"/>
          </a:xfrm>
          <a:prstGeom prst="line">
            <a:avLst/>
          </a:prstGeom>
          <a:noFill/>
          <a:ln w="38100">
            <a:solidFill>
              <a:srgbClr val="58DBBC"/>
            </a:solidFill>
            <a:prstDash val="solid"/>
          </a:ln>
        </p:spPr>
      </p:sp>
      <p:sp>
        <p:nvSpPr>
          <p:cNvPr id="47" name="Shape 45"/>
          <p:cNvSpPr/>
          <p:nvPr/>
        </p:nvSpPr>
        <p:spPr>
          <a:xfrm>
            <a:off x="10866120" y="4668012"/>
            <a:ext cx="0" cy="288036"/>
          </a:xfrm>
          <a:prstGeom prst="line">
            <a:avLst/>
          </a:prstGeom>
          <a:noFill/>
          <a:ln w="38100">
            <a:solidFill>
              <a:srgbClr val="58DBBC"/>
            </a:solidFill>
            <a:prstDash val="solid"/>
          </a:ln>
        </p:spPr>
      </p:sp>
      <p:sp>
        <p:nvSpPr>
          <p:cNvPr id="48" name="Shape 46"/>
          <p:cNvSpPr/>
          <p:nvPr/>
        </p:nvSpPr>
        <p:spPr>
          <a:xfrm>
            <a:off x="10866120" y="4956048"/>
            <a:ext cx="163830" cy="0"/>
          </a:xfrm>
          <a:prstGeom prst="line">
            <a:avLst/>
          </a:prstGeom>
          <a:noFill/>
          <a:ln w="38100">
            <a:solidFill>
              <a:srgbClr val="58DBBC"/>
            </a:solidFill>
            <a:prstDash val="solid"/>
          </a:ln>
        </p:spPr>
      </p:sp>
      <p:sp>
        <p:nvSpPr>
          <p:cNvPr id="49" name="Shape 47"/>
          <p:cNvSpPr/>
          <p:nvPr/>
        </p:nvSpPr>
        <p:spPr>
          <a:xfrm>
            <a:off x="11029950" y="4764024"/>
            <a:ext cx="0" cy="192024"/>
          </a:xfrm>
          <a:prstGeom prst="line">
            <a:avLst/>
          </a:prstGeom>
          <a:noFill/>
          <a:ln w="38100">
            <a:solidFill>
              <a:srgbClr val="58DBBC"/>
            </a:solidFill>
            <a:prstDash val="solid"/>
          </a:ln>
        </p:spPr>
      </p:sp>
      <p:sp>
        <p:nvSpPr>
          <p:cNvPr id="50" name="Shape 48"/>
          <p:cNvSpPr/>
          <p:nvPr/>
        </p:nvSpPr>
        <p:spPr>
          <a:xfrm>
            <a:off x="11029950" y="4764024"/>
            <a:ext cx="163830" cy="0"/>
          </a:xfrm>
          <a:prstGeom prst="line">
            <a:avLst/>
          </a:prstGeom>
          <a:noFill/>
          <a:ln w="38100">
            <a:solidFill>
              <a:srgbClr val="58DBBC"/>
            </a:solidFill>
            <a:prstDash val="solid"/>
          </a:ln>
        </p:spPr>
      </p:sp>
      <p:sp>
        <p:nvSpPr>
          <p:cNvPr id="51" name="Shape 49"/>
          <p:cNvSpPr/>
          <p:nvPr/>
        </p:nvSpPr>
        <p:spPr>
          <a:xfrm>
            <a:off x="11193780" y="4764024"/>
            <a:ext cx="0" cy="320040"/>
          </a:xfrm>
          <a:prstGeom prst="line">
            <a:avLst/>
          </a:prstGeom>
          <a:noFill/>
          <a:ln w="38100">
            <a:solidFill>
              <a:srgbClr val="58DBBC"/>
            </a:solidFill>
            <a:prstDash val="solid"/>
          </a:ln>
        </p:spPr>
      </p:sp>
      <p:sp>
        <p:nvSpPr>
          <p:cNvPr id="52" name="Shape 50"/>
          <p:cNvSpPr/>
          <p:nvPr/>
        </p:nvSpPr>
        <p:spPr>
          <a:xfrm>
            <a:off x="11193780" y="5084064"/>
            <a:ext cx="163830" cy="0"/>
          </a:xfrm>
          <a:prstGeom prst="line">
            <a:avLst/>
          </a:prstGeom>
          <a:noFill/>
          <a:ln w="38100">
            <a:solidFill>
              <a:srgbClr val="58DBBC"/>
            </a:solidFill>
            <a:prstDash val="solid"/>
          </a:ln>
        </p:spPr>
      </p:sp>
      <p:sp>
        <p:nvSpPr>
          <p:cNvPr id="53" name="Shape 51"/>
          <p:cNvSpPr/>
          <p:nvPr/>
        </p:nvSpPr>
        <p:spPr>
          <a:xfrm>
            <a:off x="11357610" y="4860036"/>
            <a:ext cx="0" cy="224028"/>
          </a:xfrm>
          <a:prstGeom prst="line">
            <a:avLst/>
          </a:prstGeom>
          <a:noFill/>
          <a:ln w="38100">
            <a:solidFill>
              <a:srgbClr val="58DBBC"/>
            </a:solidFill>
            <a:prstDash val="solid"/>
          </a:ln>
        </p:spPr>
      </p:sp>
      <p:sp>
        <p:nvSpPr>
          <p:cNvPr id="54" name="Shape 52"/>
          <p:cNvSpPr/>
          <p:nvPr/>
        </p:nvSpPr>
        <p:spPr>
          <a:xfrm>
            <a:off x="11357610" y="4860036"/>
            <a:ext cx="163830" cy="0"/>
          </a:xfrm>
          <a:prstGeom prst="line">
            <a:avLst/>
          </a:prstGeom>
          <a:noFill/>
          <a:ln w="38100">
            <a:solidFill>
              <a:srgbClr val="58DBBC"/>
            </a:solidFill>
            <a:prstDash val="solid"/>
          </a:ln>
        </p:spPr>
      </p:sp>
      <p:sp>
        <p:nvSpPr>
          <p:cNvPr id="55" name="Text 53"/>
          <p:cNvSpPr txBox="1"/>
          <p:nvPr/>
        </p:nvSpPr>
        <p:spPr>
          <a:xfrm>
            <a:off x="640080" y="5623560"/>
            <a:ext cx="10881360" cy="320040"/>
          </a:xfrm>
          <a:prstGeom prst="rect">
            <a:avLst/>
          </a:prstGeom>
          <a:noFill/>
          <a:ln/>
        </p:spPr>
        <p:txBody>
          <a:bodyPr wrap="square" lIns="0" tIns="0" rIns="0" bIns="0" rtlCol="0" anchor="t"/>
          <a:lstStyle/>
          <a:p>
            <a:pPr indent="0" marL="0">
              <a:buNone/>
            </a:pPr>
            <a:r>
              <a:rPr lang="en-US" sz="1400" dirty="0">
                <a:solidFill>
                  <a:schemeClr val="bg1"/>
                </a:solidFill>
              </a:rPr>
              <a:t>Allein Edward Miranda · Jan Emil Stenland · Jose Gian M. Tubera · Ray A. Nicolas</a:t>
            </a:r>
            <a:endParaRPr lang="en-US" sz="1400" dirty="0"/>
          </a:p>
        </p:txBody>
      </p:sp>
      <p:sp>
        <p:nvSpPr>
          <p:cNvPr id="56" name="Text 54"/>
          <p:cNvSpPr txBox="1"/>
          <p:nvPr/>
        </p:nvSpPr>
        <p:spPr>
          <a:xfrm>
            <a:off x="640080" y="5989320"/>
            <a:ext cx="10881360" cy="320040"/>
          </a:xfrm>
          <a:prstGeom prst="rect">
            <a:avLst/>
          </a:prstGeom>
          <a:noFill/>
          <a:ln/>
        </p:spPr>
        <p:txBody>
          <a:bodyPr wrap="square" lIns="0" tIns="0" rIns="0" bIns="0" rtlCol="0" anchor="t"/>
          <a:lstStyle/>
          <a:p>
            <a:pPr indent="0" marL="0">
              <a:buNone/>
            </a:pPr>
            <a:r>
              <a:rPr lang="en-US" sz="1200" dirty="0">
                <a:solidFill>
                  <a:schemeClr val="accent5"/>
                </a:solidFill>
              </a:rPr>
              <a:t>CA010 Computer Architecture and Organization · College of Computer Studies, Angeles University Foundation</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68680"/>
          </a:xfrm>
          <a:prstGeom prst="rect">
            <a:avLst/>
          </a:prstGeom>
          <a:noFill/>
          <a:ln/>
        </p:spPr>
        <p:txBody>
          <a:bodyPr wrap="square" lIns="0" tIns="0" rIns="0" bIns="0" rtlCol="0" anchor="ctr"/>
          <a:lstStyle/>
          <a:p>
            <a:pPr algn="l" indent="0" marL="0">
              <a:buNone/>
            </a:pPr>
            <a:r>
              <a:rPr lang="en-US" sz="2800" b="1" dirty="0">
                <a:solidFill>
                  <a:schemeClr val="tx1"/>
                </a:solidFill>
              </a:rPr>
              <a:t>Pick a preset or move a slider; Assembly builds the sound</a:t>
            </a:r>
            <a:endParaRPr lang="en-US" sz="2800" dirty="0"/>
          </a:p>
        </p:txBody>
      </p:sp>
      <p:sp>
        <p:nvSpPr>
          <p:cNvPr id="4" name="Text 1"/>
          <p:cNvSpPr txBox="1"/>
          <p:nvPr/>
        </p:nvSpPr>
        <p:spPr>
          <a:xfrm>
            <a:off x="548640" y="1463040"/>
            <a:ext cx="5486400" cy="365760"/>
          </a:xfrm>
          <a:prstGeom prst="rect">
            <a:avLst/>
          </a:prstGeom>
          <a:noFill/>
          <a:ln/>
        </p:spPr>
        <p:txBody>
          <a:bodyPr wrap="square" lIns="0" tIns="0" rIns="0" bIns="0" rtlCol="0" anchor="t"/>
          <a:lstStyle/>
          <a:p>
            <a:pPr indent="0" marL="0">
              <a:buNone/>
            </a:pPr>
            <a:r>
              <a:rPr lang="en-US" sz="1800" b="1" dirty="0">
                <a:solidFill>
                  <a:schemeClr val="accent1"/>
                </a:solidFill>
              </a:rPr>
              <a:t>Presets</a:t>
            </a:r>
            <a:endParaRPr lang="en-US" sz="1800" dirty="0"/>
          </a:p>
        </p:txBody>
      </p:sp>
      <p:sp>
        <p:nvSpPr>
          <p:cNvPr id="5" name="Shape 2"/>
          <p:cNvSpPr/>
          <p:nvPr/>
        </p:nvSpPr>
        <p:spPr>
          <a:xfrm>
            <a:off x="548640" y="1920240"/>
            <a:ext cx="1325880" cy="502920"/>
          </a:xfrm>
          <a:prstGeom prst="roundRect">
            <a:avLst>
              <a:gd name="adj" fmla="val 49091"/>
            </a:avLst>
          </a:prstGeom>
          <a:solidFill>
            <a:schemeClr val="tx1"/>
          </a:solidFill>
          <a:ln/>
        </p:spPr>
      </p:sp>
      <p:sp>
        <p:nvSpPr>
          <p:cNvPr id="6" name="Text 3"/>
          <p:cNvSpPr txBox="1"/>
          <p:nvPr/>
        </p:nvSpPr>
        <p:spPr>
          <a:xfrm>
            <a:off x="548640" y="1920240"/>
            <a:ext cx="1325880" cy="502920"/>
          </a:xfrm>
          <a:prstGeom prst="rect">
            <a:avLst/>
          </a:prstGeom>
          <a:noFill/>
          <a:ln/>
        </p:spPr>
        <p:txBody>
          <a:bodyPr wrap="square" lIns="0" tIns="0" rIns="0" bIns="0" rtlCol="0" anchor="ctr"/>
          <a:lstStyle/>
          <a:p>
            <a:pPr algn="ctr" indent="0" marL="0">
              <a:buNone/>
            </a:pPr>
            <a:r>
              <a:rPr lang="en-US" sz="1400" b="1" dirty="0">
                <a:solidFill>
                  <a:schemeClr val="accent2"/>
                </a:solidFill>
              </a:rPr>
              <a:t>Coin</a:t>
            </a:r>
            <a:endParaRPr lang="en-US" sz="1400" dirty="0"/>
          </a:p>
        </p:txBody>
      </p:sp>
      <p:sp>
        <p:nvSpPr>
          <p:cNvPr id="7" name="Shape 4"/>
          <p:cNvSpPr/>
          <p:nvPr/>
        </p:nvSpPr>
        <p:spPr>
          <a:xfrm>
            <a:off x="2011680" y="1920240"/>
            <a:ext cx="1325880" cy="502920"/>
          </a:xfrm>
          <a:prstGeom prst="roundRect">
            <a:avLst>
              <a:gd name="adj" fmla="val 49091"/>
            </a:avLst>
          </a:prstGeom>
          <a:solidFill>
            <a:schemeClr val="tx1"/>
          </a:solidFill>
          <a:ln/>
        </p:spPr>
      </p:sp>
      <p:sp>
        <p:nvSpPr>
          <p:cNvPr id="8" name="Text 5"/>
          <p:cNvSpPr txBox="1"/>
          <p:nvPr/>
        </p:nvSpPr>
        <p:spPr>
          <a:xfrm>
            <a:off x="2011680" y="1920240"/>
            <a:ext cx="1325880" cy="502920"/>
          </a:xfrm>
          <a:prstGeom prst="rect">
            <a:avLst/>
          </a:prstGeom>
          <a:noFill/>
          <a:ln/>
        </p:spPr>
        <p:txBody>
          <a:bodyPr wrap="square" lIns="0" tIns="0" rIns="0" bIns="0" rtlCol="0" anchor="ctr"/>
          <a:lstStyle/>
          <a:p>
            <a:pPr algn="ctr" indent="0" marL="0">
              <a:buNone/>
            </a:pPr>
            <a:r>
              <a:rPr lang="en-US" sz="1400" b="1" dirty="0">
                <a:solidFill>
                  <a:schemeClr val="accent2"/>
                </a:solidFill>
              </a:rPr>
              <a:t>Laser</a:t>
            </a:r>
            <a:endParaRPr lang="en-US" sz="1400" dirty="0"/>
          </a:p>
        </p:txBody>
      </p:sp>
      <p:sp>
        <p:nvSpPr>
          <p:cNvPr id="9" name="Shape 6"/>
          <p:cNvSpPr/>
          <p:nvPr/>
        </p:nvSpPr>
        <p:spPr>
          <a:xfrm>
            <a:off x="3474720" y="1920240"/>
            <a:ext cx="1325880" cy="502920"/>
          </a:xfrm>
          <a:prstGeom prst="roundRect">
            <a:avLst>
              <a:gd name="adj" fmla="val 49091"/>
            </a:avLst>
          </a:prstGeom>
          <a:solidFill>
            <a:schemeClr val="tx1"/>
          </a:solidFill>
          <a:ln/>
        </p:spPr>
      </p:sp>
      <p:sp>
        <p:nvSpPr>
          <p:cNvPr id="10" name="Text 7"/>
          <p:cNvSpPr txBox="1"/>
          <p:nvPr/>
        </p:nvSpPr>
        <p:spPr>
          <a:xfrm>
            <a:off x="3474720" y="1920240"/>
            <a:ext cx="1325880" cy="502920"/>
          </a:xfrm>
          <a:prstGeom prst="rect">
            <a:avLst/>
          </a:prstGeom>
          <a:noFill/>
          <a:ln/>
        </p:spPr>
        <p:txBody>
          <a:bodyPr wrap="square" lIns="0" tIns="0" rIns="0" bIns="0" rtlCol="0" anchor="ctr"/>
          <a:lstStyle/>
          <a:p>
            <a:pPr algn="ctr" indent="0" marL="0">
              <a:buNone/>
            </a:pPr>
            <a:r>
              <a:rPr lang="en-US" sz="1400" b="1" dirty="0">
                <a:solidFill>
                  <a:schemeClr val="accent2"/>
                </a:solidFill>
              </a:rPr>
              <a:t>Explosion</a:t>
            </a:r>
            <a:endParaRPr lang="en-US" sz="1400" dirty="0"/>
          </a:p>
        </p:txBody>
      </p:sp>
      <p:sp>
        <p:nvSpPr>
          <p:cNvPr id="11" name="Shape 8"/>
          <p:cNvSpPr/>
          <p:nvPr/>
        </p:nvSpPr>
        <p:spPr>
          <a:xfrm>
            <a:off x="4937760" y="1920240"/>
            <a:ext cx="1325880" cy="502920"/>
          </a:xfrm>
          <a:prstGeom prst="roundRect">
            <a:avLst>
              <a:gd name="adj" fmla="val 49091"/>
            </a:avLst>
          </a:prstGeom>
          <a:solidFill>
            <a:schemeClr val="tx1"/>
          </a:solidFill>
          <a:ln/>
        </p:spPr>
      </p:sp>
      <p:sp>
        <p:nvSpPr>
          <p:cNvPr id="12" name="Text 9"/>
          <p:cNvSpPr txBox="1"/>
          <p:nvPr/>
        </p:nvSpPr>
        <p:spPr>
          <a:xfrm>
            <a:off x="4937760" y="1920240"/>
            <a:ext cx="1325880" cy="502920"/>
          </a:xfrm>
          <a:prstGeom prst="rect">
            <a:avLst/>
          </a:prstGeom>
          <a:noFill/>
          <a:ln/>
        </p:spPr>
        <p:txBody>
          <a:bodyPr wrap="square" lIns="0" tIns="0" rIns="0" bIns="0" rtlCol="0" anchor="ctr"/>
          <a:lstStyle/>
          <a:p>
            <a:pPr algn="ctr" indent="0" marL="0">
              <a:buNone/>
            </a:pPr>
            <a:r>
              <a:rPr lang="en-US" sz="1400" b="1" dirty="0">
                <a:solidFill>
                  <a:schemeClr val="accent2"/>
                </a:solidFill>
              </a:rPr>
              <a:t>Jump</a:t>
            </a:r>
            <a:endParaRPr lang="en-US" sz="1400" dirty="0"/>
          </a:p>
        </p:txBody>
      </p:sp>
      <p:sp>
        <p:nvSpPr>
          <p:cNvPr id="13" name="Shape 10"/>
          <p:cNvSpPr/>
          <p:nvPr/>
        </p:nvSpPr>
        <p:spPr>
          <a:xfrm>
            <a:off x="548640" y="2606040"/>
            <a:ext cx="1325880" cy="502920"/>
          </a:xfrm>
          <a:prstGeom prst="roundRect">
            <a:avLst>
              <a:gd name="adj" fmla="val 49091"/>
            </a:avLst>
          </a:prstGeom>
          <a:solidFill>
            <a:schemeClr val="tx1"/>
          </a:solidFill>
          <a:ln/>
        </p:spPr>
      </p:sp>
      <p:sp>
        <p:nvSpPr>
          <p:cNvPr id="14" name="Text 11"/>
          <p:cNvSpPr txBox="1"/>
          <p:nvPr/>
        </p:nvSpPr>
        <p:spPr>
          <a:xfrm>
            <a:off x="548640" y="2606040"/>
            <a:ext cx="1325880" cy="502920"/>
          </a:xfrm>
          <a:prstGeom prst="rect">
            <a:avLst/>
          </a:prstGeom>
          <a:noFill/>
          <a:ln/>
        </p:spPr>
        <p:txBody>
          <a:bodyPr wrap="square" lIns="0" tIns="0" rIns="0" bIns="0" rtlCol="0" anchor="ctr"/>
          <a:lstStyle/>
          <a:p>
            <a:pPr algn="ctr" indent="0" marL="0">
              <a:buNone/>
            </a:pPr>
            <a:r>
              <a:rPr lang="en-US" sz="1400" b="1" dirty="0">
                <a:solidFill>
                  <a:schemeClr val="accent2"/>
                </a:solidFill>
              </a:rPr>
              <a:t>Hit</a:t>
            </a:r>
            <a:endParaRPr lang="en-US" sz="1400" dirty="0"/>
          </a:p>
        </p:txBody>
      </p:sp>
      <p:sp>
        <p:nvSpPr>
          <p:cNvPr id="15" name="Shape 12"/>
          <p:cNvSpPr/>
          <p:nvPr/>
        </p:nvSpPr>
        <p:spPr>
          <a:xfrm>
            <a:off x="2011680" y="2606040"/>
            <a:ext cx="1325880" cy="502920"/>
          </a:xfrm>
          <a:prstGeom prst="roundRect">
            <a:avLst>
              <a:gd name="adj" fmla="val 49091"/>
            </a:avLst>
          </a:prstGeom>
          <a:solidFill>
            <a:schemeClr val="tx1"/>
          </a:solidFill>
          <a:ln/>
        </p:spPr>
      </p:sp>
      <p:sp>
        <p:nvSpPr>
          <p:cNvPr id="16" name="Text 13"/>
          <p:cNvSpPr txBox="1"/>
          <p:nvPr/>
        </p:nvSpPr>
        <p:spPr>
          <a:xfrm>
            <a:off x="2011680" y="2606040"/>
            <a:ext cx="1325880" cy="502920"/>
          </a:xfrm>
          <a:prstGeom prst="rect">
            <a:avLst/>
          </a:prstGeom>
          <a:noFill/>
          <a:ln/>
        </p:spPr>
        <p:txBody>
          <a:bodyPr wrap="square" lIns="0" tIns="0" rIns="0" bIns="0" rtlCol="0" anchor="ctr"/>
          <a:lstStyle/>
          <a:p>
            <a:pPr algn="ctr" indent="0" marL="0">
              <a:buNone/>
            </a:pPr>
            <a:r>
              <a:rPr lang="en-US" sz="1400" b="1" dirty="0">
                <a:solidFill>
                  <a:schemeClr val="accent2"/>
                </a:solidFill>
              </a:rPr>
              <a:t>Power-Up</a:t>
            </a:r>
            <a:endParaRPr lang="en-US" sz="1400" dirty="0"/>
          </a:p>
        </p:txBody>
      </p:sp>
      <p:sp>
        <p:nvSpPr>
          <p:cNvPr id="17" name="Shape 14"/>
          <p:cNvSpPr/>
          <p:nvPr/>
        </p:nvSpPr>
        <p:spPr>
          <a:xfrm>
            <a:off x="3474720" y="2606040"/>
            <a:ext cx="1325880" cy="502920"/>
          </a:xfrm>
          <a:prstGeom prst="roundRect">
            <a:avLst>
              <a:gd name="adj" fmla="val 49091"/>
            </a:avLst>
          </a:prstGeom>
          <a:solidFill>
            <a:schemeClr val="tx1"/>
          </a:solidFill>
          <a:ln/>
        </p:spPr>
      </p:sp>
      <p:sp>
        <p:nvSpPr>
          <p:cNvPr id="18" name="Text 15"/>
          <p:cNvSpPr txBox="1"/>
          <p:nvPr/>
        </p:nvSpPr>
        <p:spPr>
          <a:xfrm>
            <a:off x="3474720" y="2606040"/>
            <a:ext cx="1325880" cy="502920"/>
          </a:xfrm>
          <a:prstGeom prst="rect">
            <a:avLst/>
          </a:prstGeom>
          <a:noFill/>
          <a:ln/>
        </p:spPr>
        <p:txBody>
          <a:bodyPr wrap="square" lIns="0" tIns="0" rIns="0" bIns="0" rtlCol="0" anchor="ctr"/>
          <a:lstStyle/>
          <a:p>
            <a:pPr algn="ctr" indent="0" marL="0">
              <a:buNone/>
            </a:pPr>
            <a:r>
              <a:rPr lang="en-US" sz="1400" b="1" dirty="0">
                <a:solidFill>
                  <a:schemeClr val="accent2"/>
                </a:solidFill>
              </a:rPr>
              <a:t>Blip</a:t>
            </a:r>
            <a:endParaRPr lang="en-US" sz="1400" dirty="0"/>
          </a:p>
        </p:txBody>
      </p:sp>
      <p:sp>
        <p:nvSpPr>
          <p:cNvPr id="19" name="Shape 16"/>
          <p:cNvSpPr/>
          <p:nvPr/>
        </p:nvSpPr>
        <p:spPr>
          <a:xfrm>
            <a:off x="4937760" y="2606040"/>
            <a:ext cx="1325880" cy="502920"/>
          </a:xfrm>
          <a:prstGeom prst="roundRect">
            <a:avLst>
              <a:gd name="adj" fmla="val 49091"/>
            </a:avLst>
          </a:prstGeom>
          <a:solidFill>
            <a:schemeClr val="accent3"/>
          </a:solidFill>
          <a:ln/>
        </p:spPr>
      </p:sp>
      <p:sp>
        <p:nvSpPr>
          <p:cNvPr id="20" name="Text 17"/>
          <p:cNvSpPr txBox="1"/>
          <p:nvPr/>
        </p:nvSpPr>
        <p:spPr>
          <a:xfrm>
            <a:off x="4937760" y="2606040"/>
            <a:ext cx="1325880" cy="502920"/>
          </a:xfrm>
          <a:prstGeom prst="rect">
            <a:avLst/>
          </a:prstGeom>
          <a:noFill/>
          <a:ln/>
        </p:spPr>
        <p:txBody>
          <a:bodyPr wrap="square" lIns="0" tIns="0" rIns="0" bIns="0" rtlCol="0" anchor="ctr"/>
          <a:lstStyle/>
          <a:p>
            <a:pPr algn="ctr" indent="0" marL="0">
              <a:buNone/>
            </a:pPr>
            <a:r>
              <a:rPr lang="en-US" sz="1400" b="1" dirty="0">
                <a:solidFill>
                  <a:schemeClr val="tx1"/>
                </a:solidFill>
              </a:rPr>
              <a:t>Randomize</a:t>
            </a:r>
            <a:endParaRPr lang="en-US" sz="1400" dirty="0"/>
          </a:p>
        </p:txBody>
      </p:sp>
      <p:sp>
        <p:nvSpPr>
          <p:cNvPr id="21" name="Text 18"/>
          <p:cNvSpPr txBox="1"/>
          <p:nvPr/>
        </p:nvSpPr>
        <p:spPr>
          <a:xfrm>
            <a:off x="548640" y="3429000"/>
            <a:ext cx="5486400" cy="365760"/>
          </a:xfrm>
          <a:prstGeom prst="rect">
            <a:avLst/>
          </a:prstGeom>
          <a:noFill/>
          <a:ln/>
        </p:spPr>
        <p:txBody>
          <a:bodyPr wrap="square" lIns="0" tIns="0" rIns="0" bIns="0" rtlCol="0" anchor="t"/>
          <a:lstStyle/>
          <a:p>
            <a:pPr indent="0" marL="0">
              <a:buNone/>
            </a:pPr>
            <a:r>
              <a:rPr lang="en-US" sz="1800" b="1" dirty="0">
                <a:solidFill>
                  <a:schemeClr val="accent1"/>
                </a:solidFill>
              </a:rPr>
              <a:t>Controls</a:t>
            </a:r>
            <a:endParaRPr lang="en-US" sz="1800" dirty="0"/>
          </a:p>
        </p:txBody>
      </p:sp>
      <p:sp>
        <p:nvSpPr>
          <p:cNvPr id="22" name="Text 19"/>
          <p:cNvSpPr txBox="1"/>
          <p:nvPr/>
        </p:nvSpPr>
        <p:spPr>
          <a:xfrm>
            <a:off x="548640" y="3840480"/>
            <a:ext cx="5669280" cy="2011680"/>
          </a:xfrm>
          <a:prstGeom prst="rect">
            <a:avLst/>
          </a:prstGeom>
          <a:noFill/>
          <a:ln/>
        </p:spPr>
        <p:txBody>
          <a:bodyPr wrap="square" lIns="0" tIns="0" rIns="0" bIns="0" rtlCol="0" anchor="t"/>
          <a:lstStyle/>
          <a:p>
            <a:pPr marL="342900" indent="-342900">
              <a:spcAft>
                <a:spcPts val="600"/>
              </a:spcAft>
              <a:buSzPct val="100000"/>
              <a:buChar char="•"/>
            </a:pPr>
            <a:r>
              <a:rPr lang="en-US" sz="1600" dirty="0">
                <a:solidFill>
                  <a:schemeClr val="tx1"/>
                </a:solidFill>
              </a:rPr>
              <a:t>Waveform: square, sawtooth, triangle, noise</a:t>
            </a:r>
            <a:endParaRPr lang="en-US" sz="1600" dirty="0"/>
          </a:p>
          <a:p>
            <a:pPr marL="342900" indent="-342900">
              <a:spcAft>
                <a:spcPts val="600"/>
              </a:spcAft>
              <a:buSzPct val="100000"/>
              <a:buChar char="•"/>
            </a:pPr>
            <a:r>
              <a:rPr lang="en-US" sz="1600" dirty="0">
                <a:solidFill>
                  <a:schemeClr val="tx1"/>
                </a:solidFill>
              </a:rPr>
              <a:t>Pitch: start, slide (octaves/s), minimum, vibrato</a:t>
            </a:r>
            <a:endParaRPr lang="en-US" sz="1600" dirty="0"/>
          </a:p>
          <a:p>
            <a:pPr marL="342900" indent="-342900">
              <a:spcAft>
                <a:spcPts val="600"/>
              </a:spcAft>
              <a:buSzPct val="100000"/>
              <a:buChar char="•"/>
            </a:pPr>
            <a:r>
              <a:rPr lang="en-US" sz="1600" dirty="0">
                <a:solidFill>
                  <a:schemeClr val="tx1"/>
                </a:solidFill>
              </a:rPr>
              <a:t>Envelope: attack, sustain, decay, volume</a:t>
            </a:r>
            <a:endParaRPr lang="en-US" sz="1600" dirty="0"/>
          </a:p>
          <a:p>
            <a:pPr marL="342900" indent="-342900">
              <a:spcAft>
                <a:spcPts val="600"/>
              </a:spcAft>
              <a:buSzPct val="100000"/>
              <a:buChar char="•"/>
            </a:pPr>
            <a:r>
              <a:rPr lang="en-US" sz="1600" dirty="0">
                <a:solidFill>
                  <a:schemeClr val="tx1"/>
                </a:solidFill>
              </a:rPr>
              <a:t>Noise seed: same seed gives the identical sound</a:t>
            </a:r>
            <a:endParaRPr lang="en-US" sz="1600" dirty="0"/>
          </a:p>
        </p:txBody>
      </p:sp>
      <p:sp>
        <p:nvSpPr>
          <p:cNvPr id="23" name="card"/>
          <p:cNvSpPr/>
          <p:nvPr/>
        </p:nvSpPr>
        <p:spPr>
          <a:xfrm>
            <a:off x="6858000" y="1463040"/>
            <a:ext cx="4754880" cy="1325880"/>
          </a:xfrm>
          <a:prstGeom prst="roundRect">
            <a:avLst>
              <a:gd name="adj" fmla="val 5517"/>
            </a:avLst>
          </a:prstGeom>
          <a:solidFill>
            <a:schemeClr val="bg2"/>
          </a:solidFill>
          <a:ln/>
        </p:spPr>
      </p:sp>
      <p:sp>
        <p:nvSpPr>
          <p:cNvPr id="24" name="Text 21"/>
          <p:cNvSpPr txBox="1"/>
          <p:nvPr/>
        </p:nvSpPr>
        <p:spPr>
          <a:xfrm>
            <a:off x="7132320" y="1600200"/>
            <a:ext cx="4297680" cy="731520"/>
          </a:xfrm>
          <a:prstGeom prst="rect">
            <a:avLst/>
          </a:prstGeom>
          <a:noFill/>
          <a:ln/>
        </p:spPr>
        <p:txBody>
          <a:bodyPr wrap="square" lIns="0" tIns="0" rIns="0" bIns="0" rtlCol="0" anchor="t"/>
          <a:lstStyle/>
          <a:p>
            <a:pPr indent="0" marL="0">
              <a:buNone/>
            </a:pPr>
            <a:r>
              <a:rPr lang="en-US" sz="4000" b="1" dirty="0">
                <a:solidFill>
                  <a:schemeClr val="accent1"/>
                </a:solidFill>
                <a:latin typeface="Arial" pitchFamily="34" charset="0"/>
                <a:ea typeface="Arial" pitchFamily="34" charset="-122"/>
                <a:cs typeface="Arial" pitchFamily="34" charset="-120"/>
              </a:rPr>
              <a:t>4</a:t>
            </a:r>
            <a:endParaRPr lang="en-US" sz="4000" dirty="0"/>
          </a:p>
        </p:txBody>
      </p:sp>
      <p:sp>
        <p:nvSpPr>
          <p:cNvPr id="25" name="Text 22"/>
          <p:cNvSpPr txBox="1"/>
          <p:nvPr/>
        </p:nvSpPr>
        <p:spPr>
          <a:xfrm>
            <a:off x="7132320" y="2331720"/>
            <a:ext cx="4297680" cy="365760"/>
          </a:xfrm>
          <a:prstGeom prst="rect">
            <a:avLst/>
          </a:prstGeom>
          <a:noFill/>
          <a:ln/>
        </p:spPr>
        <p:txBody>
          <a:bodyPr wrap="square" lIns="0" tIns="0" rIns="0" bIns="0" rtlCol="0" anchor="t"/>
          <a:lstStyle/>
          <a:p>
            <a:pPr indent="0" marL="0">
              <a:buNone/>
            </a:pPr>
            <a:r>
              <a:rPr lang="en-US" sz="1400" dirty="0">
                <a:solidFill>
                  <a:schemeClr val="accent5"/>
                </a:solidFill>
              </a:rPr>
              <a:t>waveforms</a:t>
            </a:r>
            <a:endParaRPr lang="en-US" sz="1400" dirty="0"/>
          </a:p>
        </p:txBody>
      </p:sp>
      <p:sp>
        <p:nvSpPr>
          <p:cNvPr id="26" name="card"/>
          <p:cNvSpPr/>
          <p:nvPr/>
        </p:nvSpPr>
        <p:spPr>
          <a:xfrm>
            <a:off x="6858000" y="2971800"/>
            <a:ext cx="4754880" cy="1325880"/>
          </a:xfrm>
          <a:prstGeom prst="roundRect">
            <a:avLst>
              <a:gd name="adj" fmla="val 5517"/>
            </a:avLst>
          </a:prstGeom>
          <a:solidFill>
            <a:schemeClr val="bg2"/>
          </a:solidFill>
          <a:ln/>
        </p:spPr>
      </p:sp>
      <p:sp>
        <p:nvSpPr>
          <p:cNvPr id="27" name="Text 24"/>
          <p:cNvSpPr txBox="1"/>
          <p:nvPr/>
        </p:nvSpPr>
        <p:spPr>
          <a:xfrm>
            <a:off x="7132320" y="3108960"/>
            <a:ext cx="4297680" cy="731520"/>
          </a:xfrm>
          <a:prstGeom prst="rect">
            <a:avLst/>
          </a:prstGeom>
          <a:noFill/>
          <a:ln/>
        </p:spPr>
        <p:txBody>
          <a:bodyPr wrap="square" lIns="0" tIns="0" rIns="0" bIns="0" rtlCol="0" anchor="t"/>
          <a:lstStyle/>
          <a:p>
            <a:pPr indent="0" marL="0">
              <a:buNone/>
            </a:pPr>
            <a:r>
              <a:rPr lang="en-US" sz="4000" b="1" dirty="0">
                <a:solidFill>
                  <a:schemeClr val="accent1"/>
                </a:solidFill>
                <a:latin typeface="Arial" pitchFamily="34" charset="0"/>
                <a:ea typeface="Arial" pitchFamily="34" charset="-122"/>
                <a:cs typeface="Arial" pitchFamily="34" charset="-120"/>
              </a:rPr>
              <a:t>44.1 kHz</a:t>
            </a:r>
            <a:endParaRPr lang="en-US" sz="4000" dirty="0"/>
          </a:p>
        </p:txBody>
      </p:sp>
      <p:sp>
        <p:nvSpPr>
          <p:cNvPr id="28" name="Text 25"/>
          <p:cNvSpPr txBox="1"/>
          <p:nvPr/>
        </p:nvSpPr>
        <p:spPr>
          <a:xfrm>
            <a:off x="7132320" y="3840480"/>
            <a:ext cx="4297680" cy="365760"/>
          </a:xfrm>
          <a:prstGeom prst="rect">
            <a:avLst/>
          </a:prstGeom>
          <a:noFill/>
          <a:ln/>
        </p:spPr>
        <p:txBody>
          <a:bodyPr wrap="square" lIns="0" tIns="0" rIns="0" bIns="0" rtlCol="0" anchor="t"/>
          <a:lstStyle/>
          <a:p>
            <a:pPr indent="0" marL="0">
              <a:buNone/>
            </a:pPr>
            <a:r>
              <a:rPr lang="en-US" sz="1400" dirty="0">
                <a:solidFill>
                  <a:schemeClr val="accent5"/>
                </a:solidFill>
              </a:rPr>
              <a:t>16-bit mono PCM</a:t>
            </a:r>
            <a:endParaRPr lang="en-US" sz="1400" dirty="0"/>
          </a:p>
        </p:txBody>
      </p:sp>
      <p:sp>
        <p:nvSpPr>
          <p:cNvPr id="29" name="card"/>
          <p:cNvSpPr/>
          <p:nvPr/>
        </p:nvSpPr>
        <p:spPr>
          <a:xfrm>
            <a:off x="6858000" y="4480560"/>
            <a:ext cx="4754880" cy="1325880"/>
          </a:xfrm>
          <a:prstGeom prst="roundRect">
            <a:avLst>
              <a:gd name="adj" fmla="val 5517"/>
            </a:avLst>
          </a:prstGeom>
          <a:solidFill>
            <a:schemeClr val="bg2"/>
          </a:solidFill>
          <a:ln/>
        </p:spPr>
      </p:sp>
      <p:sp>
        <p:nvSpPr>
          <p:cNvPr id="30" name="Text 27"/>
          <p:cNvSpPr txBox="1"/>
          <p:nvPr/>
        </p:nvSpPr>
        <p:spPr>
          <a:xfrm>
            <a:off x="7132320" y="4617720"/>
            <a:ext cx="4297680" cy="731520"/>
          </a:xfrm>
          <a:prstGeom prst="rect">
            <a:avLst/>
          </a:prstGeom>
          <a:noFill/>
          <a:ln/>
        </p:spPr>
        <p:txBody>
          <a:bodyPr wrap="square" lIns="0" tIns="0" rIns="0" bIns="0" rtlCol="0" anchor="t"/>
          <a:lstStyle/>
          <a:p>
            <a:pPr indent="0" marL="0">
              <a:buNone/>
            </a:pPr>
            <a:r>
              <a:rPr lang="en-US" sz="4000" b="1" dirty="0">
                <a:solidFill>
                  <a:schemeClr val="accent1"/>
                </a:solidFill>
                <a:latin typeface="Arial" pitchFamily="34" charset="0"/>
                <a:ea typeface="Arial" pitchFamily="34" charset="-122"/>
                <a:cs typeface="Arial" pitchFamily="34" charset="-120"/>
              </a:rPr>
              <a:t>≤ 5 s</a:t>
            </a:r>
            <a:endParaRPr lang="en-US" sz="4000" dirty="0"/>
          </a:p>
        </p:txBody>
      </p:sp>
      <p:sp>
        <p:nvSpPr>
          <p:cNvPr id="31" name="Text 28"/>
          <p:cNvSpPr txBox="1"/>
          <p:nvPr/>
        </p:nvSpPr>
        <p:spPr>
          <a:xfrm>
            <a:off x="7132320" y="5349240"/>
            <a:ext cx="4297680" cy="365760"/>
          </a:xfrm>
          <a:prstGeom prst="rect">
            <a:avLst/>
          </a:prstGeom>
          <a:noFill/>
          <a:ln/>
        </p:spPr>
        <p:txBody>
          <a:bodyPr wrap="square" lIns="0" tIns="0" rIns="0" bIns="0" rtlCol="0" anchor="t"/>
          <a:lstStyle/>
          <a:p>
            <a:pPr indent="0" marL="0">
              <a:buNone/>
            </a:pPr>
            <a:r>
              <a:rPr lang="en-US" sz="1400" dirty="0">
                <a:solidFill>
                  <a:schemeClr val="accent5"/>
                </a:solidFill>
              </a:rPr>
              <a:t>220,500 samples max</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68680"/>
          </a:xfrm>
          <a:prstGeom prst="rect">
            <a:avLst/>
          </a:prstGeom>
          <a:noFill/>
          <a:ln/>
        </p:spPr>
        <p:txBody>
          <a:bodyPr wrap="square" lIns="0" tIns="0" rIns="0" bIns="0" rtlCol="0" anchor="ctr"/>
          <a:lstStyle/>
          <a:p>
            <a:pPr algn="l" indent="0" marL="0">
              <a:buNone/>
            </a:pPr>
            <a:r>
              <a:rPr lang="en-US" sz="2800" b="1" dirty="0">
                <a:solidFill>
                  <a:schemeClr val="tx1"/>
                </a:solidFill>
              </a:rPr>
              <a:t>Three layers, and only the bottom one makes sound</a:t>
            </a:r>
            <a:endParaRPr lang="en-US" sz="2800" dirty="0"/>
          </a:p>
        </p:txBody>
      </p:sp>
      <p:sp>
        <p:nvSpPr>
          <p:cNvPr id="4" name="card"/>
          <p:cNvSpPr/>
          <p:nvPr/>
        </p:nvSpPr>
        <p:spPr>
          <a:xfrm>
            <a:off x="548640" y="1508760"/>
            <a:ext cx="3291840" cy="2011680"/>
          </a:xfrm>
          <a:prstGeom prst="roundRect">
            <a:avLst>
              <a:gd name="adj" fmla="val 3636"/>
            </a:avLst>
          </a:prstGeom>
          <a:solidFill>
            <a:schemeClr val="bg2"/>
          </a:solidFill>
          <a:ln/>
        </p:spPr>
      </p:sp>
      <p:sp>
        <p:nvSpPr>
          <p:cNvPr id="5" name="Text 2"/>
          <p:cNvSpPr txBox="1"/>
          <p:nvPr/>
        </p:nvSpPr>
        <p:spPr>
          <a:xfrm>
            <a:off x="822960" y="1691640"/>
            <a:ext cx="2743200" cy="457200"/>
          </a:xfrm>
          <a:prstGeom prst="rect">
            <a:avLst/>
          </a:prstGeom>
          <a:noFill/>
          <a:ln/>
        </p:spPr>
        <p:txBody>
          <a:bodyPr wrap="square" lIns="0" tIns="0" rIns="0" bIns="0" rtlCol="0" anchor="t"/>
          <a:lstStyle/>
          <a:p>
            <a:pPr indent="0" marL="0">
              <a:buNone/>
            </a:pPr>
            <a:r>
              <a:rPr lang="en-US" sz="2200" b="1" dirty="0">
                <a:solidFill>
                  <a:schemeClr val="tx1"/>
                </a:solidFill>
                <a:latin typeface="Arial" pitchFamily="34" charset="0"/>
                <a:ea typeface="Arial" pitchFamily="34" charset="-122"/>
                <a:cs typeface="Arial" pitchFamily="34" charset="-120"/>
              </a:rPr>
              <a:t>GUI</a:t>
            </a:r>
            <a:endParaRPr lang="en-US" sz="2200" dirty="0"/>
          </a:p>
        </p:txBody>
      </p:sp>
      <p:sp>
        <p:nvSpPr>
          <p:cNvPr id="6" name="Text 3"/>
          <p:cNvSpPr txBox="1"/>
          <p:nvPr/>
        </p:nvSpPr>
        <p:spPr>
          <a:xfrm>
            <a:off x="822960" y="2148840"/>
            <a:ext cx="2743200" cy="320040"/>
          </a:xfrm>
          <a:prstGeom prst="rect">
            <a:avLst/>
          </a:prstGeom>
          <a:noFill/>
          <a:ln/>
        </p:spPr>
        <p:txBody>
          <a:bodyPr wrap="square" lIns="0" tIns="0" rIns="0" bIns="0" rtlCol="0" anchor="t"/>
          <a:lstStyle/>
          <a:p>
            <a:pPr indent="0" marL="0">
              <a:buNone/>
            </a:pPr>
            <a:r>
              <a:rPr lang="en-US" sz="1400" b="1" dirty="0">
                <a:solidFill>
                  <a:schemeClr val="accent1"/>
                </a:solidFill>
              </a:rPr>
              <a:t>Python + Tkinter</a:t>
            </a:r>
            <a:endParaRPr lang="en-US" sz="1400" dirty="0"/>
          </a:p>
        </p:txBody>
      </p:sp>
      <p:sp>
        <p:nvSpPr>
          <p:cNvPr id="7" name="Text 4"/>
          <p:cNvSpPr txBox="1"/>
          <p:nvPr/>
        </p:nvSpPr>
        <p:spPr>
          <a:xfrm>
            <a:off x="822960" y="2560320"/>
            <a:ext cx="2743200" cy="868680"/>
          </a:xfrm>
          <a:prstGeom prst="rect">
            <a:avLst/>
          </a:prstGeom>
          <a:noFill/>
          <a:ln/>
        </p:spPr>
        <p:txBody>
          <a:bodyPr wrap="square" lIns="0" tIns="0" rIns="0" bIns="0" rtlCol="0" anchor="t"/>
          <a:lstStyle/>
          <a:p>
            <a:pPr indent="0" marL="0">
              <a:buNone/>
            </a:pPr>
            <a:r>
              <a:rPr lang="en-US" sz="1400" dirty="0">
                <a:solidFill>
                  <a:schemeClr val="tx1"/>
                </a:solidFill>
              </a:rPr>
              <a:t>Sliders, presets, waveform view, Play, Save WAV</a:t>
            </a:r>
            <a:endParaRPr lang="en-US" sz="1400" dirty="0"/>
          </a:p>
        </p:txBody>
      </p:sp>
      <p:sp>
        <p:nvSpPr>
          <p:cNvPr id="8" name="Shape 5"/>
          <p:cNvSpPr/>
          <p:nvPr/>
        </p:nvSpPr>
        <p:spPr>
          <a:xfrm>
            <a:off x="3886200" y="2514600"/>
            <a:ext cx="548640" cy="0"/>
          </a:xfrm>
          <a:prstGeom prst="line">
            <a:avLst/>
          </a:prstGeom>
          <a:noFill/>
          <a:ln w="25400">
            <a:solidFill>
              <a:schemeClr val="accent5"/>
            </a:solidFill>
            <a:prstDash val="solid"/>
            <a:tailEnd type="triangle"/>
          </a:ln>
        </p:spPr>
      </p:sp>
      <p:sp>
        <p:nvSpPr>
          <p:cNvPr id="9" name="card"/>
          <p:cNvSpPr/>
          <p:nvPr/>
        </p:nvSpPr>
        <p:spPr>
          <a:xfrm>
            <a:off x="4480560" y="1508760"/>
            <a:ext cx="3291840" cy="2011680"/>
          </a:xfrm>
          <a:prstGeom prst="roundRect">
            <a:avLst>
              <a:gd name="adj" fmla="val 3636"/>
            </a:avLst>
          </a:prstGeom>
          <a:solidFill>
            <a:schemeClr val="bg2"/>
          </a:solidFill>
          <a:ln/>
        </p:spPr>
      </p:sp>
      <p:sp>
        <p:nvSpPr>
          <p:cNvPr id="10" name="Text 7"/>
          <p:cNvSpPr txBox="1"/>
          <p:nvPr/>
        </p:nvSpPr>
        <p:spPr>
          <a:xfrm>
            <a:off x="4754880" y="1691640"/>
            <a:ext cx="2743200" cy="457200"/>
          </a:xfrm>
          <a:prstGeom prst="rect">
            <a:avLst/>
          </a:prstGeom>
          <a:noFill/>
          <a:ln/>
        </p:spPr>
        <p:txBody>
          <a:bodyPr wrap="square" lIns="0" tIns="0" rIns="0" bIns="0" rtlCol="0" anchor="t"/>
          <a:lstStyle/>
          <a:p>
            <a:pPr indent="0" marL="0">
              <a:buNone/>
            </a:pPr>
            <a:r>
              <a:rPr lang="en-US" sz="2200" b="1" dirty="0">
                <a:solidFill>
                  <a:schemeClr val="tx1"/>
                </a:solidFill>
                <a:latin typeface="Arial" pitchFamily="34" charset="0"/>
                <a:ea typeface="Arial" pitchFamily="34" charset="-122"/>
                <a:cs typeface="Arial" pitchFamily="34" charset="-120"/>
              </a:rPr>
              <a:t>Binding</a:t>
            </a:r>
            <a:endParaRPr lang="en-US" sz="2200" dirty="0"/>
          </a:p>
        </p:txBody>
      </p:sp>
      <p:sp>
        <p:nvSpPr>
          <p:cNvPr id="11" name="Text 8"/>
          <p:cNvSpPr txBox="1"/>
          <p:nvPr/>
        </p:nvSpPr>
        <p:spPr>
          <a:xfrm>
            <a:off x="4754880" y="2148840"/>
            <a:ext cx="2743200" cy="320040"/>
          </a:xfrm>
          <a:prstGeom prst="rect">
            <a:avLst/>
          </a:prstGeom>
          <a:noFill/>
          <a:ln/>
        </p:spPr>
        <p:txBody>
          <a:bodyPr wrap="square" lIns="0" tIns="0" rIns="0" bIns="0" rtlCol="0" anchor="t"/>
          <a:lstStyle/>
          <a:p>
            <a:pPr indent="0" marL="0">
              <a:buNone/>
            </a:pPr>
            <a:r>
              <a:rPr lang="en-US" sz="1400" b="1" dirty="0">
                <a:solidFill>
                  <a:schemeClr val="accent1"/>
                </a:solidFill>
              </a:rPr>
              <a:t>Python ctypes</a:t>
            </a:r>
            <a:endParaRPr lang="en-US" sz="1400" dirty="0"/>
          </a:p>
        </p:txBody>
      </p:sp>
      <p:sp>
        <p:nvSpPr>
          <p:cNvPr id="12" name="Text 9"/>
          <p:cNvSpPr txBox="1"/>
          <p:nvPr/>
        </p:nvSpPr>
        <p:spPr>
          <a:xfrm>
            <a:off x="4754880" y="2560320"/>
            <a:ext cx="2743200" cy="868680"/>
          </a:xfrm>
          <a:prstGeom prst="rect">
            <a:avLst/>
          </a:prstGeom>
          <a:noFill/>
          <a:ln/>
        </p:spPr>
        <p:txBody>
          <a:bodyPr wrap="square" lIns="0" tIns="0" rIns="0" bIns="0" rtlCol="0" anchor="t"/>
          <a:lstStyle/>
          <a:p>
            <a:pPr indent="0" marL="0">
              <a:buNone/>
            </a:pPr>
            <a:r>
              <a:rPr lang="en-US" sz="1400" dirty="0">
                <a:solidFill>
                  <a:schemeClr val="tx1"/>
                </a:solidFill>
              </a:rPr>
              <a:t>Fills the 44-byte struct, allocates buffers, turns 0 into an error</a:t>
            </a:r>
            <a:endParaRPr lang="en-US" sz="1400" dirty="0"/>
          </a:p>
        </p:txBody>
      </p:sp>
      <p:sp>
        <p:nvSpPr>
          <p:cNvPr id="13" name="Shape 10"/>
          <p:cNvSpPr/>
          <p:nvPr/>
        </p:nvSpPr>
        <p:spPr>
          <a:xfrm>
            <a:off x="7818120" y="2514600"/>
            <a:ext cx="548640" cy="0"/>
          </a:xfrm>
          <a:prstGeom prst="line">
            <a:avLst/>
          </a:prstGeom>
          <a:noFill/>
          <a:ln w="25400">
            <a:solidFill>
              <a:schemeClr val="accent5"/>
            </a:solidFill>
            <a:prstDash val="solid"/>
            <a:tailEnd type="triangle"/>
          </a:ln>
        </p:spPr>
      </p:sp>
      <p:sp>
        <p:nvSpPr>
          <p:cNvPr id="14" name="card"/>
          <p:cNvSpPr/>
          <p:nvPr/>
        </p:nvSpPr>
        <p:spPr>
          <a:xfrm>
            <a:off x="8412480" y="1508760"/>
            <a:ext cx="3291840" cy="2011680"/>
          </a:xfrm>
          <a:prstGeom prst="roundRect">
            <a:avLst>
              <a:gd name="adj" fmla="val 3636"/>
            </a:avLst>
          </a:prstGeom>
          <a:solidFill>
            <a:schemeClr val="tx1"/>
          </a:solidFill>
          <a:ln/>
        </p:spPr>
      </p:sp>
      <p:sp>
        <p:nvSpPr>
          <p:cNvPr id="15" name="Text 12"/>
          <p:cNvSpPr txBox="1"/>
          <p:nvPr/>
        </p:nvSpPr>
        <p:spPr>
          <a:xfrm>
            <a:off x="8686800" y="1691640"/>
            <a:ext cx="2743200" cy="457200"/>
          </a:xfrm>
          <a:prstGeom prst="rect">
            <a:avLst/>
          </a:prstGeom>
          <a:noFill/>
          <a:ln/>
        </p:spPr>
        <p:txBody>
          <a:bodyPr wrap="square" lIns="0" tIns="0" rIns="0" bIns="0" rtlCol="0" anchor="t"/>
          <a:lstStyle/>
          <a:p>
            <a:pPr indent="0" marL="0">
              <a:buNone/>
            </a:pPr>
            <a:r>
              <a:rPr lang="en-US" sz="2200" b="1" dirty="0">
                <a:solidFill>
                  <a:schemeClr val="bg1"/>
                </a:solidFill>
                <a:latin typeface="Arial" pitchFamily="34" charset="0"/>
                <a:ea typeface="Arial" pitchFamily="34" charset="-122"/>
                <a:cs typeface="Arial" pitchFamily="34" charset="-120"/>
              </a:rPr>
              <a:t>Engine  sfx.dll</a:t>
            </a:r>
            <a:endParaRPr lang="en-US" sz="2200" dirty="0"/>
          </a:p>
        </p:txBody>
      </p:sp>
      <p:sp>
        <p:nvSpPr>
          <p:cNvPr id="16" name="Text 13"/>
          <p:cNvSpPr txBox="1"/>
          <p:nvPr/>
        </p:nvSpPr>
        <p:spPr>
          <a:xfrm>
            <a:off x="8686800" y="2148840"/>
            <a:ext cx="2743200" cy="320040"/>
          </a:xfrm>
          <a:prstGeom prst="rect">
            <a:avLst/>
          </a:prstGeom>
          <a:noFill/>
          <a:ln/>
        </p:spPr>
        <p:txBody>
          <a:bodyPr wrap="square" lIns="0" tIns="0" rIns="0" bIns="0" rtlCol="0" anchor="t"/>
          <a:lstStyle/>
          <a:p>
            <a:pPr indent="0" marL="0">
              <a:buNone/>
            </a:pPr>
            <a:r>
              <a:rPr lang="en-US" sz="1400" b="1" dirty="0">
                <a:solidFill>
                  <a:schemeClr val="accent2"/>
                </a:solidFill>
              </a:rPr>
              <a:t>NASM x86-64 Assembly</a:t>
            </a:r>
            <a:endParaRPr lang="en-US" sz="1400" dirty="0"/>
          </a:p>
        </p:txBody>
      </p:sp>
      <p:sp>
        <p:nvSpPr>
          <p:cNvPr id="17" name="Text 14"/>
          <p:cNvSpPr txBox="1"/>
          <p:nvPr/>
        </p:nvSpPr>
        <p:spPr>
          <a:xfrm>
            <a:off x="8686800" y="2560320"/>
            <a:ext cx="2743200" cy="868680"/>
          </a:xfrm>
          <a:prstGeom prst="rect">
            <a:avLst/>
          </a:prstGeom>
          <a:noFill/>
          <a:ln/>
        </p:spPr>
        <p:txBody>
          <a:bodyPr wrap="square" lIns="0" tIns="0" rIns="0" bIns="0" rtlCol="0" anchor="t"/>
          <a:lstStyle/>
          <a:p>
            <a:pPr indent="0" marL="0">
              <a:buNone/>
            </a:pPr>
            <a:r>
              <a:rPr lang="en-US" sz="1400" dirty="0">
                <a:solidFill>
                  <a:schemeClr val="bg1"/>
                </a:solidFill>
              </a:rPr>
              <a:t>Computes every sample and builds the WAV bytes</a:t>
            </a:r>
            <a:endParaRPr lang="en-US" sz="1400" dirty="0"/>
          </a:p>
        </p:txBody>
      </p:sp>
      <p:sp>
        <p:nvSpPr>
          <p:cNvPr id="18" name="Text 15"/>
          <p:cNvSpPr txBox="1"/>
          <p:nvPr/>
        </p:nvSpPr>
        <p:spPr>
          <a:xfrm>
            <a:off x="548640" y="3886200"/>
            <a:ext cx="7315200" cy="365760"/>
          </a:xfrm>
          <a:prstGeom prst="rect">
            <a:avLst/>
          </a:prstGeom>
          <a:noFill/>
          <a:ln/>
        </p:spPr>
        <p:txBody>
          <a:bodyPr wrap="square" lIns="0" tIns="0" rIns="0" bIns="0" rtlCol="0" anchor="t"/>
          <a:lstStyle/>
          <a:p>
            <a:pPr indent="0" marL="0">
              <a:buNone/>
            </a:pPr>
            <a:r>
              <a:rPr lang="en-US" sz="1800" b="1" dirty="0">
                <a:solidFill>
                  <a:schemeClr val="accent1"/>
                </a:solidFill>
              </a:rPr>
              <a:t>One regeneration, step by step</a:t>
            </a:r>
            <a:endParaRPr lang="en-US" sz="1800" dirty="0"/>
          </a:p>
        </p:txBody>
      </p:sp>
      <p:sp>
        <p:nvSpPr>
          <p:cNvPr id="19" name="Shape 16"/>
          <p:cNvSpPr/>
          <p:nvPr/>
        </p:nvSpPr>
        <p:spPr>
          <a:xfrm>
            <a:off x="548640" y="4434840"/>
            <a:ext cx="457200" cy="457200"/>
          </a:xfrm>
          <a:prstGeom prst="ellipse">
            <a:avLst/>
          </a:prstGeom>
          <a:solidFill>
            <a:schemeClr val="accent1"/>
          </a:solidFill>
          <a:ln/>
        </p:spPr>
      </p:sp>
      <p:sp>
        <p:nvSpPr>
          <p:cNvPr id="20" name="Text 17"/>
          <p:cNvSpPr txBox="1"/>
          <p:nvPr/>
        </p:nvSpPr>
        <p:spPr>
          <a:xfrm>
            <a:off x="548640" y="4434840"/>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21" name="Text 18"/>
          <p:cNvSpPr txBox="1"/>
          <p:nvPr/>
        </p:nvSpPr>
        <p:spPr>
          <a:xfrm>
            <a:off x="1097280" y="4434840"/>
            <a:ext cx="1645920" cy="457200"/>
          </a:xfrm>
          <a:prstGeom prst="rect">
            <a:avLst/>
          </a:prstGeom>
          <a:noFill/>
          <a:ln/>
        </p:spPr>
        <p:txBody>
          <a:bodyPr wrap="square" lIns="0" tIns="0" rIns="0" bIns="0" rtlCol="0" anchor="ctr"/>
          <a:lstStyle/>
          <a:p>
            <a:pPr indent="0" marL="0">
              <a:buNone/>
            </a:pPr>
            <a:r>
              <a:rPr lang="en-US" sz="1300" b="1" dirty="0">
                <a:solidFill>
                  <a:schemeClr val="tx1"/>
                </a:solidFill>
                <a:latin typeface="Courier New" pitchFamily="34" charset="0"/>
                <a:ea typeface="Courier New" pitchFamily="34" charset="-122"/>
                <a:cs typeface="Courier New" pitchFamily="34" charset="-120"/>
              </a:rPr>
              <a:t>sfx_sample_count</a:t>
            </a:r>
            <a:endParaRPr lang="en-US" sz="1300" dirty="0"/>
          </a:p>
        </p:txBody>
      </p:sp>
      <p:sp>
        <p:nvSpPr>
          <p:cNvPr id="22" name="Shape 19"/>
          <p:cNvSpPr/>
          <p:nvPr/>
        </p:nvSpPr>
        <p:spPr>
          <a:xfrm>
            <a:off x="2816352" y="4434840"/>
            <a:ext cx="457200" cy="457200"/>
          </a:xfrm>
          <a:prstGeom prst="ellipse">
            <a:avLst/>
          </a:prstGeom>
          <a:solidFill>
            <a:schemeClr val="accent5"/>
          </a:solidFill>
          <a:ln/>
        </p:spPr>
      </p:sp>
      <p:sp>
        <p:nvSpPr>
          <p:cNvPr id="23" name="Text 20"/>
          <p:cNvSpPr txBox="1"/>
          <p:nvPr/>
        </p:nvSpPr>
        <p:spPr>
          <a:xfrm>
            <a:off x="2816352" y="4434840"/>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24" name="Text 21"/>
          <p:cNvSpPr txBox="1"/>
          <p:nvPr/>
        </p:nvSpPr>
        <p:spPr>
          <a:xfrm>
            <a:off x="3364992" y="4434840"/>
            <a:ext cx="1645920" cy="457200"/>
          </a:xfrm>
          <a:prstGeom prst="rect">
            <a:avLst/>
          </a:prstGeom>
          <a:noFill/>
          <a:ln/>
        </p:spPr>
        <p:txBody>
          <a:bodyPr wrap="square" lIns="0" tIns="0" rIns="0" bIns="0" rtlCol="0" anchor="ctr"/>
          <a:lstStyle/>
          <a:p>
            <a:pPr indent="0" marL="0">
              <a:buNone/>
            </a:pPr>
            <a:r>
              <a:rPr lang="en-US" sz="1300" b="1" dirty="0">
                <a:solidFill>
                  <a:schemeClr val="tx1"/>
                </a:solidFill>
              </a:rPr>
              <a:t>allocate buffer</a:t>
            </a:r>
            <a:endParaRPr lang="en-US" sz="1300" dirty="0"/>
          </a:p>
        </p:txBody>
      </p:sp>
      <p:sp>
        <p:nvSpPr>
          <p:cNvPr id="25" name="Shape 22"/>
          <p:cNvSpPr/>
          <p:nvPr/>
        </p:nvSpPr>
        <p:spPr>
          <a:xfrm>
            <a:off x="5084064" y="4434840"/>
            <a:ext cx="457200" cy="457200"/>
          </a:xfrm>
          <a:prstGeom prst="ellipse">
            <a:avLst/>
          </a:prstGeom>
          <a:solidFill>
            <a:schemeClr val="accent1"/>
          </a:solidFill>
          <a:ln/>
        </p:spPr>
      </p:sp>
      <p:sp>
        <p:nvSpPr>
          <p:cNvPr id="26" name="Text 23"/>
          <p:cNvSpPr txBox="1"/>
          <p:nvPr/>
        </p:nvSpPr>
        <p:spPr>
          <a:xfrm>
            <a:off x="5084064" y="4434840"/>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27" name="Text 24"/>
          <p:cNvSpPr txBox="1"/>
          <p:nvPr/>
        </p:nvSpPr>
        <p:spPr>
          <a:xfrm>
            <a:off x="5632704" y="4434840"/>
            <a:ext cx="1645920" cy="457200"/>
          </a:xfrm>
          <a:prstGeom prst="rect">
            <a:avLst/>
          </a:prstGeom>
          <a:noFill/>
          <a:ln/>
        </p:spPr>
        <p:txBody>
          <a:bodyPr wrap="square" lIns="0" tIns="0" rIns="0" bIns="0" rtlCol="0" anchor="ctr"/>
          <a:lstStyle/>
          <a:p>
            <a:pPr indent="0" marL="0">
              <a:buNone/>
            </a:pPr>
            <a:r>
              <a:rPr lang="en-US" sz="1300" b="1" dirty="0">
                <a:solidFill>
                  <a:schemeClr val="tx1"/>
                </a:solidFill>
                <a:latin typeface="Courier New" pitchFamily="34" charset="0"/>
                <a:ea typeface="Courier New" pitchFamily="34" charset="-122"/>
                <a:cs typeface="Courier New" pitchFamily="34" charset="-120"/>
              </a:rPr>
              <a:t>sfx_generate</a:t>
            </a:r>
            <a:endParaRPr lang="en-US" sz="1300" dirty="0"/>
          </a:p>
        </p:txBody>
      </p:sp>
      <p:sp>
        <p:nvSpPr>
          <p:cNvPr id="28" name="Shape 25"/>
          <p:cNvSpPr/>
          <p:nvPr/>
        </p:nvSpPr>
        <p:spPr>
          <a:xfrm>
            <a:off x="7351776" y="4434840"/>
            <a:ext cx="457200" cy="457200"/>
          </a:xfrm>
          <a:prstGeom prst="ellipse">
            <a:avLst/>
          </a:prstGeom>
          <a:solidFill>
            <a:schemeClr val="accent1"/>
          </a:solidFill>
          <a:ln/>
        </p:spPr>
      </p:sp>
      <p:sp>
        <p:nvSpPr>
          <p:cNvPr id="29" name="Text 26"/>
          <p:cNvSpPr txBox="1"/>
          <p:nvPr/>
        </p:nvSpPr>
        <p:spPr>
          <a:xfrm>
            <a:off x="7351776" y="4434840"/>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30" name="Text 27"/>
          <p:cNvSpPr txBox="1"/>
          <p:nvPr/>
        </p:nvSpPr>
        <p:spPr>
          <a:xfrm>
            <a:off x="7900416" y="4434840"/>
            <a:ext cx="1645920" cy="457200"/>
          </a:xfrm>
          <a:prstGeom prst="rect">
            <a:avLst/>
          </a:prstGeom>
          <a:noFill/>
          <a:ln/>
        </p:spPr>
        <p:txBody>
          <a:bodyPr wrap="square" lIns="0" tIns="0" rIns="0" bIns="0" rtlCol="0" anchor="ctr"/>
          <a:lstStyle/>
          <a:p>
            <a:pPr indent="0" marL="0">
              <a:buNone/>
            </a:pPr>
            <a:r>
              <a:rPr lang="en-US" sz="1300" b="1" dirty="0">
                <a:solidFill>
                  <a:schemeClr val="tx1"/>
                </a:solidFill>
                <a:latin typeface="Courier New" pitchFamily="34" charset="0"/>
                <a:ea typeface="Courier New" pitchFamily="34" charset="-122"/>
                <a:cs typeface="Courier New" pitchFamily="34" charset="-120"/>
              </a:rPr>
              <a:t>sfx_write_wav</a:t>
            </a:r>
            <a:endParaRPr lang="en-US" sz="1300" dirty="0"/>
          </a:p>
        </p:txBody>
      </p:sp>
      <p:sp>
        <p:nvSpPr>
          <p:cNvPr id="31" name="Shape 28"/>
          <p:cNvSpPr/>
          <p:nvPr/>
        </p:nvSpPr>
        <p:spPr>
          <a:xfrm>
            <a:off x="9619488" y="4434840"/>
            <a:ext cx="457200" cy="457200"/>
          </a:xfrm>
          <a:prstGeom prst="ellipse">
            <a:avLst/>
          </a:prstGeom>
          <a:solidFill>
            <a:schemeClr val="accent5"/>
          </a:solidFill>
          <a:ln/>
        </p:spPr>
      </p:sp>
      <p:sp>
        <p:nvSpPr>
          <p:cNvPr id="32" name="Text 29"/>
          <p:cNvSpPr txBox="1"/>
          <p:nvPr/>
        </p:nvSpPr>
        <p:spPr>
          <a:xfrm>
            <a:off x="9619488" y="4434840"/>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5</a:t>
            </a:r>
            <a:endParaRPr lang="en-US" sz="1400" dirty="0"/>
          </a:p>
        </p:txBody>
      </p:sp>
      <p:sp>
        <p:nvSpPr>
          <p:cNvPr id="33" name="Text 30"/>
          <p:cNvSpPr txBox="1"/>
          <p:nvPr/>
        </p:nvSpPr>
        <p:spPr>
          <a:xfrm>
            <a:off x="10168128" y="4434840"/>
            <a:ext cx="1645920" cy="457200"/>
          </a:xfrm>
          <a:prstGeom prst="rect">
            <a:avLst/>
          </a:prstGeom>
          <a:noFill/>
          <a:ln/>
        </p:spPr>
        <p:txBody>
          <a:bodyPr wrap="square" lIns="0" tIns="0" rIns="0" bIns="0" rtlCol="0" anchor="ctr"/>
          <a:lstStyle/>
          <a:p>
            <a:pPr indent="0" marL="0">
              <a:buNone/>
            </a:pPr>
            <a:r>
              <a:rPr lang="en-US" sz="1300" b="1" dirty="0">
                <a:solidFill>
                  <a:schemeClr val="tx1"/>
                </a:solidFill>
              </a:rPr>
              <a:t>draw · play · save</a:t>
            </a:r>
            <a:endParaRPr lang="en-US" sz="1300" dirty="0"/>
          </a:p>
        </p:txBody>
      </p:sp>
      <p:sp>
        <p:nvSpPr>
          <p:cNvPr id="34" name="card"/>
          <p:cNvSpPr/>
          <p:nvPr/>
        </p:nvSpPr>
        <p:spPr>
          <a:xfrm>
            <a:off x="548640" y="5257800"/>
            <a:ext cx="11064240" cy="868680"/>
          </a:xfrm>
          <a:prstGeom prst="roundRect">
            <a:avLst>
              <a:gd name="adj" fmla="val 8421"/>
            </a:avLst>
          </a:prstGeom>
          <a:solidFill>
            <a:schemeClr val="bg2"/>
          </a:solidFill>
          <a:ln/>
        </p:spPr>
      </p:sp>
      <p:sp>
        <p:nvSpPr>
          <p:cNvPr id="35" name="Text 32"/>
          <p:cNvSpPr txBox="1"/>
          <p:nvPr/>
        </p:nvSpPr>
        <p:spPr>
          <a:xfrm>
            <a:off x="822960" y="5257800"/>
            <a:ext cx="10515600" cy="868680"/>
          </a:xfrm>
          <a:prstGeom prst="rect">
            <a:avLst/>
          </a:prstGeom>
          <a:noFill/>
          <a:ln/>
        </p:spPr>
        <p:txBody>
          <a:bodyPr wrap="square" lIns="0" tIns="0" rIns="0" bIns="0" rtlCol="0" anchor="ctr"/>
          <a:lstStyle/>
          <a:p>
            <a:pPr indent="0" marL="0">
              <a:buNone/>
            </a:pPr>
            <a:r>
              <a:rPr lang="en-US" sz="1500" b="1" dirty="0">
                <a:solidFill>
                  <a:schemeClr val="tx1"/>
                </a:solidFill>
              </a:rPr>
              <a:t>Also built: </a:t>
            </a:r>
            <a:pPr indent="0" marL="0">
              <a:buNone/>
            </a:pPr>
            <a:r>
              <a:rPr lang="en-US" sz="1500" dirty="0">
                <a:solidFill>
                  <a:schemeClr val="tx1"/>
                </a:solidFill>
              </a:rPr>
              <a:t>ref/sfx_ref.c, the same algorithm in C. The app never uses it; it is the answer key for tests and the speed baseline.</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68680"/>
          </a:xfrm>
          <a:prstGeom prst="rect">
            <a:avLst/>
          </a:prstGeom>
          <a:noFill/>
          <a:ln/>
        </p:spPr>
        <p:txBody>
          <a:bodyPr wrap="square" lIns="0" tIns="0" rIns="0" bIns="0" rtlCol="0" anchor="ctr"/>
          <a:lstStyle/>
          <a:p>
            <a:pPr algn="l" indent="0" marL="0">
              <a:buNone/>
            </a:pPr>
            <a:r>
              <a:rPr lang="en-US" sz="2800" b="1" dirty="0">
                <a:solidFill>
                  <a:schemeClr val="tx1"/>
                </a:solidFill>
              </a:rPr>
              <a:t>A 44-byte struct is the contract between Python and Assembly</a:t>
            </a:r>
            <a:endParaRPr lang="en-US" sz="2800" dirty="0"/>
          </a:p>
        </p:txBody>
      </p:sp>
      <p:sp>
        <p:nvSpPr>
          <p:cNvPr id="4" name="Shape 1"/>
          <p:cNvSpPr/>
          <p:nvPr/>
        </p:nvSpPr>
        <p:spPr>
          <a:xfrm>
            <a:off x="548640" y="1600200"/>
            <a:ext cx="950976" cy="1737360"/>
          </a:xfrm>
          <a:prstGeom prst="rect">
            <a:avLst/>
          </a:prstGeom>
          <a:solidFill>
            <a:schemeClr val="accent3"/>
          </a:solidFill>
          <a:ln/>
        </p:spPr>
      </p:sp>
      <p:sp>
        <p:nvSpPr>
          <p:cNvPr id="5" name="Text 2"/>
          <p:cNvSpPr txBox="1"/>
          <p:nvPr/>
        </p:nvSpPr>
        <p:spPr>
          <a:xfrm>
            <a:off x="621792" y="1691640"/>
            <a:ext cx="822960" cy="274320"/>
          </a:xfrm>
          <a:prstGeom prst="rect">
            <a:avLst/>
          </a:prstGeom>
          <a:noFill/>
          <a:ln/>
        </p:spPr>
        <p:txBody>
          <a:bodyPr wrap="square" lIns="0" tIns="0" rIns="0" bIns="0" rtlCol="0" anchor="t"/>
          <a:lstStyle/>
          <a:p>
            <a:pPr indent="0" marL="0">
              <a:buNone/>
            </a:pPr>
            <a:r>
              <a:rPr lang="en-US" sz="1200" b="1" dirty="0">
                <a:solidFill>
                  <a:schemeClr val="tx1"/>
                </a:solidFill>
                <a:latin typeface="Courier New" pitchFamily="34" charset="0"/>
                <a:ea typeface="Courier New" pitchFamily="34" charset="-122"/>
                <a:cs typeface="Courier New" pitchFamily="34" charset="-120"/>
              </a:rPr>
              <a:t>+0</a:t>
            </a:r>
            <a:endParaRPr lang="en-US" sz="1200" dirty="0"/>
          </a:p>
        </p:txBody>
      </p:sp>
      <p:sp>
        <p:nvSpPr>
          <p:cNvPr id="6" name="Text 3"/>
          <p:cNvSpPr txBox="1"/>
          <p:nvPr/>
        </p:nvSpPr>
        <p:spPr>
          <a:xfrm>
            <a:off x="594360" y="2057400"/>
            <a:ext cx="914400" cy="548640"/>
          </a:xfrm>
          <a:prstGeom prst="rect">
            <a:avLst/>
          </a:prstGeom>
          <a:noFill/>
          <a:ln/>
        </p:spPr>
        <p:txBody>
          <a:bodyPr wrap="square" lIns="0" tIns="0" rIns="0" bIns="0" rtlCol="0" anchor="t"/>
          <a:lstStyle/>
          <a:p>
            <a:pPr indent="0" marL="0">
              <a:buNone/>
            </a:pPr>
            <a:r>
              <a:rPr lang="en-US" sz="1100" b="1" dirty="0">
                <a:solidFill>
                  <a:schemeClr val="tx1"/>
                </a:solidFill>
                <a:latin typeface="Courier New" pitchFamily="34" charset="0"/>
                <a:ea typeface="Courier New" pitchFamily="34" charset="-122"/>
                <a:cs typeface="Courier New" pitchFamily="34" charset="-120"/>
              </a:rPr>
              <a:t>waveform</a:t>
            </a:r>
            <a:endParaRPr lang="en-US" sz="1100" dirty="0"/>
          </a:p>
        </p:txBody>
      </p:sp>
      <p:sp>
        <p:nvSpPr>
          <p:cNvPr id="7" name="Text 4"/>
          <p:cNvSpPr txBox="1"/>
          <p:nvPr/>
        </p:nvSpPr>
        <p:spPr>
          <a:xfrm>
            <a:off x="621792" y="2697480"/>
            <a:ext cx="822960" cy="548640"/>
          </a:xfrm>
          <a:prstGeom prst="rect">
            <a:avLst/>
          </a:prstGeom>
          <a:noFill/>
          <a:ln/>
        </p:spPr>
        <p:txBody>
          <a:bodyPr wrap="square" lIns="0" tIns="0" rIns="0" bIns="0" rtlCol="0" anchor="t"/>
          <a:lstStyle/>
          <a:p>
            <a:pPr indent="0" marL="0">
              <a:buNone/>
            </a:pPr>
            <a:r>
              <a:rPr lang="en-US" sz="1100" dirty="0">
                <a:solidFill>
                  <a:schemeClr val="tx1"/>
                </a:solidFill>
              </a:rPr>
              <a:t>0–3</a:t>
            </a:r>
            <a:endParaRPr lang="en-US" sz="1100" dirty="0"/>
          </a:p>
        </p:txBody>
      </p:sp>
      <p:sp>
        <p:nvSpPr>
          <p:cNvPr id="8" name="Shape 5"/>
          <p:cNvSpPr/>
          <p:nvPr/>
        </p:nvSpPr>
        <p:spPr>
          <a:xfrm>
            <a:off x="1554480" y="1600200"/>
            <a:ext cx="950976" cy="1737360"/>
          </a:xfrm>
          <a:prstGeom prst="rect">
            <a:avLst/>
          </a:prstGeom>
          <a:solidFill>
            <a:schemeClr val="tx1"/>
          </a:solidFill>
          <a:ln/>
        </p:spPr>
      </p:sp>
      <p:sp>
        <p:nvSpPr>
          <p:cNvPr id="9" name="Text 6"/>
          <p:cNvSpPr txBox="1"/>
          <p:nvPr/>
        </p:nvSpPr>
        <p:spPr>
          <a:xfrm>
            <a:off x="1627632" y="1691640"/>
            <a:ext cx="822960" cy="274320"/>
          </a:xfrm>
          <a:prstGeom prst="rect">
            <a:avLst/>
          </a:prstGeom>
          <a:noFill/>
          <a:ln/>
        </p:spPr>
        <p:txBody>
          <a:bodyPr wrap="square" lIns="0" tIns="0" rIns="0" bIns="0" rtlCol="0" anchor="t"/>
          <a:lstStyle/>
          <a:p>
            <a:pPr indent="0" marL="0">
              <a:buNone/>
            </a:pPr>
            <a:r>
              <a:rPr lang="en-US" sz="1200" b="1" dirty="0">
                <a:solidFill>
                  <a:schemeClr val="accent2"/>
                </a:solidFill>
                <a:latin typeface="Courier New" pitchFamily="34" charset="0"/>
                <a:ea typeface="Courier New" pitchFamily="34" charset="-122"/>
                <a:cs typeface="Courier New" pitchFamily="34" charset="-120"/>
              </a:rPr>
              <a:t>+4</a:t>
            </a:r>
            <a:endParaRPr lang="en-US" sz="1200" dirty="0"/>
          </a:p>
        </p:txBody>
      </p:sp>
      <p:sp>
        <p:nvSpPr>
          <p:cNvPr id="10" name="Text 7"/>
          <p:cNvSpPr txBox="1"/>
          <p:nvPr/>
        </p:nvSpPr>
        <p:spPr>
          <a:xfrm>
            <a:off x="1600200" y="2057400"/>
            <a:ext cx="914400" cy="548640"/>
          </a:xfrm>
          <a:prstGeom prst="rect">
            <a:avLst/>
          </a:prstGeom>
          <a:noFill/>
          <a:ln/>
        </p:spPr>
        <p:txBody>
          <a:bodyPr wrap="square" lIns="0" tIns="0" rIns="0" bIns="0" rtlCol="0" anchor="t"/>
          <a:lstStyle/>
          <a:p>
            <a:pPr indent="0" marL="0">
              <a:buNone/>
            </a:pPr>
            <a:r>
              <a:rPr lang="en-US" sz="1100" b="1" dirty="0">
                <a:solidFill>
                  <a:schemeClr val="bg1"/>
                </a:solidFill>
                <a:latin typeface="Courier New" pitchFamily="34" charset="0"/>
                <a:ea typeface="Courier New" pitchFamily="34" charset="-122"/>
                <a:cs typeface="Courier New" pitchFamily="34" charset="-120"/>
              </a:rPr>
              <a:t>base_freq</a:t>
            </a:r>
            <a:endParaRPr lang="en-US" sz="1100" dirty="0"/>
          </a:p>
        </p:txBody>
      </p:sp>
      <p:sp>
        <p:nvSpPr>
          <p:cNvPr id="11" name="Text 8"/>
          <p:cNvSpPr txBox="1"/>
          <p:nvPr/>
        </p:nvSpPr>
        <p:spPr>
          <a:xfrm>
            <a:off x="1627632" y="2697480"/>
            <a:ext cx="822960" cy="548640"/>
          </a:xfrm>
          <a:prstGeom prst="rect">
            <a:avLst/>
          </a:prstGeom>
          <a:noFill/>
          <a:ln/>
        </p:spPr>
        <p:txBody>
          <a:bodyPr wrap="square" lIns="0" tIns="0" rIns="0" bIns="0" rtlCol="0" anchor="t"/>
          <a:lstStyle/>
          <a:p>
            <a:pPr indent="0" marL="0">
              <a:buNone/>
            </a:pPr>
            <a:r>
              <a:rPr lang="en-US" sz="1100" dirty="0">
                <a:solidFill>
                  <a:schemeClr val="bg2"/>
                </a:solidFill>
              </a:rPr>
              <a:t>20–4000 Hz</a:t>
            </a:r>
            <a:endParaRPr lang="en-US" sz="1100" dirty="0"/>
          </a:p>
        </p:txBody>
      </p:sp>
      <p:sp>
        <p:nvSpPr>
          <p:cNvPr id="12" name="Shape 9"/>
          <p:cNvSpPr/>
          <p:nvPr/>
        </p:nvSpPr>
        <p:spPr>
          <a:xfrm>
            <a:off x="2560320" y="1600200"/>
            <a:ext cx="950976" cy="1737360"/>
          </a:xfrm>
          <a:prstGeom prst="rect">
            <a:avLst/>
          </a:prstGeom>
          <a:solidFill>
            <a:schemeClr val="tx1"/>
          </a:solidFill>
          <a:ln/>
        </p:spPr>
      </p:sp>
      <p:sp>
        <p:nvSpPr>
          <p:cNvPr id="13" name="Text 10"/>
          <p:cNvSpPr txBox="1"/>
          <p:nvPr/>
        </p:nvSpPr>
        <p:spPr>
          <a:xfrm>
            <a:off x="2633472" y="1691640"/>
            <a:ext cx="822960" cy="274320"/>
          </a:xfrm>
          <a:prstGeom prst="rect">
            <a:avLst/>
          </a:prstGeom>
          <a:noFill/>
          <a:ln/>
        </p:spPr>
        <p:txBody>
          <a:bodyPr wrap="square" lIns="0" tIns="0" rIns="0" bIns="0" rtlCol="0" anchor="t"/>
          <a:lstStyle/>
          <a:p>
            <a:pPr indent="0" marL="0">
              <a:buNone/>
            </a:pPr>
            <a:r>
              <a:rPr lang="en-US" sz="1200" b="1" dirty="0">
                <a:solidFill>
                  <a:schemeClr val="accent2"/>
                </a:solidFill>
                <a:latin typeface="Courier New" pitchFamily="34" charset="0"/>
                <a:ea typeface="Courier New" pitchFamily="34" charset="-122"/>
                <a:cs typeface="Courier New" pitchFamily="34" charset="-120"/>
              </a:rPr>
              <a:t>+8</a:t>
            </a:r>
            <a:endParaRPr lang="en-US" sz="1200" dirty="0"/>
          </a:p>
        </p:txBody>
      </p:sp>
      <p:sp>
        <p:nvSpPr>
          <p:cNvPr id="14" name="Text 11"/>
          <p:cNvSpPr txBox="1"/>
          <p:nvPr/>
        </p:nvSpPr>
        <p:spPr>
          <a:xfrm>
            <a:off x="2606040" y="2057400"/>
            <a:ext cx="914400" cy="548640"/>
          </a:xfrm>
          <a:prstGeom prst="rect">
            <a:avLst/>
          </a:prstGeom>
          <a:noFill/>
          <a:ln/>
        </p:spPr>
        <p:txBody>
          <a:bodyPr wrap="square" lIns="0" tIns="0" rIns="0" bIns="0" rtlCol="0" anchor="t"/>
          <a:lstStyle/>
          <a:p>
            <a:pPr indent="0" marL="0">
              <a:buNone/>
            </a:pPr>
            <a:r>
              <a:rPr lang="en-US" sz="1100" b="1" dirty="0">
                <a:solidFill>
                  <a:schemeClr val="bg1"/>
                </a:solidFill>
                <a:latin typeface="Courier New" pitchFamily="34" charset="0"/>
                <a:ea typeface="Courier New" pitchFamily="34" charset="-122"/>
                <a:cs typeface="Courier New" pitchFamily="34" charset="-120"/>
              </a:rPr>
              <a:t>slide</a:t>
            </a:r>
            <a:endParaRPr lang="en-US" sz="1100" dirty="0"/>
          </a:p>
        </p:txBody>
      </p:sp>
      <p:sp>
        <p:nvSpPr>
          <p:cNvPr id="15" name="Text 12"/>
          <p:cNvSpPr txBox="1"/>
          <p:nvPr/>
        </p:nvSpPr>
        <p:spPr>
          <a:xfrm>
            <a:off x="2633472" y="2697480"/>
            <a:ext cx="822960" cy="548640"/>
          </a:xfrm>
          <a:prstGeom prst="rect">
            <a:avLst/>
          </a:prstGeom>
          <a:noFill/>
          <a:ln/>
        </p:spPr>
        <p:txBody>
          <a:bodyPr wrap="square" lIns="0" tIns="0" rIns="0" bIns="0" rtlCol="0" anchor="t"/>
          <a:lstStyle/>
          <a:p>
            <a:pPr indent="0" marL="0">
              <a:buNone/>
            </a:pPr>
            <a:r>
              <a:rPr lang="en-US" sz="1100" dirty="0">
                <a:solidFill>
                  <a:schemeClr val="bg2"/>
                </a:solidFill>
              </a:rPr>
              <a:t>±4 oct/s</a:t>
            </a:r>
            <a:endParaRPr lang="en-US" sz="1100" dirty="0"/>
          </a:p>
        </p:txBody>
      </p:sp>
      <p:sp>
        <p:nvSpPr>
          <p:cNvPr id="16" name="Shape 13"/>
          <p:cNvSpPr/>
          <p:nvPr/>
        </p:nvSpPr>
        <p:spPr>
          <a:xfrm>
            <a:off x="3566160" y="1600200"/>
            <a:ext cx="950976" cy="1737360"/>
          </a:xfrm>
          <a:prstGeom prst="rect">
            <a:avLst/>
          </a:prstGeom>
          <a:solidFill>
            <a:schemeClr val="tx1"/>
          </a:solidFill>
          <a:ln/>
        </p:spPr>
      </p:sp>
      <p:sp>
        <p:nvSpPr>
          <p:cNvPr id="17" name="Text 14"/>
          <p:cNvSpPr txBox="1"/>
          <p:nvPr/>
        </p:nvSpPr>
        <p:spPr>
          <a:xfrm>
            <a:off x="3639312" y="1691640"/>
            <a:ext cx="822960" cy="274320"/>
          </a:xfrm>
          <a:prstGeom prst="rect">
            <a:avLst/>
          </a:prstGeom>
          <a:noFill/>
          <a:ln/>
        </p:spPr>
        <p:txBody>
          <a:bodyPr wrap="square" lIns="0" tIns="0" rIns="0" bIns="0" rtlCol="0" anchor="t"/>
          <a:lstStyle/>
          <a:p>
            <a:pPr indent="0" marL="0">
              <a:buNone/>
            </a:pPr>
            <a:r>
              <a:rPr lang="en-US" sz="1200" b="1" dirty="0">
                <a:solidFill>
                  <a:schemeClr val="accent2"/>
                </a:solidFill>
                <a:latin typeface="Courier New" pitchFamily="34" charset="0"/>
                <a:ea typeface="Courier New" pitchFamily="34" charset="-122"/>
                <a:cs typeface="Courier New" pitchFamily="34" charset="-120"/>
              </a:rPr>
              <a:t>+12</a:t>
            </a:r>
            <a:endParaRPr lang="en-US" sz="1200" dirty="0"/>
          </a:p>
        </p:txBody>
      </p:sp>
      <p:sp>
        <p:nvSpPr>
          <p:cNvPr id="18" name="Text 15"/>
          <p:cNvSpPr txBox="1"/>
          <p:nvPr/>
        </p:nvSpPr>
        <p:spPr>
          <a:xfrm>
            <a:off x="3611880" y="2057400"/>
            <a:ext cx="914400" cy="548640"/>
          </a:xfrm>
          <a:prstGeom prst="rect">
            <a:avLst/>
          </a:prstGeom>
          <a:noFill/>
          <a:ln/>
        </p:spPr>
        <p:txBody>
          <a:bodyPr wrap="square" lIns="0" tIns="0" rIns="0" bIns="0" rtlCol="0" anchor="t"/>
          <a:lstStyle/>
          <a:p>
            <a:pPr indent="0" marL="0">
              <a:buNone/>
            </a:pPr>
            <a:r>
              <a:rPr lang="en-US" sz="1100" b="1" dirty="0">
                <a:solidFill>
                  <a:schemeClr val="bg1"/>
                </a:solidFill>
                <a:latin typeface="Courier New" pitchFamily="34" charset="0"/>
                <a:ea typeface="Courier New" pitchFamily="34" charset="-122"/>
                <a:cs typeface="Courier New" pitchFamily="34" charset="-120"/>
              </a:rPr>
              <a:t>min_freq</a:t>
            </a:r>
            <a:endParaRPr lang="en-US" sz="1100" dirty="0"/>
          </a:p>
        </p:txBody>
      </p:sp>
      <p:sp>
        <p:nvSpPr>
          <p:cNvPr id="19" name="Text 16"/>
          <p:cNvSpPr txBox="1"/>
          <p:nvPr/>
        </p:nvSpPr>
        <p:spPr>
          <a:xfrm>
            <a:off x="3639312" y="2697480"/>
            <a:ext cx="822960" cy="548640"/>
          </a:xfrm>
          <a:prstGeom prst="rect">
            <a:avLst/>
          </a:prstGeom>
          <a:noFill/>
          <a:ln/>
        </p:spPr>
        <p:txBody>
          <a:bodyPr wrap="square" lIns="0" tIns="0" rIns="0" bIns="0" rtlCol="0" anchor="t"/>
          <a:lstStyle/>
          <a:p>
            <a:pPr indent="0" marL="0">
              <a:buNone/>
            </a:pPr>
            <a:r>
              <a:rPr lang="en-US" sz="1100" dirty="0">
                <a:solidFill>
                  <a:schemeClr val="bg2"/>
                </a:solidFill>
              </a:rPr>
              <a:t>20–1000 Hz</a:t>
            </a:r>
            <a:endParaRPr lang="en-US" sz="1100" dirty="0"/>
          </a:p>
        </p:txBody>
      </p:sp>
      <p:sp>
        <p:nvSpPr>
          <p:cNvPr id="20" name="Shape 17"/>
          <p:cNvSpPr/>
          <p:nvPr/>
        </p:nvSpPr>
        <p:spPr>
          <a:xfrm>
            <a:off x="4572000" y="1600200"/>
            <a:ext cx="950976" cy="1737360"/>
          </a:xfrm>
          <a:prstGeom prst="rect">
            <a:avLst/>
          </a:prstGeom>
          <a:solidFill>
            <a:schemeClr val="tx1"/>
          </a:solidFill>
          <a:ln/>
        </p:spPr>
      </p:sp>
      <p:sp>
        <p:nvSpPr>
          <p:cNvPr id="21" name="Text 18"/>
          <p:cNvSpPr txBox="1"/>
          <p:nvPr/>
        </p:nvSpPr>
        <p:spPr>
          <a:xfrm>
            <a:off x="4645152" y="1691640"/>
            <a:ext cx="822960" cy="274320"/>
          </a:xfrm>
          <a:prstGeom prst="rect">
            <a:avLst/>
          </a:prstGeom>
          <a:noFill/>
          <a:ln/>
        </p:spPr>
        <p:txBody>
          <a:bodyPr wrap="square" lIns="0" tIns="0" rIns="0" bIns="0" rtlCol="0" anchor="t"/>
          <a:lstStyle/>
          <a:p>
            <a:pPr indent="0" marL="0">
              <a:buNone/>
            </a:pPr>
            <a:r>
              <a:rPr lang="en-US" sz="1200" b="1" dirty="0">
                <a:solidFill>
                  <a:schemeClr val="accent2"/>
                </a:solidFill>
                <a:latin typeface="Courier New" pitchFamily="34" charset="0"/>
                <a:ea typeface="Courier New" pitchFamily="34" charset="-122"/>
                <a:cs typeface="Courier New" pitchFamily="34" charset="-120"/>
              </a:rPr>
              <a:t>+16</a:t>
            </a:r>
            <a:endParaRPr lang="en-US" sz="1200" dirty="0"/>
          </a:p>
        </p:txBody>
      </p:sp>
      <p:sp>
        <p:nvSpPr>
          <p:cNvPr id="22" name="Text 19"/>
          <p:cNvSpPr txBox="1"/>
          <p:nvPr/>
        </p:nvSpPr>
        <p:spPr>
          <a:xfrm>
            <a:off x="4617720" y="2057400"/>
            <a:ext cx="914400" cy="548640"/>
          </a:xfrm>
          <a:prstGeom prst="rect">
            <a:avLst/>
          </a:prstGeom>
          <a:noFill/>
          <a:ln/>
        </p:spPr>
        <p:txBody>
          <a:bodyPr wrap="square" lIns="0" tIns="0" rIns="0" bIns="0" rtlCol="0" anchor="t"/>
          <a:lstStyle/>
          <a:p>
            <a:pPr indent="0" marL="0">
              <a:buNone/>
            </a:pPr>
            <a:r>
              <a:rPr lang="en-US" sz="1100" b="1" dirty="0">
                <a:solidFill>
                  <a:schemeClr val="bg1"/>
                </a:solidFill>
                <a:latin typeface="Courier New" pitchFamily="34" charset="0"/>
                <a:ea typeface="Courier New" pitchFamily="34" charset="-122"/>
                <a:cs typeface="Courier New" pitchFamily="34" charset="-120"/>
              </a:rPr>
              <a:t>vib_depth</a:t>
            </a:r>
            <a:endParaRPr lang="en-US" sz="1100" dirty="0"/>
          </a:p>
        </p:txBody>
      </p:sp>
      <p:sp>
        <p:nvSpPr>
          <p:cNvPr id="23" name="Text 20"/>
          <p:cNvSpPr txBox="1"/>
          <p:nvPr/>
        </p:nvSpPr>
        <p:spPr>
          <a:xfrm>
            <a:off x="4645152" y="2697480"/>
            <a:ext cx="822960" cy="548640"/>
          </a:xfrm>
          <a:prstGeom prst="rect">
            <a:avLst/>
          </a:prstGeom>
          <a:noFill/>
          <a:ln/>
        </p:spPr>
        <p:txBody>
          <a:bodyPr wrap="square" lIns="0" tIns="0" rIns="0" bIns="0" rtlCol="0" anchor="t"/>
          <a:lstStyle/>
          <a:p>
            <a:pPr indent="0" marL="0">
              <a:buNone/>
            </a:pPr>
            <a:r>
              <a:rPr lang="en-US" sz="1100" dirty="0">
                <a:solidFill>
                  <a:schemeClr val="bg2"/>
                </a:solidFill>
              </a:rPr>
              <a:t>0–0.5</a:t>
            </a:r>
            <a:endParaRPr lang="en-US" sz="1100" dirty="0"/>
          </a:p>
        </p:txBody>
      </p:sp>
      <p:sp>
        <p:nvSpPr>
          <p:cNvPr id="24" name="Shape 21"/>
          <p:cNvSpPr/>
          <p:nvPr/>
        </p:nvSpPr>
        <p:spPr>
          <a:xfrm>
            <a:off x="5577840" y="1600200"/>
            <a:ext cx="950976" cy="1737360"/>
          </a:xfrm>
          <a:prstGeom prst="rect">
            <a:avLst/>
          </a:prstGeom>
          <a:solidFill>
            <a:schemeClr val="tx1"/>
          </a:solidFill>
          <a:ln/>
        </p:spPr>
      </p:sp>
      <p:sp>
        <p:nvSpPr>
          <p:cNvPr id="25" name="Text 22"/>
          <p:cNvSpPr txBox="1"/>
          <p:nvPr/>
        </p:nvSpPr>
        <p:spPr>
          <a:xfrm>
            <a:off x="5650992" y="1691640"/>
            <a:ext cx="822960" cy="274320"/>
          </a:xfrm>
          <a:prstGeom prst="rect">
            <a:avLst/>
          </a:prstGeom>
          <a:noFill/>
          <a:ln/>
        </p:spPr>
        <p:txBody>
          <a:bodyPr wrap="square" lIns="0" tIns="0" rIns="0" bIns="0" rtlCol="0" anchor="t"/>
          <a:lstStyle/>
          <a:p>
            <a:pPr indent="0" marL="0">
              <a:buNone/>
            </a:pPr>
            <a:r>
              <a:rPr lang="en-US" sz="1200" b="1" dirty="0">
                <a:solidFill>
                  <a:schemeClr val="accent2"/>
                </a:solidFill>
                <a:latin typeface="Courier New" pitchFamily="34" charset="0"/>
                <a:ea typeface="Courier New" pitchFamily="34" charset="-122"/>
                <a:cs typeface="Courier New" pitchFamily="34" charset="-120"/>
              </a:rPr>
              <a:t>+20</a:t>
            </a:r>
            <a:endParaRPr lang="en-US" sz="1200" dirty="0"/>
          </a:p>
        </p:txBody>
      </p:sp>
      <p:sp>
        <p:nvSpPr>
          <p:cNvPr id="26" name="Text 23"/>
          <p:cNvSpPr txBox="1"/>
          <p:nvPr/>
        </p:nvSpPr>
        <p:spPr>
          <a:xfrm>
            <a:off x="5623560" y="2057400"/>
            <a:ext cx="914400" cy="548640"/>
          </a:xfrm>
          <a:prstGeom prst="rect">
            <a:avLst/>
          </a:prstGeom>
          <a:noFill/>
          <a:ln/>
        </p:spPr>
        <p:txBody>
          <a:bodyPr wrap="square" lIns="0" tIns="0" rIns="0" bIns="0" rtlCol="0" anchor="t"/>
          <a:lstStyle/>
          <a:p>
            <a:pPr indent="0" marL="0">
              <a:buNone/>
            </a:pPr>
            <a:r>
              <a:rPr lang="en-US" sz="1100" b="1" dirty="0">
                <a:solidFill>
                  <a:schemeClr val="bg1"/>
                </a:solidFill>
                <a:latin typeface="Courier New" pitchFamily="34" charset="0"/>
                <a:ea typeface="Courier New" pitchFamily="34" charset="-122"/>
                <a:cs typeface="Courier New" pitchFamily="34" charset="-120"/>
              </a:rPr>
              <a:t>vib_rate</a:t>
            </a:r>
            <a:endParaRPr lang="en-US" sz="1100" dirty="0"/>
          </a:p>
        </p:txBody>
      </p:sp>
      <p:sp>
        <p:nvSpPr>
          <p:cNvPr id="27" name="Text 24"/>
          <p:cNvSpPr txBox="1"/>
          <p:nvPr/>
        </p:nvSpPr>
        <p:spPr>
          <a:xfrm>
            <a:off x="5650992" y="2697480"/>
            <a:ext cx="822960" cy="548640"/>
          </a:xfrm>
          <a:prstGeom prst="rect">
            <a:avLst/>
          </a:prstGeom>
          <a:noFill/>
          <a:ln/>
        </p:spPr>
        <p:txBody>
          <a:bodyPr wrap="square" lIns="0" tIns="0" rIns="0" bIns="0" rtlCol="0" anchor="t"/>
          <a:lstStyle/>
          <a:p>
            <a:pPr indent="0" marL="0">
              <a:buNone/>
            </a:pPr>
            <a:r>
              <a:rPr lang="en-US" sz="1100" dirty="0">
                <a:solidFill>
                  <a:schemeClr val="bg2"/>
                </a:solidFill>
              </a:rPr>
              <a:t>0–30 Hz</a:t>
            </a:r>
            <a:endParaRPr lang="en-US" sz="1100" dirty="0"/>
          </a:p>
        </p:txBody>
      </p:sp>
      <p:sp>
        <p:nvSpPr>
          <p:cNvPr id="28" name="Shape 25"/>
          <p:cNvSpPr/>
          <p:nvPr/>
        </p:nvSpPr>
        <p:spPr>
          <a:xfrm>
            <a:off x="6583680" y="1600200"/>
            <a:ext cx="950976" cy="1737360"/>
          </a:xfrm>
          <a:prstGeom prst="rect">
            <a:avLst/>
          </a:prstGeom>
          <a:solidFill>
            <a:schemeClr val="tx1"/>
          </a:solidFill>
          <a:ln/>
        </p:spPr>
      </p:sp>
      <p:sp>
        <p:nvSpPr>
          <p:cNvPr id="29" name="Text 26"/>
          <p:cNvSpPr txBox="1"/>
          <p:nvPr/>
        </p:nvSpPr>
        <p:spPr>
          <a:xfrm>
            <a:off x="6656832" y="1691640"/>
            <a:ext cx="822960" cy="274320"/>
          </a:xfrm>
          <a:prstGeom prst="rect">
            <a:avLst/>
          </a:prstGeom>
          <a:noFill/>
          <a:ln/>
        </p:spPr>
        <p:txBody>
          <a:bodyPr wrap="square" lIns="0" tIns="0" rIns="0" bIns="0" rtlCol="0" anchor="t"/>
          <a:lstStyle/>
          <a:p>
            <a:pPr indent="0" marL="0">
              <a:buNone/>
            </a:pPr>
            <a:r>
              <a:rPr lang="en-US" sz="1200" b="1" dirty="0">
                <a:solidFill>
                  <a:schemeClr val="accent2"/>
                </a:solidFill>
                <a:latin typeface="Courier New" pitchFamily="34" charset="0"/>
                <a:ea typeface="Courier New" pitchFamily="34" charset="-122"/>
                <a:cs typeface="Courier New" pitchFamily="34" charset="-120"/>
              </a:rPr>
              <a:t>+24</a:t>
            </a:r>
            <a:endParaRPr lang="en-US" sz="1200" dirty="0"/>
          </a:p>
        </p:txBody>
      </p:sp>
      <p:sp>
        <p:nvSpPr>
          <p:cNvPr id="30" name="Text 27"/>
          <p:cNvSpPr txBox="1"/>
          <p:nvPr/>
        </p:nvSpPr>
        <p:spPr>
          <a:xfrm>
            <a:off x="6629400" y="2057400"/>
            <a:ext cx="914400" cy="548640"/>
          </a:xfrm>
          <a:prstGeom prst="rect">
            <a:avLst/>
          </a:prstGeom>
          <a:noFill/>
          <a:ln/>
        </p:spPr>
        <p:txBody>
          <a:bodyPr wrap="square" lIns="0" tIns="0" rIns="0" bIns="0" rtlCol="0" anchor="t"/>
          <a:lstStyle/>
          <a:p>
            <a:pPr indent="0" marL="0">
              <a:buNone/>
            </a:pPr>
            <a:r>
              <a:rPr lang="en-US" sz="1100" b="1" dirty="0">
                <a:solidFill>
                  <a:schemeClr val="bg1"/>
                </a:solidFill>
                <a:latin typeface="Courier New" pitchFamily="34" charset="0"/>
                <a:ea typeface="Courier New" pitchFamily="34" charset="-122"/>
                <a:cs typeface="Courier New" pitchFamily="34" charset="-120"/>
              </a:rPr>
              <a:t>attack</a:t>
            </a:r>
            <a:endParaRPr lang="en-US" sz="1100" dirty="0"/>
          </a:p>
        </p:txBody>
      </p:sp>
      <p:sp>
        <p:nvSpPr>
          <p:cNvPr id="31" name="Text 28"/>
          <p:cNvSpPr txBox="1"/>
          <p:nvPr/>
        </p:nvSpPr>
        <p:spPr>
          <a:xfrm>
            <a:off x="6656832" y="2697480"/>
            <a:ext cx="822960" cy="548640"/>
          </a:xfrm>
          <a:prstGeom prst="rect">
            <a:avLst/>
          </a:prstGeom>
          <a:noFill/>
          <a:ln/>
        </p:spPr>
        <p:txBody>
          <a:bodyPr wrap="square" lIns="0" tIns="0" rIns="0" bIns="0" rtlCol="0" anchor="t"/>
          <a:lstStyle/>
          <a:p>
            <a:pPr indent="0" marL="0">
              <a:buNone/>
            </a:pPr>
            <a:r>
              <a:rPr lang="en-US" sz="1100" dirty="0">
                <a:solidFill>
                  <a:schemeClr val="bg2"/>
                </a:solidFill>
              </a:rPr>
              <a:t>0–2 s</a:t>
            </a:r>
            <a:endParaRPr lang="en-US" sz="1100" dirty="0"/>
          </a:p>
        </p:txBody>
      </p:sp>
      <p:sp>
        <p:nvSpPr>
          <p:cNvPr id="32" name="Shape 29"/>
          <p:cNvSpPr/>
          <p:nvPr/>
        </p:nvSpPr>
        <p:spPr>
          <a:xfrm>
            <a:off x="7589520" y="1600200"/>
            <a:ext cx="950976" cy="1737360"/>
          </a:xfrm>
          <a:prstGeom prst="rect">
            <a:avLst/>
          </a:prstGeom>
          <a:solidFill>
            <a:schemeClr val="tx1"/>
          </a:solidFill>
          <a:ln/>
        </p:spPr>
      </p:sp>
      <p:sp>
        <p:nvSpPr>
          <p:cNvPr id="33" name="Text 30"/>
          <p:cNvSpPr txBox="1"/>
          <p:nvPr/>
        </p:nvSpPr>
        <p:spPr>
          <a:xfrm>
            <a:off x="7662672" y="1691640"/>
            <a:ext cx="822960" cy="274320"/>
          </a:xfrm>
          <a:prstGeom prst="rect">
            <a:avLst/>
          </a:prstGeom>
          <a:noFill/>
          <a:ln/>
        </p:spPr>
        <p:txBody>
          <a:bodyPr wrap="square" lIns="0" tIns="0" rIns="0" bIns="0" rtlCol="0" anchor="t"/>
          <a:lstStyle/>
          <a:p>
            <a:pPr indent="0" marL="0">
              <a:buNone/>
            </a:pPr>
            <a:r>
              <a:rPr lang="en-US" sz="1200" b="1" dirty="0">
                <a:solidFill>
                  <a:schemeClr val="accent2"/>
                </a:solidFill>
                <a:latin typeface="Courier New" pitchFamily="34" charset="0"/>
                <a:ea typeface="Courier New" pitchFamily="34" charset="-122"/>
                <a:cs typeface="Courier New" pitchFamily="34" charset="-120"/>
              </a:rPr>
              <a:t>+28</a:t>
            </a:r>
            <a:endParaRPr lang="en-US" sz="1200" dirty="0"/>
          </a:p>
        </p:txBody>
      </p:sp>
      <p:sp>
        <p:nvSpPr>
          <p:cNvPr id="34" name="Text 31"/>
          <p:cNvSpPr txBox="1"/>
          <p:nvPr/>
        </p:nvSpPr>
        <p:spPr>
          <a:xfrm>
            <a:off x="7635240" y="2057400"/>
            <a:ext cx="914400" cy="548640"/>
          </a:xfrm>
          <a:prstGeom prst="rect">
            <a:avLst/>
          </a:prstGeom>
          <a:noFill/>
          <a:ln/>
        </p:spPr>
        <p:txBody>
          <a:bodyPr wrap="square" lIns="0" tIns="0" rIns="0" bIns="0" rtlCol="0" anchor="t"/>
          <a:lstStyle/>
          <a:p>
            <a:pPr indent="0" marL="0">
              <a:buNone/>
            </a:pPr>
            <a:r>
              <a:rPr lang="en-US" sz="1100" b="1" dirty="0">
                <a:solidFill>
                  <a:schemeClr val="bg1"/>
                </a:solidFill>
                <a:latin typeface="Courier New" pitchFamily="34" charset="0"/>
                <a:ea typeface="Courier New" pitchFamily="34" charset="-122"/>
                <a:cs typeface="Courier New" pitchFamily="34" charset="-120"/>
              </a:rPr>
              <a:t>sustain</a:t>
            </a:r>
            <a:endParaRPr lang="en-US" sz="1100" dirty="0"/>
          </a:p>
        </p:txBody>
      </p:sp>
      <p:sp>
        <p:nvSpPr>
          <p:cNvPr id="35" name="Text 32"/>
          <p:cNvSpPr txBox="1"/>
          <p:nvPr/>
        </p:nvSpPr>
        <p:spPr>
          <a:xfrm>
            <a:off x="7662672" y="2697480"/>
            <a:ext cx="822960" cy="548640"/>
          </a:xfrm>
          <a:prstGeom prst="rect">
            <a:avLst/>
          </a:prstGeom>
          <a:noFill/>
          <a:ln/>
        </p:spPr>
        <p:txBody>
          <a:bodyPr wrap="square" lIns="0" tIns="0" rIns="0" bIns="0" rtlCol="0" anchor="t"/>
          <a:lstStyle/>
          <a:p>
            <a:pPr indent="0" marL="0">
              <a:buNone/>
            </a:pPr>
            <a:r>
              <a:rPr lang="en-US" sz="1100" dirty="0">
                <a:solidFill>
                  <a:schemeClr val="bg2"/>
                </a:solidFill>
              </a:rPr>
              <a:t>0–2 s</a:t>
            </a:r>
            <a:endParaRPr lang="en-US" sz="1100" dirty="0"/>
          </a:p>
        </p:txBody>
      </p:sp>
      <p:sp>
        <p:nvSpPr>
          <p:cNvPr id="36" name="Shape 33"/>
          <p:cNvSpPr/>
          <p:nvPr/>
        </p:nvSpPr>
        <p:spPr>
          <a:xfrm>
            <a:off x="8595360" y="1600200"/>
            <a:ext cx="950976" cy="1737360"/>
          </a:xfrm>
          <a:prstGeom prst="rect">
            <a:avLst/>
          </a:prstGeom>
          <a:solidFill>
            <a:schemeClr val="tx1"/>
          </a:solidFill>
          <a:ln/>
        </p:spPr>
      </p:sp>
      <p:sp>
        <p:nvSpPr>
          <p:cNvPr id="37" name="Text 34"/>
          <p:cNvSpPr txBox="1"/>
          <p:nvPr/>
        </p:nvSpPr>
        <p:spPr>
          <a:xfrm>
            <a:off x="8668512" y="1691640"/>
            <a:ext cx="822960" cy="274320"/>
          </a:xfrm>
          <a:prstGeom prst="rect">
            <a:avLst/>
          </a:prstGeom>
          <a:noFill/>
          <a:ln/>
        </p:spPr>
        <p:txBody>
          <a:bodyPr wrap="square" lIns="0" tIns="0" rIns="0" bIns="0" rtlCol="0" anchor="t"/>
          <a:lstStyle/>
          <a:p>
            <a:pPr indent="0" marL="0">
              <a:buNone/>
            </a:pPr>
            <a:r>
              <a:rPr lang="en-US" sz="1200" b="1" dirty="0">
                <a:solidFill>
                  <a:schemeClr val="accent2"/>
                </a:solidFill>
                <a:latin typeface="Courier New" pitchFamily="34" charset="0"/>
                <a:ea typeface="Courier New" pitchFamily="34" charset="-122"/>
                <a:cs typeface="Courier New" pitchFamily="34" charset="-120"/>
              </a:rPr>
              <a:t>+32</a:t>
            </a:r>
            <a:endParaRPr lang="en-US" sz="1200" dirty="0"/>
          </a:p>
        </p:txBody>
      </p:sp>
      <p:sp>
        <p:nvSpPr>
          <p:cNvPr id="38" name="Text 35"/>
          <p:cNvSpPr txBox="1"/>
          <p:nvPr/>
        </p:nvSpPr>
        <p:spPr>
          <a:xfrm>
            <a:off x="8641080" y="2057400"/>
            <a:ext cx="914400" cy="548640"/>
          </a:xfrm>
          <a:prstGeom prst="rect">
            <a:avLst/>
          </a:prstGeom>
          <a:noFill/>
          <a:ln/>
        </p:spPr>
        <p:txBody>
          <a:bodyPr wrap="square" lIns="0" tIns="0" rIns="0" bIns="0" rtlCol="0" anchor="t"/>
          <a:lstStyle/>
          <a:p>
            <a:pPr indent="0" marL="0">
              <a:buNone/>
            </a:pPr>
            <a:r>
              <a:rPr lang="en-US" sz="1100" b="1" dirty="0">
                <a:solidFill>
                  <a:schemeClr val="bg1"/>
                </a:solidFill>
                <a:latin typeface="Courier New" pitchFamily="34" charset="0"/>
                <a:ea typeface="Courier New" pitchFamily="34" charset="-122"/>
                <a:cs typeface="Courier New" pitchFamily="34" charset="-120"/>
              </a:rPr>
              <a:t>decay</a:t>
            </a:r>
            <a:endParaRPr lang="en-US" sz="1100" dirty="0"/>
          </a:p>
        </p:txBody>
      </p:sp>
      <p:sp>
        <p:nvSpPr>
          <p:cNvPr id="39" name="Text 36"/>
          <p:cNvSpPr txBox="1"/>
          <p:nvPr/>
        </p:nvSpPr>
        <p:spPr>
          <a:xfrm>
            <a:off x="8668512" y="2697480"/>
            <a:ext cx="822960" cy="548640"/>
          </a:xfrm>
          <a:prstGeom prst="rect">
            <a:avLst/>
          </a:prstGeom>
          <a:noFill/>
          <a:ln/>
        </p:spPr>
        <p:txBody>
          <a:bodyPr wrap="square" lIns="0" tIns="0" rIns="0" bIns="0" rtlCol="0" anchor="t"/>
          <a:lstStyle/>
          <a:p>
            <a:pPr indent="0" marL="0">
              <a:buNone/>
            </a:pPr>
            <a:r>
              <a:rPr lang="en-US" sz="1100" dirty="0">
                <a:solidFill>
                  <a:schemeClr val="bg2"/>
                </a:solidFill>
              </a:rPr>
              <a:t>0–3 s</a:t>
            </a:r>
            <a:endParaRPr lang="en-US" sz="1100" dirty="0"/>
          </a:p>
        </p:txBody>
      </p:sp>
      <p:sp>
        <p:nvSpPr>
          <p:cNvPr id="40" name="Shape 37"/>
          <p:cNvSpPr/>
          <p:nvPr/>
        </p:nvSpPr>
        <p:spPr>
          <a:xfrm>
            <a:off x="9601200" y="1600200"/>
            <a:ext cx="950976" cy="1737360"/>
          </a:xfrm>
          <a:prstGeom prst="rect">
            <a:avLst/>
          </a:prstGeom>
          <a:solidFill>
            <a:schemeClr val="tx1"/>
          </a:solidFill>
          <a:ln/>
        </p:spPr>
      </p:sp>
      <p:sp>
        <p:nvSpPr>
          <p:cNvPr id="41" name="Text 38"/>
          <p:cNvSpPr txBox="1"/>
          <p:nvPr/>
        </p:nvSpPr>
        <p:spPr>
          <a:xfrm>
            <a:off x="9674352" y="1691640"/>
            <a:ext cx="822960" cy="274320"/>
          </a:xfrm>
          <a:prstGeom prst="rect">
            <a:avLst/>
          </a:prstGeom>
          <a:noFill/>
          <a:ln/>
        </p:spPr>
        <p:txBody>
          <a:bodyPr wrap="square" lIns="0" tIns="0" rIns="0" bIns="0" rtlCol="0" anchor="t"/>
          <a:lstStyle/>
          <a:p>
            <a:pPr indent="0" marL="0">
              <a:buNone/>
            </a:pPr>
            <a:r>
              <a:rPr lang="en-US" sz="1200" b="1" dirty="0">
                <a:solidFill>
                  <a:schemeClr val="accent2"/>
                </a:solidFill>
                <a:latin typeface="Courier New" pitchFamily="34" charset="0"/>
                <a:ea typeface="Courier New" pitchFamily="34" charset="-122"/>
                <a:cs typeface="Courier New" pitchFamily="34" charset="-120"/>
              </a:rPr>
              <a:t>+36</a:t>
            </a:r>
            <a:endParaRPr lang="en-US" sz="1200" dirty="0"/>
          </a:p>
        </p:txBody>
      </p:sp>
      <p:sp>
        <p:nvSpPr>
          <p:cNvPr id="42" name="Text 39"/>
          <p:cNvSpPr txBox="1"/>
          <p:nvPr/>
        </p:nvSpPr>
        <p:spPr>
          <a:xfrm>
            <a:off x="9646920" y="2057400"/>
            <a:ext cx="914400" cy="548640"/>
          </a:xfrm>
          <a:prstGeom prst="rect">
            <a:avLst/>
          </a:prstGeom>
          <a:noFill/>
          <a:ln/>
        </p:spPr>
        <p:txBody>
          <a:bodyPr wrap="square" lIns="0" tIns="0" rIns="0" bIns="0" rtlCol="0" anchor="t"/>
          <a:lstStyle/>
          <a:p>
            <a:pPr indent="0" marL="0">
              <a:buNone/>
            </a:pPr>
            <a:r>
              <a:rPr lang="en-US" sz="1100" b="1" dirty="0">
                <a:solidFill>
                  <a:schemeClr val="bg1"/>
                </a:solidFill>
                <a:latin typeface="Courier New" pitchFamily="34" charset="0"/>
                <a:ea typeface="Courier New" pitchFamily="34" charset="-122"/>
                <a:cs typeface="Courier New" pitchFamily="34" charset="-120"/>
              </a:rPr>
              <a:t>volume</a:t>
            </a:r>
            <a:endParaRPr lang="en-US" sz="1100" dirty="0"/>
          </a:p>
        </p:txBody>
      </p:sp>
      <p:sp>
        <p:nvSpPr>
          <p:cNvPr id="43" name="Text 40"/>
          <p:cNvSpPr txBox="1"/>
          <p:nvPr/>
        </p:nvSpPr>
        <p:spPr>
          <a:xfrm>
            <a:off x="9674352" y="2697480"/>
            <a:ext cx="822960" cy="548640"/>
          </a:xfrm>
          <a:prstGeom prst="rect">
            <a:avLst/>
          </a:prstGeom>
          <a:noFill/>
          <a:ln/>
        </p:spPr>
        <p:txBody>
          <a:bodyPr wrap="square" lIns="0" tIns="0" rIns="0" bIns="0" rtlCol="0" anchor="t"/>
          <a:lstStyle/>
          <a:p>
            <a:pPr indent="0" marL="0">
              <a:buNone/>
            </a:pPr>
            <a:r>
              <a:rPr lang="en-US" sz="1100" dirty="0">
                <a:solidFill>
                  <a:schemeClr val="bg2"/>
                </a:solidFill>
              </a:rPr>
              <a:t>0–1</a:t>
            </a:r>
            <a:endParaRPr lang="en-US" sz="1100" dirty="0"/>
          </a:p>
        </p:txBody>
      </p:sp>
      <p:sp>
        <p:nvSpPr>
          <p:cNvPr id="44" name="Shape 41"/>
          <p:cNvSpPr/>
          <p:nvPr/>
        </p:nvSpPr>
        <p:spPr>
          <a:xfrm>
            <a:off x="10607040" y="1600200"/>
            <a:ext cx="950976" cy="1737360"/>
          </a:xfrm>
          <a:prstGeom prst="rect">
            <a:avLst/>
          </a:prstGeom>
          <a:solidFill>
            <a:schemeClr val="accent3"/>
          </a:solidFill>
          <a:ln/>
        </p:spPr>
      </p:sp>
      <p:sp>
        <p:nvSpPr>
          <p:cNvPr id="45" name="Text 42"/>
          <p:cNvSpPr txBox="1"/>
          <p:nvPr/>
        </p:nvSpPr>
        <p:spPr>
          <a:xfrm>
            <a:off x="10680192" y="1691640"/>
            <a:ext cx="822960" cy="274320"/>
          </a:xfrm>
          <a:prstGeom prst="rect">
            <a:avLst/>
          </a:prstGeom>
          <a:noFill/>
          <a:ln/>
        </p:spPr>
        <p:txBody>
          <a:bodyPr wrap="square" lIns="0" tIns="0" rIns="0" bIns="0" rtlCol="0" anchor="t"/>
          <a:lstStyle/>
          <a:p>
            <a:pPr indent="0" marL="0">
              <a:buNone/>
            </a:pPr>
            <a:r>
              <a:rPr lang="en-US" sz="1200" b="1" dirty="0">
                <a:solidFill>
                  <a:schemeClr val="tx1"/>
                </a:solidFill>
                <a:latin typeface="Courier New" pitchFamily="34" charset="0"/>
                <a:ea typeface="Courier New" pitchFamily="34" charset="-122"/>
                <a:cs typeface="Courier New" pitchFamily="34" charset="-120"/>
              </a:rPr>
              <a:t>+40</a:t>
            </a:r>
            <a:endParaRPr lang="en-US" sz="1200" dirty="0"/>
          </a:p>
        </p:txBody>
      </p:sp>
      <p:sp>
        <p:nvSpPr>
          <p:cNvPr id="46" name="Text 43"/>
          <p:cNvSpPr txBox="1"/>
          <p:nvPr/>
        </p:nvSpPr>
        <p:spPr>
          <a:xfrm>
            <a:off x="10652760" y="2057400"/>
            <a:ext cx="914400" cy="548640"/>
          </a:xfrm>
          <a:prstGeom prst="rect">
            <a:avLst/>
          </a:prstGeom>
          <a:noFill/>
          <a:ln/>
        </p:spPr>
        <p:txBody>
          <a:bodyPr wrap="square" lIns="0" tIns="0" rIns="0" bIns="0" rtlCol="0" anchor="t"/>
          <a:lstStyle/>
          <a:p>
            <a:pPr indent="0" marL="0">
              <a:buNone/>
            </a:pPr>
            <a:r>
              <a:rPr lang="en-US" sz="1100" b="1" dirty="0">
                <a:solidFill>
                  <a:schemeClr val="tx1"/>
                </a:solidFill>
                <a:latin typeface="Courier New" pitchFamily="34" charset="0"/>
                <a:ea typeface="Courier New" pitchFamily="34" charset="-122"/>
                <a:cs typeface="Courier New" pitchFamily="34" charset="-120"/>
              </a:rPr>
              <a:t>seed</a:t>
            </a:r>
            <a:endParaRPr lang="en-US" sz="1100" dirty="0"/>
          </a:p>
        </p:txBody>
      </p:sp>
      <p:sp>
        <p:nvSpPr>
          <p:cNvPr id="47" name="Text 44"/>
          <p:cNvSpPr txBox="1"/>
          <p:nvPr/>
        </p:nvSpPr>
        <p:spPr>
          <a:xfrm>
            <a:off x="10680192" y="2697480"/>
            <a:ext cx="822960" cy="548640"/>
          </a:xfrm>
          <a:prstGeom prst="rect">
            <a:avLst/>
          </a:prstGeom>
          <a:noFill/>
          <a:ln/>
        </p:spPr>
        <p:txBody>
          <a:bodyPr wrap="square" lIns="0" tIns="0" rIns="0" bIns="0" rtlCol="0" anchor="t"/>
          <a:lstStyle/>
          <a:p>
            <a:pPr indent="0" marL="0">
              <a:buNone/>
            </a:pPr>
            <a:r>
              <a:rPr lang="en-US" sz="1100" dirty="0">
                <a:solidFill>
                  <a:schemeClr val="tx1"/>
                </a:solidFill>
              </a:rPr>
              <a:t>≠ 0</a:t>
            </a:r>
            <a:endParaRPr lang="en-US" sz="1100" dirty="0"/>
          </a:p>
        </p:txBody>
      </p:sp>
      <p:sp>
        <p:nvSpPr>
          <p:cNvPr id="48" name="Text 45"/>
          <p:cNvSpPr txBox="1"/>
          <p:nvPr/>
        </p:nvSpPr>
        <p:spPr>
          <a:xfrm>
            <a:off x="548640" y="3474720"/>
            <a:ext cx="10972800" cy="320040"/>
          </a:xfrm>
          <a:prstGeom prst="rect">
            <a:avLst/>
          </a:prstGeom>
          <a:noFill/>
          <a:ln/>
        </p:spPr>
        <p:txBody>
          <a:bodyPr wrap="square" lIns="0" tIns="0" rIns="0" bIns="0" rtlCol="0" anchor="t"/>
          <a:lstStyle/>
          <a:p>
            <a:pPr indent="0" marL="0">
              <a:buNone/>
            </a:pPr>
            <a:r>
              <a:rPr lang="en-US" sz="1300" b="1" dirty="0">
                <a:solidFill>
                  <a:schemeClr val="accent3"/>
                </a:solidFill>
              </a:rPr>
              <a:t>uint32</a:t>
            </a:r>
            <a:pPr indent="0" marL="0">
              <a:buNone/>
            </a:pPr>
            <a:r>
              <a:rPr lang="en-US" sz="1300" dirty="0">
                <a:solidFill>
                  <a:schemeClr val="accent5"/>
                </a:solidFill>
              </a:rPr>
              <a:t>   </a:t>
            </a:r>
            <a:pPr indent="0" marL="0">
              <a:buNone/>
            </a:pPr>
            <a:r>
              <a:rPr lang="en-US" sz="1300" b="1" dirty="0">
                <a:solidFill>
                  <a:schemeClr val="tx1"/>
                </a:solidFill>
              </a:rPr>
              <a:t>float32</a:t>
            </a:r>
            <a:pPr indent="0" marL="0">
              <a:buNone/>
            </a:pPr>
            <a:r>
              <a:rPr lang="en-US" sz="1300" dirty="0">
                <a:solidFill>
                  <a:schemeClr val="accent5"/>
                </a:solidFill>
              </a:rPr>
              <a:t>   Each box = 4 bytes. 11 × 4 = 44 bytes.</a:t>
            </a:r>
            <a:endParaRPr lang="en-US" sz="1300" dirty="0"/>
          </a:p>
        </p:txBody>
      </p:sp>
      <p:sp>
        <p:nvSpPr>
          <p:cNvPr id="49" name="Text 46"/>
          <p:cNvSpPr txBox="1"/>
          <p:nvPr/>
        </p:nvSpPr>
        <p:spPr>
          <a:xfrm>
            <a:off x="548640" y="4023360"/>
            <a:ext cx="7315200" cy="365760"/>
          </a:xfrm>
          <a:prstGeom prst="rect">
            <a:avLst/>
          </a:prstGeom>
          <a:noFill/>
          <a:ln/>
        </p:spPr>
        <p:txBody>
          <a:bodyPr wrap="square" lIns="0" tIns="0" rIns="0" bIns="0" rtlCol="0" anchor="t"/>
          <a:lstStyle/>
          <a:p>
            <a:pPr indent="0" marL="0">
              <a:buNone/>
            </a:pPr>
            <a:r>
              <a:rPr lang="en-US" sz="1800" b="1" dirty="0">
                <a:solidFill>
                  <a:schemeClr val="accent1"/>
                </a:solidFill>
              </a:rPr>
              <a:t>Written three times, must match byte for byte</a:t>
            </a:r>
            <a:endParaRPr lang="en-US" sz="1800" dirty="0"/>
          </a:p>
        </p:txBody>
      </p:sp>
      <p:sp>
        <p:nvSpPr>
          <p:cNvPr id="50" name="card"/>
          <p:cNvSpPr/>
          <p:nvPr/>
        </p:nvSpPr>
        <p:spPr>
          <a:xfrm>
            <a:off x="548640" y="4526280"/>
            <a:ext cx="3566160" cy="1463040"/>
          </a:xfrm>
          <a:prstGeom prst="roundRect">
            <a:avLst>
              <a:gd name="adj" fmla="val 5000"/>
            </a:avLst>
          </a:prstGeom>
          <a:solidFill>
            <a:schemeClr val="bg2"/>
          </a:solidFill>
          <a:ln/>
        </p:spPr>
      </p:sp>
      <p:sp>
        <p:nvSpPr>
          <p:cNvPr id="51" name="Text 48"/>
          <p:cNvSpPr txBox="1"/>
          <p:nvPr/>
        </p:nvSpPr>
        <p:spPr>
          <a:xfrm>
            <a:off x="777240" y="4663440"/>
            <a:ext cx="3108960" cy="365760"/>
          </a:xfrm>
          <a:prstGeom prst="rect">
            <a:avLst/>
          </a:prstGeom>
          <a:noFill/>
          <a:ln/>
        </p:spPr>
        <p:txBody>
          <a:bodyPr wrap="square" lIns="0" tIns="0" rIns="0" bIns="0" rtlCol="0" anchor="t"/>
          <a:lstStyle/>
          <a:p>
            <a:pPr indent="0" marL="0">
              <a:buNone/>
            </a:pPr>
            <a:r>
              <a:rPr lang="en-US" sz="1800" b="1" dirty="0">
                <a:solidFill>
                  <a:schemeClr val="tx1"/>
                </a:solidFill>
              </a:rPr>
              <a:t>NASM</a:t>
            </a:r>
            <a:endParaRPr lang="en-US" sz="1800" dirty="0"/>
          </a:p>
        </p:txBody>
      </p:sp>
      <p:sp>
        <p:nvSpPr>
          <p:cNvPr id="52" name="Text 49"/>
          <p:cNvSpPr txBox="1"/>
          <p:nvPr/>
        </p:nvSpPr>
        <p:spPr>
          <a:xfrm>
            <a:off x="777240" y="5074920"/>
            <a:ext cx="3200400" cy="411480"/>
          </a:xfrm>
          <a:prstGeom prst="rect">
            <a:avLst/>
          </a:prstGeom>
          <a:noFill/>
          <a:ln/>
        </p:spPr>
        <p:txBody>
          <a:bodyPr wrap="square" lIns="0" tIns="0" rIns="0" bIns="0" rtlCol="0" anchor="t"/>
          <a:lstStyle/>
          <a:p>
            <a:pPr indent="0" marL="0">
              <a:buNone/>
            </a:pPr>
            <a:r>
              <a:rPr lang="en-US" sz="1200" dirty="0">
                <a:solidFill>
                  <a:schemeClr val="accent1"/>
                </a:solidFill>
                <a:latin typeface="Courier New" pitchFamily="34" charset="0"/>
                <a:ea typeface="Courier New" pitchFamily="34" charset="-122"/>
                <a:cs typeface="Courier New" pitchFamily="34" charset="-120"/>
              </a:rPr>
              <a:t>struc SfxParams</a:t>
            </a:r>
            <a:endParaRPr lang="en-US" sz="1200" dirty="0"/>
          </a:p>
        </p:txBody>
      </p:sp>
      <p:sp>
        <p:nvSpPr>
          <p:cNvPr id="53" name="Text 50"/>
          <p:cNvSpPr txBox="1"/>
          <p:nvPr/>
        </p:nvSpPr>
        <p:spPr>
          <a:xfrm>
            <a:off x="777240" y="5532120"/>
            <a:ext cx="3108960" cy="320040"/>
          </a:xfrm>
          <a:prstGeom prst="rect">
            <a:avLst/>
          </a:prstGeom>
          <a:noFill/>
          <a:ln/>
        </p:spPr>
        <p:txBody>
          <a:bodyPr wrap="square" lIns="0" tIns="0" rIns="0" bIns="0" rtlCol="0" anchor="t"/>
          <a:lstStyle/>
          <a:p>
            <a:pPr indent="0" marL="0">
              <a:buNone/>
            </a:pPr>
            <a:r>
              <a:rPr lang="en-US" sz="1200" dirty="0">
                <a:solidFill>
                  <a:schemeClr val="accent5"/>
                </a:solidFill>
              </a:rPr>
              <a:t>engine/sfx.asm</a:t>
            </a:r>
            <a:endParaRPr lang="en-US" sz="1200" dirty="0"/>
          </a:p>
        </p:txBody>
      </p:sp>
      <p:sp>
        <p:nvSpPr>
          <p:cNvPr id="54" name="card"/>
          <p:cNvSpPr/>
          <p:nvPr/>
        </p:nvSpPr>
        <p:spPr>
          <a:xfrm>
            <a:off x="4297680" y="4526280"/>
            <a:ext cx="3566160" cy="1463040"/>
          </a:xfrm>
          <a:prstGeom prst="roundRect">
            <a:avLst>
              <a:gd name="adj" fmla="val 5000"/>
            </a:avLst>
          </a:prstGeom>
          <a:solidFill>
            <a:schemeClr val="bg2"/>
          </a:solidFill>
          <a:ln/>
        </p:spPr>
      </p:sp>
      <p:sp>
        <p:nvSpPr>
          <p:cNvPr id="55" name="Text 52"/>
          <p:cNvSpPr txBox="1"/>
          <p:nvPr/>
        </p:nvSpPr>
        <p:spPr>
          <a:xfrm>
            <a:off x="4526280" y="4663440"/>
            <a:ext cx="3108960" cy="365760"/>
          </a:xfrm>
          <a:prstGeom prst="rect">
            <a:avLst/>
          </a:prstGeom>
          <a:noFill/>
          <a:ln/>
        </p:spPr>
        <p:txBody>
          <a:bodyPr wrap="square" lIns="0" tIns="0" rIns="0" bIns="0" rtlCol="0" anchor="t"/>
          <a:lstStyle/>
          <a:p>
            <a:pPr indent="0" marL="0">
              <a:buNone/>
            </a:pPr>
            <a:r>
              <a:rPr lang="en-US" sz="1800" b="1" dirty="0">
                <a:solidFill>
                  <a:schemeClr val="tx1"/>
                </a:solidFill>
              </a:rPr>
              <a:t>C</a:t>
            </a:r>
            <a:endParaRPr lang="en-US" sz="1800" dirty="0"/>
          </a:p>
        </p:txBody>
      </p:sp>
      <p:sp>
        <p:nvSpPr>
          <p:cNvPr id="56" name="Text 53"/>
          <p:cNvSpPr txBox="1"/>
          <p:nvPr/>
        </p:nvSpPr>
        <p:spPr>
          <a:xfrm>
            <a:off x="4526280" y="5074920"/>
            <a:ext cx="3200400" cy="411480"/>
          </a:xfrm>
          <a:prstGeom prst="rect">
            <a:avLst/>
          </a:prstGeom>
          <a:noFill/>
          <a:ln/>
        </p:spPr>
        <p:txBody>
          <a:bodyPr wrap="square" lIns="0" tIns="0" rIns="0" bIns="0" rtlCol="0" anchor="t"/>
          <a:lstStyle/>
          <a:p>
            <a:pPr indent="0" marL="0">
              <a:buNone/>
            </a:pPr>
            <a:r>
              <a:rPr lang="en-US" sz="1200" dirty="0">
                <a:solidFill>
                  <a:schemeClr val="accent1"/>
                </a:solidFill>
                <a:latin typeface="Courier New" pitchFamily="34" charset="0"/>
                <a:ea typeface="Courier New" pitchFamily="34" charset="-122"/>
                <a:cs typeface="Courier New" pitchFamily="34" charset="-120"/>
              </a:rPr>
              <a:t>typedef struct SfxParams</a:t>
            </a:r>
            <a:endParaRPr lang="en-US" sz="1200" dirty="0"/>
          </a:p>
        </p:txBody>
      </p:sp>
      <p:sp>
        <p:nvSpPr>
          <p:cNvPr id="57" name="Text 54"/>
          <p:cNvSpPr txBox="1"/>
          <p:nvPr/>
        </p:nvSpPr>
        <p:spPr>
          <a:xfrm>
            <a:off x="4526280" y="5532120"/>
            <a:ext cx="3108960" cy="320040"/>
          </a:xfrm>
          <a:prstGeom prst="rect">
            <a:avLst/>
          </a:prstGeom>
          <a:noFill/>
          <a:ln/>
        </p:spPr>
        <p:txBody>
          <a:bodyPr wrap="square" lIns="0" tIns="0" rIns="0" bIns="0" rtlCol="0" anchor="t"/>
          <a:lstStyle/>
          <a:p>
            <a:pPr indent="0" marL="0">
              <a:buNone/>
            </a:pPr>
            <a:r>
              <a:rPr lang="en-US" sz="1200" dirty="0">
                <a:solidFill>
                  <a:schemeClr val="accent5"/>
                </a:solidFill>
              </a:rPr>
              <a:t>ref/sfx.h</a:t>
            </a:r>
            <a:endParaRPr lang="en-US" sz="1200" dirty="0"/>
          </a:p>
        </p:txBody>
      </p:sp>
      <p:sp>
        <p:nvSpPr>
          <p:cNvPr id="58" name="card"/>
          <p:cNvSpPr/>
          <p:nvPr/>
        </p:nvSpPr>
        <p:spPr>
          <a:xfrm>
            <a:off x="8046720" y="4526280"/>
            <a:ext cx="3566160" cy="1463040"/>
          </a:xfrm>
          <a:prstGeom prst="roundRect">
            <a:avLst>
              <a:gd name="adj" fmla="val 5000"/>
            </a:avLst>
          </a:prstGeom>
          <a:solidFill>
            <a:schemeClr val="bg2"/>
          </a:solidFill>
          <a:ln/>
        </p:spPr>
      </p:sp>
      <p:sp>
        <p:nvSpPr>
          <p:cNvPr id="59" name="Text 56"/>
          <p:cNvSpPr txBox="1"/>
          <p:nvPr/>
        </p:nvSpPr>
        <p:spPr>
          <a:xfrm>
            <a:off x="8275320" y="4663440"/>
            <a:ext cx="3108960" cy="365760"/>
          </a:xfrm>
          <a:prstGeom prst="rect">
            <a:avLst/>
          </a:prstGeom>
          <a:noFill/>
          <a:ln/>
        </p:spPr>
        <p:txBody>
          <a:bodyPr wrap="square" lIns="0" tIns="0" rIns="0" bIns="0" rtlCol="0" anchor="t"/>
          <a:lstStyle/>
          <a:p>
            <a:pPr indent="0" marL="0">
              <a:buNone/>
            </a:pPr>
            <a:r>
              <a:rPr lang="en-US" sz="1800" b="1" dirty="0">
                <a:solidFill>
                  <a:schemeClr val="tx1"/>
                </a:solidFill>
              </a:rPr>
              <a:t>Python</a:t>
            </a:r>
            <a:endParaRPr lang="en-US" sz="1800" dirty="0"/>
          </a:p>
        </p:txBody>
      </p:sp>
      <p:sp>
        <p:nvSpPr>
          <p:cNvPr id="60" name="Text 57"/>
          <p:cNvSpPr txBox="1"/>
          <p:nvPr/>
        </p:nvSpPr>
        <p:spPr>
          <a:xfrm>
            <a:off x="8275320" y="5074920"/>
            <a:ext cx="3200400" cy="411480"/>
          </a:xfrm>
          <a:prstGeom prst="rect">
            <a:avLst/>
          </a:prstGeom>
          <a:noFill/>
          <a:ln/>
        </p:spPr>
        <p:txBody>
          <a:bodyPr wrap="square" lIns="0" tIns="0" rIns="0" bIns="0" rtlCol="0" anchor="t"/>
          <a:lstStyle/>
          <a:p>
            <a:pPr indent="0" marL="0">
              <a:buNone/>
            </a:pPr>
            <a:r>
              <a:rPr lang="en-US" sz="1200" dirty="0">
                <a:solidFill>
                  <a:schemeClr val="accent1"/>
                </a:solidFill>
                <a:latin typeface="Courier New" pitchFamily="34" charset="0"/>
                <a:ea typeface="Courier New" pitchFamily="34" charset="-122"/>
                <a:cs typeface="Courier New" pitchFamily="34" charset="-120"/>
              </a:rPr>
              <a:t>class SfxParams(ctypes.Structure)</a:t>
            </a:r>
            <a:endParaRPr lang="en-US" sz="1200" dirty="0"/>
          </a:p>
        </p:txBody>
      </p:sp>
      <p:sp>
        <p:nvSpPr>
          <p:cNvPr id="61" name="Text 58"/>
          <p:cNvSpPr txBox="1"/>
          <p:nvPr/>
        </p:nvSpPr>
        <p:spPr>
          <a:xfrm>
            <a:off x="8275320" y="5532120"/>
            <a:ext cx="3108960" cy="320040"/>
          </a:xfrm>
          <a:prstGeom prst="rect">
            <a:avLst/>
          </a:prstGeom>
          <a:noFill/>
          <a:ln/>
        </p:spPr>
        <p:txBody>
          <a:bodyPr wrap="square" lIns="0" tIns="0" rIns="0" bIns="0" rtlCol="0" anchor="t"/>
          <a:lstStyle/>
          <a:p>
            <a:pPr indent="0" marL="0">
              <a:buNone/>
            </a:pPr>
            <a:r>
              <a:rPr lang="en-US" sz="1200" dirty="0">
                <a:solidFill>
                  <a:schemeClr val="accent5"/>
                </a:solidFill>
              </a:rPr>
              <a:t>gui/sfx_binding.py</a:t>
            </a:r>
            <a:endParaRPr lang="en-US" sz="12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68680"/>
          </a:xfrm>
          <a:prstGeom prst="rect">
            <a:avLst/>
          </a:prstGeom>
          <a:noFill/>
          <a:ln/>
        </p:spPr>
        <p:txBody>
          <a:bodyPr wrap="square" lIns="0" tIns="0" rIns="0" bIns="0" rtlCol="0" anchor="ctr"/>
          <a:lstStyle/>
          <a:p>
            <a:pPr algn="l" indent="0" marL="0">
              <a:buNone/>
            </a:pPr>
            <a:r>
              <a:rPr lang="en-US" sz="2800" b="1" dirty="0">
                <a:solidFill>
                  <a:schemeClr val="tx1"/>
                </a:solidFill>
              </a:rPr>
              <a:t>Three exported functions follow the Windows x64 calling rules</a:t>
            </a:r>
            <a:endParaRPr lang="en-US" sz="2800" dirty="0"/>
          </a:p>
        </p:txBody>
      </p:sp>
      <p:sp>
        <p:nvSpPr>
          <p:cNvPr id="4" name="card"/>
          <p:cNvSpPr/>
          <p:nvPr/>
        </p:nvSpPr>
        <p:spPr>
          <a:xfrm>
            <a:off x="548640" y="1508760"/>
            <a:ext cx="3566160" cy="2514600"/>
          </a:xfrm>
          <a:prstGeom prst="roundRect">
            <a:avLst>
              <a:gd name="adj" fmla="val 2909"/>
            </a:avLst>
          </a:prstGeom>
          <a:solidFill>
            <a:schemeClr val="bg2"/>
          </a:solidFill>
          <a:ln/>
        </p:spPr>
      </p:sp>
      <p:sp>
        <p:nvSpPr>
          <p:cNvPr id="5" name="Text 2"/>
          <p:cNvSpPr txBox="1"/>
          <p:nvPr/>
        </p:nvSpPr>
        <p:spPr>
          <a:xfrm>
            <a:off x="777240" y="1691640"/>
            <a:ext cx="3200400" cy="411480"/>
          </a:xfrm>
          <a:prstGeom prst="rect">
            <a:avLst/>
          </a:prstGeom>
          <a:noFill/>
          <a:ln/>
        </p:spPr>
        <p:txBody>
          <a:bodyPr wrap="square" lIns="0" tIns="0" rIns="0" bIns="0" rtlCol="0" anchor="t"/>
          <a:lstStyle/>
          <a:p>
            <a:pPr indent="0" marL="0">
              <a:buNone/>
            </a:pPr>
            <a:r>
              <a:rPr lang="en-US" sz="1800" b="1" dirty="0">
                <a:solidFill>
                  <a:schemeClr val="accent1"/>
                </a:solidFill>
                <a:latin typeface="Courier New" pitchFamily="34" charset="0"/>
                <a:ea typeface="Courier New" pitchFamily="34" charset="-122"/>
                <a:cs typeface="Courier New" pitchFamily="34" charset="-120"/>
              </a:rPr>
              <a:t>sfx_sample_count</a:t>
            </a:r>
            <a:endParaRPr lang="en-US" sz="1800" dirty="0"/>
          </a:p>
        </p:txBody>
      </p:sp>
      <p:sp>
        <p:nvSpPr>
          <p:cNvPr id="6" name="Text 3"/>
          <p:cNvSpPr txBox="1"/>
          <p:nvPr/>
        </p:nvSpPr>
        <p:spPr>
          <a:xfrm>
            <a:off x="777240" y="2148840"/>
            <a:ext cx="3108960" cy="365760"/>
          </a:xfrm>
          <a:prstGeom prst="rect">
            <a:avLst/>
          </a:prstGeom>
          <a:noFill/>
          <a:ln/>
        </p:spPr>
        <p:txBody>
          <a:bodyPr wrap="square" lIns="0" tIns="0" rIns="0" bIns="0" rtlCol="0" anchor="t"/>
          <a:lstStyle/>
          <a:p>
            <a:pPr indent="0" marL="0">
              <a:buNone/>
            </a:pPr>
            <a:r>
              <a:rPr lang="en-US" sz="1500" b="1" dirty="0">
                <a:solidFill>
                  <a:schemeClr val="tx1"/>
                </a:solidFill>
              </a:rPr>
              <a:t>Validate every field, compute length</a:t>
            </a:r>
            <a:endParaRPr lang="en-US" sz="1500" dirty="0"/>
          </a:p>
        </p:txBody>
      </p:sp>
      <p:sp>
        <p:nvSpPr>
          <p:cNvPr id="7" name="Text 4"/>
          <p:cNvSpPr txBox="1"/>
          <p:nvPr/>
        </p:nvSpPr>
        <p:spPr>
          <a:xfrm>
            <a:off x="777240" y="2560320"/>
            <a:ext cx="3154680" cy="914400"/>
          </a:xfrm>
          <a:prstGeom prst="rect">
            <a:avLst/>
          </a:prstGeom>
          <a:noFill/>
          <a:ln/>
        </p:spPr>
        <p:txBody>
          <a:bodyPr wrap="square" lIns="0" tIns="0" rIns="0" bIns="0" rtlCol="0" anchor="t"/>
          <a:lstStyle/>
          <a:p>
            <a:pPr indent="0" marL="0">
              <a:buNone/>
            </a:pPr>
            <a:r>
              <a:rPr lang="en-US" sz="1200" dirty="0">
                <a:solidFill>
                  <a:schemeClr val="tx1"/>
                </a:solidFill>
                <a:latin typeface="Courier New" pitchFamily="34" charset="0"/>
                <a:ea typeface="Courier New" pitchFamily="34" charset="-122"/>
                <a:cs typeface="Courier New" pitchFamily="34" charset="-120"/>
              </a:rPr>
              <a:t>In:  RCX = params</a:t>
            </a:r>
            <a:endParaRPr lang="en-US" sz="1200" dirty="0"/>
          </a:p>
        </p:txBody>
      </p:sp>
      <p:sp>
        <p:nvSpPr>
          <p:cNvPr id="8" name="Text 5"/>
          <p:cNvSpPr txBox="1"/>
          <p:nvPr/>
        </p:nvSpPr>
        <p:spPr>
          <a:xfrm>
            <a:off x="777240" y="3566160"/>
            <a:ext cx="3154680" cy="411480"/>
          </a:xfrm>
          <a:prstGeom prst="rect">
            <a:avLst/>
          </a:prstGeom>
          <a:noFill/>
          <a:ln/>
        </p:spPr>
        <p:txBody>
          <a:bodyPr wrap="square" lIns="0" tIns="0" rIns="0" bIns="0" rtlCol="0" anchor="t"/>
          <a:lstStyle/>
          <a:p>
            <a:pPr indent="0" marL="0">
              <a:buNone/>
            </a:pPr>
            <a:r>
              <a:rPr lang="en-US" sz="1300" b="1" dirty="0">
                <a:solidFill>
                  <a:schemeClr val="tx1"/>
                </a:solidFill>
                <a:latin typeface="Courier New" pitchFamily="34" charset="0"/>
                <a:ea typeface="Courier New" pitchFamily="34" charset="-122"/>
                <a:cs typeface="Courier New" pitchFamily="34" charset="-120"/>
              </a:rPr>
              <a:t>Out: EAX = planned samples</a:t>
            </a:r>
            <a:endParaRPr lang="en-US" sz="1300" dirty="0"/>
          </a:p>
        </p:txBody>
      </p:sp>
      <p:sp>
        <p:nvSpPr>
          <p:cNvPr id="9" name="card"/>
          <p:cNvSpPr/>
          <p:nvPr/>
        </p:nvSpPr>
        <p:spPr>
          <a:xfrm>
            <a:off x="4297680" y="1508760"/>
            <a:ext cx="3566160" cy="2514600"/>
          </a:xfrm>
          <a:prstGeom prst="roundRect">
            <a:avLst>
              <a:gd name="adj" fmla="val 2909"/>
            </a:avLst>
          </a:prstGeom>
          <a:solidFill>
            <a:schemeClr val="bg2"/>
          </a:solidFill>
          <a:ln/>
        </p:spPr>
      </p:sp>
      <p:sp>
        <p:nvSpPr>
          <p:cNvPr id="10" name="Text 7"/>
          <p:cNvSpPr txBox="1"/>
          <p:nvPr/>
        </p:nvSpPr>
        <p:spPr>
          <a:xfrm>
            <a:off x="4526280" y="1691640"/>
            <a:ext cx="3200400" cy="411480"/>
          </a:xfrm>
          <a:prstGeom prst="rect">
            <a:avLst/>
          </a:prstGeom>
          <a:noFill/>
          <a:ln/>
        </p:spPr>
        <p:txBody>
          <a:bodyPr wrap="square" lIns="0" tIns="0" rIns="0" bIns="0" rtlCol="0" anchor="t"/>
          <a:lstStyle/>
          <a:p>
            <a:pPr indent="0" marL="0">
              <a:buNone/>
            </a:pPr>
            <a:r>
              <a:rPr lang="en-US" sz="1800" b="1" dirty="0">
                <a:solidFill>
                  <a:schemeClr val="accent1"/>
                </a:solidFill>
                <a:latin typeface="Courier New" pitchFamily="34" charset="0"/>
                <a:ea typeface="Courier New" pitchFamily="34" charset="-122"/>
                <a:cs typeface="Courier New" pitchFamily="34" charset="-120"/>
              </a:rPr>
              <a:t>sfx_generate</a:t>
            </a:r>
            <a:endParaRPr lang="en-US" sz="1800" dirty="0"/>
          </a:p>
        </p:txBody>
      </p:sp>
      <p:sp>
        <p:nvSpPr>
          <p:cNvPr id="11" name="Text 8"/>
          <p:cNvSpPr txBox="1"/>
          <p:nvPr/>
        </p:nvSpPr>
        <p:spPr>
          <a:xfrm>
            <a:off x="4526280" y="2148840"/>
            <a:ext cx="3108960" cy="365760"/>
          </a:xfrm>
          <a:prstGeom prst="rect">
            <a:avLst/>
          </a:prstGeom>
          <a:noFill/>
          <a:ln/>
        </p:spPr>
        <p:txBody>
          <a:bodyPr wrap="square" lIns="0" tIns="0" rIns="0" bIns="0" rtlCol="0" anchor="t"/>
          <a:lstStyle/>
          <a:p>
            <a:pPr indent="0" marL="0">
              <a:buNone/>
            </a:pPr>
            <a:r>
              <a:rPr lang="en-US" sz="1500" b="1" dirty="0">
                <a:solidFill>
                  <a:schemeClr val="tx1"/>
                </a:solidFill>
              </a:rPr>
              <a:t>The synthesizer loop</a:t>
            </a:r>
            <a:endParaRPr lang="en-US" sz="1500" dirty="0"/>
          </a:p>
        </p:txBody>
      </p:sp>
      <p:sp>
        <p:nvSpPr>
          <p:cNvPr id="12" name="Text 9"/>
          <p:cNvSpPr txBox="1"/>
          <p:nvPr/>
        </p:nvSpPr>
        <p:spPr>
          <a:xfrm>
            <a:off x="4526280" y="2560320"/>
            <a:ext cx="3154680" cy="914400"/>
          </a:xfrm>
          <a:prstGeom prst="rect">
            <a:avLst/>
          </a:prstGeom>
          <a:noFill/>
          <a:ln/>
        </p:spPr>
        <p:txBody>
          <a:bodyPr wrap="square" lIns="0" tIns="0" rIns="0" bIns="0" rtlCol="0" anchor="t"/>
          <a:lstStyle/>
          <a:p>
            <a:pPr indent="0" marL="0">
              <a:buNone/>
            </a:pPr>
            <a:r>
              <a:rPr lang="en-US" sz="1200" dirty="0">
                <a:solidFill>
                  <a:schemeClr val="tx1"/>
                </a:solidFill>
                <a:latin typeface="Courier New" pitchFamily="34" charset="0"/>
                <a:ea typeface="Courier New" pitchFamily="34" charset="-122"/>
                <a:cs typeface="Courier New" pitchFamily="34" charset="-120"/>
              </a:rPr>
              <a:t>In:  RCX = params</a:t>
            </a:r>
            <a:endParaRPr lang="en-US" sz="1200" dirty="0"/>
          </a:p>
          <a:p>
            <a:pPr indent="0" marL="0">
              <a:buNone/>
            </a:pPr>
            <a:r>
              <a:rPr lang="en-US" sz="1200" dirty="0">
                <a:solidFill>
                  <a:schemeClr val="tx1"/>
                </a:solidFill>
                <a:latin typeface="Courier New" pitchFamily="34" charset="0"/>
                <a:ea typeface="Courier New" pitchFamily="34" charset="-122"/>
                <a:cs typeface="Courier New" pitchFamily="34" charset="-120"/>
              </a:rPr>
              <a:t>     RDX = out</a:t>
            </a:r>
            <a:endParaRPr lang="en-US" sz="1200" dirty="0"/>
          </a:p>
          <a:p>
            <a:pPr indent="0" marL="0">
              <a:buNone/>
            </a:pPr>
            <a:r>
              <a:rPr lang="en-US" sz="1200" dirty="0">
                <a:solidFill>
                  <a:schemeClr val="tx1"/>
                </a:solidFill>
                <a:latin typeface="Courier New" pitchFamily="34" charset="0"/>
                <a:ea typeface="Courier New" pitchFamily="34" charset="-122"/>
                <a:cs typeface="Courier New" pitchFamily="34" charset="-120"/>
              </a:rPr>
              <a:t>     R8D = capacity</a:t>
            </a:r>
            <a:endParaRPr lang="en-US" sz="1200" dirty="0"/>
          </a:p>
        </p:txBody>
      </p:sp>
      <p:sp>
        <p:nvSpPr>
          <p:cNvPr id="13" name="Text 10"/>
          <p:cNvSpPr txBox="1"/>
          <p:nvPr/>
        </p:nvSpPr>
        <p:spPr>
          <a:xfrm>
            <a:off x="4526280" y="3566160"/>
            <a:ext cx="3154680" cy="411480"/>
          </a:xfrm>
          <a:prstGeom prst="rect">
            <a:avLst/>
          </a:prstGeom>
          <a:noFill/>
          <a:ln/>
        </p:spPr>
        <p:txBody>
          <a:bodyPr wrap="square" lIns="0" tIns="0" rIns="0" bIns="0" rtlCol="0" anchor="t"/>
          <a:lstStyle/>
          <a:p>
            <a:pPr indent="0" marL="0">
              <a:buNone/>
            </a:pPr>
            <a:r>
              <a:rPr lang="en-US" sz="1300" b="1" dirty="0">
                <a:solidFill>
                  <a:schemeClr val="tx1"/>
                </a:solidFill>
                <a:latin typeface="Courier New" pitchFamily="34" charset="0"/>
                <a:ea typeface="Courier New" pitchFamily="34" charset="-122"/>
                <a:cs typeface="Courier New" pitchFamily="34" charset="-120"/>
              </a:rPr>
              <a:t>Out: EAX = samples written</a:t>
            </a:r>
            <a:endParaRPr lang="en-US" sz="1300" dirty="0"/>
          </a:p>
        </p:txBody>
      </p:sp>
      <p:sp>
        <p:nvSpPr>
          <p:cNvPr id="14" name="card"/>
          <p:cNvSpPr/>
          <p:nvPr/>
        </p:nvSpPr>
        <p:spPr>
          <a:xfrm>
            <a:off x="8046720" y="1508760"/>
            <a:ext cx="3566160" cy="2514600"/>
          </a:xfrm>
          <a:prstGeom prst="roundRect">
            <a:avLst>
              <a:gd name="adj" fmla="val 2909"/>
            </a:avLst>
          </a:prstGeom>
          <a:solidFill>
            <a:schemeClr val="bg2"/>
          </a:solidFill>
          <a:ln/>
        </p:spPr>
      </p:sp>
      <p:sp>
        <p:nvSpPr>
          <p:cNvPr id="15" name="Text 12"/>
          <p:cNvSpPr txBox="1"/>
          <p:nvPr/>
        </p:nvSpPr>
        <p:spPr>
          <a:xfrm>
            <a:off x="8275320" y="1691640"/>
            <a:ext cx="3200400" cy="411480"/>
          </a:xfrm>
          <a:prstGeom prst="rect">
            <a:avLst/>
          </a:prstGeom>
          <a:noFill/>
          <a:ln/>
        </p:spPr>
        <p:txBody>
          <a:bodyPr wrap="square" lIns="0" tIns="0" rIns="0" bIns="0" rtlCol="0" anchor="t"/>
          <a:lstStyle/>
          <a:p>
            <a:pPr indent="0" marL="0">
              <a:buNone/>
            </a:pPr>
            <a:r>
              <a:rPr lang="en-US" sz="1800" b="1" dirty="0">
                <a:solidFill>
                  <a:schemeClr val="accent1"/>
                </a:solidFill>
                <a:latin typeface="Courier New" pitchFamily="34" charset="0"/>
                <a:ea typeface="Courier New" pitchFamily="34" charset="-122"/>
                <a:cs typeface="Courier New" pitchFamily="34" charset="-120"/>
              </a:rPr>
              <a:t>sfx_write_wav</a:t>
            </a:r>
            <a:endParaRPr lang="en-US" sz="1800" dirty="0"/>
          </a:p>
        </p:txBody>
      </p:sp>
      <p:sp>
        <p:nvSpPr>
          <p:cNvPr id="16" name="Text 13"/>
          <p:cNvSpPr txBox="1"/>
          <p:nvPr/>
        </p:nvSpPr>
        <p:spPr>
          <a:xfrm>
            <a:off x="8275320" y="2148840"/>
            <a:ext cx="3108960" cy="365760"/>
          </a:xfrm>
          <a:prstGeom prst="rect">
            <a:avLst/>
          </a:prstGeom>
          <a:noFill/>
          <a:ln/>
        </p:spPr>
        <p:txBody>
          <a:bodyPr wrap="square" lIns="0" tIns="0" rIns="0" bIns="0" rtlCol="0" anchor="t"/>
          <a:lstStyle/>
          <a:p>
            <a:pPr indent="0" marL="0">
              <a:buNone/>
            </a:pPr>
            <a:r>
              <a:rPr lang="en-US" sz="1500" b="1" dirty="0">
                <a:solidFill>
                  <a:schemeClr val="tx1"/>
                </a:solidFill>
              </a:rPr>
              <a:t>44-byte header + copy samples</a:t>
            </a:r>
            <a:endParaRPr lang="en-US" sz="1500" dirty="0"/>
          </a:p>
        </p:txBody>
      </p:sp>
      <p:sp>
        <p:nvSpPr>
          <p:cNvPr id="17" name="Text 14"/>
          <p:cNvSpPr txBox="1"/>
          <p:nvPr/>
        </p:nvSpPr>
        <p:spPr>
          <a:xfrm>
            <a:off x="8275320" y="2560320"/>
            <a:ext cx="3154680" cy="914400"/>
          </a:xfrm>
          <a:prstGeom prst="rect">
            <a:avLst/>
          </a:prstGeom>
          <a:noFill/>
          <a:ln/>
        </p:spPr>
        <p:txBody>
          <a:bodyPr wrap="square" lIns="0" tIns="0" rIns="0" bIns="0" rtlCol="0" anchor="t"/>
          <a:lstStyle/>
          <a:p>
            <a:pPr indent="0" marL="0">
              <a:buNone/>
            </a:pPr>
            <a:r>
              <a:rPr lang="en-US" sz="1200" dirty="0">
                <a:solidFill>
                  <a:schemeClr val="tx1"/>
                </a:solidFill>
                <a:latin typeface="Courier New" pitchFamily="34" charset="0"/>
                <a:ea typeface="Courier New" pitchFamily="34" charset="-122"/>
                <a:cs typeface="Courier New" pitchFamily="34" charset="-120"/>
              </a:rPr>
              <a:t>In:  RCX = samples</a:t>
            </a:r>
            <a:endParaRPr lang="en-US" sz="1200" dirty="0"/>
          </a:p>
          <a:p>
            <a:pPr indent="0" marL="0">
              <a:buNone/>
            </a:pPr>
            <a:r>
              <a:rPr lang="en-US" sz="1200" dirty="0">
                <a:solidFill>
                  <a:schemeClr val="tx1"/>
                </a:solidFill>
                <a:latin typeface="Courier New" pitchFamily="34" charset="0"/>
                <a:ea typeface="Courier New" pitchFamily="34" charset="-122"/>
                <a:cs typeface="Courier New" pitchFamily="34" charset="-120"/>
              </a:rPr>
              <a:t>     EDX = count</a:t>
            </a:r>
            <a:endParaRPr lang="en-US" sz="1200" dirty="0"/>
          </a:p>
          <a:p>
            <a:pPr indent="0" marL="0">
              <a:buNone/>
            </a:pPr>
            <a:r>
              <a:rPr lang="en-US" sz="1200" dirty="0">
                <a:solidFill>
                  <a:schemeClr val="tx1"/>
                </a:solidFill>
                <a:latin typeface="Courier New" pitchFamily="34" charset="0"/>
                <a:ea typeface="Courier New" pitchFamily="34" charset="-122"/>
                <a:cs typeface="Courier New" pitchFamily="34" charset="-120"/>
              </a:rPr>
              <a:t>     R8  = out</a:t>
            </a:r>
            <a:endParaRPr lang="en-US" sz="1200" dirty="0"/>
          </a:p>
          <a:p>
            <a:pPr indent="0" marL="0">
              <a:buNone/>
            </a:pPr>
            <a:r>
              <a:rPr lang="en-US" sz="1200" dirty="0">
                <a:solidFill>
                  <a:schemeClr val="tx1"/>
                </a:solidFill>
                <a:latin typeface="Courier New" pitchFamily="34" charset="0"/>
                <a:ea typeface="Courier New" pitchFamily="34" charset="-122"/>
                <a:cs typeface="Courier New" pitchFamily="34" charset="-120"/>
              </a:rPr>
              <a:t>     R9D = capacity</a:t>
            </a:r>
            <a:endParaRPr lang="en-US" sz="1200" dirty="0"/>
          </a:p>
        </p:txBody>
      </p:sp>
      <p:sp>
        <p:nvSpPr>
          <p:cNvPr id="18" name="Text 15"/>
          <p:cNvSpPr txBox="1"/>
          <p:nvPr/>
        </p:nvSpPr>
        <p:spPr>
          <a:xfrm>
            <a:off x="8275320" y="3566160"/>
            <a:ext cx="3154680" cy="411480"/>
          </a:xfrm>
          <a:prstGeom prst="rect">
            <a:avLst/>
          </a:prstGeom>
          <a:noFill/>
          <a:ln/>
        </p:spPr>
        <p:txBody>
          <a:bodyPr wrap="square" lIns="0" tIns="0" rIns="0" bIns="0" rtlCol="0" anchor="t"/>
          <a:lstStyle/>
          <a:p>
            <a:pPr indent="0" marL="0">
              <a:buNone/>
            </a:pPr>
            <a:r>
              <a:rPr lang="en-US" sz="1300" b="1" dirty="0">
                <a:solidFill>
                  <a:schemeClr val="tx1"/>
                </a:solidFill>
                <a:latin typeface="Courier New" pitchFamily="34" charset="0"/>
                <a:ea typeface="Courier New" pitchFamily="34" charset="-122"/>
                <a:cs typeface="Courier New" pitchFamily="34" charset="-120"/>
              </a:rPr>
              <a:t>Out: EAX = bytes written</a:t>
            </a:r>
            <a:endParaRPr lang="en-US" sz="1300" dirty="0"/>
          </a:p>
        </p:txBody>
      </p:sp>
      <p:sp>
        <p:nvSpPr>
          <p:cNvPr id="19" name="Text 16"/>
          <p:cNvSpPr txBox="1"/>
          <p:nvPr/>
        </p:nvSpPr>
        <p:spPr>
          <a:xfrm>
            <a:off x="548640" y="4160520"/>
            <a:ext cx="10972800" cy="320040"/>
          </a:xfrm>
          <a:prstGeom prst="rect">
            <a:avLst/>
          </a:prstGeom>
          <a:noFill/>
          <a:ln/>
        </p:spPr>
        <p:txBody>
          <a:bodyPr wrap="square" lIns="0" tIns="0" rIns="0" bIns="0" rtlCol="0" anchor="t"/>
          <a:lstStyle/>
          <a:p>
            <a:pPr indent="0" marL="0">
              <a:buNone/>
            </a:pPr>
            <a:r>
              <a:rPr lang="en-US" sz="1400" i="1" dirty="0">
                <a:solidFill>
                  <a:schemeClr val="accent5"/>
                </a:solidFill>
              </a:rPr>
              <a:t>Returns 0 on any error: NULL pointer, invalid parameter, buffer too small</a:t>
            </a:r>
            <a:endParaRPr lang="en-US" sz="1400" dirty="0"/>
          </a:p>
        </p:txBody>
      </p:sp>
      <p:sp>
        <p:nvSpPr>
          <p:cNvPr id="20" name="card"/>
          <p:cNvSpPr/>
          <p:nvPr/>
        </p:nvSpPr>
        <p:spPr>
          <a:xfrm>
            <a:off x="548640" y="4663440"/>
            <a:ext cx="5394960" cy="1417320"/>
          </a:xfrm>
          <a:prstGeom prst="roundRect">
            <a:avLst>
              <a:gd name="adj" fmla="val 5161"/>
            </a:avLst>
          </a:prstGeom>
          <a:solidFill>
            <a:schemeClr val="tx1"/>
          </a:solidFill>
          <a:ln/>
        </p:spPr>
      </p:sp>
      <p:sp>
        <p:nvSpPr>
          <p:cNvPr id="21" name="Text 18"/>
          <p:cNvSpPr txBox="1"/>
          <p:nvPr/>
        </p:nvSpPr>
        <p:spPr>
          <a:xfrm>
            <a:off x="777240" y="4800600"/>
            <a:ext cx="4937760" cy="365760"/>
          </a:xfrm>
          <a:prstGeom prst="rect">
            <a:avLst/>
          </a:prstGeom>
          <a:noFill/>
          <a:ln/>
        </p:spPr>
        <p:txBody>
          <a:bodyPr wrap="square" lIns="0" tIns="0" rIns="0" bIns="0" rtlCol="0" anchor="t"/>
          <a:lstStyle/>
          <a:p>
            <a:pPr indent="0" marL="0">
              <a:buNone/>
            </a:pPr>
            <a:r>
              <a:rPr lang="en-US" sz="1500" b="1" dirty="0">
                <a:solidFill>
                  <a:schemeClr val="accent2"/>
                </a:solidFill>
              </a:rPr>
              <a:t>Used by the engine (volatile)</a:t>
            </a:r>
            <a:endParaRPr lang="en-US" sz="1500" dirty="0"/>
          </a:p>
        </p:txBody>
      </p:sp>
      <p:sp>
        <p:nvSpPr>
          <p:cNvPr id="22" name="Text 19"/>
          <p:cNvSpPr txBox="1"/>
          <p:nvPr/>
        </p:nvSpPr>
        <p:spPr>
          <a:xfrm>
            <a:off x="777240" y="5650992"/>
            <a:ext cx="5029200" cy="320040"/>
          </a:xfrm>
          <a:prstGeom prst="rect">
            <a:avLst/>
          </a:prstGeom>
          <a:noFill/>
          <a:ln/>
        </p:spPr>
        <p:txBody>
          <a:bodyPr wrap="square" lIns="0" tIns="0" rIns="0" bIns="0" rtlCol="0" anchor="t"/>
          <a:lstStyle/>
          <a:p>
            <a:pPr indent="0" marL="0">
              <a:buNone/>
            </a:pPr>
            <a:r>
              <a:rPr lang="en-US" sz="1300" dirty="0">
                <a:solidFill>
                  <a:schemeClr val="bg2"/>
                </a:solidFill>
              </a:rPr>
              <a:t>Free to overwrite; the caller expects them to change</a:t>
            </a:r>
            <a:endParaRPr lang="en-US" sz="1300" dirty="0"/>
          </a:p>
        </p:txBody>
      </p:sp>
      <p:sp>
        <p:nvSpPr>
          <p:cNvPr id="23" name="Text 20"/>
          <p:cNvSpPr txBox="1"/>
          <p:nvPr/>
        </p:nvSpPr>
        <p:spPr>
          <a:xfrm>
            <a:off x="777240" y="5212080"/>
            <a:ext cx="5029200" cy="411480"/>
          </a:xfrm>
          <a:prstGeom prst="rect">
            <a:avLst/>
          </a:prstGeom>
          <a:noFill/>
          <a:ln/>
        </p:spPr>
        <p:txBody>
          <a:bodyPr wrap="square" lIns="0" tIns="0" rIns="0" bIns="0" rtlCol="0" anchor="t"/>
          <a:lstStyle/>
          <a:p>
            <a:pPr indent="0" marL="0">
              <a:buNone/>
            </a:pPr>
            <a:r>
              <a:rPr lang="en-US" sz="1600" b="1" dirty="0">
                <a:solidFill>
                  <a:schemeClr val="bg1"/>
                </a:solidFill>
                <a:latin typeface="Courier New" pitchFamily="34" charset="0"/>
                <a:ea typeface="Courier New" pitchFamily="34" charset="-122"/>
                <a:cs typeface="Courier New" pitchFamily="34" charset="-120"/>
              </a:rPr>
              <a:t>RAX RCX RDX R8–R11  XMM0–XMM5</a:t>
            </a:r>
            <a:endParaRPr lang="en-US" sz="1600" dirty="0"/>
          </a:p>
        </p:txBody>
      </p:sp>
      <p:sp>
        <p:nvSpPr>
          <p:cNvPr id="24" name="card"/>
          <p:cNvSpPr/>
          <p:nvPr/>
        </p:nvSpPr>
        <p:spPr>
          <a:xfrm>
            <a:off x="6217920" y="4663440"/>
            <a:ext cx="5394960" cy="1417320"/>
          </a:xfrm>
          <a:prstGeom prst="roundRect">
            <a:avLst>
              <a:gd name="adj" fmla="val 5161"/>
            </a:avLst>
          </a:prstGeom>
          <a:solidFill>
            <a:schemeClr val="bg2"/>
          </a:solidFill>
          <a:ln/>
        </p:spPr>
      </p:sp>
      <p:sp>
        <p:nvSpPr>
          <p:cNvPr id="25" name="Text 22"/>
          <p:cNvSpPr txBox="1"/>
          <p:nvPr/>
        </p:nvSpPr>
        <p:spPr>
          <a:xfrm>
            <a:off x="6446520" y="4800600"/>
            <a:ext cx="4937760" cy="365760"/>
          </a:xfrm>
          <a:prstGeom prst="rect">
            <a:avLst/>
          </a:prstGeom>
          <a:noFill/>
          <a:ln/>
        </p:spPr>
        <p:txBody>
          <a:bodyPr wrap="square" lIns="0" tIns="0" rIns="0" bIns="0" rtlCol="0" anchor="t"/>
          <a:lstStyle/>
          <a:p>
            <a:pPr indent="0" marL="0">
              <a:buNone/>
            </a:pPr>
            <a:r>
              <a:rPr lang="en-US" sz="1500" b="1" dirty="0">
                <a:solidFill>
                  <a:schemeClr val="accent4"/>
                </a:solidFill>
              </a:rPr>
              <a:t>Never touched (non-volatile)</a:t>
            </a:r>
            <a:endParaRPr lang="en-US" sz="1500" dirty="0"/>
          </a:p>
        </p:txBody>
      </p:sp>
      <p:sp>
        <p:nvSpPr>
          <p:cNvPr id="26" name="Text 23"/>
          <p:cNvSpPr txBox="1"/>
          <p:nvPr/>
        </p:nvSpPr>
        <p:spPr>
          <a:xfrm>
            <a:off x="6446520" y="5212080"/>
            <a:ext cx="5029200" cy="411480"/>
          </a:xfrm>
          <a:prstGeom prst="rect">
            <a:avLst/>
          </a:prstGeom>
          <a:noFill/>
          <a:ln/>
        </p:spPr>
        <p:txBody>
          <a:bodyPr wrap="square" lIns="0" tIns="0" rIns="0" bIns="0" rtlCol="0" anchor="t"/>
          <a:lstStyle/>
          <a:p>
            <a:pPr indent="0" marL="0">
              <a:buNone/>
            </a:pPr>
            <a:r>
              <a:rPr lang="en-US" sz="1600" b="1" dirty="0">
                <a:solidFill>
                  <a:schemeClr val="tx1"/>
                </a:solidFill>
                <a:latin typeface="Courier New" pitchFamily="34" charset="0"/>
                <a:ea typeface="Courier New" pitchFamily="34" charset="-122"/>
                <a:cs typeface="Courier New" pitchFamily="34" charset="-120"/>
              </a:rPr>
              <a:t>RBX RBP RSI RDI R12–R15  XMM6–XMM15</a:t>
            </a:r>
            <a:endParaRPr lang="en-US" sz="1600" dirty="0"/>
          </a:p>
        </p:txBody>
      </p:sp>
      <p:sp>
        <p:nvSpPr>
          <p:cNvPr id="27" name="Text 24"/>
          <p:cNvSpPr txBox="1"/>
          <p:nvPr/>
        </p:nvSpPr>
        <p:spPr>
          <a:xfrm>
            <a:off x="6446520" y="5650992"/>
            <a:ext cx="5029200" cy="320040"/>
          </a:xfrm>
          <a:prstGeom prst="rect">
            <a:avLst/>
          </a:prstGeom>
          <a:noFill/>
          <a:ln/>
        </p:spPr>
        <p:txBody>
          <a:bodyPr wrap="square" lIns="0" tIns="0" rIns="0" bIns="0" rtlCol="0" anchor="t"/>
          <a:lstStyle/>
          <a:p>
            <a:pPr indent="0" marL="0">
              <a:buNone/>
            </a:pPr>
            <a:r>
              <a:rPr lang="en-US" sz="1300" dirty="0">
                <a:solidFill>
                  <a:schemeClr val="accent5"/>
                </a:solidFill>
              </a:rPr>
              <a:t>Nothing to save or restore; verified by tests/abi_probe.asm</a:t>
            </a:r>
            <a:endParaRPr lang="en-US" sz="13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68680"/>
          </a:xfrm>
          <a:prstGeom prst="rect">
            <a:avLst/>
          </a:prstGeom>
          <a:noFill/>
          <a:ln/>
        </p:spPr>
        <p:txBody>
          <a:bodyPr wrap="square" lIns="0" tIns="0" rIns="0" bIns="0" rtlCol="0" anchor="ctr"/>
          <a:lstStyle/>
          <a:p>
            <a:pPr algn="l" indent="0" marL="0">
              <a:buNone/>
            </a:pPr>
            <a:r>
              <a:rPr lang="en-US" sz="2800" b="1" dirty="0">
                <a:solidFill>
                  <a:schemeClr val="tx1"/>
                </a:solidFill>
              </a:rPr>
              <a:t>Every sample passes through 7 steps, 44,100 times per second</a:t>
            </a:r>
            <a:endParaRPr lang="en-US" sz="2800" dirty="0"/>
          </a:p>
        </p:txBody>
      </p:sp>
      <p:sp>
        <p:nvSpPr>
          <p:cNvPr id="4" name="Shape 1"/>
          <p:cNvSpPr/>
          <p:nvPr/>
        </p:nvSpPr>
        <p:spPr>
          <a:xfrm>
            <a:off x="1188720" y="1783080"/>
            <a:ext cx="894806" cy="0"/>
          </a:xfrm>
          <a:prstGeom prst="line">
            <a:avLst/>
          </a:prstGeom>
          <a:noFill/>
          <a:ln w="19050">
            <a:solidFill>
              <a:srgbClr val="6B7F8E"/>
            </a:solidFill>
            <a:prstDash val="solid"/>
            <a:tailEnd type="triangle"/>
          </a:ln>
        </p:spPr>
      </p:sp>
      <p:sp>
        <p:nvSpPr>
          <p:cNvPr id="5" name="Shape 2"/>
          <p:cNvSpPr/>
          <p:nvPr/>
        </p:nvSpPr>
        <p:spPr>
          <a:xfrm>
            <a:off x="548640" y="1508760"/>
            <a:ext cx="548640" cy="548640"/>
          </a:xfrm>
          <a:prstGeom prst="ellipse">
            <a:avLst/>
          </a:prstGeom>
          <a:solidFill>
            <a:schemeClr val="accent1"/>
          </a:solidFill>
          <a:ln/>
        </p:spPr>
      </p:sp>
      <p:sp>
        <p:nvSpPr>
          <p:cNvPr id="6" name="Text 3"/>
          <p:cNvSpPr txBox="1"/>
          <p:nvPr/>
        </p:nvSpPr>
        <p:spPr>
          <a:xfrm>
            <a:off x="548640" y="1508760"/>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rPr>
              <a:t>1</a:t>
            </a:r>
            <a:endParaRPr lang="en-US" sz="1800" dirty="0"/>
          </a:p>
        </p:txBody>
      </p:sp>
      <p:sp>
        <p:nvSpPr>
          <p:cNvPr id="7" name="Text 4"/>
          <p:cNvSpPr txBox="1"/>
          <p:nvPr/>
        </p:nvSpPr>
        <p:spPr>
          <a:xfrm>
            <a:off x="548640" y="2194560"/>
            <a:ext cx="1489166" cy="365760"/>
          </a:xfrm>
          <a:prstGeom prst="rect">
            <a:avLst/>
          </a:prstGeom>
          <a:noFill/>
          <a:ln/>
        </p:spPr>
        <p:txBody>
          <a:bodyPr wrap="square" lIns="0" tIns="0" rIns="0" bIns="0" rtlCol="0" anchor="t"/>
          <a:lstStyle/>
          <a:p>
            <a:pPr indent="0" marL="0">
              <a:buNone/>
            </a:pPr>
            <a:r>
              <a:rPr lang="en-US" sz="1600" b="1" dirty="0">
                <a:solidFill>
                  <a:schemeClr val="tx1"/>
                </a:solidFill>
              </a:rPr>
              <a:t>Slide pitch</a:t>
            </a:r>
            <a:endParaRPr lang="en-US" sz="1600" dirty="0"/>
          </a:p>
        </p:txBody>
      </p:sp>
      <p:sp>
        <p:nvSpPr>
          <p:cNvPr id="8" name="Text 5"/>
          <p:cNvSpPr txBox="1"/>
          <p:nvPr/>
        </p:nvSpPr>
        <p:spPr>
          <a:xfrm>
            <a:off x="548640" y="2606040"/>
            <a:ext cx="1443446" cy="1280160"/>
          </a:xfrm>
          <a:prstGeom prst="rect">
            <a:avLst/>
          </a:prstGeom>
          <a:noFill/>
          <a:ln/>
        </p:spPr>
        <p:txBody>
          <a:bodyPr wrap="square" lIns="0" tIns="0" rIns="0" bIns="0" rtlCol="0" anchor="t"/>
          <a:lstStyle/>
          <a:p>
            <a:pPr indent="0" marL="0">
              <a:buNone/>
            </a:pPr>
            <a:r>
              <a:rPr lang="en-US" sz="1400" dirty="0">
                <a:solidFill>
                  <a:schemeClr val="tx2"/>
                </a:solidFill>
              </a:rPr>
              <a:t>freq ×= MULT</a:t>
            </a:r>
            <a:endParaRPr lang="en-US" sz="1400" dirty="0"/>
          </a:p>
          <a:p>
            <a:pPr indent="0" marL="0">
              <a:buNone/>
            </a:pPr>
            <a:r>
              <a:rPr lang="en-US" sz="1400" dirty="0">
                <a:solidFill>
                  <a:schemeClr val="tx2"/>
                </a:solidFill>
              </a:rPr>
              <a:t>cap at 20 kHz</a:t>
            </a:r>
            <a:endParaRPr lang="en-US" sz="1400" dirty="0"/>
          </a:p>
          <a:p>
            <a:pPr indent="0" marL="0">
              <a:buNone/>
            </a:pPr>
            <a:r>
              <a:rPr lang="en-US" sz="1400" dirty="0">
                <a:solidFill>
                  <a:schemeClr val="tx2"/>
                </a:solidFill>
              </a:rPr>
              <a:t>end if below min_freq</a:t>
            </a:r>
            <a:endParaRPr lang="en-US" sz="1400" dirty="0"/>
          </a:p>
        </p:txBody>
      </p:sp>
      <p:sp>
        <p:nvSpPr>
          <p:cNvPr id="9" name="Shape 6"/>
          <p:cNvSpPr/>
          <p:nvPr/>
        </p:nvSpPr>
        <p:spPr>
          <a:xfrm>
            <a:off x="2769326" y="1783080"/>
            <a:ext cx="894806" cy="0"/>
          </a:xfrm>
          <a:prstGeom prst="line">
            <a:avLst/>
          </a:prstGeom>
          <a:noFill/>
          <a:ln w="19050">
            <a:solidFill>
              <a:srgbClr val="6B7F8E"/>
            </a:solidFill>
            <a:prstDash val="solid"/>
            <a:tailEnd type="triangle"/>
          </a:ln>
        </p:spPr>
      </p:sp>
      <p:sp>
        <p:nvSpPr>
          <p:cNvPr id="10" name="Shape 7"/>
          <p:cNvSpPr/>
          <p:nvPr/>
        </p:nvSpPr>
        <p:spPr>
          <a:xfrm>
            <a:off x="2129246" y="1508760"/>
            <a:ext cx="548640" cy="548640"/>
          </a:xfrm>
          <a:prstGeom prst="ellipse">
            <a:avLst/>
          </a:prstGeom>
          <a:solidFill>
            <a:schemeClr val="accent1"/>
          </a:solidFill>
          <a:ln/>
        </p:spPr>
      </p:sp>
      <p:sp>
        <p:nvSpPr>
          <p:cNvPr id="11" name="Text 8"/>
          <p:cNvSpPr txBox="1"/>
          <p:nvPr/>
        </p:nvSpPr>
        <p:spPr>
          <a:xfrm>
            <a:off x="2129246" y="1508760"/>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rPr>
              <a:t>2</a:t>
            </a:r>
            <a:endParaRPr lang="en-US" sz="1800" dirty="0"/>
          </a:p>
        </p:txBody>
      </p:sp>
      <p:sp>
        <p:nvSpPr>
          <p:cNvPr id="12" name="Text 9"/>
          <p:cNvSpPr txBox="1"/>
          <p:nvPr/>
        </p:nvSpPr>
        <p:spPr>
          <a:xfrm>
            <a:off x="2129246" y="2194560"/>
            <a:ext cx="1489166" cy="365760"/>
          </a:xfrm>
          <a:prstGeom prst="rect">
            <a:avLst/>
          </a:prstGeom>
          <a:noFill/>
          <a:ln/>
        </p:spPr>
        <p:txBody>
          <a:bodyPr wrap="square" lIns="0" tIns="0" rIns="0" bIns="0" rtlCol="0" anchor="t"/>
          <a:lstStyle/>
          <a:p>
            <a:pPr indent="0" marL="0">
              <a:buNone/>
            </a:pPr>
            <a:r>
              <a:rPr lang="en-US" sz="1600" b="1" dirty="0">
                <a:solidFill>
                  <a:schemeClr val="tx1"/>
                </a:solidFill>
              </a:rPr>
              <a:t>Vibrato</a:t>
            </a:r>
            <a:endParaRPr lang="en-US" sz="1600" dirty="0"/>
          </a:p>
        </p:txBody>
      </p:sp>
      <p:sp>
        <p:nvSpPr>
          <p:cNvPr id="13" name="Text 10"/>
          <p:cNvSpPr txBox="1"/>
          <p:nvPr/>
        </p:nvSpPr>
        <p:spPr>
          <a:xfrm>
            <a:off x="2129246" y="2606040"/>
            <a:ext cx="1443446" cy="1280160"/>
          </a:xfrm>
          <a:prstGeom prst="rect">
            <a:avLst/>
          </a:prstGeom>
          <a:noFill/>
          <a:ln/>
        </p:spPr>
        <p:txBody>
          <a:bodyPr wrap="square" lIns="0" tIns="0" rIns="0" bIns="0" rtlCol="0" anchor="t"/>
          <a:lstStyle/>
          <a:p>
            <a:pPr indent="0" marL="0">
              <a:buNone/>
            </a:pPr>
            <a:r>
              <a:rPr lang="en-US" sz="1400" dirty="0">
                <a:solidFill>
                  <a:schemeClr val="tx2"/>
                </a:solidFill>
              </a:rPr>
              <a:t>256-entry sine table</a:t>
            </a:r>
            <a:endParaRPr lang="en-US" sz="1400" dirty="0"/>
          </a:p>
          <a:p>
            <a:pPr indent="0" marL="0">
              <a:buNone/>
            </a:pPr>
            <a:r>
              <a:rPr lang="en-US" sz="1400" dirty="0">
                <a:solidFill>
                  <a:schemeClr val="tx2"/>
                </a:solidFill>
              </a:rPr>
              <a:t>vib = 1 + depth × sine</a:t>
            </a:r>
            <a:endParaRPr lang="en-US" sz="1400" dirty="0"/>
          </a:p>
        </p:txBody>
      </p:sp>
      <p:sp>
        <p:nvSpPr>
          <p:cNvPr id="14" name="Shape 11"/>
          <p:cNvSpPr/>
          <p:nvPr/>
        </p:nvSpPr>
        <p:spPr>
          <a:xfrm>
            <a:off x="4349931" y="1783080"/>
            <a:ext cx="894806" cy="0"/>
          </a:xfrm>
          <a:prstGeom prst="line">
            <a:avLst/>
          </a:prstGeom>
          <a:noFill/>
          <a:ln w="19050">
            <a:solidFill>
              <a:srgbClr val="6B7F8E"/>
            </a:solidFill>
            <a:prstDash val="solid"/>
            <a:tailEnd type="triangle"/>
          </a:ln>
        </p:spPr>
      </p:sp>
      <p:sp>
        <p:nvSpPr>
          <p:cNvPr id="15" name="Shape 12"/>
          <p:cNvSpPr/>
          <p:nvPr/>
        </p:nvSpPr>
        <p:spPr>
          <a:xfrm>
            <a:off x="3709851" y="1508760"/>
            <a:ext cx="548640" cy="548640"/>
          </a:xfrm>
          <a:prstGeom prst="ellipse">
            <a:avLst/>
          </a:prstGeom>
          <a:solidFill>
            <a:schemeClr val="accent1"/>
          </a:solidFill>
          <a:ln/>
        </p:spPr>
      </p:sp>
      <p:sp>
        <p:nvSpPr>
          <p:cNvPr id="16" name="Text 13"/>
          <p:cNvSpPr txBox="1"/>
          <p:nvPr/>
        </p:nvSpPr>
        <p:spPr>
          <a:xfrm>
            <a:off x="3709851" y="1508760"/>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rPr>
              <a:t>3</a:t>
            </a:r>
            <a:endParaRPr lang="en-US" sz="1800" dirty="0"/>
          </a:p>
        </p:txBody>
      </p:sp>
      <p:sp>
        <p:nvSpPr>
          <p:cNvPr id="17" name="Text 14"/>
          <p:cNvSpPr txBox="1"/>
          <p:nvPr/>
        </p:nvSpPr>
        <p:spPr>
          <a:xfrm>
            <a:off x="3709851" y="2194560"/>
            <a:ext cx="1489166" cy="365760"/>
          </a:xfrm>
          <a:prstGeom prst="rect">
            <a:avLst/>
          </a:prstGeom>
          <a:noFill/>
          <a:ln/>
        </p:spPr>
        <p:txBody>
          <a:bodyPr wrap="square" lIns="0" tIns="0" rIns="0" bIns="0" rtlCol="0" anchor="t"/>
          <a:lstStyle/>
          <a:p>
            <a:pPr indent="0" marL="0">
              <a:buNone/>
            </a:pPr>
            <a:r>
              <a:rPr lang="en-US" sz="1600" b="1" dirty="0">
                <a:solidFill>
                  <a:schemeClr val="tx1"/>
                </a:solidFill>
              </a:rPr>
              <a:t>Advance phase</a:t>
            </a:r>
            <a:endParaRPr lang="en-US" sz="1600" dirty="0"/>
          </a:p>
        </p:txBody>
      </p:sp>
      <p:sp>
        <p:nvSpPr>
          <p:cNvPr id="18" name="Text 15"/>
          <p:cNvSpPr txBox="1"/>
          <p:nvPr/>
        </p:nvSpPr>
        <p:spPr>
          <a:xfrm>
            <a:off x="3709851" y="2606040"/>
            <a:ext cx="1443446" cy="1280160"/>
          </a:xfrm>
          <a:prstGeom prst="rect">
            <a:avLst/>
          </a:prstGeom>
          <a:noFill/>
          <a:ln/>
        </p:spPr>
        <p:txBody>
          <a:bodyPr wrap="square" lIns="0" tIns="0" rIns="0" bIns="0" rtlCol="0" anchor="t"/>
          <a:lstStyle/>
          <a:p>
            <a:pPr indent="0" marL="0">
              <a:buNone/>
            </a:pPr>
            <a:r>
              <a:rPr lang="en-US" sz="1400" dirty="0">
                <a:solidFill>
                  <a:schemeClr val="tx2"/>
                </a:solidFill>
              </a:rPr>
              <a:t>phase += freq × vib / 44100</a:t>
            </a:r>
            <a:endParaRPr lang="en-US" sz="1400" dirty="0"/>
          </a:p>
          <a:p>
            <a:pPr indent="0" marL="0">
              <a:buNone/>
            </a:pPr>
            <a:r>
              <a:rPr lang="en-US" sz="1400" dirty="0">
                <a:solidFill>
                  <a:schemeClr val="tx2"/>
                </a:solidFill>
              </a:rPr>
              <a:t>wrap at 1.0</a:t>
            </a:r>
            <a:endParaRPr lang="en-US" sz="1400" dirty="0"/>
          </a:p>
        </p:txBody>
      </p:sp>
      <p:sp>
        <p:nvSpPr>
          <p:cNvPr id="19" name="Shape 16"/>
          <p:cNvSpPr/>
          <p:nvPr/>
        </p:nvSpPr>
        <p:spPr>
          <a:xfrm>
            <a:off x="5930537" y="1783080"/>
            <a:ext cx="894806" cy="0"/>
          </a:xfrm>
          <a:prstGeom prst="line">
            <a:avLst/>
          </a:prstGeom>
          <a:noFill/>
          <a:ln w="19050">
            <a:solidFill>
              <a:srgbClr val="6B7F8E"/>
            </a:solidFill>
            <a:prstDash val="solid"/>
            <a:tailEnd type="triangle"/>
          </a:ln>
        </p:spPr>
      </p:sp>
      <p:sp>
        <p:nvSpPr>
          <p:cNvPr id="20" name="Shape 17"/>
          <p:cNvSpPr/>
          <p:nvPr/>
        </p:nvSpPr>
        <p:spPr>
          <a:xfrm>
            <a:off x="5290457" y="1508760"/>
            <a:ext cx="548640" cy="548640"/>
          </a:xfrm>
          <a:prstGeom prst="ellipse">
            <a:avLst/>
          </a:prstGeom>
          <a:solidFill>
            <a:schemeClr val="accent3"/>
          </a:solidFill>
          <a:ln/>
        </p:spPr>
      </p:sp>
      <p:sp>
        <p:nvSpPr>
          <p:cNvPr id="21" name="Text 18"/>
          <p:cNvSpPr txBox="1"/>
          <p:nvPr/>
        </p:nvSpPr>
        <p:spPr>
          <a:xfrm>
            <a:off x="5290457" y="1508760"/>
            <a:ext cx="548640" cy="548640"/>
          </a:xfrm>
          <a:prstGeom prst="rect">
            <a:avLst/>
          </a:prstGeom>
          <a:noFill/>
          <a:ln/>
        </p:spPr>
        <p:txBody>
          <a:bodyPr wrap="square" lIns="0" tIns="0" rIns="0" bIns="0" rtlCol="0" anchor="ctr"/>
          <a:lstStyle/>
          <a:p>
            <a:pPr algn="ctr" indent="0" marL="0">
              <a:buNone/>
            </a:pPr>
            <a:r>
              <a:rPr lang="en-US" sz="1800" b="1" dirty="0">
                <a:solidFill>
                  <a:schemeClr val="tx1"/>
                </a:solidFill>
              </a:rPr>
              <a:t>4</a:t>
            </a:r>
            <a:endParaRPr lang="en-US" sz="1800" dirty="0"/>
          </a:p>
        </p:txBody>
      </p:sp>
      <p:sp>
        <p:nvSpPr>
          <p:cNvPr id="22" name="Text 19"/>
          <p:cNvSpPr txBox="1"/>
          <p:nvPr/>
        </p:nvSpPr>
        <p:spPr>
          <a:xfrm>
            <a:off x="5290457" y="2194560"/>
            <a:ext cx="1489166" cy="365760"/>
          </a:xfrm>
          <a:prstGeom prst="rect">
            <a:avLst/>
          </a:prstGeom>
          <a:noFill/>
          <a:ln/>
        </p:spPr>
        <p:txBody>
          <a:bodyPr wrap="square" lIns="0" tIns="0" rIns="0" bIns="0" rtlCol="0" anchor="t"/>
          <a:lstStyle/>
          <a:p>
            <a:pPr indent="0" marL="0">
              <a:buNone/>
            </a:pPr>
            <a:r>
              <a:rPr lang="en-US" sz="1600" b="1" dirty="0">
                <a:solidFill>
                  <a:schemeClr val="tx1"/>
                </a:solidFill>
              </a:rPr>
              <a:t>Shape</a:t>
            </a:r>
            <a:endParaRPr lang="en-US" sz="1600" dirty="0"/>
          </a:p>
        </p:txBody>
      </p:sp>
      <p:sp>
        <p:nvSpPr>
          <p:cNvPr id="23" name="Text 20"/>
          <p:cNvSpPr txBox="1"/>
          <p:nvPr/>
        </p:nvSpPr>
        <p:spPr>
          <a:xfrm>
            <a:off x="5290457" y="2606040"/>
            <a:ext cx="1443446" cy="1280160"/>
          </a:xfrm>
          <a:prstGeom prst="rect">
            <a:avLst/>
          </a:prstGeom>
          <a:noFill/>
          <a:ln/>
        </p:spPr>
        <p:txBody>
          <a:bodyPr wrap="square" lIns="0" tIns="0" rIns="0" bIns="0" rtlCol="0" anchor="t"/>
          <a:lstStyle/>
          <a:p>
            <a:pPr indent="0" marL="0">
              <a:buNone/>
            </a:pPr>
            <a:r>
              <a:rPr lang="en-US" sz="1400" dirty="0">
                <a:solidFill>
                  <a:schemeClr val="tx2"/>
                </a:solidFill>
              </a:rPr>
              <a:t>square, sawtooth,</a:t>
            </a:r>
            <a:endParaRPr lang="en-US" sz="1400" dirty="0"/>
          </a:p>
          <a:p>
            <a:pPr indent="0" marL="0">
              <a:buNone/>
            </a:pPr>
            <a:r>
              <a:rPr lang="en-US" sz="1400" dirty="0">
                <a:solidFill>
                  <a:schemeClr val="tx2"/>
                </a:solidFill>
              </a:rPr>
              <a:t>triangle or noise</a:t>
            </a:r>
            <a:endParaRPr lang="en-US" sz="1400" dirty="0"/>
          </a:p>
        </p:txBody>
      </p:sp>
      <p:sp>
        <p:nvSpPr>
          <p:cNvPr id="24" name="Shape 21"/>
          <p:cNvSpPr/>
          <p:nvPr/>
        </p:nvSpPr>
        <p:spPr>
          <a:xfrm>
            <a:off x="7511143" y="1783080"/>
            <a:ext cx="894806" cy="0"/>
          </a:xfrm>
          <a:prstGeom prst="line">
            <a:avLst/>
          </a:prstGeom>
          <a:noFill/>
          <a:ln w="19050">
            <a:solidFill>
              <a:srgbClr val="6B7F8E"/>
            </a:solidFill>
            <a:prstDash val="solid"/>
            <a:tailEnd type="triangle"/>
          </a:ln>
        </p:spPr>
      </p:sp>
      <p:sp>
        <p:nvSpPr>
          <p:cNvPr id="25" name="Shape 22"/>
          <p:cNvSpPr/>
          <p:nvPr/>
        </p:nvSpPr>
        <p:spPr>
          <a:xfrm>
            <a:off x="6871063" y="1508760"/>
            <a:ext cx="548640" cy="548640"/>
          </a:xfrm>
          <a:prstGeom prst="ellipse">
            <a:avLst/>
          </a:prstGeom>
          <a:solidFill>
            <a:schemeClr val="accent1"/>
          </a:solidFill>
          <a:ln/>
        </p:spPr>
      </p:sp>
      <p:sp>
        <p:nvSpPr>
          <p:cNvPr id="26" name="Text 23"/>
          <p:cNvSpPr txBox="1"/>
          <p:nvPr/>
        </p:nvSpPr>
        <p:spPr>
          <a:xfrm>
            <a:off x="6871063" y="1508760"/>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rPr>
              <a:t>5</a:t>
            </a:r>
            <a:endParaRPr lang="en-US" sz="1800" dirty="0"/>
          </a:p>
        </p:txBody>
      </p:sp>
      <p:sp>
        <p:nvSpPr>
          <p:cNvPr id="27" name="Text 24"/>
          <p:cNvSpPr txBox="1"/>
          <p:nvPr/>
        </p:nvSpPr>
        <p:spPr>
          <a:xfrm>
            <a:off x="6871063" y="2194560"/>
            <a:ext cx="1489166" cy="365760"/>
          </a:xfrm>
          <a:prstGeom prst="rect">
            <a:avLst/>
          </a:prstGeom>
          <a:noFill/>
          <a:ln/>
        </p:spPr>
        <p:txBody>
          <a:bodyPr wrap="square" lIns="0" tIns="0" rIns="0" bIns="0" rtlCol="0" anchor="t"/>
          <a:lstStyle/>
          <a:p>
            <a:pPr indent="0" marL="0">
              <a:buNone/>
            </a:pPr>
            <a:r>
              <a:rPr lang="en-US" sz="1600" b="1" dirty="0">
                <a:solidFill>
                  <a:schemeClr val="tx1"/>
                </a:solidFill>
              </a:rPr>
              <a:t>Envelope</a:t>
            </a:r>
            <a:endParaRPr lang="en-US" sz="1600" dirty="0"/>
          </a:p>
        </p:txBody>
      </p:sp>
      <p:sp>
        <p:nvSpPr>
          <p:cNvPr id="28" name="Text 25"/>
          <p:cNvSpPr txBox="1"/>
          <p:nvPr/>
        </p:nvSpPr>
        <p:spPr>
          <a:xfrm>
            <a:off x="6871063" y="2606040"/>
            <a:ext cx="1443446" cy="1280160"/>
          </a:xfrm>
          <a:prstGeom prst="rect">
            <a:avLst/>
          </a:prstGeom>
          <a:noFill/>
          <a:ln/>
        </p:spPr>
        <p:txBody>
          <a:bodyPr wrap="square" lIns="0" tIns="0" rIns="0" bIns="0" rtlCol="0" anchor="t"/>
          <a:lstStyle/>
          <a:p>
            <a:pPr indent="0" marL="0">
              <a:buNone/>
            </a:pPr>
            <a:r>
              <a:rPr lang="en-US" sz="1400" dirty="0">
                <a:solidFill>
                  <a:schemeClr val="tx2"/>
                </a:solidFill>
              </a:rPr>
              <a:t>attack 0 → 1</a:t>
            </a:r>
            <a:endParaRPr lang="en-US" sz="1400" dirty="0"/>
          </a:p>
          <a:p>
            <a:pPr indent="0" marL="0">
              <a:buNone/>
            </a:pPr>
            <a:r>
              <a:rPr lang="en-US" sz="1400" dirty="0">
                <a:solidFill>
                  <a:schemeClr val="tx2"/>
                </a:solidFill>
              </a:rPr>
              <a:t>sustain 1</a:t>
            </a:r>
            <a:endParaRPr lang="en-US" sz="1400" dirty="0"/>
          </a:p>
          <a:p>
            <a:pPr indent="0" marL="0">
              <a:buNone/>
            </a:pPr>
            <a:r>
              <a:rPr lang="en-US" sz="1400" dirty="0">
                <a:solidFill>
                  <a:schemeClr val="tx2"/>
                </a:solidFill>
              </a:rPr>
              <a:t>decay 1 → 0</a:t>
            </a:r>
            <a:endParaRPr lang="en-US" sz="1400" dirty="0"/>
          </a:p>
        </p:txBody>
      </p:sp>
      <p:sp>
        <p:nvSpPr>
          <p:cNvPr id="29" name="Shape 26"/>
          <p:cNvSpPr/>
          <p:nvPr/>
        </p:nvSpPr>
        <p:spPr>
          <a:xfrm>
            <a:off x="9091749" y="1783080"/>
            <a:ext cx="894806" cy="0"/>
          </a:xfrm>
          <a:prstGeom prst="line">
            <a:avLst/>
          </a:prstGeom>
          <a:noFill/>
          <a:ln w="19050">
            <a:solidFill>
              <a:srgbClr val="6B7F8E"/>
            </a:solidFill>
            <a:prstDash val="solid"/>
            <a:tailEnd type="triangle"/>
          </a:ln>
        </p:spPr>
      </p:sp>
      <p:sp>
        <p:nvSpPr>
          <p:cNvPr id="30" name="Shape 27"/>
          <p:cNvSpPr/>
          <p:nvPr/>
        </p:nvSpPr>
        <p:spPr>
          <a:xfrm>
            <a:off x="8451669" y="1508760"/>
            <a:ext cx="548640" cy="548640"/>
          </a:xfrm>
          <a:prstGeom prst="ellipse">
            <a:avLst/>
          </a:prstGeom>
          <a:solidFill>
            <a:schemeClr val="accent1"/>
          </a:solidFill>
          <a:ln/>
        </p:spPr>
      </p:sp>
      <p:sp>
        <p:nvSpPr>
          <p:cNvPr id="31" name="Text 28"/>
          <p:cNvSpPr txBox="1"/>
          <p:nvPr/>
        </p:nvSpPr>
        <p:spPr>
          <a:xfrm>
            <a:off x="8451669" y="1508760"/>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rPr>
              <a:t>6</a:t>
            </a:r>
            <a:endParaRPr lang="en-US" sz="1800" dirty="0"/>
          </a:p>
        </p:txBody>
      </p:sp>
      <p:sp>
        <p:nvSpPr>
          <p:cNvPr id="32" name="Text 29"/>
          <p:cNvSpPr txBox="1"/>
          <p:nvPr/>
        </p:nvSpPr>
        <p:spPr>
          <a:xfrm>
            <a:off x="8451669" y="2194560"/>
            <a:ext cx="1489166" cy="365760"/>
          </a:xfrm>
          <a:prstGeom prst="rect">
            <a:avLst/>
          </a:prstGeom>
          <a:noFill/>
          <a:ln/>
        </p:spPr>
        <p:txBody>
          <a:bodyPr wrap="square" lIns="0" tIns="0" rIns="0" bIns="0" rtlCol="0" anchor="t"/>
          <a:lstStyle/>
          <a:p>
            <a:pPr indent="0" marL="0">
              <a:buNone/>
            </a:pPr>
            <a:r>
              <a:rPr lang="en-US" sz="1600" b="1" dirty="0">
                <a:solidFill>
                  <a:schemeClr val="tx1"/>
                </a:solidFill>
              </a:rPr>
              <a:t>Quantize</a:t>
            </a:r>
            <a:endParaRPr lang="en-US" sz="1600" dirty="0"/>
          </a:p>
        </p:txBody>
      </p:sp>
      <p:sp>
        <p:nvSpPr>
          <p:cNvPr id="33" name="Text 30"/>
          <p:cNvSpPr txBox="1"/>
          <p:nvPr/>
        </p:nvSpPr>
        <p:spPr>
          <a:xfrm>
            <a:off x="8451669" y="2606040"/>
            <a:ext cx="1443446" cy="1280160"/>
          </a:xfrm>
          <a:prstGeom prst="rect">
            <a:avLst/>
          </a:prstGeom>
          <a:noFill/>
          <a:ln/>
        </p:spPr>
        <p:txBody>
          <a:bodyPr wrap="square" lIns="0" tIns="0" rIns="0" bIns="0" rtlCol="0" anchor="t"/>
          <a:lstStyle/>
          <a:p>
            <a:pPr indent="0" marL="0">
              <a:buNone/>
            </a:pPr>
            <a:r>
              <a:rPr lang="en-US" sz="1400" dirty="0">
                <a:solidFill>
                  <a:schemeClr val="tx2"/>
                </a:solidFill>
              </a:rPr>
              <a:t>× gain × volume × 32767</a:t>
            </a:r>
            <a:endParaRPr lang="en-US" sz="1400" dirty="0"/>
          </a:p>
          <a:p>
            <a:pPr indent="0" marL="0">
              <a:buNone/>
            </a:pPr>
            <a:r>
              <a:rPr lang="en-US" sz="1400" dirty="0">
                <a:solidFill>
                  <a:schemeClr val="tx2"/>
                </a:solidFill>
              </a:rPr>
              <a:t>round: cvtss2si</a:t>
            </a:r>
            <a:endParaRPr lang="en-US" sz="1400" dirty="0"/>
          </a:p>
          <a:p>
            <a:pPr indent="0" marL="0">
              <a:buNone/>
            </a:pPr>
            <a:r>
              <a:rPr lang="en-US" sz="1400" dirty="0">
                <a:solidFill>
                  <a:schemeClr val="tx2"/>
                </a:solidFill>
              </a:rPr>
              <a:t>clamp: packssdw</a:t>
            </a:r>
            <a:endParaRPr lang="en-US" sz="1400" dirty="0"/>
          </a:p>
        </p:txBody>
      </p:sp>
      <p:sp>
        <p:nvSpPr>
          <p:cNvPr id="34" name="Shape 31"/>
          <p:cNvSpPr/>
          <p:nvPr/>
        </p:nvSpPr>
        <p:spPr>
          <a:xfrm>
            <a:off x="10032274" y="1508760"/>
            <a:ext cx="548640" cy="548640"/>
          </a:xfrm>
          <a:prstGeom prst="ellipse">
            <a:avLst/>
          </a:prstGeom>
          <a:solidFill>
            <a:schemeClr val="accent1"/>
          </a:solidFill>
          <a:ln/>
        </p:spPr>
      </p:sp>
      <p:sp>
        <p:nvSpPr>
          <p:cNvPr id="35" name="Text 32"/>
          <p:cNvSpPr txBox="1"/>
          <p:nvPr/>
        </p:nvSpPr>
        <p:spPr>
          <a:xfrm>
            <a:off x="10032274" y="1508760"/>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rPr>
              <a:t>7</a:t>
            </a:r>
            <a:endParaRPr lang="en-US" sz="1800" dirty="0"/>
          </a:p>
        </p:txBody>
      </p:sp>
      <p:sp>
        <p:nvSpPr>
          <p:cNvPr id="36" name="Text 33"/>
          <p:cNvSpPr txBox="1"/>
          <p:nvPr/>
        </p:nvSpPr>
        <p:spPr>
          <a:xfrm>
            <a:off x="10032274" y="2194560"/>
            <a:ext cx="1489166" cy="365760"/>
          </a:xfrm>
          <a:prstGeom prst="rect">
            <a:avLst/>
          </a:prstGeom>
          <a:noFill/>
          <a:ln/>
        </p:spPr>
        <p:txBody>
          <a:bodyPr wrap="square" lIns="0" tIns="0" rIns="0" bIns="0" rtlCol="0" anchor="t"/>
          <a:lstStyle/>
          <a:p>
            <a:pPr indent="0" marL="0">
              <a:buNone/>
            </a:pPr>
            <a:r>
              <a:rPr lang="en-US" sz="1600" b="1" dirty="0">
                <a:solidFill>
                  <a:schemeClr val="tx1"/>
                </a:solidFill>
              </a:rPr>
              <a:t>Store</a:t>
            </a:r>
            <a:endParaRPr lang="en-US" sz="1600" dirty="0"/>
          </a:p>
        </p:txBody>
      </p:sp>
      <p:sp>
        <p:nvSpPr>
          <p:cNvPr id="37" name="Text 34"/>
          <p:cNvSpPr txBox="1"/>
          <p:nvPr/>
        </p:nvSpPr>
        <p:spPr>
          <a:xfrm>
            <a:off x="10032274" y="2606040"/>
            <a:ext cx="1443446" cy="1280160"/>
          </a:xfrm>
          <a:prstGeom prst="rect">
            <a:avLst/>
          </a:prstGeom>
          <a:noFill/>
          <a:ln/>
        </p:spPr>
        <p:txBody>
          <a:bodyPr wrap="square" lIns="0" tIns="0" rIns="0" bIns="0" rtlCol="0" anchor="t"/>
          <a:lstStyle/>
          <a:p>
            <a:pPr indent="0" marL="0">
              <a:buNone/>
            </a:pPr>
            <a:r>
              <a:rPr lang="en-US" sz="1400" dirty="0">
                <a:solidFill>
                  <a:schemeClr val="tx2"/>
                </a:solidFill>
              </a:rPr>
              <a:t>out[n] = sample</a:t>
            </a:r>
            <a:endParaRPr lang="en-US" sz="1400" dirty="0"/>
          </a:p>
          <a:p>
            <a:pPr indent="0" marL="0">
              <a:buNone/>
            </a:pPr>
            <a:r>
              <a:rPr lang="en-US" sz="1400" dirty="0">
                <a:solidFill>
                  <a:schemeClr val="tx2"/>
                </a:solidFill>
              </a:rPr>
              <a:t>n++ and loop</a:t>
            </a:r>
            <a:endParaRPr lang="en-US" sz="1400" dirty="0"/>
          </a:p>
        </p:txBody>
      </p:sp>
      <p:sp>
        <p:nvSpPr>
          <p:cNvPr id="38" name="card"/>
          <p:cNvSpPr/>
          <p:nvPr/>
        </p:nvSpPr>
        <p:spPr>
          <a:xfrm>
            <a:off x="548640" y="4206240"/>
            <a:ext cx="11064240" cy="1828800"/>
          </a:xfrm>
          <a:prstGeom prst="roundRect">
            <a:avLst>
              <a:gd name="adj" fmla="val 4000"/>
            </a:avLst>
          </a:prstGeom>
          <a:solidFill>
            <a:schemeClr val="tx1"/>
          </a:solidFill>
          <a:ln/>
        </p:spPr>
      </p:sp>
      <p:sp>
        <p:nvSpPr>
          <p:cNvPr id="39" name="Text 36"/>
          <p:cNvSpPr txBox="1"/>
          <p:nvPr/>
        </p:nvSpPr>
        <p:spPr>
          <a:xfrm>
            <a:off x="822960" y="4389120"/>
            <a:ext cx="10058400" cy="365760"/>
          </a:xfrm>
          <a:prstGeom prst="rect">
            <a:avLst/>
          </a:prstGeom>
          <a:noFill/>
          <a:ln/>
        </p:spPr>
        <p:txBody>
          <a:bodyPr wrap="square" lIns="0" tIns="0" rIns="0" bIns="0" rtlCol="0" anchor="t"/>
          <a:lstStyle/>
          <a:p>
            <a:pPr indent="0" marL="0">
              <a:buNone/>
            </a:pPr>
            <a:r>
              <a:rPr lang="en-US" sz="1500" b="1" dirty="0">
                <a:solidFill>
                  <a:schemeClr val="accent2"/>
                </a:solidFill>
              </a:rPr>
              <a:t>Registers that live across the whole loop</a:t>
            </a:r>
            <a:endParaRPr lang="en-US" sz="1500" dirty="0"/>
          </a:p>
        </p:txBody>
      </p:sp>
      <p:sp>
        <p:nvSpPr>
          <p:cNvPr id="40" name="Text 37"/>
          <p:cNvSpPr txBox="1"/>
          <p:nvPr/>
        </p:nvSpPr>
        <p:spPr>
          <a:xfrm>
            <a:off x="822960" y="4892040"/>
            <a:ext cx="2011680" cy="411480"/>
          </a:xfrm>
          <a:prstGeom prst="rect">
            <a:avLst/>
          </a:prstGeom>
          <a:noFill/>
          <a:ln/>
        </p:spPr>
        <p:txBody>
          <a:bodyPr wrap="square" lIns="0" tIns="0" rIns="0" bIns="0" rtlCol="0" anchor="t"/>
          <a:lstStyle/>
          <a:p>
            <a:pPr indent="0" marL="0">
              <a:buNone/>
            </a:pPr>
            <a:r>
              <a:rPr lang="en-US" sz="2000" b="1" dirty="0">
                <a:solidFill>
                  <a:schemeClr val="bg1"/>
                </a:solidFill>
                <a:latin typeface="Courier New" pitchFamily="34" charset="0"/>
                <a:ea typeface="Courier New" pitchFamily="34" charset="-122"/>
                <a:cs typeface="Courier New" pitchFamily="34" charset="-120"/>
              </a:rPr>
              <a:t>R8D</a:t>
            </a:r>
            <a:endParaRPr lang="en-US" sz="2000" dirty="0"/>
          </a:p>
        </p:txBody>
      </p:sp>
      <p:sp>
        <p:nvSpPr>
          <p:cNvPr id="41" name="Text 38"/>
          <p:cNvSpPr txBox="1"/>
          <p:nvPr/>
        </p:nvSpPr>
        <p:spPr>
          <a:xfrm>
            <a:off x="822960" y="5349240"/>
            <a:ext cx="2011680" cy="365760"/>
          </a:xfrm>
          <a:prstGeom prst="rect">
            <a:avLst/>
          </a:prstGeom>
          <a:noFill/>
          <a:ln/>
        </p:spPr>
        <p:txBody>
          <a:bodyPr wrap="square" lIns="0" tIns="0" rIns="0" bIns="0" rtlCol="0" anchor="t"/>
          <a:lstStyle/>
          <a:p>
            <a:pPr indent="0" marL="0">
              <a:buNone/>
            </a:pPr>
            <a:r>
              <a:rPr lang="en-US" sz="1300" dirty="0">
                <a:solidFill>
                  <a:schemeClr val="bg2"/>
                </a:solidFill>
              </a:rPr>
              <a:t>n, sample index</a:t>
            </a:r>
            <a:endParaRPr lang="en-US" sz="1300" dirty="0"/>
          </a:p>
        </p:txBody>
      </p:sp>
      <p:sp>
        <p:nvSpPr>
          <p:cNvPr id="42" name="Text 39"/>
          <p:cNvSpPr txBox="1"/>
          <p:nvPr/>
        </p:nvSpPr>
        <p:spPr>
          <a:xfrm>
            <a:off x="2971800" y="4892040"/>
            <a:ext cx="2011680" cy="411480"/>
          </a:xfrm>
          <a:prstGeom prst="rect">
            <a:avLst/>
          </a:prstGeom>
          <a:noFill/>
          <a:ln/>
        </p:spPr>
        <p:txBody>
          <a:bodyPr wrap="square" lIns="0" tIns="0" rIns="0" bIns="0" rtlCol="0" anchor="t"/>
          <a:lstStyle/>
          <a:p>
            <a:pPr indent="0" marL="0">
              <a:buNone/>
            </a:pPr>
            <a:r>
              <a:rPr lang="en-US" sz="2000" b="1" dirty="0">
                <a:solidFill>
                  <a:schemeClr val="bg1"/>
                </a:solidFill>
                <a:latin typeface="Courier New" pitchFamily="34" charset="0"/>
                <a:ea typeface="Courier New" pitchFamily="34" charset="-122"/>
                <a:cs typeface="Courier New" pitchFamily="34" charset="-120"/>
              </a:rPr>
              <a:t>XMM3</a:t>
            </a:r>
            <a:endParaRPr lang="en-US" sz="2000" dirty="0"/>
          </a:p>
        </p:txBody>
      </p:sp>
      <p:sp>
        <p:nvSpPr>
          <p:cNvPr id="43" name="Text 40"/>
          <p:cNvSpPr txBox="1"/>
          <p:nvPr/>
        </p:nvSpPr>
        <p:spPr>
          <a:xfrm>
            <a:off x="2971800" y="5349240"/>
            <a:ext cx="2011680" cy="365760"/>
          </a:xfrm>
          <a:prstGeom prst="rect">
            <a:avLst/>
          </a:prstGeom>
          <a:noFill/>
          <a:ln/>
        </p:spPr>
        <p:txBody>
          <a:bodyPr wrap="square" lIns="0" tIns="0" rIns="0" bIns="0" rtlCol="0" anchor="t"/>
          <a:lstStyle/>
          <a:p>
            <a:pPr indent="0" marL="0">
              <a:buNone/>
            </a:pPr>
            <a:r>
              <a:rPr lang="en-US" sz="1300" dirty="0">
                <a:solidFill>
                  <a:schemeClr val="bg2"/>
                </a:solidFill>
              </a:rPr>
              <a:t>phase 0–1</a:t>
            </a:r>
            <a:endParaRPr lang="en-US" sz="1300" dirty="0"/>
          </a:p>
        </p:txBody>
      </p:sp>
      <p:sp>
        <p:nvSpPr>
          <p:cNvPr id="44" name="Text 41"/>
          <p:cNvSpPr txBox="1"/>
          <p:nvPr/>
        </p:nvSpPr>
        <p:spPr>
          <a:xfrm>
            <a:off x="5120640" y="4892040"/>
            <a:ext cx="2011680" cy="411480"/>
          </a:xfrm>
          <a:prstGeom prst="rect">
            <a:avLst/>
          </a:prstGeom>
          <a:noFill/>
          <a:ln/>
        </p:spPr>
        <p:txBody>
          <a:bodyPr wrap="square" lIns="0" tIns="0" rIns="0" bIns="0" rtlCol="0" anchor="t"/>
          <a:lstStyle/>
          <a:p>
            <a:pPr indent="0" marL="0">
              <a:buNone/>
            </a:pPr>
            <a:r>
              <a:rPr lang="en-US" sz="2000" b="1" dirty="0">
                <a:solidFill>
                  <a:schemeClr val="bg1"/>
                </a:solidFill>
                <a:latin typeface="Courier New" pitchFamily="34" charset="0"/>
                <a:ea typeface="Courier New" pitchFamily="34" charset="-122"/>
                <a:cs typeface="Courier New" pitchFamily="34" charset="-120"/>
              </a:rPr>
              <a:t>XMM4</a:t>
            </a:r>
            <a:endParaRPr lang="en-US" sz="2000" dirty="0"/>
          </a:p>
        </p:txBody>
      </p:sp>
      <p:sp>
        <p:nvSpPr>
          <p:cNvPr id="45" name="Text 42"/>
          <p:cNvSpPr txBox="1"/>
          <p:nvPr/>
        </p:nvSpPr>
        <p:spPr>
          <a:xfrm>
            <a:off x="5120640" y="5349240"/>
            <a:ext cx="2011680" cy="365760"/>
          </a:xfrm>
          <a:prstGeom prst="rect">
            <a:avLst/>
          </a:prstGeom>
          <a:noFill/>
          <a:ln/>
        </p:spPr>
        <p:txBody>
          <a:bodyPr wrap="square" lIns="0" tIns="0" rIns="0" bIns="0" rtlCol="0" anchor="t"/>
          <a:lstStyle/>
          <a:p>
            <a:pPr indent="0" marL="0">
              <a:buNone/>
            </a:pPr>
            <a:r>
              <a:rPr lang="en-US" sz="1300" dirty="0">
                <a:solidFill>
                  <a:schemeClr val="bg2"/>
                </a:solidFill>
              </a:rPr>
              <a:t>frequency (Hz)</a:t>
            </a:r>
            <a:endParaRPr lang="en-US" sz="1300" dirty="0"/>
          </a:p>
        </p:txBody>
      </p:sp>
      <p:sp>
        <p:nvSpPr>
          <p:cNvPr id="46" name="Text 43"/>
          <p:cNvSpPr txBox="1"/>
          <p:nvPr/>
        </p:nvSpPr>
        <p:spPr>
          <a:xfrm>
            <a:off x="7269480" y="4892040"/>
            <a:ext cx="2011680" cy="411480"/>
          </a:xfrm>
          <a:prstGeom prst="rect">
            <a:avLst/>
          </a:prstGeom>
          <a:noFill/>
          <a:ln/>
        </p:spPr>
        <p:txBody>
          <a:bodyPr wrap="square" lIns="0" tIns="0" rIns="0" bIns="0" rtlCol="0" anchor="t"/>
          <a:lstStyle/>
          <a:p>
            <a:pPr indent="0" marL="0">
              <a:buNone/>
            </a:pPr>
            <a:r>
              <a:rPr lang="en-US" sz="2000" b="1" dirty="0">
                <a:solidFill>
                  <a:schemeClr val="bg1"/>
                </a:solidFill>
                <a:latin typeface="Courier New" pitchFamily="34" charset="0"/>
                <a:ea typeface="Courier New" pitchFamily="34" charset="-122"/>
                <a:cs typeface="Courier New" pitchFamily="34" charset="-120"/>
              </a:rPr>
              <a:t>XMM5</a:t>
            </a:r>
            <a:endParaRPr lang="en-US" sz="2000" dirty="0"/>
          </a:p>
        </p:txBody>
      </p:sp>
      <p:sp>
        <p:nvSpPr>
          <p:cNvPr id="47" name="Text 44"/>
          <p:cNvSpPr txBox="1"/>
          <p:nvPr/>
        </p:nvSpPr>
        <p:spPr>
          <a:xfrm>
            <a:off x="7269480" y="5349240"/>
            <a:ext cx="2011680" cy="365760"/>
          </a:xfrm>
          <a:prstGeom prst="rect">
            <a:avLst/>
          </a:prstGeom>
          <a:noFill/>
          <a:ln/>
        </p:spPr>
        <p:txBody>
          <a:bodyPr wrap="square" lIns="0" tIns="0" rIns="0" bIns="0" rtlCol="0" anchor="t"/>
          <a:lstStyle/>
          <a:p>
            <a:pPr indent="0" marL="0">
              <a:buNone/>
            </a:pPr>
            <a:r>
              <a:rPr lang="en-US" sz="1300" dirty="0">
                <a:solidFill>
                  <a:schemeClr val="bg2"/>
                </a:solidFill>
              </a:rPr>
              <a:t>vibrato phase</a:t>
            </a:r>
            <a:endParaRPr lang="en-US" sz="1300" dirty="0"/>
          </a:p>
        </p:txBody>
      </p:sp>
      <p:sp>
        <p:nvSpPr>
          <p:cNvPr id="48" name="Text 45"/>
          <p:cNvSpPr txBox="1"/>
          <p:nvPr/>
        </p:nvSpPr>
        <p:spPr>
          <a:xfrm>
            <a:off x="9418320" y="4892040"/>
            <a:ext cx="2011680" cy="411480"/>
          </a:xfrm>
          <a:prstGeom prst="rect">
            <a:avLst/>
          </a:prstGeom>
          <a:noFill/>
          <a:ln/>
        </p:spPr>
        <p:txBody>
          <a:bodyPr wrap="square" lIns="0" tIns="0" rIns="0" bIns="0" rtlCol="0" anchor="t"/>
          <a:lstStyle/>
          <a:p>
            <a:pPr indent="0" marL="0">
              <a:buNone/>
            </a:pPr>
            <a:r>
              <a:rPr lang="en-US" sz="2000" b="1" dirty="0">
                <a:solidFill>
                  <a:schemeClr val="bg1"/>
                </a:solidFill>
                <a:latin typeface="Courier New" pitchFamily="34" charset="0"/>
                <a:ea typeface="Courier New" pitchFamily="34" charset="-122"/>
                <a:cs typeface="Courier New" pitchFamily="34" charset="-120"/>
              </a:rPr>
              <a:t>R9D</a:t>
            </a:r>
            <a:endParaRPr lang="en-US" sz="2000" dirty="0"/>
          </a:p>
        </p:txBody>
      </p:sp>
      <p:sp>
        <p:nvSpPr>
          <p:cNvPr id="49" name="Text 46"/>
          <p:cNvSpPr txBox="1"/>
          <p:nvPr/>
        </p:nvSpPr>
        <p:spPr>
          <a:xfrm>
            <a:off x="9418320" y="5349240"/>
            <a:ext cx="2011680" cy="365760"/>
          </a:xfrm>
          <a:prstGeom prst="rect">
            <a:avLst/>
          </a:prstGeom>
          <a:noFill/>
          <a:ln/>
        </p:spPr>
        <p:txBody>
          <a:bodyPr wrap="square" lIns="0" tIns="0" rIns="0" bIns="0" rtlCol="0" anchor="t"/>
          <a:lstStyle/>
          <a:p>
            <a:pPr indent="0" marL="0">
              <a:buNone/>
            </a:pPr>
            <a:r>
              <a:rPr lang="en-US" sz="1300" dirty="0">
                <a:solidFill>
                  <a:schemeClr val="bg2"/>
                </a:solidFill>
              </a:rPr>
              <a:t>noise state</a:t>
            </a:r>
            <a:endParaRPr lang="en-US" sz="13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68680"/>
          </a:xfrm>
          <a:prstGeom prst="rect">
            <a:avLst/>
          </a:prstGeom>
          <a:noFill/>
          <a:ln/>
        </p:spPr>
        <p:txBody>
          <a:bodyPr wrap="square" lIns="0" tIns="0" rIns="0" bIns="0" rtlCol="0" anchor="ctr"/>
          <a:lstStyle/>
          <a:p>
            <a:pPr algn="l" indent="0" marL="0">
              <a:buNone/>
            </a:pPr>
            <a:r>
              <a:rPr lang="en-US" sz="2800" b="1" dirty="0">
                <a:solidFill>
                  <a:schemeClr val="tx1"/>
                </a:solidFill>
              </a:rPr>
              <a:t>Four waveforms come from one phase value between 0 and 1</a:t>
            </a:r>
            <a:endParaRPr lang="en-US" sz="2800" dirty="0"/>
          </a:p>
        </p:txBody>
      </p:sp>
      <p:sp>
        <p:nvSpPr>
          <p:cNvPr id="4" name="card"/>
          <p:cNvSpPr/>
          <p:nvPr/>
        </p:nvSpPr>
        <p:spPr>
          <a:xfrm>
            <a:off x="548640" y="1508760"/>
            <a:ext cx="2606040" cy="3657600"/>
          </a:xfrm>
          <a:prstGeom prst="roundRect">
            <a:avLst>
              <a:gd name="adj" fmla="val 2807"/>
            </a:avLst>
          </a:prstGeom>
          <a:solidFill>
            <a:schemeClr val="bg2"/>
          </a:solidFill>
          <a:ln/>
        </p:spPr>
      </p:sp>
      <p:sp>
        <p:nvSpPr>
          <p:cNvPr id="5" name="Shape 2"/>
          <p:cNvSpPr/>
          <p:nvPr/>
        </p:nvSpPr>
        <p:spPr>
          <a:xfrm>
            <a:off x="731520" y="1691640"/>
            <a:ext cx="2240280" cy="1463040"/>
          </a:xfrm>
          <a:prstGeom prst="roundRect">
            <a:avLst>
              <a:gd name="adj" fmla="val 3750"/>
            </a:avLst>
          </a:prstGeom>
          <a:solidFill>
            <a:schemeClr val="tx1"/>
          </a:solidFill>
          <a:ln/>
        </p:spPr>
      </p:sp>
      <p:sp>
        <p:nvSpPr>
          <p:cNvPr id="6" name="Shape 3"/>
          <p:cNvSpPr/>
          <p:nvPr/>
        </p:nvSpPr>
        <p:spPr>
          <a:xfrm>
            <a:off x="822960" y="2423160"/>
            <a:ext cx="2057400" cy="0"/>
          </a:xfrm>
          <a:prstGeom prst="line">
            <a:avLst/>
          </a:prstGeom>
          <a:noFill/>
          <a:ln w="12700">
            <a:solidFill>
              <a:srgbClr val="425565"/>
            </a:solidFill>
            <a:prstDash val="solid"/>
          </a:ln>
        </p:spPr>
      </p:sp>
      <p:sp>
        <p:nvSpPr>
          <p:cNvPr id="7" name="Shape 4"/>
          <p:cNvSpPr/>
          <p:nvPr/>
        </p:nvSpPr>
        <p:spPr>
          <a:xfrm>
            <a:off x="868680" y="1920240"/>
            <a:ext cx="491490" cy="0"/>
          </a:xfrm>
          <a:prstGeom prst="line">
            <a:avLst/>
          </a:prstGeom>
          <a:noFill/>
          <a:ln w="31750">
            <a:solidFill>
              <a:srgbClr val="58DBBC"/>
            </a:solidFill>
            <a:prstDash val="solid"/>
          </a:ln>
        </p:spPr>
      </p:sp>
      <p:sp>
        <p:nvSpPr>
          <p:cNvPr id="8" name="Shape 5"/>
          <p:cNvSpPr/>
          <p:nvPr/>
        </p:nvSpPr>
        <p:spPr>
          <a:xfrm>
            <a:off x="1360170" y="1920240"/>
            <a:ext cx="0" cy="1005840"/>
          </a:xfrm>
          <a:prstGeom prst="line">
            <a:avLst/>
          </a:prstGeom>
          <a:noFill/>
          <a:ln w="31750">
            <a:solidFill>
              <a:srgbClr val="58DBBC"/>
            </a:solidFill>
            <a:prstDash val="solid"/>
          </a:ln>
        </p:spPr>
      </p:sp>
      <p:sp>
        <p:nvSpPr>
          <p:cNvPr id="9" name="Shape 6"/>
          <p:cNvSpPr/>
          <p:nvPr/>
        </p:nvSpPr>
        <p:spPr>
          <a:xfrm>
            <a:off x="1360170" y="2926080"/>
            <a:ext cx="491490" cy="0"/>
          </a:xfrm>
          <a:prstGeom prst="line">
            <a:avLst/>
          </a:prstGeom>
          <a:noFill/>
          <a:ln w="31750">
            <a:solidFill>
              <a:srgbClr val="58DBBC"/>
            </a:solidFill>
            <a:prstDash val="solid"/>
          </a:ln>
        </p:spPr>
      </p:sp>
      <p:sp>
        <p:nvSpPr>
          <p:cNvPr id="10" name="Shape 7"/>
          <p:cNvSpPr/>
          <p:nvPr/>
        </p:nvSpPr>
        <p:spPr>
          <a:xfrm>
            <a:off x="1851660" y="1920240"/>
            <a:ext cx="0" cy="1005840"/>
          </a:xfrm>
          <a:prstGeom prst="line">
            <a:avLst/>
          </a:prstGeom>
          <a:noFill/>
          <a:ln w="31750">
            <a:solidFill>
              <a:srgbClr val="58DBBC"/>
            </a:solidFill>
            <a:prstDash val="solid"/>
          </a:ln>
        </p:spPr>
      </p:sp>
      <p:sp>
        <p:nvSpPr>
          <p:cNvPr id="11" name="Shape 8"/>
          <p:cNvSpPr/>
          <p:nvPr/>
        </p:nvSpPr>
        <p:spPr>
          <a:xfrm>
            <a:off x="1851660" y="1920240"/>
            <a:ext cx="0" cy="0"/>
          </a:xfrm>
          <a:prstGeom prst="line">
            <a:avLst/>
          </a:prstGeom>
          <a:noFill/>
          <a:ln w="31750">
            <a:solidFill>
              <a:srgbClr val="58DBBC"/>
            </a:solidFill>
            <a:prstDash val="solid"/>
          </a:ln>
        </p:spPr>
      </p:sp>
      <p:sp>
        <p:nvSpPr>
          <p:cNvPr id="12" name="Shape 9"/>
          <p:cNvSpPr/>
          <p:nvPr/>
        </p:nvSpPr>
        <p:spPr>
          <a:xfrm>
            <a:off x="1851660" y="1920240"/>
            <a:ext cx="491490" cy="0"/>
          </a:xfrm>
          <a:prstGeom prst="line">
            <a:avLst/>
          </a:prstGeom>
          <a:noFill/>
          <a:ln w="31750">
            <a:solidFill>
              <a:srgbClr val="58DBBC"/>
            </a:solidFill>
            <a:prstDash val="solid"/>
          </a:ln>
        </p:spPr>
      </p:sp>
      <p:sp>
        <p:nvSpPr>
          <p:cNvPr id="13" name="Shape 10"/>
          <p:cNvSpPr/>
          <p:nvPr/>
        </p:nvSpPr>
        <p:spPr>
          <a:xfrm>
            <a:off x="2343150" y="1920240"/>
            <a:ext cx="0" cy="1005840"/>
          </a:xfrm>
          <a:prstGeom prst="line">
            <a:avLst/>
          </a:prstGeom>
          <a:noFill/>
          <a:ln w="31750">
            <a:solidFill>
              <a:srgbClr val="58DBBC"/>
            </a:solidFill>
            <a:prstDash val="solid"/>
          </a:ln>
        </p:spPr>
      </p:sp>
      <p:sp>
        <p:nvSpPr>
          <p:cNvPr id="14" name="Shape 11"/>
          <p:cNvSpPr/>
          <p:nvPr/>
        </p:nvSpPr>
        <p:spPr>
          <a:xfrm>
            <a:off x="2343150" y="2926080"/>
            <a:ext cx="491490" cy="0"/>
          </a:xfrm>
          <a:prstGeom prst="line">
            <a:avLst/>
          </a:prstGeom>
          <a:noFill/>
          <a:ln w="31750">
            <a:solidFill>
              <a:srgbClr val="58DBBC"/>
            </a:solidFill>
            <a:prstDash val="solid"/>
          </a:ln>
        </p:spPr>
      </p:sp>
      <p:sp>
        <p:nvSpPr>
          <p:cNvPr id="15" name="Text 12"/>
          <p:cNvSpPr txBox="1"/>
          <p:nvPr/>
        </p:nvSpPr>
        <p:spPr>
          <a:xfrm>
            <a:off x="777240" y="3383280"/>
            <a:ext cx="2194560" cy="411480"/>
          </a:xfrm>
          <a:prstGeom prst="rect">
            <a:avLst/>
          </a:prstGeom>
          <a:noFill/>
          <a:ln/>
        </p:spPr>
        <p:txBody>
          <a:bodyPr wrap="square" lIns="0" tIns="0" rIns="0" bIns="0" rtlCol="0" anchor="t"/>
          <a:lstStyle/>
          <a:p>
            <a:pPr indent="0" marL="0">
              <a:buNone/>
            </a:pPr>
            <a:r>
              <a:rPr lang="en-US" sz="2000" b="1" dirty="0">
                <a:solidFill>
                  <a:schemeClr val="tx1"/>
                </a:solidFill>
              </a:rPr>
              <a:t>Square</a:t>
            </a:r>
            <a:endParaRPr lang="en-US" sz="2000" dirty="0"/>
          </a:p>
        </p:txBody>
      </p:sp>
      <p:sp>
        <p:nvSpPr>
          <p:cNvPr id="16" name="Text 13"/>
          <p:cNvSpPr txBox="1"/>
          <p:nvPr/>
        </p:nvSpPr>
        <p:spPr>
          <a:xfrm>
            <a:off x="777240" y="3886200"/>
            <a:ext cx="2240280" cy="822960"/>
          </a:xfrm>
          <a:prstGeom prst="rect">
            <a:avLst/>
          </a:prstGeom>
          <a:noFill/>
          <a:ln/>
        </p:spPr>
        <p:txBody>
          <a:bodyPr wrap="square" lIns="0" tIns="0" rIns="0" bIns="0" rtlCol="0" anchor="t"/>
          <a:lstStyle/>
          <a:p>
            <a:pPr indent="0" marL="0">
              <a:buNone/>
            </a:pPr>
            <a:r>
              <a:rPr lang="en-US" sz="1400" b="1" dirty="0">
                <a:solidFill>
                  <a:schemeClr val="accent1"/>
                </a:solidFill>
                <a:latin typeface="Courier New" pitchFamily="34" charset="0"/>
                <a:ea typeface="Courier New" pitchFamily="34" charset="-122"/>
                <a:cs typeface="Courier New" pitchFamily="34" charset="-120"/>
              </a:rPr>
              <a:t>phase &lt; 0.5 ? +1 : −1</a:t>
            </a:r>
            <a:endParaRPr lang="en-US" sz="1400" dirty="0"/>
          </a:p>
        </p:txBody>
      </p:sp>
      <p:sp>
        <p:nvSpPr>
          <p:cNvPr id="17" name="Text 14"/>
          <p:cNvSpPr txBox="1"/>
          <p:nvPr/>
        </p:nvSpPr>
        <p:spPr>
          <a:xfrm>
            <a:off x="777240" y="4526280"/>
            <a:ext cx="2240280" cy="548640"/>
          </a:xfrm>
          <a:prstGeom prst="rect">
            <a:avLst/>
          </a:prstGeom>
          <a:noFill/>
          <a:ln/>
        </p:spPr>
        <p:txBody>
          <a:bodyPr wrap="square" lIns="0" tIns="0" rIns="0" bIns="0" rtlCol="0" anchor="t"/>
          <a:lstStyle/>
          <a:p>
            <a:pPr indent="0" marL="0">
              <a:buNone/>
            </a:pPr>
            <a:r>
              <a:rPr lang="en-US" sz="1300" dirty="0">
                <a:solidFill>
                  <a:schemeClr val="accent5"/>
                </a:solidFill>
              </a:rPr>
              <a:t>comiss + jb</a:t>
            </a:r>
            <a:endParaRPr lang="en-US" sz="1300" dirty="0"/>
          </a:p>
        </p:txBody>
      </p:sp>
      <p:sp>
        <p:nvSpPr>
          <p:cNvPr id="18" name="card"/>
          <p:cNvSpPr/>
          <p:nvPr/>
        </p:nvSpPr>
        <p:spPr>
          <a:xfrm>
            <a:off x="3364992" y="1508760"/>
            <a:ext cx="2606040" cy="3657600"/>
          </a:xfrm>
          <a:prstGeom prst="roundRect">
            <a:avLst>
              <a:gd name="adj" fmla="val 2807"/>
            </a:avLst>
          </a:prstGeom>
          <a:solidFill>
            <a:schemeClr val="bg2"/>
          </a:solidFill>
          <a:ln/>
        </p:spPr>
      </p:sp>
      <p:sp>
        <p:nvSpPr>
          <p:cNvPr id="19" name="Shape 16"/>
          <p:cNvSpPr/>
          <p:nvPr/>
        </p:nvSpPr>
        <p:spPr>
          <a:xfrm>
            <a:off x="3547872" y="1691640"/>
            <a:ext cx="2240280" cy="1463040"/>
          </a:xfrm>
          <a:prstGeom prst="roundRect">
            <a:avLst>
              <a:gd name="adj" fmla="val 3750"/>
            </a:avLst>
          </a:prstGeom>
          <a:solidFill>
            <a:schemeClr val="tx1"/>
          </a:solidFill>
          <a:ln/>
        </p:spPr>
      </p:sp>
      <p:sp>
        <p:nvSpPr>
          <p:cNvPr id="20" name="Shape 17"/>
          <p:cNvSpPr/>
          <p:nvPr/>
        </p:nvSpPr>
        <p:spPr>
          <a:xfrm>
            <a:off x="3639312" y="2423160"/>
            <a:ext cx="2057400" cy="0"/>
          </a:xfrm>
          <a:prstGeom prst="line">
            <a:avLst/>
          </a:prstGeom>
          <a:noFill/>
          <a:ln w="12700">
            <a:solidFill>
              <a:srgbClr val="425565"/>
            </a:solidFill>
            <a:prstDash val="solid"/>
          </a:ln>
        </p:spPr>
      </p:sp>
      <p:sp>
        <p:nvSpPr>
          <p:cNvPr id="21" name="Shape 18"/>
          <p:cNvSpPr/>
          <p:nvPr/>
        </p:nvSpPr>
        <p:spPr>
          <a:xfrm flipV="1">
            <a:off x="3685032" y="1920240"/>
            <a:ext cx="982980" cy="1005840"/>
          </a:xfrm>
          <a:prstGeom prst="line">
            <a:avLst/>
          </a:prstGeom>
          <a:noFill/>
          <a:ln w="31750">
            <a:solidFill>
              <a:srgbClr val="58DBBC"/>
            </a:solidFill>
            <a:prstDash val="solid"/>
          </a:ln>
        </p:spPr>
      </p:sp>
      <p:sp>
        <p:nvSpPr>
          <p:cNvPr id="22" name="Shape 19"/>
          <p:cNvSpPr/>
          <p:nvPr/>
        </p:nvSpPr>
        <p:spPr>
          <a:xfrm>
            <a:off x="4668012" y="1920240"/>
            <a:ext cx="0" cy="1005840"/>
          </a:xfrm>
          <a:prstGeom prst="line">
            <a:avLst/>
          </a:prstGeom>
          <a:noFill/>
          <a:ln w="31750">
            <a:solidFill>
              <a:srgbClr val="58DBBC"/>
            </a:solidFill>
            <a:prstDash val="solid"/>
          </a:ln>
        </p:spPr>
      </p:sp>
      <p:sp>
        <p:nvSpPr>
          <p:cNvPr id="23" name="Shape 20"/>
          <p:cNvSpPr/>
          <p:nvPr/>
        </p:nvSpPr>
        <p:spPr>
          <a:xfrm>
            <a:off x="4668012" y="2926080"/>
            <a:ext cx="0" cy="0"/>
          </a:xfrm>
          <a:prstGeom prst="line">
            <a:avLst/>
          </a:prstGeom>
          <a:noFill/>
          <a:ln w="31750">
            <a:solidFill>
              <a:srgbClr val="58DBBC"/>
            </a:solidFill>
            <a:prstDash val="solid"/>
          </a:ln>
        </p:spPr>
      </p:sp>
      <p:sp>
        <p:nvSpPr>
          <p:cNvPr id="24" name="Shape 21"/>
          <p:cNvSpPr/>
          <p:nvPr/>
        </p:nvSpPr>
        <p:spPr>
          <a:xfrm flipV="1">
            <a:off x="4668012" y="1920240"/>
            <a:ext cx="982980" cy="1005840"/>
          </a:xfrm>
          <a:prstGeom prst="line">
            <a:avLst/>
          </a:prstGeom>
          <a:noFill/>
          <a:ln w="31750">
            <a:solidFill>
              <a:srgbClr val="58DBBC"/>
            </a:solidFill>
            <a:prstDash val="solid"/>
          </a:ln>
        </p:spPr>
      </p:sp>
      <p:sp>
        <p:nvSpPr>
          <p:cNvPr id="25" name="Text 22"/>
          <p:cNvSpPr txBox="1"/>
          <p:nvPr/>
        </p:nvSpPr>
        <p:spPr>
          <a:xfrm>
            <a:off x="3593592" y="3383280"/>
            <a:ext cx="2194560" cy="411480"/>
          </a:xfrm>
          <a:prstGeom prst="rect">
            <a:avLst/>
          </a:prstGeom>
          <a:noFill/>
          <a:ln/>
        </p:spPr>
        <p:txBody>
          <a:bodyPr wrap="square" lIns="0" tIns="0" rIns="0" bIns="0" rtlCol="0" anchor="t"/>
          <a:lstStyle/>
          <a:p>
            <a:pPr indent="0" marL="0">
              <a:buNone/>
            </a:pPr>
            <a:r>
              <a:rPr lang="en-US" sz="2000" b="1" dirty="0">
                <a:solidFill>
                  <a:schemeClr val="tx1"/>
                </a:solidFill>
              </a:rPr>
              <a:t>Sawtooth</a:t>
            </a:r>
            <a:endParaRPr lang="en-US" sz="2000" dirty="0"/>
          </a:p>
        </p:txBody>
      </p:sp>
      <p:sp>
        <p:nvSpPr>
          <p:cNvPr id="26" name="Text 23"/>
          <p:cNvSpPr txBox="1"/>
          <p:nvPr/>
        </p:nvSpPr>
        <p:spPr>
          <a:xfrm>
            <a:off x="3593592" y="3886200"/>
            <a:ext cx="2240280" cy="822960"/>
          </a:xfrm>
          <a:prstGeom prst="rect">
            <a:avLst/>
          </a:prstGeom>
          <a:noFill/>
          <a:ln/>
        </p:spPr>
        <p:txBody>
          <a:bodyPr wrap="square" lIns="0" tIns="0" rIns="0" bIns="0" rtlCol="0" anchor="t"/>
          <a:lstStyle/>
          <a:p>
            <a:pPr indent="0" marL="0">
              <a:buNone/>
            </a:pPr>
            <a:r>
              <a:rPr lang="en-US" sz="1400" b="1" dirty="0">
                <a:solidFill>
                  <a:schemeClr val="accent1"/>
                </a:solidFill>
                <a:latin typeface="Courier New" pitchFamily="34" charset="0"/>
                <a:ea typeface="Courier New" pitchFamily="34" charset="-122"/>
                <a:cs typeface="Courier New" pitchFamily="34" charset="-120"/>
              </a:rPr>
              <a:t>2 × phase − 1</a:t>
            </a:r>
            <a:endParaRPr lang="en-US" sz="1400" dirty="0"/>
          </a:p>
        </p:txBody>
      </p:sp>
      <p:sp>
        <p:nvSpPr>
          <p:cNvPr id="27" name="Text 24"/>
          <p:cNvSpPr txBox="1"/>
          <p:nvPr/>
        </p:nvSpPr>
        <p:spPr>
          <a:xfrm>
            <a:off x="3593592" y="4526280"/>
            <a:ext cx="2240280" cy="548640"/>
          </a:xfrm>
          <a:prstGeom prst="rect">
            <a:avLst/>
          </a:prstGeom>
          <a:noFill/>
          <a:ln/>
        </p:spPr>
        <p:txBody>
          <a:bodyPr wrap="square" lIns="0" tIns="0" rIns="0" bIns="0" rtlCol="0" anchor="t"/>
          <a:lstStyle/>
          <a:p>
            <a:pPr indent="0" marL="0">
              <a:buNone/>
            </a:pPr>
            <a:r>
              <a:rPr lang="en-US" sz="1300" dirty="0">
                <a:solidFill>
                  <a:schemeClr val="accent5"/>
                </a:solidFill>
              </a:rPr>
              <a:t>mulss, subss</a:t>
            </a:r>
            <a:endParaRPr lang="en-US" sz="1300" dirty="0"/>
          </a:p>
        </p:txBody>
      </p:sp>
      <p:sp>
        <p:nvSpPr>
          <p:cNvPr id="28" name="card"/>
          <p:cNvSpPr/>
          <p:nvPr/>
        </p:nvSpPr>
        <p:spPr>
          <a:xfrm>
            <a:off x="6181344" y="1508760"/>
            <a:ext cx="2606040" cy="3657600"/>
          </a:xfrm>
          <a:prstGeom prst="roundRect">
            <a:avLst>
              <a:gd name="adj" fmla="val 2807"/>
            </a:avLst>
          </a:prstGeom>
          <a:solidFill>
            <a:schemeClr val="bg2"/>
          </a:solidFill>
          <a:ln/>
        </p:spPr>
      </p:sp>
      <p:sp>
        <p:nvSpPr>
          <p:cNvPr id="29" name="Shape 26"/>
          <p:cNvSpPr/>
          <p:nvPr/>
        </p:nvSpPr>
        <p:spPr>
          <a:xfrm>
            <a:off x="6364224" y="1691640"/>
            <a:ext cx="2240280" cy="1463040"/>
          </a:xfrm>
          <a:prstGeom prst="roundRect">
            <a:avLst>
              <a:gd name="adj" fmla="val 3750"/>
            </a:avLst>
          </a:prstGeom>
          <a:solidFill>
            <a:schemeClr val="tx1"/>
          </a:solidFill>
          <a:ln/>
        </p:spPr>
      </p:sp>
      <p:sp>
        <p:nvSpPr>
          <p:cNvPr id="30" name="Shape 27"/>
          <p:cNvSpPr/>
          <p:nvPr/>
        </p:nvSpPr>
        <p:spPr>
          <a:xfrm>
            <a:off x="6455664" y="2423160"/>
            <a:ext cx="2057400" cy="0"/>
          </a:xfrm>
          <a:prstGeom prst="line">
            <a:avLst/>
          </a:prstGeom>
          <a:noFill/>
          <a:ln w="12700">
            <a:solidFill>
              <a:srgbClr val="425565"/>
            </a:solidFill>
            <a:prstDash val="solid"/>
          </a:ln>
        </p:spPr>
      </p:sp>
      <p:sp>
        <p:nvSpPr>
          <p:cNvPr id="31" name="Shape 28"/>
          <p:cNvSpPr/>
          <p:nvPr/>
        </p:nvSpPr>
        <p:spPr>
          <a:xfrm flipV="1">
            <a:off x="6501384" y="1920240"/>
            <a:ext cx="491490" cy="1005840"/>
          </a:xfrm>
          <a:prstGeom prst="line">
            <a:avLst/>
          </a:prstGeom>
          <a:noFill/>
          <a:ln w="31750">
            <a:solidFill>
              <a:srgbClr val="58DBBC"/>
            </a:solidFill>
            <a:prstDash val="solid"/>
          </a:ln>
        </p:spPr>
      </p:sp>
      <p:sp>
        <p:nvSpPr>
          <p:cNvPr id="32" name="Shape 29"/>
          <p:cNvSpPr/>
          <p:nvPr/>
        </p:nvSpPr>
        <p:spPr>
          <a:xfrm>
            <a:off x="6992874" y="1920240"/>
            <a:ext cx="491490" cy="1005840"/>
          </a:xfrm>
          <a:prstGeom prst="line">
            <a:avLst/>
          </a:prstGeom>
          <a:noFill/>
          <a:ln w="31750">
            <a:solidFill>
              <a:srgbClr val="58DBBC"/>
            </a:solidFill>
            <a:prstDash val="solid"/>
          </a:ln>
        </p:spPr>
      </p:sp>
      <p:sp>
        <p:nvSpPr>
          <p:cNvPr id="33" name="Shape 30"/>
          <p:cNvSpPr/>
          <p:nvPr/>
        </p:nvSpPr>
        <p:spPr>
          <a:xfrm>
            <a:off x="7484364" y="2926080"/>
            <a:ext cx="0" cy="0"/>
          </a:xfrm>
          <a:prstGeom prst="line">
            <a:avLst/>
          </a:prstGeom>
          <a:noFill/>
          <a:ln w="31750">
            <a:solidFill>
              <a:srgbClr val="58DBBC"/>
            </a:solidFill>
            <a:prstDash val="solid"/>
          </a:ln>
        </p:spPr>
      </p:sp>
      <p:sp>
        <p:nvSpPr>
          <p:cNvPr id="34" name="Shape 31"/>
          <p:cNvSpPr/>
          <p:nvPr/>
        </p:nvSpPr>
        <p:spPr>
          <a:xfrm flipV="1">
            <a:off x="7484364" y="1920240"/>
            <a:ext cx="491490" cy="1005840"/>
          </a:xfrm>
          <a:prstGeom prst="line">
            <a:avLst/>
          </a:prstGeom>
          <a:noFill/>
          <a:ln w="31750">
            <a:solidFill>
              <a:srgbClr val="58DBBC"/>
            </a:solidFill>
            <a:prstDash val="solid"/>
          </a:ln>
        </p:spPr>
      </p:sp>
      <p:sp>
        <p:nvSpPr>
          <p:cNvPr id="35" name="Shape 32"/>
          <p:cNvSpPr/>
          <p:nvPr/>
        </p:nvSpPr>
        <p:spPr>
          <a:xfrm>
            <a:off x="7975854" y="1920240"/>
            <a:ext cx="491490" cy="1005840"/>
          </a:xfrm>
          <a:prstGeom prst="line">
            <a:avLst/>
          </a:prstGeom>
          <a:noFill/>
          <a:ln w="31750">
            <a:solidFill>
              <a:srgbClr val="58DBBC"/>
            </a:solidFill>
            <a:prstDash val="solid"/>
          </a:ln>
        </p:spPr>
      </p:sp>
      <p:sp>
        <p:nvSpPr>
          <p:cNvPr id="36" name="Text 33"/>
          <p:cNvSpPr txBox="1"/>
          <p:nvPr/>
        </p:nvSpPr>
        <p:spPr>
          <a:xfrm>
            <a:off x="6409944" y="3383280"/>
            <a:ext cx="2194560" cy="411480"/>
          </a:xfrm>
          <a:prstGeom prst="rect">
            <a:avLst/>
          </a:prstGeom>
          <a:noFill/>
          <a:ln/>
        </p:spPr>
        <p:txBody>
          <a:bodyPr wrap="square" lIns="0" tIns="0" rIns="0" bIns="0" rtlCol="0" anchor="t"/>
          <a:lstStyle/>
          <a:p>
            <a:pPr indent="0" marL="0">
              <a:buNone/>
            </a:pPr>
            <a:r>
              <a:rPr lang="en-US" sz="2000" b="1" dirty="0">
                <a:solidFill>
                  <a:schemeClr val="tx1"/>
                </a:solidFill>
              </a:rPr>
              <a:t>Triangle</a:t>
            </a:r>
            <a:endParaRPr lang="en-US" sz="2000" dirty="0"/>
          </a:p>
        </p:txBody>
      </p:sp>
      <p:sp>
        <p:nvSpPr>
          <p:cNvPr id="37" name="Text 34"/>
          <p:cNvSpPr txBox="1"/>
          <p:nvPr/>
        </p:nvSpPr>
        <p:spPr>
          <a:xfrm>
            <a:off x="6409944" y="3886200"/>
            <a:ext cx="2240280" cy="822960"/>
          </a:xfrm>
          <a:prstGeom prst="rect">
            <a:avLst/>
          </a:prstGeom>
          <a:noFill/>
          <a:ln/>
        </p:spPr>
        <p:txBody>
          <a:bodyPr wrap="square" lIns="0" tIns="0" rIns="0" bIns="0" rtlCol="0" anchor="t"/>
          <a:lstStyle/>
          <a:p>
            <a:pPr indent="0" marL="0">
              <a:buNone/>
            </a:pPr>
            <a:r>
              <a:rPr lang="en-US" sz="1400" b="1" dirty="0">
                <a:solidFill>
                  <a:schemeClr val="accent1"/>
                </a:solidFill>
                <a:latin typeface="Courier New" pitchFamily="34" charset="0"/>
                <a:ea typeface="Courier New" pitchFamily="34" charset="-122"/>
                <a:cs typeface="Courier New" pitchFamily="34" charset="-120"/>
              </a:rPr>
              <a:t>1 − 4 × |phase − 0.5|</a:t>
            </a:r>
            <a:endParaRPr lang="en-US" sz="1400" dirty="0"/>
          </a:p>
        </p:txBody>
      </p:sp>
      <p:sp>
        <p:nvSpPr>
          <p:cNvPr id="38" name="Text 35"/>
          <p:cNvSpPr txBox="1"/>
          <p:nvPr/>
        </p:nvSpPr>
        <p:spPr>
          <a:xfrm>
            <a:off x="6409944" y="4526280"/>
            <a:ext cx="2240280" cy="548640"/>
          </a:xfrm>
          <a:prstGeom prst="rect">
            <a:avLst/>
          </a:prstGeom>
          <a:noFill/>
          <a:ln/>
        </p:spPr>
        <p:txBody>
          <a:bodyPr wrap="square" lIns="0" tIns="0" rIns="0" bIns="0" rtlCol="0" anchor="t"/>
          <a:lstStyle/>
          <a:p>
            <a:pPr indent="0" marL="0">
              <a:buNone/>
            </a:pPr>
            <a:r>
              <a:rPr lang="en-US" sz="1300" dirty="0">
                <a:solidFill>
                  <a:schemeClr val="accent5"/>
                </a:solidFill>
              </a:rPr>
              <a:t>andps clears the sign bit = abs()</a:t>
            </a:r>
            <a:endParaRPr lang="en-US" sz="1300" dirty="0"/>
          </a:p>
        </p:txBody>
      </p:sp>
      <p:sp>
        <p:nvSpPr>
          <p:cNvPr id="39" name="card"/>
          <p:cNvSpPr/>
          <p:nvPr/>
        </p:nvSpPr>
        <p:spPr>
          <a:xfrm>
            <a:off x="8997696" y="1508760"/>
            <a:ext cx="2606040" cy="3657600"/>
          </a:xfrm>
          <a:prstGeom prst="roundRect">
            <a:avLst>
              <a:gd name="adj" fmla="val 2807"/>
            </a:avLst>
          </a:prstGeom>
          <a:solidFill>
            <a:schemeClr val="bg2"/>
          </a:solidFill>
          <a:ln/>
        </p:spPr>
      </p:sp>
      <p:sp>
        <p:nvSpPr>
          <p:cNvPr id="40" name="Shape 37"/>
          <p:cNvSpPr/>
          <p:nvPr/>
        </p:nvSpPr>
        <p:spPr>
          <a:xfrm>
            <a:off x="9180576" y="1691640"/>
            <a:ext cx="2240280" cy="1463040"/>
          </a:xfrm>
          <a:prstGeom prst="roundRect">
            <a:avLst>
              <a:gd name="adj" fmla="val 3750"/>
            </a:avLst>
          </a:prstGeom>
          <a:solidFill>
            <a:schemeClr val="tx1"/>
          </a:solidFill>
          <a:ln/>
        </p:spPr>
      </p:sp>
      <p:sp>
        <p:nvSpPr>
          <p:cNvPr id="41" name="Shape 38"/>
          <p:cNvSpPr/>
          <p:nvPr/>
        </p:nvSpPr>
        <p:spPr>
          <a:xfrm>
            <a:off x="9272016" y="2423160"/>
            <a:ext cx="2057400" cy="0"/>
          </a:xfrm>
          <a:prstGeom prst="line">
            <a:avLst/>
          </a:prstGeom>
          <a:noFill/>
          <a:ln w="12700">
            <a:solidFill>
              <a:srgbClr val="425565"/>
            </a:solidFill>
            <a:prstDash val="solid"/>
          </a:ln>
        </p:spPr>
      </p:sp>
      <p:sp>
        <p:nvSpPr>
          <p:cNvPr id="42" name="Shape 39"/>
          <p:cNvSpPr/>
          <p:nvPr/>
        </p:nvSpPr>
        <p:spPr>
          <a:xfrm>
            <a:off x="9317736" y="2121408"/>
            <a:ext cx="163830" cy="0"/>
          </a:xfrm>
          <a:prstGeom prst="line">
            <a:avLst/>
          </a:prstGeom>
          <a:noFill/>
          <a:ln w="31750">
            <a:solidFill>
              <a:srgbClr val="58DBBC"/>
            </a:solidFill>
            <a:prstDash val="solid"/>
          </a:ln>
        </p:spPr>
      </p:sp>
      <p:sp>
        <p:nvSpPr>
          <p:cNvPr id="43" name="Shape 40"/>
          <p:cNvSpPr/>
          <p:nvPr/>
        </p:nvSpPr>
        <p:spPr>
          <a:xfrm>
            <a:off x="9481566" y="2121408"/>
            <a:ext cx="0" cy="704088"/>
          </a:xfrm>
          <a:prstGeom prst="line">
            <a:avLst/>
          </a:prstGeom>
          <a:noFill/>
          <a:ln w="31750">
            <a:solidFill>
              <a:srgbClr val="58DBBC"/>
            </a:solidFill>
            <a:prstDash val="solid"/>
          </a:ln>
        </p:spPr>
      </p:sp>
      <p:sp>
        <p:nvSpPr>
          <p:cNvPr id="44" name="Shape 41"/>
          <p:cNvSpPr/>
          <p:nvPr/>
        </p:nvSpPr>
        <p:spPr>
          <a:xfrm>
            <a:off x="9481566" y="2825496"/>
            <a:ext cx="163830" cy="0"/>
          </a:xfrm>
          <a:prstGeom prst="line">
            <a:avLst/>
          </a:prstGeom>
          <a:noFill/>
          <a:ln w="31750">
            <a:solidFill>
              <a:srgbClr val="58DBBC"/>
            </a:solidFill>
            <a:prstDash val="solid"/>
          </a:ln>
        </p:spPr>
      </p:sp>
      <p:sp>
        <p:nvSpPr>
          <p:cNvPr id="45" name="Shape 42"/>
          <p:cNvSpPr/>
          <p:nvPr/>
        </p:nvSpPr>
        <p:spPr>
          <a:xfrm>
            <a:off x="9645396" y="2272284"/>
            <a:ext cx="0" cy="553212"/>
          </a:xfrm>
          <a:prstGeom prst="line">
            <a:avLst/>
          </a:prstGeom>
          <a:noFill/>
          <a:ln w="31750">
            <a:solidFill>
              <a:srgbClr val="58DBBC"/>
            </a:solidFill>
            <a:prstDash val="solid"/>
          </a:ln>
        </p:spPr>
      </p:sp>
      <p:sp>
        <p:nvSpPr>
          <p:cNvPr id="46" name="Shape 43"/>
          <p:cNvSpPr/>
          <p:nvPr/>
        </p:nvSpPr>
        <p:spPr>
          <a:xfrm>
            <a:off x="9645396" y="2272284"/>
            <a:ext cx="163830" cy="0"/>
          </a:xfrm>
          <a:prstGeom prst="line">
            <a:avLst/>
          </a:prstGeom>
          <a:noFill/>
          <a:ln w="31750">
            <a:solidFill>
              <a:srgbClr val="58DBBC"/>
            </a:solidFill>
            <a:prstDash val="solid"/>
          </a:ln>
        </p:spPr>
      </p:sp>
      <p:sp>
        <p:nvSpPr>
          <p:cNvPr id="47" name="Shape 44"/>
          <p:cNvSpPr/>
          <p:nvPr/>
        </p:nvSpPr>
        <p:spPr>
          <a:xfrm>
            <a:off x="9809226" y="2272284"/>
            <a:ext cx="0" cy="352044"/>
          </a:xfrm>
          <a:prstGeom prst="line">
            <a:avLst/>
          </a:prstGeom>
          <a:noFill/>
          <a:ln w="31750">
            <a:solidFill>
              <a:srgbClr val="58DBBC"/>
            </a:solidFill>
            <a:prstDash val="solid"/>
          </a:ln>
        </p:spPr>
      </p:sp>
      <p:sp>
        <p:nvSpPr>
          <p:cNvPr id="48" name="Shape 45"/>
          <p:cNvSpPr/>
          <p:nvPr/>
        </p:nvSpPr>
        <p:spPr>
          <a:xfrm>
            <a:off x="9809226" y="2624328"/>
            <a:ext cx="163830" cy="0"/>
          </a:xfrm>
          <a:prstGeom prst="line">
            <a:avLst/>
          </a:prstGeom>
          <a:noFill/>
          <a:ln w="31750">
            <a:solidFill>
              <a:srgbClr val="58DBBC"/>
            </a:solidFill>
            <a:prstDash val="solid"/>
          </a:ln>
        </p:spPr>
      </p:sp>
      <p:sp>
        <p:nvSpPr>
          <p:cNvPr id="49" name="Shape 46"/>
          <p:cNvSpPr/>
          <p:nvPr/>
        </p:nvSpPr>
        <p:spPr>
          <a:xfrm>
            <a:off x="9973056" y="1970532"/>
            <a:ext cx="0" cy="653796"/>
          </a:xfrm>
          <a:prstGeom prst="line">
            <a:avLst/>
          </a:prstGeom>
          <a:noFill/>
          <a:ln w="31750">
            <a:solidFill>
              <a:srgbClr val="58DBBC"/>
            </a:solidFill>
            <a:prstDash val="solid"/>
          </a:ln>
        </p:spPr>
      </p:sp>
      <p:sp>
        <p:nvSpPr>
          <p:cNvPr id="50" name="Shape 47"/>
          <p:cNvSpPr/>
          <p:nvPr/>
        </p:nvSpPr>
        <p:spPr>
          <a:xfrm>
            <a:off x="9973056" y="1970532"/>
            <a:ext cx="163830" cy="0"/>
          </a:xfrm>
          <a:prstGeom prst="line">
            <a:avLst/>
          </a:prstGeom>
          <a:noFill/>
          <a:ln w="31750">
            <a:solidFill>
              <a:srgbClr val="58DBBC"/>
            </a:solidFill>
            <a:prstDash val="solid"/>
          </a:ln>
        </p:spPr>
      </p:sp>
      <p:sp>
        <p:nvSpPr>
          <p:cNvPr id="51" name="Shape 48"/>
          <p:cNvSpPr/>
          <p:nvPr/>
        </p:nvSpPr>
        <p:spPr>
          <a:xfrm>
            <a:off x="10136886" y="1970532"/>
            <a:ext cx="0" cy="502920"/>
          </a:xfrm>
          <a:prstGeom prst="line">
            <a:avLst/>
          </a:prstGeom>
          <a:noFill/>
          <a:ln w="31750">
            <a:solidFill>
              <a:srgbClr val="58DBBC"/>
            </a:solidFill>
            <a:prstDash val="solid"/>
          </a:ln>
        </p:spPr>
      </p:sp>
      <p:sp>
        <p:nvSpPr>
          <p:cNvPr id="52" name="Shape 49"/>
          <p:cNvSpPr/>
          <p:nvPr/>
        </p:nvSpPr>
        <p:spPr>
          <a:xfrm>
            <a:off x="10136886" y="2473452"/>
            <a:ext cx="163830" cy="0"/>
          </a:xfrm>
          <a:prstGeom prst="line">
            <a:avLst/>
          </a:prstGeom>
          <a:noFill/>
          <a:ln w="31750">
            <a:solidFill>
              <a:srgbClr val="58DBBC"/>
            </a:solidFill>
            <a:prstDash val="solid"/>
          </a:ln>
        </p:spPr>
      </p:sp>
      <p:sp>
        <p:nvSpPr>
          <p:cNvPr id="53" name="Shape 50"/>
          <p:cNvSpPr/>
          <p:nvPr/>
        </p:nvSpPr>
        <p:spPr>
          <a:xfrm>
            <a:off x="10300716" y="2473452"/>
            <a:ext cx="0" cy="402336"/>
          </a:xfrm>
          <a:prstGeom prst="line">
            <a:avLst/>
          </a:prstGeom>
          <a:noFill/>
          <a:ln w="31750">
            <a:solidFill>
              <a:srgbClr val="58DBBC"/>
            </a:solidFill>
            <a:prstDash val="solid"/>
          </a:ln>
        </p:spPr>
      </p:sp>
      <p:sp>
        <p:nvSpPr>
          <p:cNvPr id="54" name="Shape 51"/>
          <p:cNvSpPr/>
          <p:nvPr/>
        </p:nvSpPr>
        <p:spPr>
          <a:xfrm>
            <a:off x="10300716" y="2875788"/>
            <a:ext cx="163830" cy="0"/>
          </a:xfrm>
          <a:prstGeom prst="line">
            <a:avLst/>
          </a:prstGeom>
          <a:noFill/>
          <a:ln w="31750">
            <a:solidFill>
              <a:srgbClr val="58DBBC"/>
            </a:solidFill>
            <a:prstDash val="solid"/>
          </a:ln>
        </p:spPr>
      </p:sp>
      <p:sp>
        <p:nvSpPr>
          <p:cNvPr id="55" name="Shape 52"/>
          <p:cNvSpPr/>
          <p:nvPr/>
        </p:nvSpPr>
        <p:spPr>
          <a:xfrm>
            <a:off x="10464546" y="2071116"/>
            <a:ext cx="0" cy="804672"/>
          </a:xfrm>
          <a:prstGeom prst="line">
            <a:avLst/>
          </a:prstGeom>
          <a:noFill/>
          <a:ln w="31750">
            <a:solidFill>
              <a:srgbClr val="58DBBC"/>
            </a:solidFill>
            <a:prstDash val="solid"/>
          </a:ln>
        </p:spPr>
      </p:sp>
      <p:sp>
        <p:nvSpPr>
          <p:cNvPr id="56" name="Shape 53"/>
          <p:cNvSpPr/>
          <p:nvPr/>
        </p:nvSpPr>
        <p:spPr>
          <a:xfrm>
            <a:off x="10464546" y="2071116"/>
            <a:ext cx="163830" cy="0"/>
          </a:xfrm>
          <a:prstGeom prst="line">
            <a:avLst/>
          </a:prstGeom>
          <a:noFill/>
          <a:ln w="31750">
            <a:solidFill>
              <a:srgbClr val="58DBBC"/>
            </a:solidFill>
            <a:prstDash val="solid"/>
          </a:ln>
        </p:spPr>
      </p:sp>
      <p:sp>
        <p:nvSpPr>
          <p:cNvPr id="57" name="Shape 54"/>
          <p:cNvSpPr/>
          <p:nvPr/>
        </p:nvSpPr>
        <p:spPr>
          <a:xfrm>
            <a:off x="10628376" y="2071116"/>
            <a:ext cx="0" cy="452628"/>
          </a:xfrm>
          <a:prstGeom prst="line">
            <a:avLst/>
          </a:prstGeom>
          <a:noFill/>
          <a:ln w="31750">
            <a:solidFill>
              <a:srgbClr val="58DBBC"/>
            </a:solidFill>
            <a:prstDash val="solid"/>
          </a:ln>
        </p:spPr>
      </p:sp>
      <p:sp>
        <p:nvSpPr>
          <p:cNvPr id="58" name="Shape 55"/>
          <p:cNvSpPr/>
          <p:nvPr/>
        </p:nvSpPr>
        <p:spPr>
          <a:xfrm>
            <a:off x="10628376" y="2523744"/>
            <a:ext cx="163830" cy="0"/>
          </a:xfrm>
          <a:prstGeom prst="line">
            <a:avLst/>
          </a:prstGeom>
          <a:noFill/>
          <a:ln w="31750">
            <a:solidFill>
              <a:srgbClr val="58DBBC"/>
            </a:solidFill>
            <a:prstDash val="solid"/>
          </a:ln>
        </p:spPr>
      </p:sp>
      <p:sp>
        <p:nvSpPr>
          <p:cNvPr id="59" name="Shape 56"/>
          <p:cNvSpPr/>
          <p:nvPr/>
        </p:nvSpPr>
        <p:spPr>
          <a:xfrm>
            <a:off x="10792206" y="2221992"/>
            <a:ext cx="0" cy="301752"/>
          </a:xfrm>
          <a:prstGeom prst="line">
            <a:avLst/>
          </a:prstGeom>
          <a:noFill/>
          <a:ln w="31750">
            <a:solidFill>
              <a:srgbClr val="58DBBC"/>
            </a:solidFill>
            <a:prstDash val="solid"/>
          </a:ln>
        </p:spPr>
      </p:sp>
      <p:sp>
        <p:nvSpPr>
          <p:cNvPr id="60" name="Shape 57"/>
          <p:cNvSpPr/>
          <p:nvPr/>
        </p:nvSpPr>
        <p:spPr>
          <a:xfrm>
            <a:off x="10792206" y="2221992"/>
            <a:ext cx="163830" cy="0"/>
          </a:xfrm>
          <a:prstGeom prst="line">
            <a:avLst/>
          </a:prstGeom>
          <a:noFill/>
          <a:ln w="31750">
            <a:solidFill>
              <a:srgbClr val="58DBBC"/>
            </a:solidFill>
            <a:prstDash val="solid"/>
          </a:ln>
        </p:spPr>
      </p:sp>
      <p:sp>
        <p:nvSpPr>
          <p:cNvPr id="61" name="Shape 58"/>
          <p:cNvSpPr/>
          <p:nvPr/>
        </p:nvSpPr>
        <p:spPr>
          <a:xfrm>
            <a:off x="10956036" y="2221992"/>
            <a:ext cx="0" cy="502920"/>
          </a:xfrm>
          <a:prstGeom prst="line">
            <a:avLst/>
          </a:prstGeom>
          <a:noFill/>
          <a:ln w="31750">
            <a:solidFill>
              <a:srgbClr val="58DBBC"/>
            </a:solidFill>
            <a:prstDash val="solid"/>
          </a:ln>
        </p:spPr>
      </p:sp>
      <p:sp>
        <p:nvSpPr>
          <p:cNvPr id="62" name="Shape 59"/>
          <p:cNvSpPr/>
          <p:nvPr/>
        </p:nvSpPr>
        <p:spPr>
          <a:xfrm>
            <a:off x="10956036" y="2724912"/>
            <a:ext cx="163830" cy="0"/>
          </a:xfrm>
          <a:prstGeom prst="line">
            <a:avLst/>
          </a:prstGeom>
          <a:noFill/>
          <a:ln w="31750">
            <a:solidFill>
              <a:srgbClr val="58DBBC"/>
            </a:solidFill>
            <a:prstDash val="solid"/>
          </a:ln>
        </p:spPr>
      </p:sp>
      <p:sp>
        <p:nvSpPr>
          <p:cNvPr id="63" name="Shape 60"/>
          <p:cNvSpPr/>
          <p:nvPr/>
        </p:nvSpPr>
        <p:spPr>
          <a:xfrm>
            <a:off x="11119866" y="2372868"/>
            <a:ext cx="0" cy="352044"/>
          </a:xfrm>
          <a:prstGeom prst="line">
            <a:avLst/>
          </a:prstGeom>
          <a:noFill/>
          <a:ln w="31750">
            <a:solidFill>
              <a:srgbClr val="58DBBC"/>
            </a:solidFill>
            <a:prstDash val="solid"/>
          </a:ln>
        </p:spPr>
      </p:sp>
      <p:sp>
        <p:nvSpPr>
          <p:cNvPr id="64" name="Shape 61"/>
          <p:cNvSpPr/>
          <p:nvPr/>
        </p:nvSpPr>
        <p:spPr>
          <a:xfrm>
            <a:off x="11119866" y="2372868"/>
            <a:ext cx="163830" cy="0"/>
          </a:xfrm>
          <a:prstGeom prst="line">
            <a:avLst/>
          </a:prstGeom>
          <a:noFill/>
          <a:ln w="31750">
            <a:solidFill>
              <a:srgbClr val="58DBBC"/>
            </a:solidFill>
            <a:prstDash val="solid"/>
          </a:ln>
        </p:spPr>
      </p:sp>
      <p:sp>
        <p:nvSpPr>
          <p:cNvPr id="65" name="Text 62"/>
          <p:cNvSpPr txBox="1"/>
          <p:nvPr/>
        </p:nvSpPr>
        <p:spPr>
          <a:xfrm>
            <a:off x="9226296" y="3383280"/>
            <a:ext cx="2194560" cy="411480"/>
          </a:xfrm>
          <a:prstGeom prst="rect">
            <a:avLst/>
          </a:prstGeom>
          <a:noFill/>
          <a:ln/>
        </p:spPr>
        <p:txBody>
          <a:bodyPr wrap="square" lIns="0" tIns="0" rIns="0" bIns="0" rtlCol="0" anchor="t"/>
          <a:lstStyle/>
          <a:p>
            <a:pPr indent="0" marL="0">
              <a:buNone/>
            </a:pPr>
            <a:r>
              <a:rPr lang="en-US" sz="2000" b="1" dirty="0">
                <a:solidFill>
                  <a:schemeClr val="tx1"/>
                </a:solidFill>
              </a:rPr>
              <a:t>Noise</a:t>
            </a:r>
            <a:endParaRPr lang="en-US" sz="2000" dirty="0"/>
          </a:p>
        </p:txBody>
      </p:sp>
      <p:sp>
        <p:nvSpPr>
          <p:cNvPr id="66" name="Text 63"/>
          <p:cNvSpPr txBox="1"/>
          <p:nvPr/>
        </p:nvSpPr>
        <p:spPr>
          <a:xfrm>
            <a:off x="9226296" y="3886200"/>
            <a:ext cx="2240280" cy="822960"/>
          </a:xfrm>
          <a:prstGeom prst="rect">
            <a:avLst/>
          </a:prstGeom>
          <a:noFill/>
          <a:ln/>
        </p:spPr>
        <p:txBody>
          <a:bodyPr wrap="square" lIns="0" tIns="0" rIns="0" bIns="0" rtlCol="0" anchor="t"/>
          <a:lstStyle/>
          <a:p>
            <a:pPr indent="0" marL="0">
              <a:buNone/>
            </a:pPr>
            <a:r>
              <a:rPr lang="en-US" sz="1400" b="1" dirty="0">
                <a:solidFill>
                  <a:schemeClr val="accent1"/>
                </a:solidFill>
                <a:latin typeface="Courier New" pitchFamily="34" charset="0"/>
                <a:ea typeface="Courier New" pitchFamily="34" charset="-122"/>
                <a:cs typeface="Courier New" pitchFamily="34" charset="-120"/>
              </a:rPr>
              <a:t>new random value each cycle</a:t>
            </a:r>
            <a:endParaRPr lang="en-US" sz="1400" dirty="0"/>
          </a:p>
        </p:txBody>
      </p:sp>
      <p:sp>
        <p:nvSpPr>
          <p:cNvPr id="67" name="Text 64"/>
          <p:cNvSpPr txBox="1"/>
          <p:nvPr/>
        </p:nvSpPr>
        <p:spPr>
          <a:xfrm>
            <a:off x="9226296" y="4526280"/>
            <a:ext cx="2240280" cy="548640"/>
          </a:xfrm>
          <a:prstGeom prst="rect">
            <a:avLst/>
          </a:prstGeom>
          <a:noFill/>
          <a:ln/>
        </p:spPr>
        <p:txBody>
          <a:bodyPr wrap="square" lIns="0" tIns="0" rIns="0" bIns="0" rtlCol="0" anchor="t"/>
          <a:lstStyle/>
          <a:p>
            <a:pPr indent="0" marL="0">
              <a:buNone/>
            </a:pPr>
            <a:r>
              <a:rPr lang="en-US" sz="1300" dirty="0">
                <a:solidFill>
                  <a:schemeClr val="accent5"/>
                </a:solidFill>
              </a:rPr>
              <a:t>xorshift32 × 2⁻³¹</a:t>
            </a:r>
            <a:endParaRPr lang="en-US" sz="1300" dirty="0"/>
          </a:p>
        </p:txBody>
      </p:sp>
      <p:sp>
        <p:nvSpPr>
          <p:cNvPr id="68" name="card"/>
          <p:cNvSpPr/>
          <p:nvPr/>
        </p:nvSpPr>
        <p:spPr>
          <a:xfrm>
            <a:off x="548640" y="5440680"/>
            <a:ext cx="11064240" cy="640080"/>
          </a:xfrm>
          <a:prstGeom prst="roundRect">
            <a:avLst>
              <a:gd name="adj" fmla="val 11429"/>
            </a:avLst>
          </a:prstGeom>
          <a:solidFill>
            <a:schemeClr val="tx1"/>
          </a:solidFill>
          <a:ln/>
        </p:spPr>
      </p:sp>
      <p:sp>
        <p:nvSpPr>
          <p:cNvPr id="69" name="Text 66"/>
          <p:cNvSpPr txBox="1"/>
          <p:nvPr/>
        </p:nvSpPr>
        <p:spPr>
          <a:xfrm>
            <a:off x="822960" y="5440680"/>
            <a:ext cx="10607040" cy="640080"/>
          </a:xfrm>
          <a:prstGeom prst="rect">
            <a:avLst/>
          </a:prstGeom>
          <a:noFill/>
          <a:ln/>
        </p:spPr>
        <p:txBody>
          <a:bodyPr wrap="square" lIns="0" tIns="0" rIns="0" bIns="0" rtlCol="0" anchor="ctr"/>
          <a:lstStyle/>
          <a:p>
            <a:pPr indent="0" marL="0">
              <a:buNone/>
            </a:pPr>
            <a:r>
              <a:rPr lang="en-US" sz="1500" b="1" dirty="0">
                <a:solidFill>
                  <a:schemeClr val="accent2"/>
                </a:solidFill>
                <a:latin typeface="Courier New" pitchFamily="34" charset="0"/>
                <a:ea typeface="Courier New" pitchFamily="34" charset="-122"/>
                <a:cs typeface="Courier New" pitchFamily="34" charset="-120"/>
              </a:rPr>
              <a:t>phase</a:t>
            </a:r>
            <a:pPr indent="0" marL="0">
              <a:buNone/>
            </a:pPr>
            <a:r>
              <a:rPr lang="en-US" sz="1500" dirty="0">
                <a:solidFill>
                  <a:schemeClr val="bg1"/>
                </a:solidFill>
              </a:rPr>
              <a:t> = how far through one cycle (0 to 1). Frequency only changes how fast phase moves, so slides and vibrato stay smooth.</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68680"/>
          </a:xfrm>
          <a:prstGeom prst="rect">
            <a:avLst/>
          </a:prstGeom>
          <a:noFill/>
          <a:ln/>
        </p:spPr>
        <p:txBody>
          <a:bodyPr wrap="square" lIns="0" tIns="0" rIns="0" bIns="0" rtlCol="0" anchor="ctr"/>
          <a:lstStyle/>
          <a:p>
            <a:pPr algn="l" indent="0" marL="0">
              <a:buNone/>
            </a:pPr>
            <a:r>
              <a:rPr lang="en-US" sz="2800" b="1" dirty="0">
                <a:solidFill>
                  <a:schemeClr val="tx1"/>
                </a:solidFill>
              </a:rPr>
              <a:t>Six Assembly techniques that C would have hidden from us</a:t>
            </a:r>
            <a:endParaRPr lang="en-US" sz="2800" dirty="0"/>
          </a:p>
        </p:txBody>
      </p:sp>
      <p:sp>
        <p:nvSpPr>
          <p:cNvPr id="4" name="card"/>
          <p:cNvSpPr/>
          <p:nvPr/>
        </p:nvSpPr>
        <p:spPr>
          <a:xfrm>
            <a:off x="548640" y="1463040"/>
            <a:ext cx="3566160" cy="2194560"/>
          </a:xfrm>
          <a:prstGeom prst="roundRect">
            <a:avLst>
              <a:gd name="adj" fmla="val 3333"/>
            </a:avLst>
          </a:prstGeom>
          <a:solidFill>
            <a:schemeClr val="bg2"/>
          </a:solidFill>
          <a:ln/>
        </p:spPr>
      </p:sp>
      <p:sp>
        <p:nvSpPr>
          <p:cNvPr id="5" name="Shape 2"/>
          <p:cNvSpPr/>
          <p:nvPr/>
        </p:nvSpPr>
        <p:spPr>
          <a:xfrm>
            <a:off x="777240" y="1664208"/>
            <a:ext cx="411480" cy="411480"/>
          </a:xfrm>
          <a:prstGeom prst="ellipse">
            <a:avLst/>
          </a:prstGeom>
          <a:solidFill>
            <a:schemeClr val="accent1"/>
          </a:solidFill>
          <a:ln/>
        </p:spPr>
      </p:sp>
      <p:sp>
        <p:nvSpPr>
          <p:cNvPr id="6" name="Text 3"/>
          <p:cNvSpPr txBox="1"/>
          <p:nvPr/>
        </p:nvSpPr>
        <p:spPr>
          <a:xfrm>
            <a:off x="777240" y="1664208"/>
            <a:ext cx="411480" cy="411480"/>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7" name="Text 4"/>
          <p:cNvSpPr txBox="1"/>
          <p:nvPr/>
        </p:nvSpPr>
        <p:spPr>
          <a:xfrm>
            <a:off x="1325880" y="1664208"/>
            <a:ext cx="2651760" cy="411480"/>
          </a:xfrm>
          <a:prstGeom prst="rect">
            <a:avLst/>
          </a:prstGeom>
          <a:noFill/>
          <a:ln/>
        </p:spPr>
        <p:txBody>
          <a:bodyPr wrap="square" lIns="0" tIns="0" rIns="0" bIns="0" rtlCol="0" anchor="ctr"/>
          <a:lstStyle/>
          <a:p>
            <a:pPr indent="0" marL="0">
              <a:buNone/>
            </a:pPr>
            <a:r>
              <a:rPr lang="en-US" sz="1600" b="1" dirty="0">
                <a:solidFill>
                  <a:schemeClr val="tx1"/>
                </a:solidFill>
              </a:rPr>
              <a:t>NaN-proof validation</a:t>
            </a:r>
            <a:endParaRPr lang="en-US" sz="1600" dirty="0"/>
          </a:p>
        </p:txBody>
      </p:sp>
      <p:sp>
        <p:nvSpPr>
          <p:cNvPr id="8" name="Shape 5"/>
          <p:cNvSpPr/>
          <p:nvPr/>
        </p:nvSpPr>
        <p:spPr>
          <a:xfrm>
            <a:off x="777240" y="2240280"/>
            <a:ext cx="3108960" cy="621792"/>
          </a:xfrm>
          <a:prstGeom prst="rect">
            <a:avLst/>
          </a:prstGeom>
          <a:solidFill>
            <a:schemeClr val="tx1"/>
          </a:solidFill>
          <a:ln/>
        </p:spPr>
      </p:sp>
      <p:sp>
        <p:nvSpPr>
          <p:cNvPr id="9" name="Text 6"/>
          <p:cNvSpPr txBox="1"/>
          <p:nvPr/>
        </p:nvSpPr>
        <p:spPr>
          <a:xfrm>
            <a:off x="868680" y="2240280"/>
            <a:ext cx="2971800" cy="621792"/>
          </a:xfrm>
          <a:prstGeom prst="rect">
            <a:avLst/>
          </a:prstGeom>
          <a:noFill/>
          <a:ln/>
        </p:spPr>
        <p:txBody>
          <a:bodyPr wrap="square" lIns="0" tIns="0" rIns="0" bIns="0" rtlCol="0" anchor="ctr"/>
          <a:lstStyle/>
          <a:p>
            <a:pPr indent="0" marL="0">
              <a:buNone/>
            </a:pPr>
            <a:r>
              <a:rPr lang="en-US" sz="1200" b="1" dirty="0">
                <a:solidFill>
                  <a:schemeClr val="accent2"/>
                </a:solidFill>
                <a:latin typeface="Courier New" pitchFamily="34" charset="0"/>
                <a:ea typeface="Courier New" pitchFamily="34" charset="-122"/>
                <a:cs typeface="Courier New" pitchFamily="34" charset="-120"/>
              </a:rPr>
              <a:t>comiss xmm0,[low]</a:t>
            </a:r>
            <a:endParaRPr lang="en-US" sz="1200" dirty="0"/>
          </a:p>
          <a:p>
            <a:pPr indent="0" marL="0">
              <a:buNone/>
            </a:pPr>
            <a:r>
              <a:rPr lang="en-US" sz="1200" b="1" dirty="0">
                <a:solidFill>
                  <a:schemeClr val="accent2"/>
                </a:solidFill>
                <a:latin typeface="Courier New" pitchFamily="34" charset="0"/>
                <a:ea typeface="Courier New" pitchFamily="34" charset="-122"/>
                <a:cs typeface="Courier New" pitchFamily="34" charset="-120"/>
              </a:rPr>
              <a:t>jp .bad</a:t>
            </a:r>
            <a:endParaRPr lang="en-US" sz="1200" dirty="0"/>
          </a:p>
        </p:txBody>
      </p:sp>
      <p:sp>
        <p:nvSpPr>
          <p:cNvPr id="10" name="Text 7"/>
          <p:cNvSpPr txBox="1"/>
          <p:nvPr/>
        </p:nvSpPr>
        <p:spPr>
          <a:xfrm>
            <a:off x="777240" y="2971800"/>
            <a:ext cx="3154680" cy="640080"/>
          </a:xfrm>
          <a:prstGeom prst="rect">
            <a:avLst/>
          </a:prstGeom>
          <a:noFill/>
          <a:ln/>
        </p:spPr>
        <p:txBody>
          <a:bodyPr wrap="square" lIns="0" tIns="0" rIns="0" bIns="0" rtlCol="0" anchor="t"/>
          <a:lstStyle/>
          <a:p>
            <a:pPr indent="0" marL="0">
              <a:buNone/>
            </a:pPr>
            <a:r>
              <a:rPr lang="en-US" sz="1300" dirty="0">
                <a:solidFill>
                  <a:schemeClr val="tx2"/>
                </a:solidFill>
              </a:rPr>
              <a:t>NaN sets the parity flag; 9 fields checked by one table-driven loop</a:t>
            </a:r>
            <a:endParaRPr lang="en-US" sz="1300" dirty="0"/>
          </a:p>
        </p:txBody>
      </p:sp>
      <p:sp>
        <p:nvSpPr>
          <p:cNvPr id="11" name="card"/>
          <p:cNvSpPr/>
          <p:nvPr/>
        </p:nvSpPr>
        <p:spPr>
          <a:xfrm>
            <a:off x="4297680" y="1463040"/>
            <a:ext cx="3566160" cy="2194560"/>
          </a:xfrm>
          <a:prstGeom prst="roundRect">
            <a:avLst>
              <a:gd name="adj" fmla="val 3333"/>
            </a:avLst>
          </a:prstGeom>
          <a:solidFill>
            <a:schemeClr val="bg2"/>
          </a:solidFill>
          <a:ln/>
        </p:spPr>
      </p:sp>
      <p:sp>
        <p:nvSpPr>
          <p:cNvPr id="12" name="Shape 9"/>
          <p:cNvSpPr/>
          <p:nvPr/>
        </p:nvSpPr>
        <p:spPr>
          <a:xfrm>
            <a:off x="4526280" y="1664208"/>
            <a:ext cx="411480" cy="411480"/>
          </a:xfrm>
          <a:prstGeom prst="ellipse">
            <a:avLst/>
          </a:prstGeom>
          <a:solidFill>
            <a:schemeClr val="accent1"/>
          </a:solidFill>
          <a:ln/>
        </p:spPr>
      </p:sp>
      <p:sp>
        <p:nvSpPr>
          <p:cNvPr id="13" name="Text 10"/>
          <p:cNvSpPr txBox="1"/>
          <p:nvPr/>
        </p:nvSpPr>
        <p:spPr>
          <a:xfrm>
            <a:off x="4526280" y="1664208"/>
            <a:ext cx="411480" cy="411480"/>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4" name="Text 11"/>
          <p:cNvSpPr txBox="1"/>
          <p:nvPr/>
        </p:nvSpPr>
        <p:spPr>
          <a:xfrm>
            <a:off x="5074920" y="1664208"/>
            <a:ext cx="2651760" cy="411480"/>
          </a:xfrm>
          <a:prstGeom prst="rect">
            <a:avLst/>
          </a:prstGeom>
          <a:noFill/>
          <a:ln/>
        </p:spPr>
        <p:txBody>
          <a:bodyPr wrap="square" lIns="0" tIns="0" rIns="0" bIns="0" rtlCol="0" anchor="ctr"/>
          <a:lstStyle/>
          <a:p>
            <a:pPr indent="0" marL="0">
              <a:buNone/>
            </a:pPr>
            <a:r>
              <a:rPr lang="en-US" sz="1600" b="1" dirty="0">
                <a:solidFill>
                  <a:schemeClr val="tx1"/>
                </a:solidFill>
              </a:rPr>
              <a:t>Pitch slide without pow()</a:t>
            </a:r>
            <a:endParaRPr lang="en-US" sz="1600" dirty="0"/>
          </a:p>
        </p:txBody>
      </p:sp>
      <p:sp>
        <p:nvSpPr>
          <p:cNvPr id="15" name="Shape 12"/>
          <p:cNvSpPr/>
          <p:nvPr/>
        </p:nvSpPr>
        <p:spPr>
          <a:xfrm>
            <a:off x="4526280" y="2240280"/>
            <a:ext cx="3108960" cy="621792"/>
          </a:xfrm>
          <a:prstGeom prst="rect">
            <a:avLst/>
          </a:prstGeom>
          <a:solidFill>
            <a:schemeClr val="tx1"/>
          </a:solidFill>
          <a:ln/>
        </p:spPr>
      </p:sp>
      <p:sp>
        <p:nvSpPr>
          <p:cNvPr id="16" name="Text 13"/>
          <p:cNvSpPr txBox="1"/>
          <p:nvPr/>
        </p:nvSpPr>
        <p:spPr>
          <a:xfrm>
            <a:off x="4617720" y="2240280"/>
            <a:ext cx="2971800" cy="621792"/>
          </a:xfrm>
          <a:prstGeom prst="rect">
            <a:avLst/>
          </a:prstGeom>
          <a:noFill/>
          <a:ln/>
        </p:spPr>
        <p:txBody>
          <a:bodyPr wrap="square" lIns="0" tIns="0" rIns="0" bIns="0" rtlCol="0" anchor="ctr"/>
          <a:lstStyle/>
          <a:p>
            <a:pPr indent="0" marL="0">
              <a:buNone/>
            </a:pPr>
            <a:r>
              <a:rPr lang="en-US" sz="1200" b="1" dirty="0">
                <a:solidFill>
                  <a:schemeClr val="accent2"/>
                </a:solidFill>
                <a:latin typeface="Courier New" pitchFamily="34" charset="0"/>
                <a:ea typeface="Courier New" pitchFamily="34" charset="-122"/>
                <a:cs typeface="Courier New" pitchFamily="34" charset="-120"/>
              </a:rPr>
              <a:t>2^x ≈ 1 + y + y²/2</a:t>
            </a:r>
            <a:endParaRPr lang="en-US" sz="1200" dirty="0"/>
          </a:p>
        </p:txBody>
      </p:sp>
      <p:sp>
        <p:nvSpPr>
          <p:cNvPr id="17" name="Text 14"/>
          <p:cNvSpPr txBox="1"/>
          <p:nvPr/>
        </p:nvSpPr>
        <p:spPr>
          <a:xfrm>
            <a:off x="4526280" y="2971800"/>
            <a:ext cx="3154680" cy="640080"/>
          </a:xfrm>
          <a:prstGeom prst="rect">
            <a:avLst/>
          </a:prstGeom>
          <a:noFill/>
          <a:ln/>
        </p:spPr>
        <p:txBody>
          <a:bodyPr wrap="square" lIns="0" tIns="0" rIns="0" bIns="0" rtlCol="0" anchor="t"/>
          <a:lstStyle/>
          <a:p>
            <a:pPr indent="0" marL="0">
              <a:buNone/>
            </a:pPr>
            <a:r>
              <a:rPr lang="en-US" sz="1300" dirty="0">
                <a:solidFill>
                  <a:schemeClr val="tx2"/>
                </a:solidFill>
              </a:rPr>
              <a:t>SSE has no exponent instruction; error ≈ 10⁻¹⁴, below float precision</a:t>
            </a:r>
            <a:endParaRPr lang="en-US" sz="1300" dirty="0"/>
          </a:p>
        </p:txBody>
      </p:sp>
      <p:sp>
        <p:nvSpPr>
          <p:cNvPr id="18" name="card"/>
          <p:cNvSpPr/>
          <p:nvPr/>
        </p:nvSpPr>
        <p:spPr>
          <a:xfrm>
            <a:off x="8046720" y="1463040"/>
            <a:ext cx="3566160" cy="2194560"/>
          </a:xfrm>
          <a:prstGeom prst="roundRect">
            <a:avLst>
              <a:gd name="adj" fmla="val 3333"/>
            </a:avLst>
          </a:prstGeom>
          <a:solidFill>
            <a:schemeClr val="bg2"/>
          </a:solidFill>
          <a:ln/>
        </p:spPr>
      </p:sp>
      <p:sp>
        <p:nvSpPr>
          <p:cNvPr id="19" name="Shape 16"/>
          <p:cNvSpPr/>
          <p:nvPr/>
        </p:nvSpPr>
        <p:spPr>
          <a:xfrm>
            <a:off x="8275320" y="1664208"/>
            <a:ext cx="411480" cy="411480"/>
          </a:xfrm>
          <a:prstGeom prst="ellipse">
            <a:avLst/>
          </a:prstGeom>
          <a:solidFill>
            <a:schemeClr val="accent1"/>
          </a:solidFill>
          <a:ln/>
        </p:spPr>
      </p:sp>
      <p:sp>
        <p:nvSpPr>
          <p:cNvPr id="20" name="Text 17"/>
          <p:cNvSpPr txBox="1"/>
          <p:nvPr/>
        </p:nvSpPr>
        <p:spPr>
          <a:xfrm>
            <a:off x="8275320" y="1664208"/>
            <a:ext cx="411480" cy="411480"/>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21" name="Text 18"/>
          <p:cNvSpPr txBox="1"/>
          <p:nvPr/>
        </p:nvSpPr>
        <p:spPr>
          <a:xfrm>
            <a:off x="8823960" y="1664208"/>
            <a:ext cx="2651760" cy="411480"/>
          </a:xfrm>
          <a:prstGeom prst="rect">
            <a:avLst/>
          </a:prstGeom>
          <a:noFill/>
          <a:ln/>
        </p:spPr>
        <p:txBody>
          <a:bodyPr wrap="square" lIns="0" tIns="0" rIns="0" bIns="0" rtlCol="0" anchor="ctr"/>
          <a:lstStyle/>
          <a:p>
            <a:pPr indent="0" marL="0">
              <a:buNone/>
            </a:pPr>
            <a:r>
              <a:rPr lang="en-US" sz="1600" b="1" dirty="0">
                <a:solidFill>
                  <a:schemeClr val="tx1"/>
                </a:solidFill>
              </a:rPr>
              <a:t>Phase accumulator</a:t>
            </a:r>
            <a:endParaRPr lang="en-US" sz="1600" dirty="0"/>
          </a:p>
        </p:txBody>
      </p:sp>
      <p:sp>
        <p:nvSpPr>
          <p:cNvPr id="22" name="Shape 19"/>
          <p:cNvSpPr/>
          <p:nvPr/>
        </p:nvSpPr>
        <p:spPr>
          <a:xfrm>
            <a:off x="8275320" y="2240280"/>
            <a:ext cx="3108960" cy="621792"/>
          </a:xfrm>
          <a:prstGeom prst="rect">
            <a:avLst/>
          </a:prstGeom>
          <a:solidFill>
            <a:schemeClr val="tx1"/>
          </a:solidFill>
          <a:ln/>
        </p:spPr>
      </p:sp>
      <p:sp>
        <p:nvSpPr>
          <p:cNvPr id="23" name="Text 20"/>
          <p:cNvSpPr txBox="1"/>
          <p:nvPr/>
        </p:nvSpPr>
        <p:spPr>
          <a:xfrm>
            <a:off x="8366760" y="2240280"/>
            <a:ext cx="2971800" cy="621792"/>
          </a:xfrm>
          <a:prstGeom prst="rect">
            <a:avLst/>
          </a:prstGeom>
          <a:noFill/>
          <a:ln/>
        </p:spPr>
        <p:txBody>
          <a:bodyPr wrap="square" lIns="0" tIns="0" rIns="0" bIns="0" rtlCol="0" anchor="ctr"/>
          <a:lstStyle/>
          <a:p>
            <a:pPr indent="0" marL="0">
              <a:buNone/>
            </a:pPr>
            <a:r>
              <a:rPr lang="en-US" sz="1200" b="1" dirty="0">
                <a:solidFill>
                  <a:schemeClr val="accent2"/>
                </a:solidFill>
                <a:latin typeface="Courier New" pitchFamily="34" charset="0"/>
                <a:ea typeface="Courier New" pitchFamily="34" charset="-122"/>
                <a:cs typeface="Courier New" pitchFamily="34" charset="-120"/>
              </a:rPr>
              <a:t>minss xmm4,[maxfreq]</a:t>
            </a:r>
            <a:endParaRPr lang="en-US" sz="1200" dirty="0"/>
          </a:p>
        </p:txBody>
      </p:sp>
      <p:sp>
        <p:nvSpPr>
          <p:cNvPr id="24" name="Text 21"/>
          <p:cNvSpPr txBox="1"/>
          <p:nvPr/>
        </p:nvSpPr>
        <p:spPr>
          <a:xfrm>
            <a:off x="8275320" y="2971800"/>
            <a:ext cx="3154680" cy="640080"/>
          </a:xfrm>
          <a:prstGeom prst="rect">
            <a:avLst/>
          </a:prstGeom>
          <a:noFill/>
          <a:ln/>
        </p:spPr>
        <p:txBody>
          <a:bodyPr wrap="square" lIns="0" tIns="0" rIns="0" bIns="0" rtlCol="0" anchor="t"/>
          <a:lstStyle/>
          <a:p>
            <a:pPr indent="0" marL="0">
              <a:buNone/>
            </a:pPr>
            <a:r>
              <a:rPr lang="en-US" sz="1300" dirty="0">
                <a:solidFill>
                  <a:schemeClr val="tx2"/>
                </a:solidFill>
              </a:rPr>
              <a:t>20 kHz cap keeps the step &lt; 1, so one subtraction always wraps</a:t>
            </a:r>
            <a:endParaRPr lang="en-US" sz="1300" dirty="0"/>
          </a:p>
        </p:txBody>
      </p:sp>
      <p:sp>
        <p:nvSpPr>
          <p:cNvPr id="25" name="card"/>
          <p:cNvSpPr/>
          <p:nvPr/>
        </p:nvSpPr>
        <p:spPr>
          <a:xfrm>
            <a:off x="548640" y="3840480"/>
            <a:ext cx="3566160" cy="2194560"/>
          </a:xfrm>
          <a:prstGeom prst="roundRect">
            <a:avLst>
              <a:gd name="adj" fmla="val 3333"/>
            </a:avLst>
          </a:prstGeom>
          <a:solidFill>
            <a:schemeClr val="bg2"/>
          </a:solidFill>
          <a:ln/>
        </p:spPr>
      </p:sp>
      <p:sp>
        <p:nvSpPr>
          <p:cNvPr id="26" name="Shape 23"/>
          <p:cNvSpPr/>
          <p:nvPr/>
        </p:nvSpPr>
        <p:spPr>
          <a:xfrm>
            <a:off x="777240" y="4041648"/>
            <a:ext cx="411480" cy="411480"/>
          </a:xfrm>
          <a:prstGeom prst="ellipse">
            <a:avLst/>
          </a:prstGeom>
          <a:solidFill>
            <a:schemeClr val="accent1"/>
          </a:solidFill>
          <a:ln/>
        </p:spPr>
      </p:sp>
      <p:sp>
        <p:nvSpPr>
          <p:cNvPr id="27" name="Text 24"/>
          <p:cNvSpPr txBox="1"/>
          <p:nvPr/>
        </p:nvSpPr>
        <p:spPr>
          <a:xfrm>
            <a:off x="777240" y="4041648"/>
            <a:ext cx="411480" cy="411480"/>
          </a:xfrm>
          <a:prstGeom prst="rect">
            <a:avLst/>
          </a:prstGeom>
          <a:no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28" name="Text 25"/>
          <p:cNvSpPr txBox="1"/>
          <p:nvPr/>
        </p:nvSpPr>
        <p:spPr>
          <a:xfrm>
            <a:off x="1325880" y="4041648"/>
            <a:ext cx="2651760" cy="411480"/>
          </a:xfrm>
          <a:prstGeom prst="rect">
            <a:avLst/>
          </a:prstGeom>
          <a:noFill/>
          <a:ln/>
        </p:spPr>
        <p:txBody>
          <a:bodyPr wrap="square" lIns="0" tIns="0" rIns="0" bIns="0" rtlCol="0" anchor="ctr"/>
          <a:lstStyle/>
          <a:p>
            <a:pPr indent="0" marL="0">
              <a:buNone/>
            </a:pPr>
            <a:r>
              <a:rPr lang="en-US" sz="1600" b="1" dirty="0">
                <a:solidFill>
                  <a:schemeClr val="tx1"/>
                </a:solidFill>
              </a:rPr>
              <a:t>abs() with a bit mask</a:t>
            </a:r>
            <a:endParaRPr lang="en-US" sz="1600" dirty="0"/>
          </a:p>
        </p:txBody>
      </p:sp>
      <p:sp>
        <p:nvSpPr>
          <p:cNvPr id="29" name="Shape 26"/>
          <p:cNvSpPr/>
          <p:nvPr/>
        </p:nvSpPr>
        <p:spPr>
          <a:xfrm>
            <a:off x="777240" y="4617720"/>
            <a:ext cx="3108960" cy="621792"/>
          </a:xfrm>
          <a:prstGeom prst="rect">
            <a:avLst/>
          </a:prstGeom>
          <a:solidFill>
            <a:schemeClr val="tx1"/>
          </a:solidFill>
          <a:ln/>
        </p:spPr>
      </p:sp>
      <p:sp>
        <p:nvSpPr>
          <p:cNvPr id="30" name="Text 27"/>
          <p:cNvSpPr txBox="1"/>
          <p:nvPr/>
        </p:nvSpPr>
        <p:spPr>
          <a:xfrm>
            <a:off x="868680" y="4617720"/>
            <a:ext cx="2971800" cy="621792"/>
          </a:xfrm>
          <a:prstGeom prst="rect">
            <a:avLst/>
          </a:prstGeom>
          <a:noFill/>
          <a:ln/>
        </p:spPr>
        <p:txBody>
          <a:bodyPr wrap="square" lIns="0" tIns="0" rIns="0" bIns="0" rtlCol="0" anchor="ctr"/>
          <a:lstStyle/>
          <a:p>
            <a:pPr indent="0" marL="0">
              <a:buNone/>
            </a:pPr>
            <a:r>
              <a:rPr lang="en-US" sz="1200" b="1" dirty="0">
                <a:solidFill>
                  <a:schemeClr val="accent2"/>
                </a:solidFill>
                <a:latin typeface="Courier New" pitchFamily="34" charset="0"/>
                <a:ea typeface="Courier New" pitchFamily="34" charset="-122"/>
                <a:cs typeface="Courier New" pitchFamily="34" charset="-120"/>
              </a:rPr>
              <a:t>andps xmm2,[absmask]</a:t>
            </a:r>
            <a:endParaRPr lang="en-US" sz="1200" dirty="0"/>
          </a:p>
        </p:txBody>
      </p:sp>
      <p:sp>
        <p:nvSpPr>
          <p:cNvPr id="31" name="Text 28"/>
          <p:cNvSpPr txBox="1"/>
          <p:nvPr/>
        </p:nvSpPr>
        <p:spPr>
          <a:xfrm>
            <a:off x="777240" y="5349240"/>
            <a:ext cx="3154680" cy="640080"/>
          </a:xfrm>
          <a:prstGeom prst="rect">
            <a:avLst/>
          </a:prstGeom>
          <a:noFill/>
          <a:ln/>
        </p:spPr>
        <p:txBody>
          <a:bodyPr wrap="square" lIns="0" tIns="0" rIns="0" bIns="0" rtlCol="0" anchor="t"/>
          <a:lstStyle/>
          <a:p>
            <a:pPr indent="0" marL="0">
              <a:buNone/>
            </a:pPr>
            <a:r>
              <a:rPr lang="en-US" sz="1300" dirty="0">
                <a:solidFill>
                  <a:schemeClr val="tx2"/>
                </a:solidFill>
              </a:rPr>
              <a:t>0x7FFFFFFF clears the float sign bit for the triangle wave</a:t>
            </a:r>
            <a:endParaRPr lang="en-US" sz="1300" dirty="0"/>
          </a:p>
        </p:txBody>
      </p:sp>
      <p:sp>
        <p:nvSpPr>
          <p:cNvPr id="32" name="card"/>
          <p:cNvSpPr/>
          <p:nvPr/>
        </p:nvSpPr>
        <p:spPr>
          <a:xfrm>
            <a:off x="4297680" y="3840480"/>
            <a:ext cx="3566160" cy="2194560"/>
          </a:xfrm>
          <a:prstGeom prst="roundRect">
            <a:avLst>
              <a:gd name="adj" fmla="val 3333"/>
            </a:avLst>
          </a:prstGeom>
          <a:solidFill>
            <a:schemeClr val="bg2"/>
          </a:solidFill>
          <a:ln/>
        </p:spPr>
      </p:sp>
      <p:sp>
        <p:nvSpPr>
          <p:cNvPr id="33" name="Shape 30"/>
          <p:cNvSpPr/>
          <p:nvPr/>
        </p:nvSpPr>
        <p:spPr>
          <a:xfrm>
            <a:off x="4526280" y="4041648"/>
            <a:ext cx="411480" cy="411480"/>
          </a:xfrm>
          <a:prstGeom prst="ellipse">
            <a:avLst/>
          </a:prstGeom>
          <a:solidFill>
            <a:schemeClr val="accent1"/>
          </a:solidFill>
          <a:ln/>
        </p:spPr>
      </p:sp>
      <p:sp>
        <p:nvSpPr>
          <p:cNvPr id="34" name="Text 31"/>
          <p:cNvSpPr txBox="1"/>
          <p:nvPr/>
        </p:nvSpPr>
        <p:spPr>
          <a:xfrm>
            <a:off x="4526280" y="4041648"/>
            <a:ext cx="411480" cy="411480"/>
          </a:xfrm>
          <a:prstGeom prst="rect">
            <a:avLst/>
          </a:prstGeom>
          <a:noFill/>
          <a:ln/>
        </p:spPr>
        <p:txBody>
          <a:bodyPr wrap="square" lIns="0" tIns="0" rIns="0" bIns="0" rtlCol="0" anchor="ctr"/>
          <a:lstStyle/>
          <a:p>
            <a:pPr algn="ctr" indent="0" marL="0">
              <a:buNone/>
            </a:pPr>
            <a:r>
              <a:rPr lang="en-US" sz="1400" b="1" dirty="0">
                <a:solidFill>
                  <a:schemeClr val="bg1"/>
                </a:solidFill>
              </a:rPr>
              <a:t>5</a:t>
            </a:r>
            <a:endParaRPr lang="en-US" sz="1400" dirty="0"/>
          </a:p>
        </p:txBody>
      </p:sp>
      <p:sp>
        <p:nvSpPr>
          <p:cNvPr id="35" name="Text 32"/>
          <p:cNvSpPr txBox="1"/>
          <p:nvPr/>
        </p:nvSpPr>
        <p:spPr>
          <a:xfrm>
            <a:off x="5074920" y="4041648"/>
            <a:ext cx="2651760" cy="411480"/>
          </a:xfrm>
          <a:prstGeom prst="rect">
            <a:avLst/>
          </a:prstGeom>
          <a:noFill/>
          <a:ln/>
        </p:spPr>
        <p:txBody>
          <a:bodyPr wrap="square" lIns="0" tIns="0" rIns="0" bIns="0" rtlCol="0" anchor="ctr"/>
          <a:lstStyle/>
          <a:p>
            <a:pPr indent="0" marL="0">
              <a:buNone/>
            </a:pPr>
            <a:r>
              <a:rPr lang="en-US" sz="1600" b="1" dirty="0">
                <a:solidFill>
                  <a:schemeClr val="tx1"/>
                </a:solidFill>
              </a:rPr>
              <a:t>Clipping for free</a:t>
            </a:r>
            <a:endParaRPr lang="en-US" sz="1600" dirty="0"/>
          </a:p>
        </p:txBody>
      </p:sp>
      <p:sp>
        <p:nvSpPr>
          <p:cNvPr id="36" name="Shape 33"/>
          <p:cNvSpPr/>
          <p:nvPr/>
        </p:nvSpPr>
        <p:spPr>
          <a:xfrm>
            <a:off x="4526280" y="4617720"/>
            <a:ext cx="3108960" cy="621792"/>
          </a:xfrm>
          <a:prstGeom prst="rect">
            <a:avLst/>
          </a:prstGeom>
          <a:solidFill>
            <a:schemeClr val="tx1"/>
          </a:solidFill>
          <a:ln/>
        </p:spPr>
      </p:sp>
      <p:sp>
        <p:nvSpPr>
          <p:cNvPr id="37" name="Text 34"/>
          <p:cNvSpPr txBox="1"/>
          <p:nvPr/>
        </p:nvSpPr>
        <p:spPr>
          <a:xfrm>
            <a:off x="4617720" y="4617720"/>
            <a:ext cx="2971800" cy="621792"/>
          </a:xfrm>
          <a:prstGeom prst="rect">
            <a:avLst/>
          </a:prstGeom>
          <a:noFill/>
          <a:ln/>
        </p:spPr>
        <p:txBody>
          <a:bodyPr wrap="square" lIns="0" tIns="0" rIns="0" bIns="0" rtlCol="0" anchor="ctr"/>
          <a:lstStyle/>
          <a:p>
            <a:pPr indent="0" marL="0">
              <a:buNone/>
            </a:pPr>
            <a:r>
              <a:rPr lang="en-US" sz="1200" b="1" dirty="0">
                <a:solidFill>
                  <a:schemeClr val="accent2"/>
                </a:solidFill>
                <a:latin typeface="Courier New" pitchFamily="34" charset="0"/>
                <a:ea typeface="Courier New" pitchFamily="34" charset="-122"/>
                <a:cs typeface="Courier New" pitchFamily="34" charset="-120"/>
              </a:rPr>
              <a:t>packssdw xmm0,xmm0</a:t>
            </a:r>
            <a:endParaRPr lang="en-US" sz="1200" dirty="0"/>
          </a:p>
        </p:txBody>
      </p:sp>
      <p:sp>
        <p:nvSpPr>
          <p:cNvPr id="38" name="Text 35"/>
          <p:cNvSpPr txBox="1"/>
          <p:nvPr/>
        </p:nvSpPr>
        <p:spPr>
          <a:xfrm>
            <a:off x="4526280" y="5349240"/>
            <a:ext cx="3154680" cy="640080"/>
          </a:xfrm>
          <a:prstGeom prst="rect">
            <a:avLst/>
          </a:prstGeom>
          <a:noFill/>
          <a:ln/>
        </p:spPr>
        <p:txBody>
          <a:bodyPr wrap="square" lIns="0" tIns="0" rIns="0" bIns="0" rtlCol="0" anchor="t"/>
          <a:lstStyle/>
          <a:p>
            <a:pPr indent="0" marL="0">
              <a:buNone/>
            </a:pPr>
            <a:r>
              <a:rPr lang="en-US" sz="1300" dirty="0">
                <a:solidFill>
                  <a:schemeClr val="tx2"/>
                </a:solidFill>
              </a:rPr>
              <a:t>Saturates to −32768..32767: loud samples clip, never wrap</a:t>
            </a:r>
            <a:endParaRPr lang="en-US" sz="1300" dirty="0"/>
          </a:p>
        </p:txBody>
      </p:sp>
      <p:sp>
        <p:nvSpPr>
          <p:cNvPr id="39" name="card"/>
          <p:cNvSpPr/>
          <p:nvPr/>
        </p:nvSpPr>
        <p:spPr>
          <a:xfrm>
            <a:off x="8046720" y="3840480"/>
            <a:ext cx="3566160" cy="2194560"/>
          </a:xfrm>
          <a:prstGeom prst="roundRect">
            <a:avLst>
              <a:gd name="adj" fmla="val 3333"/>
            </a:avLst>
          </a:prstGeom>
          <a:solidFill>
            <a:schemeClr val="bg2"/>
          </a:solidFill>
          <a:ln/>
        </p:spPr>
      </p:sp>
      <p:sp>
        <p:nvSpPr>
          <p:cNvPr id="40" name="Shape 37"/>
          <p:cNvSpPr/>
          <p:nvPr/>
        </p:nvSpPr>
        <p:spPr>
          <a:xfrm>
            <a:off x="8275320" y="4041648"/>
            <a:ext cx="411480" cy="411480"/>
          </a:xfrm>
          <a:prstGeom prst="ellipse">
            <a:avLst/>
          </a:prstGeom>
          <a:solidFill>
            <a:schemeClr val="accent1"/>
          </a:solidFill>
          <a:ln/>
        </p:spPr>
      </p:sp>
      <p:sp>
        <p:nvSpPr>
          <p:cNvPr id="41" name="Text 38"/>
          <p:cNvSpPr txBox="1"/>
          <p:nvPr/>
        </p:nvSpPr>
        <p:spPr>
          <a:xfrm>
            <a:off x="8275320" y="4041648"/>
            <a:ext cx="411480" cy="411480"/>
          </a:xfrm>
          <a:prstGeom prst="rect">
            <a:avLst/>
          </a:prstGeom>
          <a:noFill/>
          <a:ln/>
        </p:spPr>
        <p:txBody>
          <a:bodyPr wrap="square" lIns="0" tIns="0" rIns="0" bIns="0" rtlCol="0" anchor="ctr"/>
          <a:lstStyle/>
          <a:p>
            <a:pPr algn="ctr" indent="0" marL="0">
              <a:buNone/>
            </a:pPr>
            <a:r>
              <a:rPr lang="en-US" sz="1400" b="1" dirty="0">
                <a:solidFill>
                  <a:schemeClr val="bg1"/>
                </a:solidFill>
              </a:rPr>
              <a:t>6</a:t>
            </a:r>
            <a:endParaRPr lang="en-US" sz="1400" dirty="0"/>
          </a:p>
        </p:txBody>
      </p:sp>
      <p:sp>
        <p:nvSpPr>
          <p:cNvPr id="42" name="Text 39"/>
          <p:cNvSpPr txBox="1"/>
          <p:nvPr/>
        </p:nvSpPr>
        <p:spPr>
          <a:xfrm>
            <a:off x="8823960" y="4041648"/>
            <a:ext cx="2651760" cy="411480"/>
          </a:xfrm>
          <a:prstGeom prst="rect">
            <a:avLst/>
          </a:prstGeom>
          <a:noFill/>
          <a:ln/>
        </p:spPr>
        <p:txBody>
          <a:bodyPr wrap="square" lIns="0" tIns="0" rIns="0" bIns="0" rtlCol="0" anchor="ctr"/>
          <a:lstStyle/>
          <a:p>
            <a:pPr indent="0" marL="0">
              <a:buNone/>
            </a:pPr>
            <a:r>
              <a:rPr lang="en-US" sz="1600" b="1" dirty="0">
                <a:solidFill>
                  <a:schemeClr val="tx1"/>
                </a:solidFill>
              </a:rPr>
              <a:t>Repeatable noise</a:t>
            </a:r>
            <a:endParaRPr lang="en-US" sz="1600" dirty="0"/>
          </a:p>
        </p:txBody>
      </p:sp>
      <p:sp>
        <p:nvSpPr>
          <p:cNvPr id="43" name="Shape 40"/>
          <p:cNvSpPr/>
          <p:nvPr/>
        </p:nvSpPr>
        <p:spPr>
          <a:xfrm>
            <a:off x="8275320" y="4617720"/>
            <a:ext cx="3108960" cy="621792"/>
          </a:xfrm>
          <a:prstGeom prst="rect">
            <a:avLst/>
          </a:prstGeom>
          <a:solidFill>
            <a:schemeClr val="tx1"/>
          </a:solidFill>
          <a:ln/>
        </p:spPr>
      </p:sp>
      <p:sp>
        <p:nvSpPr>
          <p:cNvPr id="44" name="Text 41"/>
          <p:cNvSpPr txBox="1"/>
          <p:nvPr/>
        </p:nvSpPr>
        <p:spPr>
          <a:xfrm>
            <a:off x="8366760" y="4617720"/>
            <a:ext cx="2971800" cy="621792"/>
          </a:xfrm>
          <a:prstGeom prst="rect">
            <a:avLst/>
          </a:prstGeom>
          <a:noFill/>
          <a:ln/>
        </p:spPr>
        <p:txBody>
          <a:bodyPr wrap="square" lIns="0" tIns="0" rIns="0" bIns="0" rtlCol="0" anchor="ctr"/>
          <a:lstStyle/>
          <a:p>
            <a:pPr indent="0" marL="0">
              <a:buNone/>
            </a:pPr>
            <a:r>
              <a:rPr lang="en-US" sz="1200" b="1" dirty="0">
                <a:solidFill>
                  <a:schemeClr val="accent2"/>
                </a:solidFill>
                <a:latin typeface="Courier New" pitchFamily="34" charset="0"/>
                <a:ea typeface="Courier New" pitchFamily="34" charset="-122"/>
                <a:cs typeface="Courier New" pitchFamily="34" charset="-120"/>
              </a:rPr>
              <a:t>x^=x&lt;&lt;13; x^=x&gt;&gt;17; x^=x&lt;&lt;5</a:t>
            </a:r>
            <a:endParaRPr lang="en-US" sz="1200" dirty="0"/>
          </a:p>
        </p:txBody>
      </p:sp>
      <p:sp>
        <p:nvSpPr>
          <p:cNvPr id="45" name="Text 42"/>
          <p:cNvSpPr txBox="1"/>
          <p:nvPr/>
        </p:nvSpPr>
        <p:spPr>
          <a:xfrm>
            <a:off x="8275320" y="5349240"/>
            <a:ext cx="3154680" cy="640080"/>
          </a:xfrm>
          <a:prstGeom prst="rect">
            <a:avLst/>
          </a:prstGeom>
          <a:noFill/>
          <a:ln/>
        </p:spPr>
        <p:txBody>
          <a:bodyPr wrap="square" lIns="0" tIns="0" rIns="0" bIns="0" rtlCol="0" anchor="t"/>
          <a:lstStyle/>
          <a:p>
            <a:pPr indent="0" marL="0">
              <a:buNone/>
            </a:pPr>
            <a:r>
              <a:rPr lang="en-US" sz="1300" dirty="0">
                <a:solidFill>
                  <a:schemeClr val="tx2"/>
                </a:solidFill>
              </a:rPr>
              <a:t>Xorshift32: same seed, same sound; seed 0 rejected</a:t>
            </a:r>
            <a:endParaRPr lang="en-US" sz="13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68680"/>
          </a:xfrm>
          <a:prstGeom prst="rect">
            <a:avLst/>
          </a:prstGeom>
          <a:noFill/>
          <a:ln/>
        </p:spPr>
        <p:txBody>
          <a:bodyPr wrap="square" lIns="0" tIns="0" rIns="0" bIns="0" rtlCol="0" anchor="ctr"/>
          <a:lstStyle/>
          <a:p>
            <a:pPr algn="l" indent="0" marL="0">
              <a:buNone/>
            </a:pPr>
            <a:r>
              <a:rPr lang="en-US" sz="2800" b="1" dirty="0">
                <a:solidFill>
                  <a:schemeClr val="tx1"/>
                </a:solidFill>
              </a:rPr>
              <a:t>All state lives in registers and one 152-byte stack frame</a:t>
            </a:r>
            <a:endParaRPr lang="en-US" sz="2800" dirty="0"/>
          </a:p>
        </p:txBody>
      </p:sp>
      <p:sp>
        <p:nvSpPr>
          <p:cNvPr id="4" name="Text 1"/>
          <p:cNvSpPr txBox="1"/>
          <p:nvPr/>
        </p:nvSpPr>
        <p:spPr>
          <a:xfrm>
            <a:off x="548640" y="1417320"/>
            <a:ext cx="4754880" cy="320040"/>
          </a:xfrm>
          <a:prstGeom prst="rect">
            <a:avLst/>
          </a:prstGeom>
          <a:noFill/>
          <a:ln/>
        </p:spPr>
        <p:txBody>
          <a:bodyPr wrap="square" lIns="0" tIns="0" rIns="0" bIns="0" rtlCol="0" anchor="t"/>
          <a:lstStyle/>
          <a:p>
            <a:pPr indent="0" marL="0">
              <a:buNone/>
            </a:pPr>
            <a:r>
              <a:rPr lang="en-US" sz="1400" b="1" dirty="0">
                <a:solidFill>
                  <a:schemeClr val="accent1"/>
                </a:solidFill>
              </a:rPr>
              <a:t>sfx_generate stack frame (sub rsp,152)</a:t>
            </a:r>
            <a:endParaRPr lang="en-US" sz="1400" dirty="0"/>
          </a:p>
        </p:txBody>
      </p:sp>
      <p:sp>
        <p:nvSpPr>
          <p:cNvPr id="5" name="Text 2"/>
          <p:cNvSpPr txBox="1"/>
          <p:nvPr/>
        </p:nvSpPr>
        <p:spPr>
          <a:xfrm>
            <a:off x="548640" y="1810512"/>
            <a:ext cx="1051560" cy="292608"/>
          </a:xfrm>
          <a:prstGeom prst="rect">
            <a:avLst/>
          </a:prstGeom>
          <a:noFill/>
          <a:ln/>
        </p:spPr>
        <p:txBody>
          <a:bodyPr wrap="square" lIns="0" tIns="0" rIns="0" bIns="0" rtlCol="0" anchor="ctr"/>
          <a:lstStyle/>
          <a:p>
            <a:pPr algn="r" indent="0" marL="0">
              <a:buNone/>
            </a:pPr>
            <a:r>
              <a:rPr lang="en-US" sz="1200" dirty="0">
                <a:solidFill>
                  <a:schemeClr val="tx1"/>
                </a:solidFill>
                <a:latin typeface="Courier New" pitchFamily="34" charset="0"/>
                <a:ea typeface="Courier New" pitchFamily="34" charset="-122"/>
                <a:cs typeface="Courier New" pitchFamily="34" charset="-120"/>
              </a:rPr>
              <a:t>+152</a:t>
            </a:r>
            <a:endParaRPr lang="en-US" sz="1200" dirty="0"/>
          </a:p>
        </p:txBody>
      </p:sp>
      <p:sp>
        <p:nvSpPr>
          <p:cNvPr id="6" name="Shape 3"/>
          <p:cNvSpPr/>
          <p:nvPr/>
        </p:nvSpPr>
        <p:spPr>
          <a:xfrm>
            <a:off x="1737360" y="1810512"/>
            <a:ext cx="3566160" cy="292608"/>
          </a:xfrm>
          <a:prstGeom prst="rect">
            <a:avLst/>
          </a:prstGeom>
          <a:solidFill>
            <a:schemeClr val="accent5"/>
          </a:solidFill>
          <a:ln/>
        </p:spPr>
      </p:sp>
      <p:sp>
        <p:nvSpPr>
          <p:cNvPr id="7" name="Text 4"/>
          <p:cNvSpPr txBox="1"/>
          <p:nvPr/>
        </p:nvSpPr>
        <p:spPr>
          <a:xfrm>
            <a:off x="1874520" y="1810512"/>
            <a:ext cx="3383280" cy="292608"/>
          </a:xfrm>
          <a:prstGeom prst="rect">
            <a:avLst/>
          </a:prstGeom>
          <a:noFill/>
          <a:ln/>
        </p:spPr>
        <p:txBody>
          <a:bodyPr wrap="square" lIns="0" tIns="0" rIns="0" bIns="0" rtlCol="0" anchor="ctr"/>
          <a:lstStyle/>
          <a:p>
            <a:pPr indent="0" marL="0">
              <a:buNone/>
            </a:pPr>
            <a:r>
              <a:rPr lang="en-US" sz="1200" b="1" dirty="0">
                <a:solidFill>
                  <a:schemeClr val="bg1"/>
                </a:solidFill>
                <a:latin typeface="Courier New" pitchFamily="34" charset="0"/>
                <a:ea typeface="Courier New" pitchFamily="34" charset="-122"/>
                <a:cs typeface="Courier New" pitchFamily="34" charset="-120"/>
              </a:rPr>
              <a:t>return address</a:t>
            </a:r>
            <a:endParaRPr lang="en-US" sz="1200" dirty="0"/>
          </a:p>
        </p:txBody>
      </p:sp>
      <p:sp>
        <p:nvSpPr>
          <p:cNvPr id="8" name="Text 5"/>
          <p:cNvSpPr txBox="1"/>
          <p:nvPr/>
        </p:nvSpPr>
        <p:spPr>
          <a:xfrm>
            <a:off x="548640" y="2139696"/>
            <a:ext cx="1051560" cy="292608"/>
          </a:xfrm>
          <a:prstGeom prst="rect">
            <a:avLst/>
          </a:prstGeom>
          <a:noFill/>
          <a:ln/>
        </p:spPr>
        <p:txBody>
          <a:bodyPr wrap="square" lIns="0" tIns="0" rIns="0" bIns="0" rtlCol="0" anchor="ctr"/>
          <a:lstStyle/>
          <a:p>
            <a:pPr algn="r" indent="0" marL="0">
              <a:buNone/>
            </a:pPr>
            <a:r>
              <a:rPr lang="en-US" sz="1200" dirty="0">
                <a:solidFill>
                  <a:schemeClr val="tx1"/>
                </a:solidFill>
                <a:latin typeface="Courier New" pitchFamily="34" charset="0"/>
                <a:ea typeface="Courier New" pitchFamily="34" charset="-122"/>
                <a:cs typeface="Courier New" pitchFamily="34" charset="-120"/>
              </a:rPr>
              <a:t>+80–151</a:t>
            </a:r>
            <a:endParaRPr lang="en-US" sz="1200" dirty="0"/>
          </a:p>
        </p:txBody>
      </p:sp>
      <p:sp>
        <p:nvSpPr>
          <p:cNvPr id="9" name="Shape 6"/>
          <p:cNvSpPr/>
          <p:nvPr/>
        </p:nvSpPr>
        <p:spPr>
          <a:xfrm>
            <a:off x="1737360" y="2139696"/>
            <a:ext cx="3566160" cy="292608"/>
          </a:xfrm>
          <a:prstGeom prst="rect">
            <a:avLst/>
          </a:prstGeom>
          <a:solidFill>
            <a:schemeClr val="bg2"/>
          </a:solidFill>
          <a:ln/>
        </p:spPr>
      </p:sp>
      <p:sp>
        <p:nvSpPr>
          <p:cNvPr id="10" name="Text 7"/>
          <p:cNvSpPr txBox="1"/>
          <p:nvPr/>
        </p:nvSpPr>
        <p:spPr>
          <a:xfrm>
            <a:off x="1874520" y="2139696"/>
            <a:ext cx="3383280" cy="292608"/>
          </a:xfrm>
          <a:prstGeom prst="rect">
            <a:avLst/>
          </a:prstGeom>
          <a:noFill/>
          <a:ln/>
        </p:spPr>
        <p:txBody>
          <a:bodyPr wrap="square" lIns="0" tIns="0" rIns="0" bIns="0" rtlCol="0" anchor="ctr"/>
          <a:lstStyle/>
          <a:p>
            <a:pPr indent="0" marL="0">
              <a:buNone/>
            </a:pPr>
            <a:r>
              <a:rPr lang="en-US" sz="1200" b="1" dirty="0">
                <a:solidFill>
                  <a:schemeClr val="tx1"/>
                </a:solidFill>
                <a:latin typeface="Courier New" pitchFamily="34" charset="0"/>
                <a:ea typeface="Courier New" pitchFamily="34" charset="-122"/>
                <a:cs typeface="Courier New" pitchFamily="34" charset="-120"/>
              </a:rPr>
              <a:t>spare</a:t>
            </a:r>
            <a:endParaRPr lang="en-US" sz="1200" dirty="0"/>
          </a:p>
        </p:txBody>
      </p:sp>
      <p:sp>
        <p:nvSpPr>
          <p:cNvPr id="11" name="Text 8"/>
          <p:cNvSpPr txBox="1"/>
          <p:nvPr/>
        </p:nvSpPr>
        <p:spPr>
          <a:xfrm>
            <a:off x="548640" y="2468880"/>
            <a:ext cx="1051560" cy="292608"/>
          </a:xfrm>
          <a:prstGeom prst="rect">
            <a:avLst/>
          </a:prstGeom>
          <a:noFill/>
          <a:ln/>
        </p:spPr>
        <p:txBody>
          <a:bodyPr wrap="square" lIns="0" tIns="0" rIns="0" bIns="0" rtlCol="0" anchor="ctr"/>
          <a:lstStyle/>
          <a:p>
            <a:pPr algn="r" indent="0" marL="0">
              <a:buNone/>
            </a:pPr>
            <a:r>
              <a:rPr lang="en-US" sz="1200" dirty="0">
                <a:solidFill>
                  <a:schemeClr val="tx1"/>
                </a:solidFill>
                <a:latin typeface="Courier New" pitchFamily="34" charset="0"/>
                <a:ea typeface="Courier New" pitchFamily="34" charset="-122"/>
                <a:cs typeface="Courier New" pitchFamily="34" charset="-120"/>
              </a:rPr>
              <a:t>+76</a:t>
            </a:r>
            <a:endParaRPr lang="en-US" sz="1200" dirty="0"/>
          </a:p>
        </p:txBody>
      </p:sp>
      <p:sp>
        <p:nvSpPr>
          <p:cNvPr id="12" name="Shape 9"/>
          <p:cNvSpPr/>
          <p:nvPr/>
        </p:nvSpPr>
        <p:spPr>
          <a:xfrm>
            <a:off x="1737360" y="2468880"/>
            <a:ext cx="3566160" cy="292608"/>
          </a:xfrm>
          <a:prstGeom prst="rect">
            <a:avLst/>
          </a:prstGeom>
          <a:solidFill>
            <a:schemeClr val="tx1"/>
          </a:solidFill>
          <a:ln/>
        </p:spPr>
      </p:sp>
      <p:sp>
        <p:nvSpPr>
          <p:cNvPr id="13" name="Text 10"/>
          <p:cNvSpPr txBox="1"/>
          <p:nvPr/>
        </p:nvSpPr>
        <p:spPr>
          <a:xfrm>
            <a:off x="1874520" y="2468880"/>
            <a:ext cx="3383280" cy="292608"/>
          </a:xfrm>
          <a:prstGeom prst="rect">
            <a:avLst/>
          </a:prstGeom>
          <a:noFill/>
          <a:ln/>
        </p:spPr>
        <p:txBody>
          <a:bodyPr wrap="square" lIns="0" tIns="0" rIns="0" bIns="0" rtlCol="0" anchor="ctr"/>
          <a:lstStyle/>
          <a:p>
            <a:pPr indent="0" marL="0">
              <a:buNone/>
            </a:pPr>
            <a:r>
              <a:rPr lang="en-US" sz="1200" b="1" dirty="0">
                <a:solidFill>
                  <a:schemeClr val="bg1"/>
                </a:solidFill>
                <a:latin typeface="Courier New" pitchFamily="34" charset="0"/>
                <a:ea typeface="Courier New" pitchFamily="34" charset="-122"/>
                <a:cs typeface="Courier New" pitchFamily="34" charset="-120"/>
              </a:rPr>
              <a:t>NOISE</a:t>
            </a:r>
            <a:endParaRPr lang="en-US" sz="1200" dirty="0"/>
          </a:p>
        </p:txBody>
      </p:sp>
      <p:sp>
        <p:nvSpPr>
          <p:cNvPr id="14" name="Text 11"/>
          <p:cNvSpPr txBox="1"/>
          <p:nvPr/>
        </p:nvSpPr>
        <p:spPr>
          <a:xfrm>
            <a:off x="548640" y="2798064"/>
            <a:ext cx="1051560" cy="292608"/>
          </a:xfrm>
          <a:prstGeom prst="rect">
            <a:avLst/>
          </a:prstGeom>
          <a:noFill/>
          <a:ln/>
        </p:spPr>
        <p:txBody>
          <a:bodyPr wrap="square" lIns="0" tIns="0" rIns="0" bIns="0" rtlCol="0" anchor="ctr"/>
          <a:lstStyle/>
          <a:p>
            <a:pPr algn="r" indent="0" marL="0">
              <a:buNone/>
            </a:pPr>
            <a:r>
              <a:rPr lang="en-US" sz="1200" dirty="0">
                <a:solidFill>
                  <a:schemeClr val="tx1"/>
                </a:solidFill>
                <a:latin typeface="Courier New" pitchFamily="34" charset="0"/>
                <a:ea typeface="Courier New" pitchFamily="34" charset="-122"/>
                <a:cs typeface="Courier New" pitchFamily="34" charset="-120"/>
              </a:rPr>
              <a:t>+72</a:t>
            </a:r>
            <a:endParaRPr lang="en-US" sz="1200" dirty="0"/>
          </a:p>
        </p:txBody>
      </p:sp>
      <p:sp>
        <p:nvSpPr>
          <p:cNvPr id="15" name="Shape 12"/>
          <p:cNvSpPr/>
          <p:nvPr/>
        </p:nvSpPr>
        <p:spPr>
          <a:xfrm>
            <a:off x="1737360" y="2798064"/>
            <a:ext cx="3566160" cy="292608"/>
          </a:xfrm>
          <a:prstGeom prst="rect">
            <a:avLst/>
          </a:prstGeom>
          <a:solidFill>
            <a:schemeClr val="tx1"/>
          </a:solidFill>
          <a:ln/>
        </p:spPr>
      </p:sp>
      <p:sp>
        <p:nvSpPr>
          <p:cNvPr id="16" name="Text 13"/>
          <p:cNvSpPr txBox="1"/>
          <p:nvPr/>
        </p:nvSpPr>
        <p:spPr>
          <a:xfrm>
            <a:off x="1874520" y="2798064"/>
            <a:ext cx="3383280" cy="292608"/>
          </a:xfrm>
          <a:prstGeom prst="rect">
            <a:avLst/>
          </a:prstGeom>
          <a:noFill/>
          <a:ln/>
        </p:spPr>
        <p:txBody>
          <a:bodyPr wrap="square" lIns="0" tIns="0" rIns="0" bIns="0" rtlCol="0" anchor="ctr"/>
          <a:lstStyle/>
          <a:p>
            <a:pPr indent="0" marL="0">
              <a:buNone/>
            </a:pPr>
            <a:r>
              <a:rPr lang="en-US" sz="1200" b="1" dirty="0">
                <a:solidFill>
                  <a:schemeClr val="bg1"/>
                </a:solidFill>
                <a:latin typeface="Courier New" pitchFamily="34" charset="0"/>
                <a:ea typeface="Courier New" pitchFamily="34" charset="-122"/>
                <a:cs typeface="Courier New" pitchFamily="34" charset="-120"/>
              </a:rPr>
              <a:t>MULT (slide)</a:t>
            </a:r>
            <a:endParaRPr lang="en-US" sz="1200" dirty="0"/>
          </a:p>
        </p:txBody>
      </p:sp>
      <p:sp>
        <p:nvSpPr>
          <p:cNvPr id="17" name="Text 14"/>
          <p:cNvSpPr txBox="1"/>
          <p:nvPr/>
        </p:nvSpPr>
        <p:spPr>
          <a:xfrm>
            <a:off x="548640" y="3127248"/>
            <a:ext cx="1051560" cy="292608"/>
          </a:xfrm>
          <a:prstGeom prst="rect">
            <a:avLst/>
          </a:prstGeom>
          <a:noFill/>
          <a:ln/>
        </p:spPr>
        <p:txBody>
          <a:bodyPr wrap="square" lIns="0" tIns="0" rIns="0" bIns="0" rtlCol="0" anchor="ctr"/>
          <a:lstStyle/>
          <a:p>
            <a:pPr algn="r" indent="0" marL="0">
              <a:buNone/>
            </a:pPr>
            <a:r>
              <a:rPr lang="en-US" sz="1200" dirty="0">
                <a:solidFill>
                  <a:schemeClr val="tx1"/>
                </a:solidFill>
                <a:latin typeface="Courier New" pitchFamily="34" charset="0"/>
                <a:ea typeface="Courier New" pitchFamily="34" charset="-122"/>
                <a:cs typeface="Courier New" pitchFamily="34" charset="-120"/>
              </a:rPr>
              <a:t>+68</a:t>
            </a:r>
            <a:endParaRPr lang="en-US" sz="1200" dirty="0"/>
          </a:p>
        </p:txBody>
      </p:sp>
      <p:sp>
        <p:nvSpPr>
          <p:cNvPr id="18" name="Shape 15"/>
          <p:cNvSpPr/>
          <p:nvPr/>
        </p:nvSpPr>
        <p:spPr>
          <a:xfrm>
            <a:off x="1737360" y="3127248"/>
            <a:ext cx="3566160" cy="292608"/>
          </a:xfrm>
          <a:prstGeom prst="rect">
            <a:avLst/>
          </a:prstGeom>
          <a:solidFill>
            <a:schemeClr val="tx1"/>
          </a:solidFill>
          <a:ln/>
        </p:spPr>
      </p:sp>
      <p:sp>
        <p:nvSpPr>
          <p:cNvPr id="19" name="Text 16"/>
          <p:cNvSpPr txBox="1"/>
          <p:nvPr/>
        </p:nvSpPr>
        <p:spPr>
          <a:xfrm>
            <a:off x="1874520" y="3127248"/>
            <a:ext cx="3383280" cy="292608"/>
          </a:xfrm>
          <a:prstGeom prst="rect">
            <a:avLst/>
          </a:prstGeom>
          <a:noFill/>
          <a:ln/>
        </p:spPr>
        <p:txBody>
          <a:bodyPr wrap="square" lIns="0" tIns="0" rIns="0" bIns="0" rtlCol="0" anchor="ctr"/>
          <a:lstStyle/>
          <a:p>
            <a:pPr indent="0" marL="0">
              <a:buNone/>
            </a:pPr>
            <a:r>
              <a:rPr lang="en-US" sz="1200" b="1" dirty="0">
                <a:solidFill>
                  <a:schemeClr val="bg1"/>
                </a:solidFill>
                <a:latin typeface="Courier New" pitchFamily="34" charset="0"/>
                <a:ea typeface="Courier New" pitchFamily="34" charset="-122"/>
                <a:cs typeface="Courier New" pitchFamily="34" charset="-120"/>
              </a:rPr>
              <a:t>STEP (vibrato)</a:t>
            </a:r>
            <a:endParaRPr lang="en-US" sz="1200" dirty="0"/>
          </a:p>
        </p:txBody>
      </p:sp>
      <p:sp>
        <p:nvSpPr>
          <p:cNvPr id="20" name="Text 17"/>
          <p:cNvSpPr txBox="1"/>
          <p:nvPr/>
        </p:nvSpPr>
        <p:spPr>
          <a:xfrm>
            <a:off x="548640" y="3456432"/>
            <a:ext cx="1051560" cy="292608"/>
          </a:xfrm>
          <a:prstGeom prst="rect">
            <a:avLst/>
          </a:prstGeom>
          <a:noFill/>
          <a:ln/>
        </p:spPr>
        <p:txBody>
          <a:bodyPr wrap="square" lIns="0" tIns="0" rIns="0" bIns="0" rtlCol="0" anchor="ctr"/>
          <a:lstStyle/>
          <a:p>
            <a:pPr algn="r" indent="0" marL="0">
              <a:buNone/>
            </a:pPr>
            <a:r>
              <a:rPr lang="en-US" sz="1200" dirty="0">
                <a:solidFill>
                  <a:schemeClr val="tx1"/>
                </a:solidFill>
                <a:latin typeface="Courier New" pitchFamily="34" charset="0"/>
                <a:ea typeface="Courier New" pitchFamily="34" charset="-122"/>
                <a:cs typeface="Courier New" pitchFamily="34" charset="-120"/>
              </a:rPr>
              <a:t>+64</a:t>
            </a:r>
            <a:endParaRPr lang="en-US" sz="1200" dirty="0"/>
          </a:p>
        </p:txBody>
      </p:sp>
      <p:sp>
        <p:nvSpPr>
          <p:cNvPr id="21" name="Shape 18"/>
          <p:cNvSpPr/>
          <p:nvPr/>
        </p:nvSpPr>
        <p:spPr>
          <a:xfrm>
            <a:off x="1737360" y="3456432"/>
            <a:ext cx="3566160" cy="292608"/>
          </a:xfrm>
          <a:prstGeom prst="rect">
            <a:avLst/>
          </a:prstGeom>
          <a:solidFill>
            <a:schemeClr val="tx1"/>
          </a:solidFill>
          <a:ln/>
        </p:spPr>
      </p:sp>
      <p:sp>
        <p:nvSpPr>
          <p:cNvPr id="22" name="Text 19"/>
          <p:cNvSpPr txBox="1"/>
          <p:nvPr/>
        </p:nvSpPr>
        <p:spPr>
          <a:xfrm>
            <a:off x="1874520" y="3456432"/>
            <a:ext cx="3383280" cy="292608"/>
          </a:xfrm>
          <a:prstGeom prst="rect">
            <a:avLst/>
          </a:prstGeom>
          <a:noFill/>
          <a:ln/>
        </p:spPr>
        <p:txBody>
          <a:bodyPr wrap="square" lIns="0" tIns="0" rIns="0" bIns="0" rtlCol="0" anchor="ctr"/>
          <a:lstStyle/>
          <a:p>
            <a:pPr indent="0" marL="0">
              <a:buNone/>
            </a:pPr>
            <a:r>
              <a:rPr lang="en-US" sz="1200" b="1" dirty="0">
                <a:solidFill>
                  <a:schemeClr val="bg1"/>
                </a:solidFill>
                <a:latin typeface="Courier New" pitchFamily="34" charset="0"/>
                <a:ea typeface="Courier New" pitchFamily="34" charset="-122"/>
                <a:cs typeface="Courier New" pitchFamily="34" charset="-120"/>
              </a:rPr>
              <a:t>D (decay)</a:t>
            </a:r>
            <a:endParaRPr lang="en-US" sz="1200" dirty="0"/>
          </a:p>
        </p:txBody>
      </p:sp>
      <p:sp>
        <p:nvSpPr>
          <p:cNvPr id="23" name="Text 20"/>
          <p:cNvSpPr txBox="1"/>
          <p:nvPr/>
        </p:nvSpPr>
        <p:spPr>
          <a:xfrm>
            <a:off x="548640" y="3785616"/>
            <a:ext cx="1051560" cy="292608"/>
          </a:xfrm>
          <a:prstGeom prst="rect">
            <a:avLst/>
          </a:prstGeom>
          <a:noFill/>
          <a:ln/>
        </p:spPr>
        <p:txBody>
          <a:bodyPr wrap="square" lIns="0" tIns="0" rIns="0" bIns="0" rtlCol="0" anchor="ctr"/>
          <a:lstStyle/>
          <a:p>
            <a:pPr algn="r" indent="0" marL="0">
              <a:buNone/>
            </a:pPr>
            <a:r>
              <a:rPr lang="en-US" sz="1200" dirty="0">
                <a:solidFill>
                  <a:schemeClr val="tx1"/>
                </a:solidFill>
                <a:latin typeface="Courier New" pitchFamily="34" charset="0"/>
                <a:ea typeface="Courier New" pitchFamily="34" charset="-122"/>
                <a:cs typeface="Courier New" pitchFamily="34" charset="-120"/>
              </a:rPr>
              <a:t>+60</a:t>
            </a:r>
            <a:endParaRPr lang="en-US" sz="1200" dirty="0"/>
          </a:p>
        </p:txBody>
      </p:sp>
      <p:sp>
        <p:nvSpPr>
          <p:cNvPr id="24" name="Shape 21"/>
          <p:cNvSpPr/>
          <p:nvPr/>
        </p:nvSpPr>
        <p:spPr>
          <a:xfrm>
            <a:off x="1737360" y="3785616"/>
            <a:ext cx="3566160" cy="292608"/>
          </a:xfrm>
          <a:prstGeom prst="rect">
            <a:avLst/>
          </a:prstGeom>
          <a:solidFill>
            <a:schemeClr val="tx1"/>
          </a:solidFill>
          <a:ln/>
        </p:spPr>
      </p:sp>
      <p:sp>
        <p:nvSpPr>
          <p:cNvPr id="25" name="Text 22"/>
          <p:cNvSpPr txBox="1"/>
          <p:nvPr/>
        </p:nvSpPr>
        <p:spPr>
          <a:xfrm>
            <a:off x="1874520" y="3785616"/>
            <a:ext cx="3383280" cy="292608"/>
          </a:xfrm>
          <a:prstGeom prst="rect">
            <a:avLst/>
          </a:prstGeom>
          <a:noFill/>
          <a:ln/>
        </p:spPr>
        <p:txBody>
          <a:bodyPr wrap="square" lIns="0" tIns="0" rIns="0" bIns="0" rtlCol="0" anchor="ctr"/>
          <a:lstStyle/>
          <a:p>
            <a:pPr indent="0" marL="0">
              <a:buNone/>
            </a:pPr>
            <a:r>
              <a:rPr lang="en-US" sz="1200" b="1" dirty="0">
                <a:solidFill>
                  <a:schemeClr val="bg1"/>
                </a:solidFill>
                <a:latin typeface="Courier New" pitchFamily="34" charset="0"/>
                <a:ea typeface="Courier New" pitchFamily="34" charset="-122"/>
                <a:cs typeface="Courier New" pitchFamily="34" charset="-120"/>
              </a:rPr>
              <a:t>AS (attack+sustain)</a:t>
            </a:r>
            <a:endParaRPr lang="en-US" sz="1200" dirty="0"/>
          </a:p>
        </p:txBody>
      </p:sp>
      <p:sp>
        <p:nvSpPr>
          <p:cNvPr id="26" name="Text 23"/>
          <p:cNvSpPr txBox="1"/>
          <p:nvPr/>
        </p:nvSpPr>
        <p:spPr>
          <a:xfrm>
            <a:off x="548640" y="4114800"/>
            <a:ext cx="1051560" cy="292608"/>
          </a:xfrm>
          <a:prstGeom prst="rect">
            <a:avLst/>
          </a:prstGeom>
          <a:noFill/>
          <a:ln/>
        </p:spPr>
        <p:txBody>
          <a:bodyPr wrap="square" lIns="0" tIns="0" rIns="0" bIns="0" rtlCol="0" anchor="ctr"/>
          <a:lstStyle/>
          <a:p>
            <a:pPr algn="r" indent="0" marL="0">
              <a:buNone/>
            </a:pPr>
            <a:r>
              <a:rPr lang="en-US" sz="1200" dirty="0">
                <a:solidFill>
                  <a:schemeClr val="tx1"/>
                </a:solidFill>
                <a:latin typeface="Courier New" pitchFamily="34" charset="0"/>
                <a:ea typeface="Courier New" pitchFamily="34" charset="-122"/>
                <a:cs typeface="Courier New" pitchFamily="34" charset="-120"/>
              </a:rPr>
              <a:t>+56</a:t>
            </a:r>
            <a:endParaRPr lang="en-US" sz="1200" dirty="0"/>
          </a:p>
        </p:txBody>
      </p:sp>
      <p:sp>
        <p:nvSpPr>
          <p:cNvPr id="27" name="Shape 24"/>
          <p:cNvSpPr/>
          <p:nvPr/>
        </p:nvSpPr>
        <p:spPr>
          <a:xfrm>
            <a:off x="1737360" y="4114800"/>
            <a:ext cx="3566160" cy="292608"/>
          </a:xfrm>
          <a:prstGeom prst="rect">
            <a:avLst/>
          </a:prstGeom>
          <a:solidFill>
            <a:schemeClr val="tx1"/>
          </a:solidFill>
          <a:ln/>
        </p:spPr>
      </p:sp>
      <p:sp>
        <p:nvSpPr>
          <p:cNvPr id="28" name="Text 25"/>
          <p:cNvSpPr txBox="1"/>
          <p:nvPr/>
        </p:nvSpPr>
        <p:spPr>
          <a:xfrm>
            <a:off x="1874520" y="4114800"/>
            <a:ext cx="3383280" cy="292608"/>
          </a:xfrm>
          <a:prstGeom prst="rect">
            <a:avLst/>
          </a:prstGeom>
          <a:noFill/>
          <a:ln/>
        </p:spPr>
        <p:txBody>
          <a:bodyPr wrap="square" lIns="0" tIns="0" rIns="0" bIns="0" rtlCol="0" anchor="ctr"/>
          <a:lstStyle/>
          <a:p>
            <a:pPr indent="0" marL="0">
              <a:buNone/>
            </a:pPr>
            <a:r>
              <a:rPr lang="en-US" sz="1200" b="1" dirty="0">
                <a:solidFill>
                  <a:schemeClr val="bg1"/>
                </a:solidFill>
                <a:latin typeface="Courier New" pitchFamily="34" charset="0"/>
                <a:ea typeface="Courier New" pitchFamily="34" charset="-122"/>
                <a:cs typeface="Courier New" pitchFamily="34" charset="-120"/>
              </a:rPr>
              <a:t>A (attack)</a:t>
            </a:r>
            <a:endParaRPr lang="en-US" sz="1200" dirty="0"/>
          </a:p>
        </p:txBody>
      </p:sp>
      <p:sp>
        <p:nvSpPr>
          <p:cNvPr id="29" name="Text 26"/>
          <p:cNvSpPr txBox="1"/>
          <p:nvPr/>
        </p:nvSpPr>
        <p:spPr>
          <a:xfrm>
            <a:off x="548640" y="4443984"/>
            <a:ext cx="1051560" cy="292608"/>
          </a:xfrm>
          <a:prstGeom prst="rect">
            <a:avLst/>
          </a:prstGeom>
          <a:noFill/>
          <a:ln/>
        </p:spPr>
        <p:txBody>
          <a:bodyPr wrap="square" lIns="0" tIns="0" rIns="0" bIns="0" rtlCol="0" anchor="ctr"/>
          <a:lstStyle/>
          <a:p>
            <a:pPr algn="r" indent="0" marL="0">
              <a:buNone/>
            </a:pPr>
            <a:r>
              <a:rPr lang="en-US" sz="1200" dirty="0">
                <a:solidFill>
                  <a:schemeClr val="tx1"/>
                </a:solidFill>
                <a:latin typeface="Courier New" pitchFamily="34" charset="0"/>
                <a:ea typeface="Courier New" pitchFamily="34" charset="-122"/>
                <a:cs typeface="Courier New" pitchFamily="34" charset="-120"/>
              </a:rPr>
              <a:t>+52</a:t>
            </a:r>
            <a:endParaRPr lang="en-US" sz="1200" dirty="0"/>
          </a:p>
        </p:txBody>
      </p:sp>
      <p:sp>
        <p:nvSpPr>
          <p:cNvPr id="30" name="Shape 27"/>
          <p:cNvSpPr/>
          <p:nvPr/>
        </p:nvSpPr>
        <p:spPr>
          <a:xfrm>
            <a:off x="1737360" y="4443984"/>
            <a:ext cx="3566160" cy="292608"/>
          </a:xfrm>
          <a:prstGeom prst="rect">
            <a:avLst/>
          </a:prstGeom>
          <a:solidFill>
            <a:schemeClr val="tx1"/>
          </a:solidFill>
          <a:ln/>
        </p:spPr>
      </p:sp>
      <p:sp>
        <p:nvSpPr>
          <p:cNvPr id="31" name="Text 28"/>
          <p:cNvSpPr txBox="1"/>
          <p:nvPr/>
        </p:nvSpPr>
        <p:spPr>
          <a:xfrm>
            <a:off x="1874520" y="4443984"/>
            <a:ext cx="3383280" cy="292608"/>
          </a:xfrm>
          <a:prstGeom prst="rect">
            <a:avLst/>
          </a:prstGeom>
          <a:noFill/>
          <a:ln/>
        </p:spPr>
        <p:txBody>
          <a:bodyPr wrap="square" lIns="0" tIns="0" rIns="0" bIns="0" rtlCol="0" anchor="ctr"/>
          <a:lstStyle/>
          <a:p>
            <a:pPr indent="0" marL="0">
              <a:buNone/>
            </a:pPr>
            <a:r>
              <a:rPr lang="en-US" sz="1200" b="1" dirty="0">
                <a:solidFill>
                  <a:schemeClr val="bg1"/>
                </a:solidFill>
                <a:latin typeface="Courier New" pitchFamily="34" charset="0"/>
                <a:ea typeface="Courier New" pitchFamily="34" charset="-122"/>
                <a:cs typeface="Courier New" pitchFamily="34" charset="-120"/>
              </a:rPr>
              <a:t>TOTAL</a:t>
            </a:r>
            <a:endParaRPr lang="en-US" sz="1200" dirty="0"/>
          </a:p>
        </p:txBody>
      </p:sp>
      <p:sp>
        <p:nvSpPr>
          <p:cNvPr id="32" name="Text 29"/>
          <p:cNvSpPr txBox="1"/>
          <p:nvPr/>
        </p:nvSpPr>
        <p:spPr>
          <a:xfrm>
            <a:off x="548640" y="4773168"/>
            <a:ext cx="1051560" cy="292608"/>
          </a:xfrm>
          <a:prstGeom prst="rect">
            <a:avLst/>
          </a:prstGeom>
          <a:noFill/>
          <a:ln/>
        </p:spPr>
        <p:txBody>
          <a:bodyPr wrap="square" lIns="0" tIns="0" rIns="0" bIns="0" rtlCol="0" anchor="ctr"/>
          <a:lstStyle/>
          <a:p>
            <a:pPr algn="r" indent="0" marL="0">
              <a:buNone/>
            </a:pPr>
            <a:r>
              <a:rPr lang="en-US" sz="1200" dirty="0">
                <a:solidFill>
                  <a:schemeClr val="tx1"/>
                </a:solidFill>
                <a:latin typeface="Courier New" pitchFamily="34" charset="0"/>
                <a:ea typeface="Courier New" pitchFamily="34" charset="-122"/>
                <a:cs typeface="Courier New" pitchFamily="34" charset="-120"/>
              </a:rPr>
              <a:t>+48</a:t>
            </a:r>
            <a:endParaRPr lang="en-US" sz="1200" dirty="0"/>
          </a:p>
        </p:txBody>
      </p:sp>
      <p:sp>
        <p:nvSpPr>
          <p:cNvPr id="33" name="Shape 30"/>
          <p:cNvSpPr/>
          <p:nvPr/>
        </p:nvSpPr>
        <p:spPr>
          <a:xfrm>
            <a:off x="1737360" y="4773168"/>
            <a:ext cx="3566160" cy="292608"/>
          </a:xfrm>
          <a:prstGeom prst="rect">
            <a:avLst/>
          </a:prstGeom>
          <a:solidFill>
            <a:schemeClr val="tx1"/>
          </a:solidFill>
          <a:ln/>
        </p:spPr>
      </p:sp>
      <p:sp>
        <p:nvSpPr>
          <p:cNvPr id="34" name="Text 31"/>
          <p:cNvSpPr txBox="1"/>
          <p:nvPr/>
        </p:nvSpPr>
        <p:spPr>
          <a:xfrm>
            <a:off x="1874520" y="4773168"/>
            <a:ext cx="3383280" cy="292608"/>
          </a:xfrm>
          <a:prstGeom prst="rect">
            <a:avLst/>
          </a:prstGeom>
          <a:noFill/>
          <a:ln/>
        </p:spPr>
        <p:txBody>
          <a:bodyPr wrap="square" lIns="0" tIns="0" rIns="0" bIns="0" rtlCol="0" anchor="ctr"/>
          <a:lstStyle/>
          <a:p>
            <a:pPr indent="0" marL="0">
              <a:buNone/>
            </a:pPr>
            <a:r>
              <a:rPr lang="en-US" sz="1200" b="1" dirty="0">
                <a:solidFill>
                  <a:schemeClr val="bg1"/>
                </a:solidFill>
                <a:latin typeface="Courier New" pitchFamily="34" charset="0"/>
                <a:ea typeface="Courier New" pitchFamily="34" charset="-122"/>
                <a:cs typeface="Courier New" pitchFamily="34" charset="-120"/>
              </a:rPr>
              <a:t>CAP</a:t>
            </a:r>
            <a:endParaRPr lang="en-US" sz="1200" dirty="0"/>
          </a:p>
        </p:txBody>
      </p:sp>
      <p:sp>
        <p:nvSpPr>
          <p:cNvPr id="35" name="Text 32"/>
          <p:cNvSpPr txBox="1"/>
          <p:nvPr/>
        </p:nvSpPr>
        <p:spPr>
          <a:xfrm>
            <a:off x="548640" y="5102352"/>
            <a:ext cx="1051560" cy="292608"/>
          </a:xfrm>
          <a:prstGeom prst="rect">
            <a:avLst/>
          </a:prstGeom>
          <a:noFill/>
          <a:ln/>
        </p:spPr>
        <p:txBody>
          <a:bodyPr wrap="square" lIns="0" tIns="0" rIns="0" bIns="0" rtlCol="0" anchor="ctr"/>
          <a:lstStyle/>
          <a:p>
            <a:pPr algn="r" indent="0" marL="0">
              <a:buNone/>
            </a:pPr>
            <a:r>
              <a:rPr lang="en-US" sz="1200" dirty="0">
                <a:solidFill>
                  <a:schemeClr val="tx1"/>
                </a:solidFill>
                <a:latin typeface="Courier New" pitchFamily="34" charset="0"/>
                <a:ea typeface="Courier New" pitchFamily="34" charset="-122"/>
                <a:cs typeface="Courier New" pitchFamily="34" charset="-120"/>
              </a:rPr>
              <a:t>+40</a:t>
            </a:r>
            <a:endParaRPr lang="en-US" sz="1200" dirty="0"/>
          </a:p>
        </p:txBody>
      </p:sp>
      <p:sp>
        <p:nvSpPr>
          <p:cNvPr id="36" name="Shape 33"/>
          <p:cNvSpPr/>
          <p:nvPr/>
        </p:nvSpPr>
        <p:spPr>
          <a:xfrm>
            <a:off x="1737360" y="5102352"/>
            <a:ext cx="3566160" cy="292608"/>
          </a:xfrm>
          <a:prstGeom prst="rect">
            <a:avLst/>
          </a:prstGeom>
          <a:solidFill>
            <a:schemeClr val="tx1"/>
          </a:solidFill>
          <a:ln/>
        </p:spPr>
      </p:sp>
      <p:sp>
        <p:nvSpPr>
          <p:cNvPr id="37" name="Text 34"/>
          <p:cNvSpPr txBox="1"/>
          <p:nvPr/>
        </p:nvSpPr>
        <p:spPr>
          <a:xfrm>
            <a:off x="1874520" y="5102352"/>
            <a:ext cx="3383280" cy="292608"/>
          </a:xfrm>
          <a:prstGeom prst="rect">
            <a:avLst/>
          </a:prstGeom>
          <a:noFill/>
          <a:ln/>
        </p:spPr>
        <p:txBody>
          <a:bodyPr wrap="square" lIns="0" tIns="0" rIns="0" bIns="0" rtlCol="0" anchor="ctr"/>
          <a:lstStyle/>
          <a:p>
            <a:pPr indent="0" marL="0">
              <a:buNone/>
            </a:pPr>
            <a:r>
              <a:rPr lang="en-US" sz="1200" b="1" dirty="0">
                <a:solidFill>
                  <a:schemeClr val="bg1"/>
                </a:solidFill>
                <a:latin typeface="Courier New" pitchFamily="34" charset="0"/>
                <a:ea typeface="Courier New" pitchFamily="34" charset="-122"/>
                <a:cs typeface="Courier New" pitchFamily="34" charset="-120"/>
              </a:rPr>
              <a:t>OUT pointer</a:t>
            </a:r>
            <a:endParaRPr lang="en-US" sz="1200" dirty="0"/>
          </a:p>
        </p:txBody>
      </p:sp>
      <p:sp>
        <p:nvSpPr>
          <p:cNvPr id="38" name="Text 35"/>
          <p:cNvSpPr txBox="1"/>
          <p:nvPr/>
        </p:nvSpPr>
        <p:spPr>
          <a:xfrm>
            <a:off x="548640" y="5431536"/>
            <a:ext cx="1051560" cy="292608"/>
          </a:xfrm>
          <a:prstGeom prst="rect">
            <a:avLst/>
          </a:prstGeom>
          <a:noFill/>
          <a:ln/>
        </p:spPr>
        <p:txBody>
          <a:bodyPr wrap="square" lIns="0" tIns="0" rIns="0" bIns="0" rtlCol="0" anchor="ctr"/>
          <a:lstStyle/>
          <a:p>
            <a:pPr algn="r" indent="0" marL="0">
              <a:buNone/>
            </a:pPr>
            <a:r>
              <a:rPr lang="en-US" sz="1200" dirty="0">
                <a:solidFill>
                  <a:schemeClr val="tx1"/>
                </a:solidFill>
                <a:latin typeface="Courier New" pitchFamily="34" charset="0"/>
                <a:ea typeface="Courier New" pitchFamily="34" charset="-122"/>
                <a:cs typeface="Courier New" pitchFamily="34" charset="-120"/>
              </a:rPr>
              <a:t>+32</a:t>
            </a:r>
            <a:endParaRPr lang="en-US" sz="1200" dirty="0"/>
          </a:p>
        </p:txBody>
      </p:sp>
      <p:sp>
        <p:nvSpPr>
          <p:cNvPr id="39" name="Shape 36"/>
          <p:cNvSpPr/>
          <p:nvPr/>
        </p:nvSpPr>
        <p:spPr>
          <a:xfrm>
            <a:off x="1737360" y="5431536"/>
            <a:ext cx="3566160" cy="292608"/>
          </a:xfrm>
          <a:prstGeom prst="rect">
            <a:avLst/>
          </a:prstGeom>
          <a:solidFill>
            <a:schemeClr val="tx1"/>
          </a:solidFill>
          <a:ln/>
        </p:spPr>
      </p:sp>
      <p:sp>
        <p:nvSpPr>
          <p:cNvPr id="40" name="Text 37"/>
          <p:cNvSpPr txBox="1"/>
          <p:nvPr/>
        </p:nvSpPr>
        <p:spPr>
          <a:xfrm>
            <a:off x="1874520" y="5431536"/>
            <a:ext cx="3383280" cy="292608"/>
          </a:xfrm>
          <a:prstGeom prst="rect">
            <a:avLst/>
          </a:prstGeom>
          <a:noFill/>
          <a:ln/>
        </p:spPr>
        <p:txBody>
          <a:bodyPr wrap="square" lIns="0" tIns="0" rIns="0" bIns="0" rtlCol="0" anchor="ctr"/>
          <a:lstStyle/>
          <a:p>
            <a:pPr indent="0" marL="0">
              <a:buNone/>
            </a:pPr>
            <a:r>
              <a:rPr lang="en-US" sz="1200" b="1" dirty="0">
                <a:solidFill>
                  <a:schemeClr val="bg1"/>
                </a:solidFill>
                <a:latin typeface="Courier New" pitchFamily="34" charset="0"/>
                <a:ea typeface="Courier New" pitchFamily="34" charset="-122"/>
                <a:cs typeface="Courier New" pitchFamily="34" charset="-120"/>
              </a:rPr>
              <a:t>P params pointer</a:t>
            </a:r>
            <a:endParaRPr lang="en-US" sz="1200" dirty="0"/>
          </a:p>
        </p:txBody>
      </p:sp>
      <p:sp>
        <p:nvSpPr>
          <p:cNvPr id="41" name="Text 38"/>
          <p:cNvSpPr txBox="1"/>
          <p:nvPr/>
        </p:nvSpPr>
        <p:spPr>
          <a:xfrm>
            <a:off x="548640" y="5760720"/>
            <a:ext cx="1051560" cy="292608"/>
          </a:xfrm>
          <a:prstGeom prst="rect">
            <a:avLst/>
          </a:prstGeom>
          <a:noFill/>
          <a:ln/>
        </p:spPr>
        <p:txBody>
          <a:bodyPr wrap="square" lIns="0" tIns="0" rIns="0" bIns="0" rtlCol="0" anchor="ctr"/>
          <a:lstStyle/>
          <a:p>
            <a:pPr algn="r" indent="0" marL="0">
              <a:buNone/>
            </a:pPr>
            <a:r>
              <a:rPr lang="en-US" sz="1200" dirty="0">
                <a:solidFill>
                  <a:schemeClr val="tx1"/>
                </a:solidFill>
                <a:latin typeface="Courier New" pitchFamily="34" charset="0"/>
                <a:ea typeface="Courier New" pitchFamily="34" charset="-122"/>
                <a:cs typeface="Courier New" pitchFamily="34" charset="-120"/>
              </a:rPr>
              <a:t>+0–31</a:t>
            </a:r>
            <a:endParaRPr lang="en-US" sz="1200" dirty="0"/>
          </a:p>
        </p:txBody>
      </p:sp>
      <p:sp>
        <p:nvSpPr>
          <p:cNvPr id="42" name="Shape 39"/>
          <p:cNvSpPr/>
          <p:nvPr/>
        </p:nvSpPr>
        <p:spPr>
          <a:xfrm>
            <a:off x="1737360" y="5760720"/>
            <a:ext cx="3566160" cy="292608"/>
          </a:xfrm>
          <a:prstGeom prst="rect">
            <a:avLst/>
          </a:prstGeom>
          <a:solidFill>
            <a:schemeClr val="accent3"/>
          </a:solidFill>
          <a:ln/>
        </p:spPr>
      </p:sp>
      <p:sp>
        <p:nvSpPr>
          <p:cNvPr id="43" name="Text 40"/>
          <p:cNvSpPr txBox="1"/>
          <p:nvPr/>
        </p:nvSpPr>
        <p:spPr>
          <a:xfrm>
            <a:off x="1874520" y="5760720"/>
            <a:ext cx="3383280" cy="292608"/>
          </a:xfrm>
          <a:prstGeom prst="rect">
            <a:avLst/>
          </a:prstGeom>
          <a:noFill/>
          <a:ln/>
        </p:spPr>
        <p:txBody>
          <a:bodyPr wrap="square" lIns="0" tIns="0" rIns="0" bIns="0" rtlCol="0" anchor="ctr"/>
          <a:lstStyle/>
          <a:p>
            <a:pPr indent="0" marL="0">
              <a:buNone/>
            </a:pPr>
            <a:r>
              <a:rPr lang="en-US" sz="1200" b="1" dirty="0">
                <a:solidFill>
                  <a:schemeClr val="tx1"/>
                </a:solidFill>
                <a:latin typeface="Courier New" pitchFamily="34" charset="0"/>
                <a:ea typeface="Courier New" pitchFamily="34" charset="-122"/>
                <a:cs typeface="Courier New" pitchFamily="34" charset="-120"/>
              </a:rPr>
              <a:t>shadow space</a:t>
            </a:r>
            <a:endParaRPr lang="en-US" sz="1200" dirty="0"/>
          </a:p>
        </p:txBody>
      </p:sp>
      <p:sp>
        <p:nvSpPr>
          <p:cNvPr id="44" name="Text 41"/>
          <p:cNvSpPr txBox="1"/>
          <p:nvPr/>
        </p:nvSpPr>
        <p:spPr>
          <a:xfrm>
            <a:off x="548640" y="6126480"/>
            <a:ext cx="1051560" cy="274320"/>
          </a:xfrm>
          <a:prstGeom prst="rect">
            <a:avLst/>
          </a:prstGeom>
          <a:noFill/>
          <a:ln/>
        </p:spPr>
        <p:txBody>
          <a:bodyPr wrap="square" lIns="0" tIns="0" rIns="0" bIns="0" rtlCol="0" anchor="t"/>
          <a:lstStyle/>
          <a:p>
            <a:pPr algn="r" indent="0" marL="0">
              <a:buNone/>
            </a:pPr>
            <a:r>
              <a:rPr lang="en-US" sz="1200" b="1" dirty="0">
                <a:solidFill>
                  <a:schemeClr val="accent4"/>
                </a:solidFill>
              </a:rPr>
              <a:t>RSP →</a:t>
            </a:r>
            <a:endParaRPr lang="en-US" sz="1200" dirty="0"/>
          </a:p>
        </p:txBody>
      </p:sp>
      <p:sp>
        <p:nvSpPr>
          <p:cNvPr id="45" name="card"/>
          <p:cNvSpPr/>
          <p:nvPr/>
        </p:nvSpPr>
        <p:spPr>
          <a:xfrm>
            <a:off x="5852160" y="1463040"/>
            <a:ext cx="5760720" cy="1005840"/>
          </a:xfrm>
          <a:prstGeom prst="roundRect">
            <a:avLst>
              <a:gd name="adj" fmla="val 7273"/>
            </a:avLst>
          </a:prstGeom>
          <a:solidFill>
            <a:schemeClr val="bg2"/>
          </a:solidFill>
          <a:ln/>
        </p:spPr>
      </p:sp>
      <p:sp>
        <p:nvSpPr>
          <p:cNvPr id="46" name="Text 43"/>
          <p:cNvSpPr txBox="1"/>
          <p:nvPr/>
        </p:nvSpPr>
        <p:spPr>
          <a:xfrm>
            <a:off x="6080760" y="1572768"/>
            <a:ext cx="5394960" cy="365760"/>
          </a:xfrm>
          <a:prstGeom prst="rect">
            <a:avLst/>
          </a:prstGeom>
          <a:noFill/>
          <a:ln/>
        </p:spPr>
        <p:txBody>
          <a:bodyPr wrap="square" lIns="0" tIns="0" rIns="0" bIns="0" rtlCol="0" anchor="t"/>
          <a:lstStyle/>
          <a:p>
            <a:pPr indent="0" marL="0">
              <a:buNone/>
            </a:pPr>
            <a:r>
              <a:rPr lang="en-US" sz="1600" b="1" dirty="0">
                <a:solidFill>
                  <a:schemeClr val="accent1"/>
                </a:solidFill>
              </a:rPr>
              <a:t>152-byte frame</a:t>
            </a:r>
            <a:endParaRPr lang="en-US" sz="1600" dirty="0"/>
          </a:p>
        </p:txBody>
      </p:sp>
      <p:sp>
        <p:nvSpPr>
          <p:cNvPr id="47" name="Text 44"/>
          <p:cNvSpPr txBox="1"/>
          <p:nvPr/>
        </p:nvSpPr>
        <p:spPr>
          <a:xfrm>
            <a:off x="6080760" y="1920240"/>
            <a:ext cx="5394960" cy="502920"/>
          </a:xfrm>
          <a:prstGeom prst="rect">
            <a:avLst/>
          </a:prstGeom>
          <a:noFill/>
          <a:ln/>
        </p:spPr>
        <p:txBody>
          <a:bodyPr wrap="square" lIns="0" tIns="0" rIns="0" bIns="0" rtlCol="0" anchor="t"/>
          <a:lstStyle/>
          <a:p>
            <a:pPr indent="0" marL="0">
              <a:buNone/>
            </a:pPr>
            <a:r>
              <a:rPr lang="en-US" sz="1300" dirty="0">
                <a:solidFill>
                  <a:schemeClr val="tx1"/>
                </a:solidFill>
              </a:rPr>
              <a:t>152 = 9×16 + 8 restores 16-byte alignment after the return address; well under the 256-byte budget</a:t>
            </a:r>
            <a:endParaRPr lang="en-US" sz="1300" dirty="0"/>
          </a:p>
        </p:txBody>
      </p:sp>
      <p:sp>
        <p:nvSpPr>
          <p:cNvPr id="48" name="card"/>
          <p:cNvSpPr/>
          <p:nvPr/>
        </p:nvSpPr>
        <p:spPr>
          <a:xfrm>
            <a:off x="5852160" y="2633472"/>
            <a:ext cx="5760720" cy="1005840"/>
          </a:xfrm>
          <a:prstGeom prst="roundRect">
            <a:avLst>
              <a:gd name="adj" fmla="val 7273"/>
            </a:avLst>
          </a:prstGeom>
          <a:solidFill>
            <a:schemeClr val="bg2"/>
          </a:solidFill>
          <a:ln/>
        </p:spPr>
      </p:sp>
      <p:sp>
        <p:nvSpPr>
          <p:cNvPr id="49" name="Text 46"/>
          <p:cNvSpPr txBox="1"/>
          <p:nvPr/>
        </p:nvSpPr>
        <p:spPr>
          <a:xfrm>
            <a:off x="6080760" y="2743200"/>
            <a:ext cx="5394960" cy="365760"/>
          </a:xfrm>
          <a:prstGeom prst="rect">
            <a:avLst/>
          </a:prstGeom>
          <a:noFill/>
          <a:ln/>
        </p:spPr>
        <p:txBody>
          <a:bodyPr wrap="square" lIns="0" tIns="0" rIns="0" bIns="0" rtlCol="0" anchor="t"/>
          <a:lstStyle/>
          <a:p>
            <a:pPr indent="0" marL="0">
              <a:buNone/>
            </a:pPr>
            <a:r>
              <a:rPr lang="en-US" sz="1600" b="1" dirty="0">
                <a:solidFill>
                  <a:schemeClr val="accent1"/>
                </a:solidFill>
              </a:rPr>
              <a:t>Reentrant and thread-safe</a:t>
            </a:r>
            <a:endParaRPr lang="en-US" sz="1600" dirty="0"/>
          </a:p>
        </p:txBody>
      </p:sp>
      <p:sp>
        <p:nvSpPr>
          <p:cNvPr id="50" name="Text 47"/>
          <p:cNvSpPr txBox="1"/>
          <p:nvPr/>
        </p:nvSpPr>
        <p:spPr>
          <a:xfrm>
            <a:off x="6080760" y="3090672"/>
            <a:ext cx="5394960" cy="502920"/>
          </a:xfrm>
          <a:prstGeom prst="rect">
            <a:avLst/>
          </a:prstGeom>
          <a:noFill/>
          <a:ln/>
        </p:spPr>
        <p:txBody>
          <a:bodyPr wrap="square" lIns="0" tIns="0" rIns="0" bIns="0" rtlCol="0" anchor="t"/>
          <a:lstStyle/>
          <a:p>
            <a:pPr indent="0" marL="0">
              <a:buNone/>
            </a:pPr>
            <a:r>
              <a:rPr lang="en-US" sz="1300" dirty="0">
                <a:solidFill>
                  <a:schemeClr val="tx1"/>
                </a:solidFill>
              </a:rPr>
              <a:t>No writable globals; 100 concurrent calls from Python all correct</a:t>
            </a:r>
            <a:endParaRPr lang="en-US" sz="1300" dirty="0"/>
          </a:p>
        </p:txBody>
      </p:sp>
      <p:sp>
        <p:nvSpPr>
          <p:cNvPr id="51" name="card"/>
          <p:cNvSpPr/>
          <p:nvPr/>
        </p:nvSpPr>
        <p:spPr>
          <a:xfrm>
            <a:off x="5852160" y="3803904"/>
            <a:ext cx="5760720" cy="1005840"/>
          </a:xfrm>
          <a:prstGeom prst="roundRect">
            <a:avLst>
              <a:gd name="adj" fmla="val 7273"/>
            </a:avLst>
          </a:prstGeom>
          <a:solidFill>
            <a:schemeClr val="bg2"/>
          </a:solidFill>
          <a:ln/>
        </p:spPr>
      </p:sp>
      <p:sp>
        <p:nvSpPr>
          <p:cNvPr id="52" name="Text 49"/>
          <p:cNvSpPr txBox="1"/>
          <p:nvPr/>
        </p:nvSpPr>
        <p:spPr>
          <a:xfrm>
            <a:off x="6080760" y="3913632"/>
            <a:ext cx="5394960" cy="365760"/>
          </a:xfrm>
          <a:prstGeom prst="rect">
            <a:avLst/>
          </a:prstGeom>
          <a:noFill/>
          <a:ln/>
        </p:spPr>
        <p:txBody>
          <a:bodyPr wrap="square" lIns="0" tIns="0" rIns="0" bIns="0" rtlCol="0" anchor="t"/>
          <a:lstStyle/>
          <a:p>
            <a:pPr indent="0" marL="0">
              <a:buNone/>
            </a:pPr>
            <a:r>
              <a:rPr lang="en-US" sz="1600" b="1" dirty="0">
                <a:solidFill>
                  <a:schemeClr val="accent1"/>
                </a:solidFill>
              </a:rPr>
              <a:t>Self-contained DLL</a:t>
            </a:r>
            <a:endParaRPr lang="en-US" sz="1600" dirty="0"/>
          </a:p>
        </p:txBody>
      </p:sp>
      <p:sp>
        <p:nvSpPr>
          <p:cNvPr id="53" name="Text 50"/>
          <p:cNvSpPr txBox="1"/>
          <p:nvPr/>
        </p:nvSpPr>
        <p:spPr>
          <a:xfrm>
            <a:off x="6080760" y="4261104"/>
            <a:ext cx="5394960" cy="502920"/>
          </a:xfrm>
          <a:prstGeom prst="rect">
            <a:avLst/>
          </a:prstGeom>
          <a:noFill/>
          <a:ln/>
        </p:spPr>
        <p:txBody>
          <a:bodyPr wrap="square" lIns="0" tIns="0" rIns="0" bIns="0" rtlCol="0" anchor="t"/>
          <a:lstStyle/>
          <a:p>
            <a:pPr indent="0" marL="0">
              <a:buNone/>
            </a:pPr>
            <a:r>
              <a:rPr lang="en-US" sz="1300" dirty="0">
                <a:solidFill>
                  <a:schemeClr val="tx1"/>
                </a:solidFill>
              </a:rPr>
              <a:t>5,632 bytes, 0 imported DLLs, every section read-only</a:t>
            </a:r>
            <a:endParaRPr lang="en-US" sz="1300" dirty="0"/>
          </a:p>
        </p:txBody>
      </p:sp>
      <p:sp>
        <p:nvSpPr>
          <p:cNvPr id="54" name="card"/>
          <p:cNvSpPr/>
          <p:nvPr/>
        </p:nvSpPr>
        <p:spPr>
          <a:xfrm>
            <a:off x="5852160" y="4974336"/>
            <a:ext cx="5760720" cy="1005840"/>
          </a:xfrm>
          <a:prstGeom prst="roundRect">
            <a:avLst>
              <a:gd name="adj" fmla="val 7273"/>
            </a:avLst>
          </a:prstGeom>
          <a:solidFill>
            <a:schemeClr val="bg2"/>
          </a:solidFill>
          <a:ln/>
        </p:spPr>
      </p:sp>
      <p:sp>
        <p:nvSpPr>
          <p:cNvPr id="55" name="Text 52"/>
          <p:cNvSpPr txBox="1"/>
          <p:nvPr/>
        </p:nvSpPr>
        <p:spPr>
          <a:xfrm>
            <a:off x="6080760" y="5084064"/>
            <a:ext cx="5394960" cy="365760"/>
          </a:xfrm>
          <a:prstGeom prst="rect">
            <a:avLst/>
          </a:prstGeom>
          <a:noFill/>
          <a:ln/>
        </p:spPr>
        <p:txBody>
          <a:bodyPr wrap="square" lIns="0" tIns="0" rIns="0" bIns="0" rtlCol="0" anchor="t"/>
          <a:lstStyle/>
          <a:p>
            <a:pPr indent="0" marL="0">
              <a:buNone/>
            </a:pPr>
            <a:r>
              <a:rPr lang="en-US" sz="1600" b="1" dirty="0">
                <a:solidFill>
                  <a:schemeClr val="accent1"/>
                </a:solidFill>
              </a:rPr>
              <a:t>Windows unwind info</a:t>
            </a:r>
            <a:endParaRPr lang="en-US" sz="1600" dirty="0"/>
          </a:p>
        </p:txBody>
      </p:sp>
      <p:sp>
        <p:nvSpPr>
          <p:cNvPr id="56" name="Text 53"/>
          <p:cNvSpPr txBox="1"/>
          <p:nvPr/>
        </p:nvSpPr>
        <p:spPr>
          <a:xfrm>
            <a:off x="6080760" y="5431536"/>
            <a:ext cx="5394960" cy="502920"/>
          </a:xfrm>
          <a:prstGeom prst="rect">
            <a:avLst/>
          </a:prstGeom>
          <a:noFill/>
          <a:ln/>
        </p:spPr>
        <p:txBody>
          <a:bodyPr wrap="square" lIns="0" tIns="0" rIns="0" bIns="0" rtlCol="0" anchor="t"/>
          <a:lstStyle/>
          <a:p>
            <a:pPr indent="0" marL="0">
              <a:buNone/>
            </a:pPr>
            <a:r>
              <a:rPr lang="en-US" sz="1300" dirty="0">
                <a:solidFill>
                  <a:schemeClr val="tx1"/>
                </a:solidFill>
              </a:rPr>
              <a:t>.pdata/.xdata describe the frame so Windows can walk the stack through sfx_generate</a:t>
            </a:r>
            <a:endParaRPr lang="en-US" sz="13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68680"/>
          </a:xfrm>
          <a:prstGeom prst="rect">
            <a:avLst/>
          </a:prstGeom>
          <a:noFill/>
          <a:ln/>
        </p:spPr>
        <p:txBody>
          <a:bodyPr wrap="square" lIns="0" tIns="0" rIns="0" bIns="0" rtlCol="0" anchor="ctr"/>
          <a:lstStyle/>
          <a:p>
            <a:pPr algn="l" indent="0" marL="0">
              <a:buNone/>
            </a:pPr>
            <a:r>
              <a:rPr lang="en-US" sz="2800" b="1" dirty="0">
                <a:solidFill>
                  <a:schemeClr val="tx1"/>
                </a:solidFill>
              </a:rPr>
              <a:t>sfx_write_wav wraps the samples in a 44-byte WAV header</a:t>
            </a:r>
            <a:endParaRPr lang="en-US" sz="2800" dirty="0"/>
          </a:p>
        </p:txBody>
      </p:sp>
      <p:sp>
        <p:nvSpPr>
          <p:cNvPr id="4" name="Shape 1"/>
          <p:cNvSpPr/>
          <p:nvPr/>
        </p:nvSpPr>
        <p:spPr>
          <a:xfrm>
            <a:off x="548640" y="1600200"/>
            <a:ext cx="835429" cy="1143000"/>
          </a:xfrm>
          <a:prstGeom prst="rect">
            <a:avLst/>
          </a:prstGeom>
          <a:solidFill>
            <a:schemeClr val="tx1"/>
          </a:solidFill>
          <a:ln/>
        </p:spPr>
      </p:sp>
      <p:sp>
        <p:nvSpPr>
          <p:cNvPr id="5" name="Text 2"/>
          <p:cNvSpPr txBox="1"/>
          <p:nvPr/>
        </p:nvSpPr>
        <p:spPr>
          <a:xfrm>
            <a:off x="603504" y="1664208"/>
            <a:ext cx="743989" cy="274320"/>
          </a:xfrm>
          <a:prstGeom prst="rect">
            <a:avLst/>
          </a:prstGeom>
          <a:noFill/>
          <a:ln/>
        </p:spPr>
        <p:txBody>
          <a:bodyPr wrap="square" lIns="0" tIns="0" rIns="0" bIns="0" rtlCol="0" anchor="t"/>
          <a:lstStyle/>
          <a:p>
            <a:pPr indent="0" marL="0">
              <a:buNone/>
            </a:pPr>
            <a:r>
              <a:rPr lang="en-US" sz="1100" b="1" dirty="0">
                <a:solidFill>
                  <a:schemeClr val="accent2"/>
                </a:solidFill>
                <a:latin typeface="Courier New" pitchFamily="34" charset="0"/>
                <a:ea typeface="Courier New" pitchFamily="34" charset="-122"/>
                <a:cs typeface="Courier New" pitchFamily="34" charset="-120"/>
              </a:rPr>
              <a:t>0</a:t>
            </a:r>
            <a:endParaRPr lang="en-US" sz="1100" dirty="0"/>
          </a:p>
        </p:txBody>
      </p:sp>
      <p:sp>
        <p:nvSpPr>
          <p:cNvPr id="6" name="Text 3"/>
          <p:cNvSpPr txBox="1"/>
          <p:nvPr/>
        </p:nvSpPr>
        <p:spPr>
          <a:xfrm>
            <a:off x="603504" y="2011680"/>
            <a:ext cx="771421" cy="640080"/>
          </a:xfrm>
          <a:prstGeom prst="rect">
            <a:avLst/>
          </a:prstGeom>
          <a:noFill/>
          <a:ln/>
        </p:spPr>
        <p:txBody>
          <a:bodyPr wrap="square" lIns="0" tIns="0" rIns="0" bIns="0" rtlCol="0" anchor="t"/>
          <a:lstStyle/>
          <a:p>
            <a:pPr indent="0" marL="0">
              <a:buNone/>
            </a:pPr>
            <a:r>
              <a:rPr lang="en-US" sz="1200" b="1" dirty="0">
                <a:solidFill>
                  <a:schemeClr val="bg1"/>
                </a:solidFill>
              </a:rPr>
              <a:t>RIFF</a:t>
            </a:r>
            <a:endParaRPr lang="en-US" sz="1200" dirty="0"/>
          </a:p>
        </p:txBody>
      </p:sp>
      <p:sp>
        <p:nvSpPr>
          <p:cNvPr id="7" name="Shape 4"/>
          <p:cNvSpPr/>
          <p:nvPr/>
        </p:nvSpPr>
        <p:spPr>
          <a:xfrm>
            <a:off x="1429789" y="1600200"/>
            <a:ext cx="835429" cy="1143000"/>
          </a:xfrm>
          <a:prstGeom prst="rect">
            <a:avLst/>
          </a:prstGeom>
          <a:solidFill>
            <a:schemeClr val="accent3"/>
          </a:solidFill>
          <a:ln/>
        </p:spPr>
      </p:sp>
      <p:sp>
        <p:nvSpPr>
          <p:cNvPr id="8" name="Text 5"/>
          <p:cNvSpPr txBox="1"/>
          <p:nvPr/>
        </p:nvSpPr>
        <p:spPr>
          <a:xfrm>
            <a:off x="1484653" y="1664208"/>
            <a:ext cx="743989" cy="274320"/>
          </a:xfrm>
          <a:prstGeom prst="rect">
            <a:avLst/>
          </a:prstGeom>
          <a:noFill/>
          <a:ln/>
        </p:spPr>
        <p:txBody>
          <a:bodyPr wrap="square" lIns="0" tIns="0" rIns="0" bIns="0" rtlCol="0" anchor="t"/>
          <a:lstStyle/>
          <a:p>
            <a:pPr indent="0" marL="0">
              <a:buNone/>
            </a:pPr>
            <a:r>
              <a:rPr lang="en-US" sz="1100" b="1" dirty="0">
                <a:solidFill>
                  <a:schemeClr val="tx1"/>
                </a:solidFill>
                <a:latin typeface="Courier New" pitchFamily="34" charset="0"/>
                <a:ea typeface="Courier New" pitchFamily="34" charset="-122"/>
                <a:cs typeface="Courier New" pitchFamily="34" charset="-120"/>
              </a:rPr>
              <a:t>4</a:t>
            </a:r>
            <a:endParaRPr lang="en-US" sz="1100" dirty="0"/>
          </a:p>
        </p:txBody>
      </p:sp>
      <p:sp>
        <p:nvSpPr>
          <p:cNvPr id="9" name="Text 6"/>
          <p:cNvSpPr txBox="1"/>
          <p:nvPr/>
        </p:nvSpPr>
        <p:spPr>
          <a:xfrm>
            <a:off x="1484653" y="2011680"/>
            <a:ext cx="771421" cy="640080"/>
          </a:xfrm>
          <a:prstGeom prst="rect">
            <a:avLst/>
          </a:prstGeom>
          <a:noFill/>
          <a:ln/>
        </p:spPr>
        <p:txBody>
          <a:bodyPr wrap="square" lIns="0" tIns="0" rIns="0" bIns="0" rtlCol="0" anchor="t"/>
          <a:lstStyle/>
          <a:p>
            <a:pPr indent="0" marL="0">
              <a:buNone/>
            </a:pPr>
            <a:r>
              <a:rPr lang="en-US" sz="1200" b="1" dirty="0">
                <a:solidFill>
                  <a:schemeClr val="tx1"/>
                </a:solidFill>
              </a:rPr>
              <a:t>36+size</a:t>
            </a:r>
            <a:endParaRPr lang="en-US" sz="1200" dirty="0"/>
          </a:p>
        </p:txBody>
      </p:sp>
      <p:sp>
        <p:nvSpPr>
          <p:cNvPr id="10" name="Shape 7"/>
          <p:cNvSpPr/>
          <p:nvPr/>
        </p:nvSpPr>
        <p:spPr>
          <a:xfrm>
            <a:off x="2310938" y="1600200"/>
            <a:ext cx="835429" cy="1143000"/>
          </a:xfrm>
          <a:prstGeom prst="rect">
            <a:avLst/>
          </a:prstGeom>
          <a:solidFill>
            <a:schemeClr val="tx1"/>
          </a:solidFill>
          <a:ln/>
        </p:spPr>
      </p:sp>
      <p:sp>
        <p:nvSpPr>
          <p:cNvPr id="11" name="Text 8"/>
          <p:cNvSpPr txBox="1"/>
          <p:nvPr/>
        </p:nvSpPr>
        <p:spPr>
          <a:xfrm>
            <a:off x="2365802" y="1664208"/>
            <a:ext cx="743989" cy="274320"/>
          </a:xfrm>
          <a:prstGeom prst="rect">
            <a:avLst/>
          </a:prstGeom>
          <a:noFill/>
          <a:ln/>
        </p:spPr>
        <p:txBody>
          <a:bodyPr wrap="square" lIns="0" tIns="0" rIns="0" bIns="0" rtlCol="0" anchor="t"/>
          <a:lstStyle/>
          <a:p>
            <a:pPr indent="0" marL="0">
              <a:buNone/>
            </a:pPr>
            <a:r>
              <a:rPr lang="en-US" sz="1100" b="1" dirty="0">
                <a:solidFill>
                  <a:schemeClr val="accent2"/>
                </a:solidFill>
                <a:latin typeface="Courier New" pitchFamily="34" charset="0"/>
                <a:ea typeface="Courier New" pitchFamily="34" charset="-122"/>
                <a:cs typeface="Courier New" pitchFamily="34" charset="-120"/>
              </a:rPr>
              <a:t>8</a:t>
            </a:r>
            <a:endParaRPr lang="en-US" sz="1100" dirty="0"/>
          </a:p>
        </p:txBody>
      </p:sp>
      <p:sp>
        <p:nvSpPr>
          <p:cNvPr id="12" name="Text 9"/>
          <p:cNvSpPr txBox="1"/>
          <p:nvPr/>
        </p:nvSpPr>
        <p:spPr>
          <a:xfrm>
            <a:off x="2365802" y="2011680"/>
            <a:ext cx="771421" cy="640080"/>
          </a:xfrm>
          <a:prstGeom prst="rect">
            <a:avLst/>
          </a:prstGeom>
          <a:noFill/>
          <a:ln/>
        </p:spPr>
        <p:txBody>
          <a:bodyPr wrap="square" lIns="0" tIns="0" rIns="0" bIns="0" rtlCol="0" anchor="t"/>
          <a:lstStyle/>
          <a:p>
            <a:pPr indent="0" marL="0">
              <a:buNone/>
            </a:pPr>
            <a:r>
              <a:rPr lang="en-US" sz="1200" b="1" dirty="0">
                <a:solidFill>
                  <a:schemeClr val="bg1"/>
                </a:solidFill>
              </a:rPr>
              <a:t>WAVE</a:t>
            </a:r>
            <a:endParaRPr lang="en-US" sz="1200" dirty="0"/>
          </a:p>
        </p:txBody>
      </p:sp>
      <p:sp>
        <p:nvSpPr>
          <p:cNvPr id="13" name="Shape 10"/>
          <p:cNvSpPr/>
          <p:nvPr/>
        </p:nvSpPr>
        <p:spPr>
          <a:xfrm>
            <a:off x="3192087" y="1600200"/>
            <a:ext cx="835429" cy="1143000"/>
          </a:xfrm>
          <a:prstGeom prst="rect">
            <a:avLst/>
          </a:prstGeom>
          <a:solidFill>
            <a:schemeClr val="tx1"/>
          </a:solidFill>
          <a:ln/>
        </p:spPr>
      </p:sp>
      <p:sp>
        <p:nvSpPr>
          <p:cNvPr id="14" name="Text 11"/>
          <p:cNvSpPr txBox="1"/>
          <p:nvPr/>
        </p:nvSpPr>
        <p:spPr>
          <a:xfrm>
            <a:off x="3246951" y="1664208"/>
            <a:ext cx="743989" cy="274320"/>
          </a:xfrm>
          <a:prstGeom prst="rect">
            <a:avLst/>
          </a:prstGeom>
          <a:noFill/>
          <a:ln/>
        </p:spPr>
        <p:txBody>
          <a:bodyPr wrap="square" lIns="0" tIns="0" rIns="0" bIns="0" rtlCol="0" anchor="t"/>
          <a:lstStyle/>
          <a:p>
            <a:pPr indent="0" marL="0">
              <a:buNone/>
            </a:pPr>
            <a:r>
              <a:rPr lang="en-US" sz="1100" b="1" dirty="0">
                <a:solidFill>
                  <a:schemeClr val="accent2"/>
                </a:solidFill>
                <a:latin typeface="Courier New" pitchFamily="34" charset="0"/>
                <a:ea typeface="Courier New" pitchFamily="34" charset="-122"/>
                <a:cs typeface="Courier New" pitchFamily="34" charset="-120"/>
              </a:rPr>
              <a:t>12</a:t>
            </a:r>
            <a:endParaRPr lang="en-US" sz="1100" dirty="0"/>
          </a:p>
        </p:txBody>
      </p:sp>
      <p:sp>
        <p:nvSpPr>
          <p:cNvPr id="15" name="Text 12"/>
          <p:cNvSpPr txBox="1"/>
          <p:nvPr/>
        </p:nvSpPr>
        <p:spPr>
          <a:xfrm>
            <a:off x="3246951" y="2011680"/>
            <a:ext cx="771421" cy="640080"/>
          </a:xfrm>
          <a:prstGeom prst="rect">
            <a:avLst/>
          </a:prstGeom>
          <a:noFill/>
          <a:ln/>
        </p:spPr>
        <p:txBody>
          <a:bodyPr wrap="square" lIns="0" tIns="0" rIns="0" bIns="0" rtlCol="0" anchor="t"/>
          <a:lstStyle/>
          <a:p>
            <a:pPr indent="0" marL="0">
              <a:buNone/>
            </a:pPr>
            <a:r>
              <a:rPr lang="en-US" sz="1200" b="1" dirty="0">
                <a:solidFill>
                  <a:schemeClr val="bg1"/>
                </a:solidFill>
              </a:rPr>
              <a:t>fmt</a:t>
            </a:r>
            <a:endParaRPr lang="en-US" sz="1200" dirty="0"/>
          </a:p>
        </p:txBody>
      </p:sp>
      <p:sp>
        <p:nvSpPr>
          <p:cNvPr id="16" name="Shape 13"/>
          <p:cNvSpPr/>
          <p:nvPr/>
        </p:nvSpPr>
        <p:spPr>
          <a:xfrm>
            <a:off x="4073236" y="1600200"/>
            <a:ext cx="835429" cy="1143000"/>
          </a:xfrm>
          <a:prstGeom prst="rect">
            <a:avLst/>
          </a:prstGeom>
          <a:solidFill>
            <a:schemeClr val="tx1"/>
          </a:solidFill>
          <a:ln/>
        </p:spPr>
      </p:sp>
      <p:sp>
        <p:nvSpPr>
          <p:cNvPr id="17" name="Text 14"/>
          <p:cNvSpPr txBox="1"/>
          <p:nvPr/>
        </p:nvSpPr>
        <p:spPr>
          <a:xfrm>
            <a:off x="4128100" y="1664208"/>
            <a:ext cx="743989" cy="274320"/>
          </a:xfrm>
          <a:prstGeom prst="rect">
            <a:avLst/>
          </a:prstGeom>
          <a:noFill/>
          <a:ln/>
        </p:spPr>
        <p:txBody>
          <a:bodyPr wrap="square" lIns="0" tIns="0" rIns="0" bIns="0" rtlCol="0" anchor="t"/>
          <a:lstStyle/>
          <a:p>
            <a:pPr indent="0" marL="0">
              <a:buNone/>
            </a:pPr>
            <a:r>
              <a:rPr lang="en-US" sz="1100" b="1" dirty="0">
                <a:solidFill>
                  <a:schemeClr val="accent2"/>
                </a:solidFill>
                <a:latin typeface="Courier New" pitchFamily="34" charset="0"/>
                <a:ea typeface="Courier New" pitchFamily="34" charset="-122"/>
                <a:cs typeface="Courier New" pitchFamily="34" charset="-120"/>
              </a:rPr>
              <a:t>16</a:t>
            </a:r>
            <a:endParaRPr lang="en-US" sz="1100" dirty="0"/>
          </a:p>
        </p:txBody>
      </p:sp>
      <p:sp>
        <p:nvSpPr>
          <p:cNvPr id="18" name="Text 15"/>
          <p:cNvSpPr txBox="1"/>
          <p:nvPr/>
        </p:nvSpPr>
        <p:spPr>
          <a:xfrm>
            <a:off x="4128100" y="2011680"/>
            <a:ext cx="771421" cy="640080"/>
          </a:xfrm>
          <a:prstGeom prst="rect">
            <a:avLst/>
          </a:prstGeom>
          <a:noFill/>
          <a:ln/>
        </p:spPr>
        <p:txBody>
          <a:bodyPr wrap="square" lIns="0" tIns="0" rIns="0" bIns="0" rtlCol="0" anchor="t"/>
          <a:lstStyle/>
          <a:p>
            <a:pPr indent="0" marL="0">
              <a:buNone/>
            </a:pPr>
            <a:r>
              <a:rPr lang="en-US" sz="1200" b="1" dirty="0">
                <a:solidFill>
                  <a:schemeClr val="bg1"/>
                </a:solidFill>
              </a:rPr>
              <a:t>16</a:t>
            </a:r>
            <a:endParaRPr lang="en-US" sz="1200" dirty="0"/>
          </a:p>
        </p:txBody>
      </p:sp>
      <p:sp>
        <p:nvSpPr>
          <p:cNvPr id="19" name="Shape 16"/>
          <p:cNvSpPr/>
          <p:nvPr/>
        </p:nvSpPr>
        <p:spPr>
          <a:xfrm>
            <a:off x="4954385" y="1600200"/>
            <a:ext cx="835429" cy="1143000"/>
          </a:xfrm>
          <a:prstGeom prst="rect">
            <a:avLst/>
          </a:prstGeom>
          <a:solidFill>
            <a:schemeClr val="tx1"/>
          </a:solidFill>
          <a:ln/>
        </p:spPr>
      </p:sp>
      <p:sp>
        <p:nvSpPr>
          <p:cNvPr id="20" name="Text 17"/>
          <p:cNvSpPr txBox="1"/>
          <p:nvPr/>
        </p:nvSpPr>
        <p:spPr>
          <a:xfrm>
            <a:off x="5009249" y="1664208"/>
            <a:ext cx="743989" cy="274320"/>
          </a:xfrm>
          <a:prstGeom prst="rect">
            <a:avLst/>
          </a:prstGeom>
          <a:noFill/>
          <a:ln/>
        </p:spPr>
        <p:txBody>
          <a:bodyPr wrap="square" lIns="0" tIns="0" rIns="0" bIns="0" rtlCol="0" anchor="t"/>
          <a:lstStyle/>
          <a:p>
            <a:pPr indent="0" marL="0">
              <a:buNone/>
            </a:pPr>
            <a:r>
              <a:rPr lang="en-US" sz="1100" b="1" dirty="0">
                <a:solidFill>
                  <a:schemeClr val="accent2"/>
                </a:solidFill>
                <a:latin typeface="Courier New" pitchFamily="34" charset="0"/>
                <a:ea typeface="Courier New" pitchFamily="34" charset="-122"/>
                <a:cs typeface="Courier New" pitchFamily="34" charset="-120"/>
              </a:rPr>
              <a:t>20</a:t>
            </a:r>
            <a:endParaRPr lang="en-US" sz="1100" dirty="0"/>
          </a:p>
        </p:txBody>
      </p:sp>
      <p:sp>
        <p:nvSpPr>
          <p:cNvPr id="21" name="Text 18"/>
          <p:cNvSpPr txBox="1"/>
          <p:nvPr/>
        </p:nvSpPr>
        <p:spPr>
          <a:xfrm>
            <a:off x="5009249" y="2011680"/>
            <a:ext cx="771421" cy="640080"/>
          </a:xfrm>
          <a:prstGeom prst="rect">
            <a:avLst/>
          </a:prstGeom>
          <a:noFill/>
          <a:ln/>
        </p:spPr>
        <p:txBody>
          <a:bodyPr wrap="square" lIns="0" tIns="0" rIns="0" bIns="0" rtlCol="0" anchor="t"/>
          <a:lstStyle/>
          <a:p>
            <a:pPr indent="0" marL="0">
              <a:buNone/>
            </a:pPr>
            <a:r>
              <a:rPr lang="en-US" sz="1200" b="1" dirty="0">
                <a:solidFill>
                  <a:schemeClr val="bg1"/>
                </a:solidFill>
              </a:rPr>
              <a:t>PCM, mono</a:t>
            </a:r>
            <a:endParaRPr lang="en-US" sz="1200" dirty="0"/>
          </a:p>
        </p:txBody>
      </p:sp>
      <p:sp>
        <p:nvSpPr>
          <p:cNvPr id="22" name="Shape 19"/>
          <p:cNvSpPr/>
          <p:nvPr/>
        </p:nvSpPr>
        <p:spPr>
          <a:xfrm>
            <a:off x="5835535" y="1600200"/>
            <a:ext cx="835429" cy="1143000"/>
          </a:xfrm>
          <a:prstGeom prst="rect">
            <a:avLst/>
          </a:prstGeom>
          <a:solidFill>
            <a:schemeClr val="tx1"/>
          </a:solidFill>
          <a:ln/>
        </p:spPr>
      </p:sp>
      <p:sp>
        <p:nvSpPr>
          <p:cNvPr id="23" name="Text 20"/>
          <p:cNvSpPr txBox="1"/>
          <p:nvPr/>
        </p:nvSpPr>
        <p:spPr>
          <a:xfrm>
            <a:off x="5890399" y="1664208"/>
            <a:ext cx="743989" cy="274320"/>
          </a:xfrm>
          <a:prstGeom prst="rect">
            <a:avLst/>
          </a:prstGeom>
          <a:noFill/>
          <a:ln/>
        </p:spPr>
        <p:txBody>
          <a:bodyPr wrap="square" lIns="0" tIns="0" rIns="0" bIns="0" rtlCol="0" anchor="t"/>
          <a:lstStyle/>
          <a:p>
            <a:pPr indent="0" marL="0">
              <a:buNone/>
            </a:pPr>
            <a:r>
              <a:rPr lang="en-US" sz="1100" b="1" dirty="0">
                <a:solidFill>
                  <a:schemeClr val="accent2"/>
                </a:solidFill>
                <a:latin typeface="Courier New" pitchFamily="34" charset="0"/>
                <a:ea typeface="Courier New" pitchFamily="34" charset="-122"/>
                <a:cs typeface="Courier New" pitchFamily="34" charset="-120"/>
              </a:rPr>
              <a:t>24</a:t>
            </a:r>
            <a:endParaRPr lang="en-US" sz="1100" dirty="0"/>
          </a:p>
        </p:txBody>
      </p:sp>
      <p:sp>
        <p:nvSpPr>
          <p:cNvPr id="24" name="Text 21"/>
          <p:cNvSpPr txBox="1"/>
          <p:nvPr/>
        </p:nvSpPr>
        <p:spPr>
          <a:xfrm>
            <a:off x="5890399" y="2011680"/>
            <a:ext cx="771421" cy="640080"/>
          </a:xfrm>
          <a:prstGeom prst="rect">
            <a:avLst/>
          </a:prstGeom>
          <a:noFill/>
          <a:ln/>
        </p:spPr>
        <p:txBody>
          <a:bodyPr wrap="square" lIns="0" tIns="0" rIns="0" bIns="0" rtlCol="0" anchor="t"/>
          <a:lstStyle/>
          <a:p>
            <a:pPr indent="0" marL="0">
              <a:buNone/>
            </a:pPr>
            <a:r>
              <a:rPr lang="en-US" sz="1200" b="1" dirty="0">
                <a:solidFill>
                  <a:schemeClr val="bg1"/>
                </a:solidFill>
              </a:rPr>
              <a:t>44100 Hz</a:t>
            </a:r>
            <a:endParaRPr lang="en-US" sz="1200" dirty="0"/>
          </a:p>
        </p:txBody>
      </p:sp>
      <p:sp>
        <p:nvSpPr>
          <p:cNvPr id="25" name="Shape 22"/>
          <p:cNvSpPr/>
          <p:nvPr/>
        </p:nvSpPr>
        <p:spPr>
          <a:xfrm>
            <a:off x="6716684" y="1600200"/>
            <a:ext cx="835429" cy="1143000"/>
          </a:xfrm>
          <a:prstGeom prst="rect">
            <a:avLst/>
          </a:prstGeom>
          <a:solidFill>
            <a:schemeClr val="tx1"/>
          </a:solidFill>
          <a:ln/>
        </p:spPr>
      </p:sp>
      <p:sp>
        <p:nvSpPr>
          <p:cNvPr id="26" name="Text 23"/>
          <p:cNvSpPr txBox="1"/>
          <p:nvPr/>
        </p:nvSpPr>
        <p:spPr>
          <a:xfrm>
            <a:off x="6771548" y="1664208"/>
            <a:ext cx="743989" cy="274320"/>
          </a:xfrm>
          <a:prstGeom prst="rect">
            <a:avLst/>
          </a:prstGeom>
          <a:noFill/>
          <a:ln/>
        </p:spPr>
        <p:txBody>
          <a:bodyPr wrap="square" lIns="0" tIns="0" rIns="0" bIns="0" rtlCol="0" anchor="t"/>
          <a:lstStyle/>
          <a:p>
            <a:pPr indent="0" marL="0">
              <a:buNone/>
            </a:pPr>
            <a:r>
              <a:rPr lang="en-US" sz="1100" b="1" dirty="0">
                <a:solidFill>
                  <a:schemeClr val="accent2"/>
                </a:solidFill>
                <a:latin typeface="Courier New" pitchFamily="34" charset="0"/>
                <a:ea typeface="Courier New" pitchFamily="34" charset="-122"/>
                <a:cs typeface="Courier New" pitchFamily="34" charset="-120"/>
              </a:rPr>
              <a:t>28</a:t>
            </a:r>
            <a:endParaRPr lang="en-US" sz="1100" dirty="0"/>
          </a:p>
        </p:txBody>
      </p:sp>
      <p:sp>
        <p:nvSpPr>
          <p:cNvPr id="27" name="Text 24"/>
          <p:cNvSpPr txBox="1"/>
          <p:nvPr/>
        </p:nvSpPr>
        <p:spPr>
          <a:xfrm>
            <a:off x="6771548" y="2011680"/>
            <a:ext cx="771421" cy="640080"/>
          </a:xfrm>
          <a:prstGeom prst="rect">
            <a:avLst/>
          </a:prstGeom>
          <a:noFill/>
          <a:ln/>
        </p:spPr>
        <p:txBody>
          <a:bodyPr wrap="square" lIns="0" tIns="0" rIns="0" bIns="0" rtlCol="0" anchor="t"/>
          <a:lstStyle/>
          <a:p>
            <a:pPr indent="0" marL="0">
              <a:buNone/>
            </a:pPr>
            <a:r>
              <a:rPr lang="en-US" sz="1200" b="1" dirty="0">
                <a:solidFill>
                  <a:schemeClr val="bg1"/>
                </a:solidFill>
              </a:rPr>
              <a:t>88200 B/s</a:t>
            </a:r>
            <a:endParaRPr lang="en-US" sz="1200" dirty="0"/>
          </a:p>
        </p:txBody>
      </p:sp>
      <p:sp>
        <p:nvSpPr>
          <p:cNvPr id="28" name="Shape 25"/>
          <p:cNvSpPr/>
          <p:nvPr/>
        </p:nvSpPr>
        <p:spPr>
          <a:xfrm>
            <a:off x="7597833" y="1600200"/>
            <a:ext cx="835429" cy="1143000"/>
          </a:xfrm>
          <a:prstGeom prst="rect">
            <a:avLst/>
          </a:prstGeom>
          <a:solidFill>
            <a:schemeClr val="tx1"/>
          </a:solidFill>
          <a:ln/>
        </p:spPr>
      </p:sp>
      <p:sp>
        <p:nvSpPr>
          <p:cNvPr id="29" name="Text 26"/>
          <p:cNvSpPr txBox="1"/>
          <p:nvPr/>
        </p:nvSpPr>
        <p:spPr>
          <a:xfrm>
            <a:off x="7652697" y="1664208"/>
            <a:ext cx="743989" cy="274320"/>
          </a:xfrm>
          <a:prstGeom prst="rect">
            <a:avLst/>
          </a:prstGeom>
          <a:noFill/>
          <a:ln/>
        </p:spPr>
        <p:txBody>
          <a:bodyPr wrap="square" lIns="0" tIns="0" rIns="0" bIns="0" rtlCol="0" anchor="t"/>
          <a:lstStyle/>
          <a:p>
            <a:pPr indent="0" marL="0">
              <a:buNone/>
            </a:pPr>
            <a:r>
              <a:rPr lang="en-US" sz="1100" b="1" dirty="0">
                <a:solidFill>
                  <a:schemeClr val="accent2"/>
                </a:solidFill>
                <a:latin typeface="Courier New" pitchFamily="34" charset="0"/>
                <a:ea typeface="Courier New" pitchFamily="34" charset="-122"/>
                <a:cs typeface="Courier New" pitchFamily="34" charset="-120"/>
              </a:rPr>
              <a:t>32</a:t>
            </a:r>
            <a:endParaRPr lang="en-US" sz="1100" dirty="0"/>
          </a:p>
        </p:txBody>
      </p:sp>
      <p:sp>
        <p:nvSpPr>
          <p:cNvPr id="30" name="Text 27"/>
          <p:cNvSpPr txBox="1"/>
          <p:nvPr/>
        </p:nvSpPr>
        <p:spPr>
          <a:xfrm>
            <a:off x="7652697" y="2011680"/>
            <a:ext cx="771421" cy="640080"/>
          </a:xfrm>
          <a:prstGeom prst="rect">
            <a:avLst/>
          </a:prstGeom>
          <a:noFill/>
          <a:ln/>
        </p:spPr>
        <p:txBody>
          <a:bodyPr wrap="square" lIns="0" tIns="0" rIns="0" bIns="0" rtlCol="0" anchor="t"/>
          <a:lstStyle/>
          <a:p>
            <a:pPr indent="0" marL="0">
              <a:buNone/>
            </a:pPr>
            <a:r>
              <a:rPr lang="en-US" sz="1200" b="1" dirty="0">
                <a:solidFill>
                  <a:schemeClr val="bg1"/>
                </a:solidFill>
              </a:rPr>
              <a:t>2 B, 16 bit</a:t>
            </a:r>
            <a:endParaRPr lang="en-US" sz="1200" dirty="0"/>
          </a:p>
        </p:txBody>
      </p:sp>
      <p:sp>
        <p:nvSpPr>
          <p:cNvPr id="31" name="Shape 28"/>
          <p:cNvSpPr/>
          <p:nvPr/>
        </p:nvSpPr>
        <p:spPr>
          <a:xfrm>
            <a:off x="8478982" y="1600200"/>
            <a:ext cx="835429" cy="1143000"/>
          </a:xfrm>
          <a:prstGeom prst="rect">
            <a:avLst/>
          </a:prstGeom>
          <a:solidFill>
            <a:schemeClr val="tx1"/>
          </a:solidFill>
          <a:ln/>
        </p:spPr>
      </p:sp>
      <p:sp>
        <p:nvSpPr>
          <p:cNvPr id="32" name="Text 29"/>
          <p:cNvSpPr txBox="1"/>
          <p:nvPr/>
        </p:nvSpPr>
        <p:spPr>
          <a:xfrm>
            <a:off x="8533846" y="1664208"/>
            <a:ext cx="743989" cy="274320"/>
          </a:xfrm>
          <a:prstGeom prst="rect">
            <a:avLst/>
          </a:prstGeom>
          <a:noFill/>
          <a:ln/>
        </p:spPr>
        <p:txBody>
          <a:bodyPr wrap="square" lIns="0" tIns="0" rIns="0" bIns="0" rtlCol="0" anchor="t"/>
          <a:lstStyle/>
          <a:p>
            <a:pPr indent="0" marL="0">
              <a:buNone/>
            </a:pPr>
            <a:r>
              <a:rPr lang="en-US" sz="1100" b="1" dirty="0">
                <a:solidFill>
                  <a:schemeClr val="accent2"/>
                </a:solidFill>
                <a:latin typeface="Courier New" pitchFamily="34" charset="0"/>
                <a:ea typeface="Courier New" pitchFamily="34" charset="-122"/>
                <a:cs typeface="Courier New" pitchFamily="34" charset="-120"/>
              </a:rPr>
              <a:t>36</a:t>
            </a:r>
            <a:endParaRPr lang="en-US" sz="1100" dirty="0"/>
          </a:p>
        </p:txBody>
      </p:sp>
      <p:sp>
        <p:nvSpPr>
          <p:cNvPr id="33" name="Text 30"/>
          <p:cNvSpPr txBox="1"/>
          <p:nvPr/>
        </p:nvSpPr>
        <p:spPr>
          <a:xfrm>
            <a:off x="8533846" y="2011680"/>
            <a:ext cx="771421" cy="640080"/>
          </a:xfrm>
          <a:prstGeom prst="rect">
            <a:avLst/>
          </a:prstGeom>
          <a:noFill/>
          <a:ln/>
        </p:spPr>
        <p:txBody>
          <a:bodyPr wrap="square" lIns="0" tIns="0" rIns="0" bIns="0" rtlCol="0" anchor="t"/>
          <a:lstStyle/>
          <a:p>
            <a:pPr indent="0" marL="0">
              <a:buNone/>
            </a:pPr>
            <a:r>
              <a:rPr lang="en-US" sz="1200" b="1" dirty="0">
                <a:solidFill>
                  <a:schemeClr val="bg1"/>
                </a:solidFill>
              </a:rPr>
              <a:t>data</a:t>
            </a:r>
            <a:endParaRPr lang="en-US" sz="1200" dirty="0"/>
          </a:p>
        </p:txBody>
      </p:sp>
      <p:sp>
        <p:nvSpPr>
          <p:cNvPr id="34" name="Shape 31"/>
          <p:cNvSpPr/>
          <p:nvPr/>
        </p:nvSpPr>
        <p:spPr>
          <a:xfrm>
            <a:off x="9360131" y="1600200"/>
            <a:ext cx="835429" cy="1143000"/>
          </a:xfrm>
          <a:prstGeom prst="rect">
            <a:avLst/>
          </a:prstGeom>
          <a:solidFill>
            <a:schemeClr val="accent3"/>
          </a:solidFill>
          <a:ln/>
        </p:spPr>
      </p:sp>
      <p:sp>
        <p:nvSpPr>
          <p:cNvPr id="35" name="Text 32"/>
          <p:cNvSpPr txBox="1"/>
          <p:nvPr/>
        </p:nvSpPr>
        <p:spPr>
          <a:xfrm>
            <a:off x="9414995" y="1664208"/>
            <a:ext cx="743989" cy="274320"/>
          </a:xfrm>
          <a:prstGeom prst="rect">
            <a:avLst/>
          </a:prstGeom>
          <a:noFill/>
          <a:ln/>
        </p:spPr>
        <p:txBody>
          <a:bodyPr wrap="square" lIns="0" tIns="0" rIns="0" bIns="0" rtlCol="0" anchor="t"/>
          <a:lstStyle/>
          <a:p>
            <a:pPr indent="0" marL="0">
              <a:buNone/>
            </a:pPr>
            <a:r>
              <a:rPr lang="en-US" sz="1100" b="1" dirty="0">
                <a:solidFill>
                  <a:schemeClr val="tx1"/>
                </a:solidFill>
                <a:latin typeface="Courier New" pitchFamily="34" charset="0"/>
                <a:ea typeface="Courier New" pitchFamily="34" charset="-122"/>
                <a:cs typeface="Courier New" pitchFamily="34" charset="-120"/>
              </a:rPr>
              <a:t>40</a:t>
            </a:r>
            <a:endParaRPr lang="en-US" sz="1100" dirty="0"/>
          </a:p>
        </p:txBody>
      </p:sp>
      <p:sp>
        <p:nvSpPr>
          <p:cNvPr id="36" name="Text 33"/>
          <p:cNvSpPr txBox="1"/>
          <p:nvPr/>
        </p:nvSpPr>
        <p:spPr>
          <a:xfrm>
            <a:off x="9414995" y="2011680"/>
            <a:ext cx="771421" cy="640080"/>
          </a:xfrm>
          <a:prstGeom prst="rect">
            <a:avLst/>
          </a:prstGeom>
          <a:noFill/>
          <a:ln/>
        </p:spPr>
        <p:txBody>
          <a:bodyPr wrap="square" lIns="0" tIns="0" rIns="0" bIns="0" rtlCol="0" anchor="t"/>
          <a:lstStyle/>
          <a:p>
            <a:pPr indent="0" marL="0">
              <a:buNone/>
            </a:pPr>
            <a:r>
              <a:rPr lang="en-US" sz="1200" b="1" dirty="0">
                <a:solidFill>
                  <a:schemeClr val="tx1"/>
                </a:solidFill>
              </a:rPr>
              <a:t>size = 2n</a:t>
            </a:r>
            <a:endParaRPr lang="en-US" sz="1200" dirty="0"/>
          </a:p>
        </p:txBody>
      </p:sp>
      <p:sp>
        <p:nvSpPr>
          <p:cNvPr id="37" name="Shape 34"/>
          <p:cNvSpPr/>
          <p:nvPr/>
        </p:nvSpPr>
        <p:spPr>
          <a:xfrm>
            <a:off x="10287000" y="1600200"/>
            <a:ext cx="1325880" cy="1143000"/>
          </a:xfrm>
          <a:prstGeom prst="rect">
            <a:avLst/>
          </a:prstGeom>
          <a:solidFill>
            <a:schemeClr val="accent1"/>
          </a:solidFill>
          <a:ln/>
        </p:spPr>
      </p:sp>
      <p:sp>
        <p:nvSpPr>
          <p:cNvPr id="38" name="Text 35"/>
          <p:cNvSpPr txBox="1"/>
          <p:nvPr/>
        </p:nvSpPr>
        <p:spPr>
          <a:xfrm>
            <a:off x="10351008" y="1664208"/>
            <a:ext cx="1188720" cy="274320"/>
          </a:xfrm>
          <a:prstGeom prst="rect">
            <a:avLst/>
          </a:prstGeom>
          <a:noFill/>
          <a:ln/>
        </p:spPr>
        <p:txBody>
          <a:bodyPr wrap="square" lIns="0" tIns="0" rIns="0" bIns="0" rtlCol="0" anchor="t"/>
          <a:lstStyle/>
          <a:p>
            <a:pPr indent="0" marL="0">
              <a:buNone/>
            </a:pPr>
            <a:r>
              <a:rPr lang="en-US" sz="1100" b="1" dirty="0">
                <a:solidFill>
                  <a:schemeClr val="bg1"/>
                </a:solidFill>
                <a:latin typeface="Courier New" pitchFamily="34" charset="0"/>
                <a:ea typeface="Courier New" pitchFamily="34" charset="-122"/>
                <a:cs typeface="Courier New" pitchFamily="34" charset="-120"/>
              </a:rPr>
              <a:t>44+</a:t>
            </a:r>
            <a:endParaRPr lang="en-US" sz="1100" dirty="0"/>
          </a:p>
        </p:txBody>
      </p:sp>
      <p:sp>
        <p:nvSpPr>
          <p:cNvPr id="39" name="Text 36"/>
          <p:cNvSpPr txBox="1"/>
          <p:nvPr/>
        </p:nvSpPr>
        <p:spPr>
          <a:xfrm>
            <a:off x="10351008" y="2011680"/>
            <a:ext cx="1188720" cy="640080"/>
          </a:xfrm>
          <a:prstGeom prst="rect">
            <a:avLst/>
          </a:prstGeom>
          <a:noFill/>
          <a:ln/>
        </p:spPr>
        <p:txBody>
          <a:bodyPr wrap="square" lIns="0" tIns="0" rIns="0" bIns="0" rtlCol="0" anchor="t"/>
          <a:lstStyle/>
          <a:p>
            <a:pPr indent="0" marL="0">
              <a:buNone/>
            </a:pPr>
            <a:r>
              <a:rPr lang="en-US" sz="1200" b="1" dirty="0">
                <a:solidFill>
                  <a:schemeClr val="bg1"/>
                </a:solidFill>
              </a:rPr>
              <a:t>samples…</a:t>
            </a:r>
            <a:endParaRPr lang="en-US" sz="1200" dirty="0"/>
          </a:p>
        </p:txBody>
      </p:sp>
      <p:sp>
        <p:nvSpPr>
          <p:cNvPr id="40" name="Text 37"/>
          <p:cNvSpPr txBox="1"/>
          <p:nvPr/>
        </p:nvSpPr>
        <p:spPr>
          <a:xfrm>
            <a:off x="548640" y="2852928"/>
            <a:ext cx="10972800" cy="320040"/>
          </a:xfrm>
          <a:prstGeom prst="rect">
            <a:avLst/>
          </a:prstGeom>
          <a:noFill/>
          <a:ln/>
        </p:spPr>
        <p:txBody>
          <a:bodyPr wrap="square" lIns="0" tIns="0" rIns="0" bIns="0" rtlCol="0" anchor="t"/>
          <a:lstStyle/>
          <a:p>
            <a:pPr indent="0" marL="0">
              <a:buNone/>
            </a:pPr>
            <a:r>
              <a:rPr lang="en-US" sz="1300" dirty="0">
                <a:solidFill>
                  <a:schemeClr val="accent5"/>
                </a:solidFill>
              </a:rPr>
              <a:t>Byte offset shown on top. Amber fields are patched per sound; the rest is a constant template in .rdata.</a:t>
            </a:r>
            <a:endParaRPr lang="en-US" sz="1300" dirty="0"/>
          </a:p>
        </p:txBody>
      </p:sp>
      <p:sp>
        <p:nvSpPr>
          <p:cNvPr id="41" name="card"/>
          <p:cNvSpPr/>
          <p:nvPr/>
        </p:nvSpPr>
        <p:spPr>
          <a:xfrm>
            <a:off x="548640" y="3474720"/>
            <a:ext cx="2606040" cy="1828800"/>
          </a:xfrm>
          <a:prstGeom prst="roundRect">
            <a:avLst>
              <a:gd name="adj" fmla="val 4000"/>
            </a:avLst>
          </a:prstGeom>
          <a:solidFill>
            <a:schemeClr val="bg2"/>
          </a:solidFill>
          <a:ln/>
        </p:spPr>
      </p:sp>
      <p:sp>
        <p:nvSpPr>
          <p:cNvPr id="42" name="Shape 39"/>
          <p:cNvSpPr/>
          <p:nvPr/>
        </p:nvSpPr>
        <p:spPr>
          <a:xfrm>
            <a:off x="777240" y="3657600"/>
            <a:ext cx="457200" cy="457200"/>
          </a:xfrm>
          <a:prstGeom prst="ellipse">
            <a:avLst/>
          </a:prstGeom>
          <a:solidFill>
            <a:schemeClr val="accent1"/>
          </a:solidFill>
          <a:ln/>
        </p:spPr>
      </p:sp>
      <p:sp>
        <p:nvSpPr>
          <p:cNvPr id="43" name="Text 40"/>
          <p:cNvSpPr txBox="1"/>
          <p:nvPr/>
        </p:nvSpPr>
        <p:spPr>
          <a:xfrm>
            <a:off x="777240" y="3657600"/>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44" name="Text 41"/>
          <p:cNvSpPr txBox="1"/>
          <p:nvPr/>
        </p:nvSpPr>
        <p:spPr>
          <a:xfrm>
            <a:off x="777240" y="4251960"/>
            <a:ext cx="2194560" cy="365760"/>
          </a:xfrm>
          <a:prstGeom prst="rect">
            <a:avLst/>
          </a:prstGeom>
          <a:noFill/>
          <a:ln/>
        </p:spPr>
        <p:txBody>
          <a:bodyPr wrap="square" lIns="0" tIns="0" rIns="0" bIns="0" rtlCol="0" anchor="t"/>
          <a:lstStyle/>
          <a:p>
            <a:pPr indent="0" marL="0">
              <a:buNone/>
            </a:pPr>
            <a:r>
              <a:rPr lang="en-US" sz="1700" b="1" dirty="0">
                <a:solidFill>
                  <a:schemeClr val="tx1"/>
                </a:solidFill>
              </a:rPr>
              <a:t>Check</a:t>
            </a:r>
            <a:endParaRPr lang="en-US" sz="1700" dirty="0"/>
          </a:p>
        </p:txBody>
      </p:sp>
      <p:sp>
        <p:nvSpPr>
          <p:cNvPr id="45" name="Text 42"/>
          <p:cNvSpPr txBox="1"/>
          <p:nvPr/>
        </p:nvSpPr>
        <p:spPr>
          <a:xfrm>
            <a:off x="777240" y="4645152"/>
            <a:ext cx="2240280" cy="640080"/>
          </a:xfrm>
          <a:prstGeom prst="rect">
            <a:avLst/>
          </a:prstGeom>
          <a:noFill/>
          <a:ln/>
        </p:spPr>
        <p:txBody>
          <a:bodyPr wrap="square" lIns="0" tIns="0" rIns="0" bIns="0" rtlCol="0" anchor="t"/>
          <a:lstStyle/>
          <a:p>
            <a:pPr indent="0" marL="0">
              <a:buNone/>
            </a:pPr>
            <a:r>
              <a:rPr lang="en-US" sz="1300" dirty="0">
                <a:solidFill>
                  <a:schemeClr val="tx1"/>
                </a:solidFill>
              </a:rPr>
              <a:t>both pointers, 1 ≤ n ≤ 220,500, capacity ≥ 44 + 2n</a:t>
            </a:r>
            <a:endParaRPr lang="en-US" sz="1300" dirty="0"/>
          </a:p>
        </p:txBody>
      </p:sp>
      <p:sp>
        <p:nvSpPr>
          <p:cNvPr id="46" name="card"/>
          <p:cNvSpPr/>
          <p:nvPr/>
        </p:nvSpPr>
        <p:spPr>
          <a:xfrm>
            <a:off x="3364992" y="3474720"/>
            <a:ext cx="2606040" cy="1828800"/>
          </a:xfrm>
          <a:prstGeom prst="roundRect">
            <a:avLst>
              <a:gd name="adj" fmla="val 4000"/>
            </a:avLst>
          </a:prstGeom>
          <a:solidFill>
            <a:schemeClr val="bg2"/>
          </a:solidFill>
          <a:ln/>
        </p:spPr>
      </p:sp>
      <p:sp>
        <p:nvSpPr>
          <p:cNvPr id="47" name="Shape 44"/>
          <p:cNvSpPr/>
          <p:nvPr/>
        </p:nvSpPr>
        <p:spPr>
          <a:xfrm>
            <a:off x="3593592" y="3657600"/>
            <a:ext cx="457200" cy="457200"/>
          </a:xfrm>
          <a:prstGeom prst="ellipse">
            <a:avLst/>
          </a:prstGeom>
          <a:solidFill>
            <a:schemeClr val="accent1"/>
          </a:solidFill>
          <a:ln/>
        </p:spPr>
      </p:sp>
      <p:sp>
        <p:nvSpPr>
          <p:cNvPr id="48" name="Text 45"/>
          <p:cNvSpPr txBox="1"/>
          <p:nvPr/>
        </p:nvSpPr>
        <p:spPr>
          <a:xfrm>
            <a:off x="3593592" y="3657600"/>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49" name="Text 46"/>
          <p:cNvSpPr txBox="1"/>
          <p:nvPr/>
        </p:nvSpPr>
        <p:spPr>
          <a:xfrm>
            <a:off x="3593592" y="4251960"/>
            <a:ext cx="2194560" cy="365760"/>
          </a:xfrm>
          <a:prstGeom prst="rect">
            <a:avLst/>
          </a:prstGeom>
          <a:noFill/>
          <a:ln/>
        </p:spPr>
        <p:txBody>
          <a:bodyPr wrap="square" lIns="0" tIns="0" rIns="0" bIns="0" rtlCol="0" anchor="t"/>
          <a:lstStyle/>
          <a:p>
            <a:pPr indent="0" marL="0">
              <a:buNone/>
            </a:pPr>
            <a:r>
              <a:rPr lang="en-US" sz="1700" b="1" dirty="0">
                <a:solidFill>
                  <a:schemeClr val="tx1"/>
                </a:solidFill>
              </a:rPr>
              <a:t>Copy header</a:t>
            </a:r>
            <a:endParaRPr lang="en-US" sz="1700" dirty="0"/>
          </a:p>
        </p:txBody>
      </p:sp>
      <p:sp>
        <p:nvSpPr>
          <p:cNvPr id="50" name="Text 47"/>
          <p:cNvSpPr txBox="1"/>
          <p:nvPr/>
        </p:nvSpPr>
        <p:spPr>
          <a:xfrm>
            <a:off x="3593592" y="4645152"/>
            <a:ext cx="2240280" cy="640080"/>
          </a:xfrm>
          <a:prstGeom prst="rect">
            <a:avLst/>
          </a:prstGeom>
          <a:noFill/>
          <a:ln/>
        </p:spPr>
        <p:txBody>
          <a:bodyPr wrap="square" lIns="0" tIns="0" rIns="0" bIns="0" rtlCol="0" anchor="t"/>
          <a:lstStyle/>
          <a:p>
            <a:pPr indent="0" marL="0">
              <a:buNone/>
            </a:pPr>
            <a:r>
              <a:rPr lang="en-US" sz="1300" dirty="0">
                <a:solidFill>
                  <a:schemeClr val="tx1"/>
                </a:solidFill>
              </a:rPr>
              <a:t>44 bytes from the template</a:t>
            </a:r>
            <a:endParaRPr lang="en-US" sz="1300" dirty="0"/>
          </a:p>
        </p:txBody>
      </p:sp>
      <p:sp>
        <p:nvSpPr>
          <p:cNvPr id="51" name="card"/>
          <p:cNvSpPr/>
          <p:nvPr/>
        </p:nvSpPr>
        <p:spPr>
          <a:xfrm>
            <a:off x="6181344" y="3474720"/>
            <a:ext cx="2606040" cy="1828800"/>
          </a:xfrm>
          <a:prstGeom prst="roundRect">
            <a:avLst>
              <a:gd name="adj" fmla="val 4000"/>
            </a:avLst>
          </a:prstGeom>
          <a:solidFill>
            <a:schemeClr val="bg2"/>
          </a:solidFill>
          <a:ln/>
        </p:spPr>
      </p:sp>
      <p:sp>
        <p:nvSpPr>
          <p:cNvPr id="52" name="Shape 49"/>
          <p:cNvSpPr/>
          <p:nvPr/>
        </p:nvSpPr>
        <p:spPr>
          <a:xfrm>
            <a:off x="6409944" y="3657600"/>
            <a:ext cx="457200" cy="457200"/>
          </a:xfrm>
          <a:prstGeom prst="ellipse">
            <a:avLst/>
          </a:prstGeom>
          <a:solidFill>
            <a:schemeClr val="accent1"/>
          </a:solidFill>
          <a:ln/>
        </p:spPr>
      </p:sp>
      <p:sp>
        <p:nvSpPr>
          <p:cNvPr id="53" name="Text 50"/>
          <p:cNvSpPr txBox="1"/>
          <p:nvPr/>
        </p:nvSpPr>
        <p:spPr>
          <a:xfrm>
            <a:off x="6409944" y="3657600"/>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54" name="Text 51"/>
          <p:cNvSpPr txBox="1"/>
          <p:nvPr/>
        </p:nvSpPr>
        <p:spPr>
          <a:xfrm>
            <a:off x="6409944" y="4251960"/>
            <a:ext cx="2194560" cy="365760"/>
          </a:xfrm>
          <a:prstGeom prst="rect">
            <a:avLst/>
          </a:prstGeom>
          <a:noFill/>
          <a:ln/>
        </p:spPr>
        <p:txBody>
          <a:bodyPr wrap="square" lIns="0" tIns="0" rIns="0" bIns="0" rtlCol="0" anchor="t"/>
          <a:lstStyle/>
          <a:p>
            <a:pPr indent="0" marL="0">
              <a:buNone/>
            </a:pPr>
            <a:r>
              <a:rPr lang="en-US" sz="1700" b="1" dirty="0">
                <a:solidFill>
                  <a:schemeClr val="tx1"/>
                </a:solidFill>
              </a:rPr>
              <a:t>Patch sizes</a:t>
            </a:r>
            <a:endParaRPr lang="en-US" sz="1700" dirty="0"/>
          </a:p>
        </p:txBody>
      </p:sp>
      <p:sp>
        <p:nvSpPr>
          <p:cNvPr id="55" name="Text 52"/>
          <p:cNvSpPr txBox="1"/>
          <p:nvPr/>
        </p:nvSpPr>
        <p:spPr>
          <a:xfrm>
            <a:off x="6409944" y="4645152"/>
            <a:ext cx="2240280" cy="640080"/>
          </a:xfrm>
          <a:prstGeom prst="rect">
            <a:avLst/>
          </a:prstGeom>
          <a:noFill/>
          <a:ln/>
        </p:spPr>
        <p:txBody>
          <a:bodyPr wrap="square" lIns="0" tIns="0" rIns="0" bIns="0" rtlCol="0" anchor="t"/>
          <a:lstStyle/>
          <a:p>
            <a:pPr indent="0" marL="0">
              <a:buNone/>
            </a:pPr>
            <a:r>
              <a:rPr lang="en-US" sz="1300" dirty="0">
                <a:solidFill>
                  <a:schemeClr val="tx1"/>
                </a:solidFill>
              </a:rPr>
              <a:t>byte 40 = 2n; byte 4 = 2n + 36</a:t>
            </a:r>
            <a:endParaRPr lang="en-US" sz="1300" dirty="0"/>
          </a:p>
        </p:txBody>
      </p:sp>
      <p:sp>
        <p:nvSpPr>
          <p:cNvPr id="56" name="card"/>
          <p:cNvSpPr/>
          <p:nvPr/>
        </p:nvSpPr>
        <p:spPr>
          <a:xfrm>
            <a:off x="8997696" y="3474720"/>
            <a:ext cx="2606040" cy="1828800"/>
          </a:xfrm>
          <a:prstGeom prst="roundRect">
            <a:avLst>
              <a:gd name="adj" fmla="val 4000"/>
            </a:avLst>
          </a:prstGeom>
          <a:solidFill>
            <a:schemeClr val="bg2"/>
          </a:solidFill>
          <a:ln/>
        </p:spPr>
      </p:sp>
      <p:sp>
        <p:nvSpPr>
          <p:cNvPr id="57" name="Shape 54"/>
          <p:cNvSpPr/>
          <p:nvPr/>
        </p:nvSpPr>
        <p:spPr>
          <a:xfrm>
            <a:off x="9226296" y="3657600"/>
            <a:ext cx="457200" cy="457200"/>
          </a:xfrm>
          <a:prstGeom prst="ellipse">
            <a:avLst/>
          </a:prstGeom>
          <a:solidFill>
            <a:schemeClr val="accent1"/>
          </a:solidFill>
          <a:ln/>
        </p:spPr>
      </p:sp>
      <p:sp>
        <p:nvSpPr>
          <p:cNvPr id="58" name="Text 55"/>
          <p:cNvSpPr txBox="1"/>
          <p:nvPr/>
        </p:nvSpPr>
        <p:spPr>
          <a:xfrm>
            <a:off x="9226296" y="3657600"/>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59" name="Text 56"/>
          <p:cNvSpPr txBox="1"/>
          <p:nvPr/>
        </p:nvSpPr>
        <p:spPr>
          <a:xfrm>
            <a:off x="9226296" y="4251960"/>
            <a:ext cx="2194560" cy="365760"/>
          </a:xfrm>
          <a:prstGeom prst="rect">
            <a:avLst/>
          </a:prstGeom>
          <a:noFill/>
          <a:ln/>
        </p:spPr>
        <p:txBody>
          <a:bodyPr wrap="square" lIns="0" tIns="0" rIns="0" bIns="0" rtlCol="0" anchor="t"/>
          <a:lstStyle/>
          <a:p>
            <a:pPr indent="0" marL="0">
              <a:buNone/>
            </a:pPr>
            <a:r>
              <a:rPr lang="en-US" sz="1700" b="1" dirty="0">
                <a:solidFill>
                  <a:schemeClr val="tx1"/>
                </a:solidFill>
              </a:rPr>
              <a:t>Copy samples</a:t>
            </a:r>
            <a:endParaRPr lang="en-US" sz="1700" dirty="0"/>
          </a:p>
        </p:txBody>
      </p:sp>
      <p:sp>
        <p:nvSpPr>
          <p:cNvPr id="60" name="Text 57"/>
          <p:cNvSpPr txBox="1"/>
          <p:nvPr/>
        </p:nvSpPr>
        <p:spPr>
          <a:xfrm>
            <a:off x="9226296" y="4645152"/>
            <a:ext cx="2240280" cy="640080"/>
          </a:xfrm>
          <a:prstGeom prst="rect">
            <a:avLst/>
          </a:prstGeom>
          <a:noFill/>
          <a:ln/>
        </p:spPr>
        <p:txBody>
          <a:bodyPr wrap="square" lIns="0" tIns="0" rIns="0" bIns="0" rtlCol="0" anchor="t"/>
          <a:lstStyle/>
          <a:p>
            <a:pPr indent="0" marL="0">
              <a:buNone/>
            </a:pPr>
            <a:r>
              <a:rPr lang="en-US" sz="1300" dirty="0">
                <a:solidFill>
                  <a:schemeClr val="tx1"/>
                </a:solidFill>
              </a:rPr>
              <a:t>2n bytes after the header; return 44 + 2n</a:t>
            </a:r>
            <a:endParaRPr lang="en-US" sz="1300" dirty="0"/>
          </a:p>
        </p:txBody>
      </p:sp>
      <p:sp>
        <p:nvSpPr>
          <p:cNvPr id="61" name="Text 58"/>
          <p:cNvSpPr txBox="1"/>
          <p:nvPr/>
        </p:nvSpPr>
        <p:spPr>
          <a:xfrm>
            <a:off x="548640" y="5623560"/>
            <a:ext cx="10972800" cy="365760"/>
          </a:xfrm>
          <a:prstGeom prst="rect">
            <a:avLst/>
          </a:prstGeom>
          <a:noFill/>
          <a:ln/>
        </p:spPr>
        <p:txBody>
          <a:bodyPr wrap="square" lIns="0" tIns="0" rIns="0" bIns="0" rtlCol="0" anchor="t"/>
          <a:lstStyle/>
          <a:p>
            <a:pPr indent="0" marL="0">
              <a:buNone/>
            </a:pPr>
            <a:r>
              <a:rPr lang="en-US" sz="1400" b="1" dirty="0">
                <a:solidFill>
                  <a:schemeClr val="accent1"/>
                </a:solidFill>
                <a:latin typeface="Courier New" pitchFamily="34" charset="0"/>
                <a:ea typeface="Courier New" pitchFamily="34" charset="-122"/>
                <a:cs typeface="Courier New" pitchFamily="34" charset="-120"/>
              </a:rPr>
              <a:t>lea r10d,[rdx*2+44]</a:t>
            </a:r>
            <a:pPr indent="0" marL="0">
              <a:buNone/>
            </a:pPr>
            <a:r>
              <a:rPr lang="en-US" sz="1400" dirty="0">
                <a:solidFill>
                  <a:schemeClr val="tx1"/>
                </a:solidFill>
              </a:rPr>
              <a:t>   computes the file size 44 + 2n in one instruction</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68680"/>
          </a:xfrm>
          <a:prstGeom prst="rect">
            <a:avLst/>
          </a:prstGeom>
          <a:noFill/>
          <a:ln/>
        </p:spPr>
        <p:txBody>
          <a:bodyPr wrap="square" lIns="0" tIns="0" rIns="0" bIns="0" rtlCol="0" anchor="ctr"/>
          <a:lstStyle/>
          <a:p>
            <a:pPr algn="l" indent="0" marL="0">
              <a:buNone/>
            </a:pPr>
            <a:r>
              <a:rPr lang="en-US" sz="2800" b="1" dirty="0">
                <a:solidFill>
                  <a:schemeClr val="tx1"/>
                </a:solidFill>
              </a:rPr>
              <a:t>Assembly matches the C reference bit for bit on 10,000 sounds</a:t>
            </a:r>
            <a:endParaRPr lang="en-US" sz="2800" dirty="0"/>
          </a:p>
        </p:txBody>
      </p:sp>
      <p:sp>
        <p:nvSpPr>
          <p:cNvPr id="4" name="card"/>
          <p:cNvSpPr/>
          <p:nvPr/>
        </p:nvSpPr>
        <p:spPr>
          <a:xfrm>
            <a:off x="548640" y="1508760"/>
            <a:ext cx="2606040" cy="1600200"/>
          </a:xfrm>
          <a:prstGeom prst="roundRect">
            <a:avLst>
              <a:gd name="adj" fmla="val 4571"/>
            </a:avLst>
          </a:prstGeom>
          <a:solidFill>
            <a:schemeClr val="bg2"/>
          </a:solidFill>
          <a:ln/>
        </p:spPr>
      </p:sp>
      <p:sp>
        <p:nvSpPr>
          <p:cNvPr id="5" name="Text 2"/>
          <p:cNvSpPr txBox="1"/>
          <p:nvPr/>
        </p:nvSpPr>
        <p:spPr>
          <a:xfrm>
            <a:off x="777240" y="1645920"/>
            <a:ext cx="2240280" cy="777240"/>
          </a:xfrm>
          <a:prstGeom prst="rect">
            <a:avLst/>
          </a:prstGeom>
          <a:noFill/>
          <a:ln/>
        </p:spPr>
        <p:txBody>
          <a:bodyPr wrap="square" lIns="0" tIns="0" rIns="0" bIns="0" rtlCol="0" anchor="t"/>
          <a:lstStyle/>
          <a:p>
            <a:pPr indent="0" marL="0">
              <a:buNone/>
            </a:pPr>
            <a:r>
              <a:rPr lang="en-US" sz="3600" b="1" dirty="0">
                <a:solidFill>
                  <a:schemeClr val="accent1"/>
                </a:solidFill>
                <a:latin typeface="Arial" pitchFamily="34" charset="0"/>
                <a:ea typeface="Arial" pitchFamily="34" charset="-122"/>
                <a:cs typeface="Arial" pitchFamily="34" charset="-120"/>
              </a:rPr>
              <a:t>1,279,144</a:t>
            </a:r>
            <a:endParaRPr lang="en-US" sz="3600" dirty="0"/>
          </a:p>
        </p:txBody>
      </p:sp>
      <p:sp>
        <p:nvSpPr>
          <p:cNvPr id="6" name="Text 3"/>
          <p:cNvSpPr txBox="1"/>
          <p:nvPr/>
        </p:nvSpPr>
        <p:spPr>
          <a:xfrm>
            <a:off x="777240" y="2468880"/>
            <a:ext cx="2240280" cy="548640"/>
          </a:xfrm>
          <a:prstGeom prst="rect">
            <a:avLst/>
          </a:prstGeom>
          <a:noFill/>
          <a:ln/>
        </p:spPr>
        <p:txBody>
          <a:bodyPr wrap="square" lIns="0" tIns="0" rIns="0" bIns="0" rtlCol="0" anchor="t"/>
          <a:lstStyle/>
          <a:p>
            <a:pPr indent="0" marL="0">
              <a:buNone/>
            </a:pPr>
            <a:r>
              <a:rPr lang="en-US" sz="1400" dirty="0">
                <a:solidFill>
                  <a:schemeClr val="tx2"/>
                </a:solidFill>
              </a:rPr>
              <a:t>native checks passed</a:t>
            </a:r>
            <a:endParaRPr lang="en-US" sz="1400" dirty="0"/>
          </a:p>
        </p:txBody>
      </p:sp>
      <p:sp>
        <p:nvSpPr>
          <p:cNvPr id="7" name="card"/>
          <p:cNvSpPr/>
          <p:nvPr/>
        </p:nvSpPr>
        <p:spPr>
          <a:xfrm>
            <a:off x="3364992" y="1508760"/>
            <a:ext cx="2606040" cy="1600200"/>
          </a:xfrm>
          <a:prstGeom prst="roundRect">
            <a:avLst>
              <a:gd name="adj" fmla="val 4571"/>
            </a:avLst>
          </a:prstGeom>
          <a:solidFill>
            <a:schemeClr val="tx1"/>
          </a:solidFill>
          <a:ln/>
        </p:spPr>
      </p:sp>
      <p:sp>
        <p:nvSpPr>
          <p:cNvPr id="8" name="Text 5"/>
          <p:cNvSpPr txBox="1"/>
          <p:nvPr/>
        </p:nvSpPr>
        <p:spPr>
          <a:xfrm>
            <a:off x="3593592" y="1645920"/>
            <a:ext cx="2240280" cy="777240"/>
          </a:xfrm>
          <a:prstGeom prst="rect">
            <a:avLst/>
          </a:prstGeom>
          <a:noFill/>
          <a:ln/>
        </p:spPr>
        <p:txBody>
          <a:bodyPr wrap="square" lIns="0" tIns="0" rIns="0" bIns="0" rtlCol="0" anchor="t"/>
          <a:lstStyle/>
          <a:p>
            <a:pPr indent="0" marL="0">
              <a:buNone/>
            </a:pPr>
            <a:r>
              <a:rPr lang="en-US" sz="3600" b="1" dirty="0">
                <a:solidFill>
                  <a:schemeClr val="accent2"/>
                </a:solidFill>
                <a:latin typeface="Arial" pitchFamily="34" charset="0"/>
                <a:ea typeface="Arial" pitchFamily="34" charset="-122"/>
                <a:cs typeface="Arial" pitchFamily="34" charset="-120"/>
              </a:rPr>
              <a:t>0</a:t>
            </a:r>
            <a:endParaRPr lang="en-US" sz="3600" dirty="0"/>
          </a:p>
        </p:txBody>
      </p:sp>
      <p:sp>
        <p:nvSpPr>
          <p:cNvPr id="9" name="Text 6"/>
          <p:cNvSpPr txBox="1"/>
          <p:nvPr/>
        </p:nvSpPr>
        <p:spPr>
          <a:xfrm>
            <a:off x="3593592" y="2468880"/>
            <a:ext cx="2240280" cy="548640"/>
          </a:xfrm>
          <a:prstGeom prst="rect">
            <a:avLst/>
          </a:prstGeom>
          <a:noFill/>
          <a:ln/>
        </p:spPr>
        <p:txBody>
          <a:bodyPr wrap="square" lIns="0" tIns="0" rIns="0" bIns="0" rtlCol="0" anchor="t"/>
          <a:lstStyle/>
          <a:p>
            <a:pPr indent="0" marL="0">
              <a:buNone/>
            </a:pPr>
            <a:r>
              <a:rPr lang="en-US" sz="1400" dirty="0">
                <a:solidFill>
                  <a:schemeClr val="bg1"/>
                </a:solidFill>
              </a:rPr>
              <a:t>max sample difference vs C</a:t>
            </a:r>
            <a:endParaRPr lang="en-US" sz="1400" dirty="0"/>
          </a:p>
        </p:txBody>
      </p:sp>
      <p:sp>
        <p:nvSpPr>
          <p:cNvPr id="10" name="card"/>
          <p:cNvSpPr/>
          <p:nvPr/>
        </p:nvSpPr>
        <p:spPr>
          <a:xfrm>
            <a:off x="6181344" y="1508760"/>
            <a:ext cx="2606040" cy="1600200"/>
          </a:xfrm>
          <a:prstGeom prst="roundRect">
            <a:avLst>
              <a:gd name="adj" fmla="val 4571"/>
            </a:avLst>
          </a:prstGeom>
          <a:solidFill>
            <a:schemeClr val="bg2"/>
          </a:solidFill>
          <a:ln/>
        </p:spPr>
      </p:sp>
      <p:sp>
        <p:nvSpPr>
          <p:cNvPr id="11" name="Text 8"/>
          <p:cNvSpPr txBox="1"/>
          <p:nvPr/>
        </p:nvSpPr>
        <p:spPr>
          <a:xfrm>
            <a:off x="6409944" y="1645920"/>
            <a:ext cx="2240280" cy="777240"/>
          </a:xfrm>
          <a:prstGeom prst="rect">
            <a:avLst/>
          </a:prstGeom>
          <a:noFill/>
          <a:ln/>
        </p:spPr>
        <p:txBody>
          <a:bodyPr wrap="square" lIns="0" tIns="0" rIns="0" bIns="0" rtlCol="0" anchor="t"/>
          <a:lstStyle/>
          <a:p>
            <a:pPr indent="0" marL="0">
              <a:buNone/>
            </a:pPr>
            <a:r>
              <a:rPr lang="en-US" sz="3600" b="1" dirty="0">
                <a:solidFill>
                  <a:schemeClr val="accent1"/>
                </a:solidFill>
                <a:latin typeface="Arial" pitchFamily="34" charset="0"/>
                <a:ea typeface="Arial" pitchFamily="34" charset="-122"/>
                <a:cs typeface="Arial" pitchFamily="34" charset="-120"/>
              </a:rPr>
              <a:t>10,000</a:t>
            </a:r>
            <a:endParaRPr lang="en-US" sz="3600" dirty="0"/>
          </a:p>
        </p:txBody>
      </p:sp>
      <p:sp>
        <p:nvSpPr>
          <p:cNvPr id="12" name="Text 9"/>
          <p:cNvSpPr txBox="1"/>
          <p:nvPr/>
        </p:nvSpPr>
        <p:spPr>
          <a:xfrm>
            <a:off x="6409944" y="2468880"/>
            <a:ext cx="2240280" cy="548640"/>
          </a:xfrm>
          <a:prstGeom prst="rect">
            <a:avLst/>
          </a:prstGeom>
          <a:noFill/>
          <a:ln/>
        </p:spPr>
        <p:txBody>
          <a:bodyPr wrap="square" lIns="0" tIns="0" rIns="0" bIns="0" rtlCol="0" anchor="t"/>
          <a:lstStyle/>
          <a:p>
            <a:pPr indent="0" marL="0">
              <a:buNone/>
            </a:pPr>
            <a:r>
              <a:rPr lang="en-US" sz="1400" dirty="0">
                <a:solidFill>
                  <a:schemeClr val="tx2"/>
                </a:solidFill>
              </a:rPr>
              <a:t>random parameter sets</a:t>
            </a:r>
            <a:endParaRPr lang="en-US" sz="1400" dirty="0"/>
          </a:p>
        </p:txBody>
      </p:sp>
      <p:sp>
        <p:nvSpPr>
          <p:cNvPr id="13" name="card"/>
          <p:cNvSpPr/>
          <p:nvPr/>
        </p:nvSpPr>
        <p:spPr>
          <a:xfrm>
            <a:off x="8997696" y="1508760"/>
            <a:ext cx="2606040" cy="1600200"/>
          </a:xfrm>
          <a:prstGeom prst="roundRect">
            <a:avLst>
              <a:gd name="adj" fmla="val 4571"/>
            </a:avLst>
          </a:prstGeom>
          <a:solidFill>
            <a:schemeClr val="bg2"/>
          </a:solidFill>
          <a:ln/>
        </p:spPr>
      </p:sp>
      <p:sp>
        <p:nvSpPr>
          <p:cNvPr id="14" name="Text 11"/>
          <p:cNvSpPr txBox="1"/>
          <p:nvPr/>
        </p:nvSpPr>
        <p:spPr>
          <a:xfrm>
            <a:off x="9226296" y="1645920"/>
            <a:ext cx="2240280" cy="777240"/>
          </a:xfrm>
          <a:prstGeom prst="rect">
            <a:avLst/>
          </a:prstGeom>
          <a:noFill/>
          <a:ln/>
        </p:spPr>
        <p:txBody>
          <a:bodyPr wrap="square" lIns="0" tIns="0" rIns="0" bIns="0" rtlCol="0" anchor="t"/>
          <a:lstStyle/>
          <a:p>
            <a:pPr indent="0" marL="0">
              <a:buNone/>
            </a:pPr>
            <a:r>
              <a:rPr lang="en-US" sz="3600" b="1" dirty="0">
                <a:solidFill>
                  <a:schemeClr val="accent1"/>
                </a:solidFill>
                <a:latin typeface="Arial" pitchFamily="34" charset="0"/>
                <a:ea typeface="Arial" pitchFamily="34" charset="-122"/>
                <a:cs typeface="Arial" pitchFamily="34" charset="-120"/>
              </a:rPr>
              <a:t>1,000</a:t>
            </a:r>
            <a:endParaRPr lang="en-US" sz="3600" dirty="0"/>
          </a:p>
        </p:txBody>
      </p:sp>
      <p:sp>
        <p:nvSpPr>
          <p:cNvPr id="15" name="Text 12"/>
          <p:cNvSpPr txBox="1"/>
          <p:nvPr/>
        </p:nvSpPr>
        <p:spPr>
          <a:xfrm>
            <a:off x="9226296" y="2468880"/>
            <a:ext cx="2240280" cy="548640"/>
          </a:xfrm>
          <a:prstGeom prst="rect">
            <a:avLst/>
          </a:prstGeom>
          <a:noFill/>
          <a:ln/>
        </p:spPr>
        <p:txBody>
          <a:bodyPr wrap="square" lIns="0" tIns="0" rIns="0" bIns="0" rtlCol="0" anchor="t"/>
          <a:lstStyle/>
          <a:p>
            <a:pPr indent="0" marL="0">
              <a:buNone/>
            </a:pPr>
            <a:r>
              <a:rPr lang="en-US" sz="1400" dirty="0">
                <a:solidFill>
                  <a:schemeClr val="tx2"/>
                </a:solidFill>
              </a:rPr>
              <a:t>repeat runs, byte-identical</a:t>
            </a:r>
            <a:endParaRPr lang="en-US" sz="1400" dirty="0"/>
          </a:p>
        </p:txBody>
      </p:sp>
      <p:sp>
        <p:nvSpPr>
          <p:cNvPr id="16" name="Text 13"/>
          <p:cNvSpPr txBox="1"/>
          <p:nvPr/>
        </p:nvSpPr>
        <p:spPr>
          <a:xfrm>
            <a:off x="548640" y="3429000"/>
            <a:ext cx="5394960" cy="365760"/>
          </a:xfrm>
          <a:prstGeom prst="rect">
            <a:avLst/>
          </a:prstGeom>
          <a:noFill/>
          <a:ln/>
        </p:spPr>
        <p:txBody>
          <a:bodyPr wrap="square" lIns="0" tIns="0" rIns="0" bIns="0" rtlCol="0" anchor="t"/>
          <a:lstStyle/>
          <a:p>
            <a:pPr indent="0" marL="0">
              <a:buNone/>
            </a:pPr>
            <a:r>
              <a:rPr lang="en-US" sz="1700" b="1" dirty="0">
                <a:solidFill>
                  <a:schemeClr val="accent1"/>
                </a:solidFill>
              </a:rPr>
              <a:t>Engine tests (C harness)</a:t>
            </a:r>
            <a:endParaRPr lang="en-US" sz="1700" dirty="0"/>
          </a:p>
        </p:txBody>
      </p:sp>
      <p:sp>
        <p:nvSpPr>
          <p:cNvPr id="17" name="Text 14"/>
          <p:cNvSpPr txBox="1"/>
          <p:nvPr/>
        </p:nvSpPr>
        <p:spPr>
          <a:xfrm>
            <a:off x="548640" y="3840480"/>
            <a:ext cx="5394960" cy="228600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chemeClr val="tx1"/>
                </a:solidFill>
              </a:rPr>
              <a:t>Invalid input: out of range, NaN, ±infinity, seed 0, NULL</a:t>
            </a:r>
            <a:endParaRPr lang="en-US" sz="1400" dirty="0"/>
          </a:p>
          <a:p>
            <a:pPr marL="342900" indent="-342900">
              <a:spcAft>
                <a:spcPts val="400"/>
              </a:spcAft>
              <a:buSzPct val="100000"/>
              <a:buChar char="•"/>
            </a:pPr>
            <a:r>
              <a:rPr lang="en-US" sz="1400" dirty="0">
                <a:solidFill>
                  <a:schemeClr val="tx1"/>
                </a:solidFill>
              </a:rPr>
              <a:t>Guard bytes: nothing written past the buffer</a:t>
            </a:r>
            <a:endParaRPr lang="en-US" sz="1400" dirty="0"/>
          </a:p>
          <a:p>
            <a:pPr marL="342900" indent="-342900">
              <a:spcAft>
                <a:spcPts val="400"/>
              </a:spcAft>
              <a:buSzPct val="100000"/>
              <a:buChar char="•"/>
            </a:pPr>
            <a:r>
              <a:rPr lang="en-US" sz="1400" dirty="0">
                <a:solidFill>
                  <a:schemeClr val="tx1"/>
                </a:solidFill>
              </a:rPr>
              <a:t>441 Hz tone has 440–441 cycles; slide timing ±1%</a:t>
            </a:r>
            <a:endParaRPr lang="en-US" sz="1400" dirty="0"/>
          </a:p>
          <a:p>
            <a:pPr marL="342900" indent="-342900">
              <a:spcAft>
                <a:spcPts val="400"/>
              </a:spcAft>
              <a:buSzPct val="100000"/>
              <a:buChar char="•"/>
            </a:pPr>
            <a:r>
              <a:rPr lang="en-US" sz="1400" dirty="0">
                <a:solidFill>
                  <a:schemeClr val="tx1"/>
                </a:solidFill>
              </a:rPr>
              <a:t>WAV header byte-for-byte at 1, 44,100, 220,500 samples</a:t>
            </a:r>
            <a:endParaRPr lang="en-US" sz="1400" dirty="0"/>
          </a:p>
          <a:p>
            <a:pPr marL="342900" indent="-342900">
              <a:spcAft>
                <a:spcPts val="400"/>
              </a:spcAft>
              <a:buSzPct val="100000"/>
              <a:buChar char="•"/>
            </a:pPr>
            <a:r>
              <a:rPr lang="en-US" sz="1400" dirty="0">
                <a:solidFill>
                  <a:schemeClr val="tx1"/>
                </a:solidFill>
              </a:rPr>
              <a:t>abi_probe.asm: non-volatile registers untouched</a:t>
            </a:r>
            <a:endParaRPr lang="en-US" sz="1400" dirty="0"/>
          </a:p>
        </p:txBody>
      </p:sp>
      <p:sp>
        <p:nvSpPr>
          <p:cNvPr id="18" name="Text 15"/>
          <p:cNvSpPr txBox="1"/>
          <p:nvPr/>
        </p:nvSpPr>
        <p:spPr>
          <a:xfrm>
            <a:off x="6217920" y="3429000"/>
            <a:ext cx="5394960" cy="365760"/>
          </a:xfrm>
          <a:prstGeom prst="rect">
            <a:avLst/>
          </a:prstGeom>
          <a:noFill/>
          <a:ln/>
        </p:spPr>
        <p:txBody>
          <a:bodyPr wrap="square" lIns="0" tIns="0" rIns="0" bIns="0" rtlCol="0" anchor="t"/>
          <a:lstStyle/>
          <a:p>
            <a:pPr indent="0" marL="0">
              <a:buNone/>
            </a:pPr>
            <a:r>
              <a:rPr lang="en-US" sz="1700" b="1" dirty="0">
                <a:solidFill>
                  <a:schemeClr val="accent1"/>
                </a:solidFill>
              </a:rPr>
              <a:t>Python and GUI tests</a:t>
            </a:r>
            <a:endParaRPr lang="en-US" sz="1700" dirty="0"/>
          </a:p>
        </p:txBody>
      </p:sp>
      <p:sp>
        <p:nvSpPr>
          <p:cNvPr id="19" name="Text 16"/>
          <p:cNvSpPr txBox="1"/>
          <p:nvPr/>
        </p:nvSpPr>
        <p:spPr>
          <a:xfrm>
            <a:off x="6217920" y="3840480"/>
            <a:ext cx="5394960" cy="228600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chemeClr val="tx1"/>
                </a:solidFill>
              </a:rPr>
              <a:t>1,000 Randomize presses, 0 engine errors</a:t>
            </a:r>
            <a:endParaRPr lang="en-US" sz="1400" dirty="0"/>
          </a:p>
          <a:p>
            <a:pPr marL="342900" indent="-342900">
              <a:spcAft>
                <a:spcPts val="400"/>
              </a:spcAft>
              <a:buSzPct val="100000"/>
              <a:buChar char="•"/>
            </a:pPr>
            <a:r>
              <a:rPr lang="en-US" sz="1400" dirty="0">
                <a:solidFill>
                  <a:schemeClr val="tx1"/>
                </a:solidFill>
              </a:rPr>
              <a:t>100 concurrent engine calls</a:t>
            </a:r>
            <a:endParaRPr lang="en-US" sz="1400" dirty="0"/>
          </a:p>
          <a:p>
            <a:pPr marL="342900" indent="-342900">
              <a:spcAft>
                <a:spcPts val="400"/>
              </a:spcAft>
              <a:buSzPct val="100000"/>
              <a:buChar char="•"/>
            </a:pPr>
            <a:r>
              <a:rPr lang="en-US" sz="1400" dirty="0">
                <a:solidFill>
                  <a:schemeClr val="tx1"/>
                </a:solidFill>
              </a:rPr>
              <a:t>Off-screen GUI: slider to redrawn waveform, median 80.8 ms (target 100 ms)</a:t>
            </a:r>
            <a:endParaRPr lang="en-US" sz="1400" dirty="0"/>
          </a:p>
          <a:p>
            <a:pPr marL="342900" indent="-342900">
              <a:spcAft>
                <a:spcPts val="400"/>
              </a:spcAft>
              <a:buSzPct val="100000"/>
              <a:buChar char="•"/>
            </a:pPr>
            <a:r>
              <a:rPr lang="en-US" sz="1400" dirty="0">
                <a:solidFill>
                  <a:schemeClr val="tx1"/>
                </a:solidFill>
              </a:rPr>
              <a:t>Every preset generates and saves a valid WAV</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68680"/>
          </a:xfrm>
          <a:prstGeom prst="rect">
            <a:avLst/>
          </a:prstGeom>
          <a:noFill/>
          <a:ln/>
        </p:spPr>
        <p:txBody>
          <a:bodyPr wrap="square" lIns="0" tIns="0" rIns="0" bIns="0" rtlCol="0" anchor="ctr"/>
          <a:lstStyle/>
          <a:p>
            <a:pPr algn="l" indent="0" marL="0">
              <a:buNone/>
            </a:pPr>
            <a:r>
              <a:rPr lang="en-US" sz="2800" b="1" dirty="0">
                <a:solidFill>
                  <a:schemeClr val="tx1"/>
                </a:solidFill>
              </a:rPr>
              <a:t>Under 5 ms everywhere; a tested one-line fix nears C -O2</a:t>
            </a:r>
            <a:endParaRPr lang="en-US" sz="2800" dirty="0"/>
          </a:p>
        </p:txBody>
      </p:sp>
      <p:graphicFrame>
        <p:nvGraphicFramePr>
          <p:cNvPr id="4" name="Chart 0" descr=""/>
          <p:cNvGraphicFramePr/>
          <p:nvPr/>
        </p:nvGraphicFramePr>
        <p:xfrm>
          <a:off x="548640" y="1417320"/>
          <a:ext cx="6949440" cy="4754880"/>
        </p:xfrm>
        <a:graphic xmlns:a="http://schemas.openxmlformats.org/drawingml/2006/main">
          <a:graphicData uri="http://schemas.openxmlformats.org/drawingml/2006/chart">
            <c:chart xmlns:c="http://schemas.openxmlformats.org/drawingml/2006/chart" r:id="rId1"/>
          </a:graphicData>
        </a:graphic>
      </p:graphicFrame>
      <p:sp>
        <p:nvSpPr>
          <p:cNvPr id="5" name="card"/>
          <p:cNvSpPr/>
          <p:nvPr/>
        </p:nvSpPr>
        <p:spPr>
          <a:xfrm>
            <a:off x="7863840" y="1508760"/>
            <a:ext cx="3749040" cy="1417320"/>
          </a:xfrm>
          <a:prstGeom prst="roundRect">
            <a:avLst>
              <a:gd name="adj" fmla="val 5161"/>
            </a:avLst>
          </a:prstGeom>
          <a:solidFill>
            <a:schemeClr val="tx1"/>
          </a:solidFill>
          <a:ln/>
        </p:spPr>
      </p:sp>
      <p:sp>
        <p:nvSpPr>
          <p:cNvPr id="6" name="Text 2"/>
          <p:cNvSpPr txBox="1"/>
          <p:nvPr/>
        </p:nvSpPr>
        <p:spPr>
          <a:xfrm>
            <a:off x="8092440" y="1627632"/>
            <a:ext cx="3383280" cy="685800"/>
          </a:xfrm>
          <a:prstGeom prst="rect">
            <a:avLst/>
          </a:prstGeom>
          <a:noFill/>
          <a:ln/>
        </p:spPr>
        <p:txBody>
          <a:bodyPr wrap="square" lIns="0" tIns="0" rIns="0" bIns="0" rtlCol="0" anchor="t"/>
          <a:lstStyle/>
          <a:p>
            <a:pPr indent="0" marL="0">
              <a:buNone/>
            </a:pPr>
            <a:r>
              <a:rPr lang="en-US" sz="3600" b="1" dirty="0">
                <a:solidFill>
                  <a:schemeClr val="accent2"/>
                </a:solidFill>
                <a:latin typeface="Arial" pitchFamily="34" charset="0"/>
                <a:ea typeface="Arial" pitchFamily="34" charset="-122"/>
                <a:cs typeface="Arial" pitchFamily="34" charset="-120"/>
              </a:rPr>
              <a:t>4.5×</a:t>
            </a:r>
            <a:endParaRPr lang="en-US" sz="3600" dirty="0"/>
          </a:p>
        </p:txBody>
      </p:sp>
      <p:sp>
        <p:nvSpPr>
          <p:cNvPr id="7" name="Text 3"/>
          <p:cNvSpPr txBox="1"/>
          <p:nvPr/>
        </p:nvSpPr>
        <p:spPr>
          <a:xfrm>
            <a:off x="8092440" y="2331720"/>
            <a:ext cx="3383280" cy="457200"/>
          </a:xfrm>
          <a:prstGeom prst="rect">
            <a:avLst/>
          </a:prstGeom>
          <a:noFill/>
          <a:ln/>
        </p:spPr>
        <p:txBody>
          <a:bodyPr wrap="square" lIns="0" tIns="0" rIns="0" bIns="0" rtlCol="0" anchor="t"/>
          <a:lstStyle/>
          <a:p>
            <a:pPr indent="0" marL="0">
              <a:buNone/>
            </a:pPr>
            <a:r>
              <a:rPr lang="en-US" sz="1300" dirty="0">
                <a:solidFill>
                  <a:schemeClr val="bg1"/>
                </a:solidFill>
              </a:rPr>
              <a:t>faster sawtooth from one changed instruction</a:t>
            </a:r>
            <a:endParaRPr lang="en-US" sz="1300" dirty="0"/>
          </a:p>
        </p:txBody>
      </p:sp>
      <p:sp>
        <p:nvSpPr>
          <p:cNvPr id="8" name="Text 4"/>
          <p:cNvSpPr txBox="1"/>
          <p:nvPr/>
        </p:nvSpPr>
        <p:spPr>
          <a:xfrm>
            <a:off x="7863840" y="3154680"/>
            <a:ext cx="3749040" cy="219456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Cause: movss on line 161 made each sample wait for the last one</a:t>
            </a:r>
            <a:endParaRPr lang="en-US" sz="1400" dirty="0"/>
          </a:p>
          <a:p>
            <a:pPr marL="342900" indent="-342900">
              <a:spcAft>
                <a:spcPts val="600"/>
              </a:spcAft>
              <a:buSzPct val="100000"/>
              <a:buChar char="•"/>
            </a:pPr>
            <a:r>
              <a:rPr lang="en-US" sz="1400" dirty="0">
                <a:solidFill>
                  <a:schemeClr val="tx1"/>
                </a:solidFill>
              </a:rPr>
              <a:t>Fix: movaps copies the whole register, so the wait disappears</a:t>
            </a:r>
            <a:endParaRPr lang="en-US" sz="1400" dirty="0"/>
          </a:p>
          <a:p>
            <a:pPr marL="342900" indent="-342900">
              <a:spcAft>
                <a:spcPts val="600"/>
              </a:spcAft>
              <a:buSzPct val="100000"/>
              <a:buChar char="•"/>
            </a:pPr>
            <a:r>
              <a:rPr lang="en-US" sz="1400" dirty="0">
                <a:solidFill>
                  <a:schemeClr val="tx1"/>
                </a:solidFill>
              </a:rPr>
              <a:t>Tested: all 1,279,144 checks pass, max difference still 0</a:t>
            </a:r>
            <a:endParaRPr lang="en-US" sz="1400" dirty="0"/>
          </a:p>
        </p:txBody>
      </p:sp>
      <p:sp>
        <p:nvSpPr>
          <p:cNvPr id="9" name="Text 5"/>
          <p:cNvSpPr txBox="1"/>
          <p:nvPr/>
        </p:nvSpPr>
        <p:spPr>
          <a:xfrm>
            <a:off x="7863840" y="5440680"/>
            <a:ext cx="3749040" cy="685800"/>
          </a:xfrm>
          <a:prstGeom prst="rect">
            <a:avLst/>
          </a:prstGeom>
          <a:noFill/>
          <a:ln/>
        </p:spPr>
        <p:txBody>
          <a:bodyPr wrap="square" lIns="0" tIns="0" rIns="0" bIns="0" rtlCol="0" anchor="t"/>
          <a:lstStyle/>
          <a:p>
            <a:pPr indent="0" marL="0">
              <a:buNone/>
            </a:pPr>
            <a:r>
              <a:rPr lang="en-US" sz="1100" dirty="0">
                <a:solidFill>
                  <a:schemeClr val="accent5"/>
                </a:solidFill>
              </a:rPr>
              <a:t>Median of 1,000 runs after 100 warm-ups; 44,100 samples, slide + vibrato on; one Ryzen 9 8940HX laptop</a:t>
            </a:r>
            <a:endParaRPr lang="en-US" sz="11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68680"/>
          </a:xfrm>
          <a:prstGeom prst="rect">
            <a:avLst/>
          </a:prstGeom>
          <a:noFill/>
          <a:ln/>
        </p:spPr>
        <p:txBody>
          <a:bodyPr wrap="square" lIns="0" tIns="0" rIns="0" bIns="0" rtlCol="0" anchor="ctr"/>
          <a:lstStyle/>
          <a:p>
            <a:pPr algn="l" indent="0" marL="0">
              <a:buNone/>
            </a:pPr>
            <a:r>
              <a:rPr lang="en-US" sz="2800" b="1" dirty="0">
                <a:solidFill>
                  <a:schemeClr val="tx1"/>
                </a:solidFill>
              </a:rPr>
              <a:t>What we have not proven yet, and what comes next</a:t>
            </a:r>
            <a:endParaRPr lang="en-US" sz="2800" dirty="0"/>
          </a:p>
        </p:txBody>
      </p:sp>
      <p:sp>
        <p:nvSpPr>
          <p:cNvPr id="4" name="card"/>
          <p:cNvSpPr/>
          <p:nvPr/>
        </p:nvSpPr>
        <p:spPr>
          <a:xfrm>
            <a:off x="548640" y="1508760"/>
            <a:ext cx="5486400" cy="4572000"/>
          </a:xfrm>
          <a:prstGeom prst="roundRect">
            <a:avLst>
              <a:gd name="adj" fmla="val 1600"/>
            </a:avLst>
          </a:prstGeom>
          <a:solidFill>
            <a:schemeClr val="bg2"/>
          </a:solidFill>
          <a:ln/>
        </p:spPr>
      </p:sp>
      <p:sp>
        <p:nvSpPr>
          <p:cNvPr id="5" name="Text 2"/>
          <p:cNvSpPr txBox="1"/>
          <p:nvPr/>
        </p:nvSpPr>
        <p:spPr>
          <a:xfrm>
            <a:off x="822960" y="1691640"/>
            <a:ext cx="4937760" cy="411480"/>
          </a:xfrm>
          <a:prstGeom prst="rect">
            <a:avLst/>
          </a:prstGeom>
          <a:noFill/>
          <a:ln/>
        </p:spPr>
        <p:txBody>
          <a:bodyPr wrap="square" lIns="0" tIns="0" rIns="0" bIns="0" rtlCol="0" anchor="t"/>
          <a:lstStyle/>
          <a:p>
            <a:pPr indent="0" marL="0">
              <a:buNone/>
            </a:pPr>
            <a:r>
              <a:rPr lang="en-US" sz="2000" b="1" dirty="0">
                <a:solidFill>
                  <a:schemeClr val="accent4"/>
                </a:solidFill>
              </a:rPr>
              <a:t>Known limits</a:t>
            </a:r>
            <a:endParaRPr lang="en-US" sz="2000" dirty="0"/>
          </a:p>
        </p:txBody>
      </p:sp>
      <p:sp>
        <p:nvSpPr>
          <p:cNvPr id="6" name="Text 3"/>
          <p:cNvSpPr txBox="1"/>
          <p:nvPr/>
        </p:nvSpPr>
        <p:spPr>
          <a:xfrm>
            <a:off x="822960" y="2240280"/>
            <a:ext cx="4983480" cy="365760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chemeClr val="tx1"/>
                </a:solidFill>
              </a:rPr>
              <a:t>Benchmarks from one laptop; background apps and power not controlled</a:t>
            </a:r>
            <a:endParaRPr lang="en-US" sz="1500" dirty="0"/>
          </a:p>
          <a:p>
            <a:pPr marL="342900" indent="-342900">
              <a:spcAft>
                <a:spcPts val="800"/>
              </a:spcAft>
              <a:buSzPct val="100000"/>
              <a:buChar char="•"/>
            </a:pPr>
            <a:r>
              <a:rPr lang="en-US" sz="1500" dirty="0">
                <a:solidFill>
                  <a:schemeClr val="tx1"/>
                </a:solidFill>
              </a:rPr>
              <a:t>No group listening test yet: presets not claimed recognisable</a:t>
            </a:r>
            <a:endParaRPr lang="en-US" sz="1500" dirty="0"/>
          </a:p>
          <a:p>
            <a:pPr marL="342900" indent="-342900">
              <a:spcAft>
                <a:spcPts val="800"/>
              </a:spcAft>
              <a:buSzPct val="100000"/>
              <a:buChar char="•"/>
            </a:pPr>
            <a:r>
              <a:rPr lang="en-US" sz="1500" dirty="0">
                <a:solidFill>
                  <a:schemeClr val="tx1"/>
                </a:solidFill>
              </a:rPr>
              <a:t>Noise changes once per cycle, so it sounds slightly muffled</a:t>
            </a:r>
            <a:endParaRPr lang="en-US" sz="1500" dirty="0"/>
          </a:p>
          <a:p>
            <a:pPr marL="342900" indent="-342900">
              <a:spcAft>
                <a:spcPts val="800"/>
              </a:spcAft>
              <a:buSzPct val="100000"/>
              <a:buChar char="•"/>
            </a:pPr>
            <a:r>
              <a:rPr lang="en-US" sz="1500" dirty="0">
                <a:solidFill>
                  <a:schemeClr val="tx1"/>
                </a:solidFill>
              </a:rPr>
              <a:t>movaps speed-up measured in one session; matching C -O2 not yet shown on other CPUs</a:t>
            </a:r>
            <a:endParaRPr lang="en-US" sz="1500" dirty="0"/>
          </a:p>
          <a:p>
            <a:pPr marL="342900" indent="-342900">
              <a:spcAft>
                <a:spcPts val="800"/>
              </a:spcAft>
              <a:buSzPct val="100000"/>
              <a:buChar char="•"/>
            </a:pPr>
            <a:r>
              <a:rPr lang="en-US" sz="1500" dirty="0">
                <a:solidFill>
                  <a:schemeClr val="tx1"/>
                </a:solidFill>
              </a:rPr>
              <a:t>Playback in real players (Audacity, Media Player) still to confirm</a:t>
            </a:r>
            <a:endParaRPr lang="en-US" sz="1500" dirty="0"/>
          </a:p>
        </p:txBody>
      </p:sp>
      <p:sp>
        <p:nvSpPr>
          <p:cNvPr id="7" name="card"/>
          <p:cNvSpPr/>
          <p:nvPr/>
        </p:nvSpPr>
        <p:spPr>
          <a:xfrm>
            <a:off x="6263640" y="1508760"/>
            <a:ext cx="5349240" cy="4572000"/>
          </a:xfrm>
          <a:prstGeom prst="roundRect">
            <a:avLst>
              <a:gd name="adj" fmla="val 1600"/>
            </a:avLst>
          </a:prstGeom>
          <a:solidFill>
            <a:schemeClr val="tx1"/>
          </a:solidFill>
          <a:ln/>
        </p:spPr>
      </p:sp>
      <p:sp>
        <p:nvSpPr>
          <p:cNvPr id="8" name="Text 5"/>
          <p:cNvSpPr txBox="1"/>
          <p:nvPr/>
        </p:nvSpPr>
        <p:spPr>
          <a:xfrm>
            <a:off x="6537960" y="1691640"/>
            <a:ext cx="4846320" cy="411480"/>
          </a:xfrm>
          <a:prstGeom prst="rect">
            <a:avLst/>
          </a:prstGeom>
          <a:noFill/>
          <a:ln/>
        </p:spPr>
        <p:txBody>
          <a:bodyPr wrap="square" lIns="0" tIns="0" rIns="0" bIns="0" rtlCol="0" anchor="t"/>
          <a:lstStyle/>
          <a:p>
            <a:pPr indent="0" marL="0">
              <a:buNone/>
            </a:pPr>
            <a:r>
              <a:rPr lang="en-US" sz="2000" b="1" dirty="0">
                <a:solidFill>
                  <a:schemeClr val="accent2"/>
                </a:solidFill>
              </a:rPr>
              <a:t>Next steps</a:t>
            </a:r>
            <a:endParaRPr lang="en-US" sz="2000" dirty="0"/>
          </a:p>
        </p:txBody>
      </p:sp>
      <p:sp>
        <p:nvSpPr>
          <p:cNvPr id="9" name="Shape 6"/>
          <p:cNvSpPr/>
          <p:nvPr/>
        </p:nvSpPr>
        <p:spPr>
          <a:xfrm>
            <a:off x="6537960" y="2286000"/>
            <a:ext cx="457200" cy="457200"/>
          </a:xfrm>
          <a:prstGeom prst="ellipse">
            <a:avLst/>
          </a:prstGeom>
          <a:solidFill>
            <a:schemeClr val="accent2"/>
          </a:solidFill>
          <a:ln/>
        </p:spPr>
      </p:sp>
      <p:sp>
        <p:nvSpPr>
          <p:cNvPr id="10" name="Text 7"/>
          <p:cNvSpPr txBox="1"/>
          <p:nvPr/>
        </p:nvSpPr>
        <p:spPr>
          <a:xfrm>
            <a:off x="6537960" y="2286000"/>
            <a:ext cx="457200" cy="457200"/>
          </a:xfrm>
          <a:prstGeom prst="rect">
            <a:avLst/>
          </a:prstGeom>
          <a:noFill/>
          <a:ln/>
        </p:spPr>
        <p:txBody>
          <a:bodyPr wrap="square" lIns="0" tIns="0" rIns="0" bIns="0" rtlCol="0" anchor="ctr"/>
          <a:lstStyle/>
          <a:p>
            <a:pPr algn="ctr" indent="0" marL="0">
              <a:buNone/>
            </a:pPr>
            <a:r>
              <a:rPr lang="en-US" sz="1400" b="1" dirty="0">
                <a:solidFill>
                  <a:schemeClr val="tx1"/>
                </a:solidFill>
              </a:rPr>
              <a:t>1</a:t>
            </a:r>
            <a:endParaRPr lang="en-US" sz="1400" dirty="0"/>
          </a:p>
        </p:txBody>
      </p:sp>
      <p:sp>
        <p:nvSpPr>
          <p:cNvPr id="11" name="Text 8"/>
          <p:cNvSpPr txBox="1"/>
          <p:nvPr/>
        </p:nvSpPr>
        <p:spPr>
          <a:xfrm>
            <a:off x="7178040" y="2286000"/>
            <a:ext cx="4206240" cy="457200"/>
          </a:xfrm>
          <a:prstGeom prst="rect">
            <a:avLst/>
          </a:prstGeom>
          <a:noFill/>
          <a:ln/>
        </p:spPr>
        <p:txBody>
          <a:bodyPr wrap="square" lIns="0" tIns="0" rIns="0" bIns="0" rtlCol="0" anchor="ctr"/>
          <a:lstStyle/>
          <a:p>
            <a:pPr indent="0" marL="0">
              <a:buNone/>
            </a:pPr>
            <a:r>
              <a:rPr lang="en-US" sz="1500" dirty="0">
                <a:solidFill>
                  <a:schemeClr val="bg1"/>
                </a:solidFill>
              </a:rPr>
              <a:t>Benchmark on a second laptop on AC power</a:t>
            </a:r>
            <a:endParaRPr lang="en-US" sz="1500" dirty="0"/>
          </a:p>
        </p:txBody>
      </p:sp>
      <p:sp>
        <p:nvSpPr>
          <p:cNvPr id="12" name="Shape 9"/>
          <p:cNvSpPr/>
          <p:nvPr/>
        </p:nvSpPr>
        <p:spPr>
          <a:xfrm>
            <a:off x="6537960" y="3154680"/>
            <a:ext cx="457200" cy="457200"/>
          </a:xfrm>
          <a:prstGeom prst="ellipse">
            <a:avLst/>
          </a:prstGeom>
          <a:solidFill>
            <a:schemeClr val="accent2"/>
          </a:solidFill>
          <a:ln/>
        </p:spPr>
      </p:sp>
      <p:sp>
        <p:nvSpPr>
          <p:cNvPr id="13" name="Text 10"/>
          <p:cNvSpPr txBox="1"/>
          <p:nvPr/>
        </p:nvSpPr>
        <p:spPr>
          <a:xfrm>
            <a:off x="6537960" y="3154680"/>
            <a:ext cx="457200" cy="457200"/>
          </a:xfrm>
          <a:prstGeom prst="rect">
            <a:avLst/>
          </a:prstGeom>
          <a:noFill/>
          <a:ln/>
        </p:spPr>
        <p:txBody>
          <a:bodyPr wrap="square" lIns="0" tIns="0" rIns="0" bIns="0" rtlCol="0" anchor="ctr"/>
          <a:lstStyle/>
          <a:p>
            <a:pPr algn="ctr" indent="0" marL="0">
              <a:buNone/>
            </a:pPr>
            <a:r>
              <a:rPr lang="en-US" sz="1400" b="1" dirty="0">
                <a:solidFill>
                  <a:schemeClr val="tx1"/>
                </a:solidFill>
              </a:rPr>
              <a:t>2</a:t>
            </a:r>
            <a:endParaRPr lang="en-US" sz="1400" dirty="0"/>
          </a:p>
        </p:txBody>
      </p:sp>
      <p:sp>
        <p:nvSpPr>
          <p:cNvPr id="14" name="Text 11"/>
          <p:cNvSpPr txBox="1"/>
          <p:nvPr/>
        </p:nvSpPr>
        <p:spPr>
          <a:xfrm>
            <a:off x="7178040" y="3154680"/>
            <a:ext cx="4206240" cy="457200"/>
          </a:xfrm>
          <a:prstGeom prst="rect">
            <a:avLst/>
          </a:prstGeom>
          <a:noFill/>
          <a:ln/>
        </p:spPr>
        <p:txBody>
          <a:bodyPr wrap="square" lIns="0" tIns="0" rIns="0" bIns="0" rtlCol="0" anchor="ctr"/>
          <a:lstStyle/>
          <a:p>
            <a:pPr indent="0" marL="0">
              <a:buNone/>
            </a:pPr>
            <a:r>
              <a:rPr lang="en-US" sz="1500" dirty="0">
                <a:solidFill>
                  <a:schemeClr val="bg1"/>
                </a:solidFill>
              </a:rPr>
              <a:t>Group listening test and 10-minute soak test</a:t>
            </a:r>
            <a:endParaRPr lang="en-US" sz="1500" dirty="0"/>
          </a:p>
        </p:txBody>
      </p:sp>
      <p:sp>
        <p:nvSpPr>
          <p:cNvPr id="15" name="Shape 12"/>
          <p:cNvSpPr/>
          <p:nvPr/>
        </p:nvSpPr>
        <p:spPr>
          <a:xfrm>
            <a:off x="6537960" y="4023360"/>
            <a:ext cx="457200" cy="457200"/>
          </a:xfrm>
          <a:prstGeom prst="ellipse">
            <a:avLst/>
          </a:prstGeom>
          <a:solidFill>
            <a:schemeClr val="accent2"/>
          </a:solidFill>
          <a:ln/>
        </p:spPr>
      </p:sp>
      <p:sp>
        <p:nvSpPr>
          <p:cNvPr id="16" name="Text 13"/>
          <p:cNvSpPr txBox="1"/>
          <p:nvPr/>
        </p:nvSpPr>
        <p:spPr>
          <a:xfrm>
            <a:off x="6537960" y="4023360"/>
            <a:ext cx="457200" cy="457200"/>
          </a:xfrm>
          <a:prstGeom prst="rect">
            <a:avLst/>
          </a:prstGeom>
          <a:noFill/>
          <a:ln/>
        </p:spPr>
        <p:txBody>
          <a:bodyPr wrap="square" lIns="0" tIns="0" rIns="0" bIns="0" rtlCol="0" anchor="ctr"/>
          <a:lstStyle/>
          <a:p>
            <a:pPr algn="ctr" indent="0" marL="0">
              <a:buNone/>
            </a:pPr>
            <a:r>
              <a:rPr lang="en-US" sz="1400" b="1" dirty="0">
                <a:solidFill>
                  <a:schemeClr val="tx1"/>
                </a:solidFill>
              </a:rPr>
              <a:t>3</a:t>
            </a:r>
            <a:endParaRPr lang="en-US" sz="1400" dirty="0"/>
          </a:p>
        </p:txBody>
      </p:sp>
      <p:sp>
        <p:nvSpPr>
          <p:cNvPr id="17" name="Text 14"/>
          <p:cNvSpPr txBox="1"/>
          <p:nvPr/>
        </p:nvSpPr>
        <p:spPr>
          <a:xfrm>
            <a:off x="7178040" y="4023360"/>
            <a:ext cx="4206240" cy="457200"/>
          </a:xfrm>
          <a:prstGeom prst="rect">
            <a:avLst/>
          </a:prstGeom>
          <a:noFill/>
          <a:ln/>
        </p:spPr>
        <p:txBody>
          <a:bodyPr wrap="square" lIns="0" tIns="0" rIns="0" bIns="0" rtlCol="0" anchor="ctr"/>
          <a:lstStyle/>
          <a:p>
            <a:pPr indent="0" marL="0">
              <a:buNone/>
            </a:pPr>
            <a:r>
              <a:rPr lang="en-US" sz="1500" dirty="0">
                <a:solidFill>
                  <a:schemeClr val="bg1"/>
                </a:solidFill>
              </a:rPr>
              <a:t>Rerun the C comparison on another CPU</a:t>
            </a:r>
            <a:endParaRPr lang="en-US" sz="1500" dirty="0"/>
          </a:p>
        </p:txBody>
      </p:sp>
      <p:sp>
        <p:nvSpPr>
          <p:cNvPr id="18" name="Shape 15"/>
          <p:cNvSpPr/>
          <p:nvPr/>
        </p:nvSpPr>
        <p:spPr>
          <a:xfrm>
            <a:off x="6537960" y="4892040"/>
            <a:ext cx="457200" cy="457200"/>
          </a:xfrm>
          <a:prstGeom prst="ellipse">
            <a:avLst/>
          </a:prstGeom>
          <a:solidFill>
            <a:schemeClr val="accent2"/>
          </a:solidFill>
          <a:ln/>
        </p:spPr>
      </p:sp>
      <p:sp>
        <p:nvSpPr>
          <p:cNvPr id="19" name="Text 16"/>
          <p:cNvSpPr txBox="1"/>
          <p:nvPr/>
        </p:nvSpPr>
        <p:spPr>
          <a:xfrm>
            <a:off x="6537960" y="4892040"/>
            <a:ext cx="457200" cy="457200"/>
          </a:xfrm>
          <a:prstGeom prst="rect">
            <a:avLst/>
          </a:prstGeom>
          <a:noFill/>
          <a:ln/>
        </p:spPr>
        <p:txBody>
          <a:bodyPr wrap="square" lIns="0" tIns="0" rIns="0" bIns="0" rtlCol="0" anchor="ctr"/>
          <a:lstStyle/>
          <a:p>
            <a:pPr algn="ctr" indent="0" marL="0">
              <a:buNone/>
            </a:pPr>
            <a:r>
              <a:rPr lang="en-US" sz="1400" b="1" dirty="0">
                <a:solidFill>
                  <a:schemeClr val="tx1"/>
                </a:solidFill>
              </a:rPr>
              <a:t>4</a:t>
            </a:r>
            <a:endParaRPr lang="en-US" sz="1400" dirty="0"/>
          </a:p>
        </p:txBody>
      </p:sp>
      <p:sp>
        <p:nvSpPr>
          <p:cNvPr id="20" name="Text 17"/>
          <p:cNvSpPr txBox="1"/>
          <p:nvPr/>
        </p:nvSpPr>
        <p:spPr>
          <a:xfrm>
            <a:off x="7178040" y="4892040"/>
            <a:ext cx="4206240" cy="457200"/>
          </a:xfrm>
          <a:prstGeom prst="rect">
            <a:avLst/>
          </a:prstGeom>
          <a:noFill/>
          <a:ln/>
        </p:spPr>
        <p:txBody>
          <a:bodyPr wrap="square" lIns="0" tIns="0" rIns="0" bIns="0" rtlCol="0" anchor="ctr"/>
          <a:lstStyle/>
          <a:p>
            <a:pPr indent="0" marL="0">
              <a:buNone/>
            </a:pPr>
            <a:r>
              <a:rPr lang="en-US" sz="1500" dirty="0">
                <a:solidFill>
                  <a:schemeClr val="bg1"/>
                </a:solidFill>
              </a:rPr>
              <a:t>Visible-window GUI review by another member</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640080" y="1417320"/>
            <a:ext cx="10881360" cy="1737360"/>
          </a:xfrm>
          <a:prstGeom prst="rect">
            <a:avLst/>
          </a:prstGeom>
          <a:noFill/>
          <a:ln/>
        </p:spPr>
        <p:txBody>
          <a:bodyPr wrap="square" lIns="0" tIns="0" rIns="0" bIns="0" rtlCol="0" anchor="b"/>
          <a:lstStyle/>
          <a:p>
            <a:pPr algn="l" indent="0" marL="0">
              <a:buNone/>
            </a:pPr>
            <a:r>
              <a:rPr lang="en-US" sz="4400" b="1" dirty="0">
                <a:solidFill>
                  <a:schemeClr val="bg1"/>
                </a:solidFill>
              </a:rPr>
              <a:t>Live demo, then questions</a:t>
            </a:r>
            <a:endParaRPr lang="en-US" sz="4400" dirty="0"/>
          </a:p>
        </p:txBody>
      </p:sp>
      <p:sp>
        <p:nvSpPr>
          <p:cNvPr id="3" name="Text 0"/>
          <p:cNvSpPr/>
          <p:nvPr>
            <p:ph idx="101" type="body" hasCustomPrompt="1"/>
          </p:nvPr>
        </p:nvSpPr>
        <p:spPr>
          <a:xfrm>
            <a:off x="640080" y="3291840"/>
            <a:ext cx="10881360" cy="822960"/>
          </a:xfrm>
          <a:prstGeom prst="rect">
            <a:avLst/>
          </a:prstGeom>
          <a:noFill/>
          <a:ln/>
        </p:spPr>
        <p:txBody>
          <a:bodyPr wrap="square" lIns="0" tIns="0" rIns="0" bIns="0" rtlCol="0" anchor="t"/>
          <a:lstStyle/>
          <a:p>
            <a:pPr indent="0" marL="0">
              <a:buNone/>
            </a:pPr>
            <a:r>
              <a:rPr lang="en-US" sz="2000" dirty="0">
                <a:solidFill>
                  <a:schemeClr val="accent2"/>
                </a:solidFill>
              </a:rPr>
              <a:t>Coin → Laser → Explosion → Randomize → Save WAV</a:t>
            </a:r>
            <a:endParaRPr lang="en-US" sz="2000" dirty="0"/>
          </a:p>
        </p:txBody>
      </p:sp>
      <p:sp>
        <p:nvSpPr>
          <p:cNvPr id="4" name="Shape 2"/>
          <p:cNvSpPr/>
          <p:nvPr/>
        </p:nvSpPr>
        <p:spPr>
          <a:xfrm>
            <a:off x="640080" y="4572000"/>
            <a:ext cx="457200" cy="0"/>
          </a:xfrm>
          <a:prstGeom prst="line">
            <a:avLst/>
          </a:prstGeom>
          <a:noFill/>
          <a:ln w="38100">
            <a:solidFill>
              <a:srgbClr val="58DBBC"/>
            </a:solidFill>
            <a:prstDash val="solid"/>
          </a:ln>
        </p:spPr>
      </p:sp>
      <p:sp>
        <p:nvSpPr>
          <p:cNvPr id="5" name="Shape 3"/>
          <p:cNvSpPr/>
          <p:nvPr/>
        </p:nvSpPr>
        <p:spPr>
          <a:xfrm>
            <a:off x="1097280" y="4572000"/>
            <a:ext cx="0" cy="640080"/>
          </a:xfrm>
          <a:prstGeom prst="line">
            <a:avLst/>
          </a:prstGeom>
          <a:noFill/>
          <a:ln w="38100">
            <a:solidFill>
              <a:srgbClr val="58DBBC"/>
            </a:solidFill>
            <a:prstDash val="solid"/>
          </a:ln>
        </p:spPr>
      </p:sp>
      <p:sp>
        <p:nvSpPr>
          <p:cNvPr id="6" name="Shape 4"/>
          <p:cNvSpPr/>
          <p:nvPr/>
        </p:nvSpPr>
        <p:spPr>
          <a:xfrm>
            <a:off x="1097280" y="5212080"/>
            <a:ext cx="457200" cy="0"/>
          </a:xfrm>
          <a:prstGeom prst="line">
            <a:avLst/>
          </a:prstGeom>
          <a:noFill/>
          <a:ln w="38100">
            <a:solidFill>
              <a:srgbClr val="58DBBC"/>
            </a:solidFill>
            <a:prstDash val="solid"/>
          </a:ln>
        </p:spPr>
      </p:sp>
      <p:sp>
        <p:nvSpPr>
          <p:cNvPr id="7" name="Shape 5"/>
          <p:cNvSpPr/>
          <p:nvPr/>
        </p:nvSpPr>
        <p:spPr>
          <a:xfrm>
            <a:off x="1554480" y="4572000"/>
            <a:ext cx="0" cy="640080"/>
          </a:xfrm>
          <a:prstGeom prst="line">
            <a:avLst/>
          </a:prstGeom>
          <a:noFill/>
          <a:ln w="38100">
            <a:solidFill>
              <a:srgbClr val="58DBBC"/>
            </a:solidFill>
            <a:prstDash val="solid"/>
          </a:ln>
        </p:spPr>
      </p:sp>
      <p:sp>
        <p:nvSpPr>
          <p:cNvPr id="8" name="Shape 6"/>
          <p:cNvSpPr/>
          <p:nvPr/>
        </p:nvSpPr>
        <p:spPr>
          <a:xfrm>
            <a:off x="1554480" y="4572000"/>
            <a:ext cx="0" cy="0"/>
          </a:xfrm>
          <a:prstGeom prst="line">
            <a:avLst/>
          </a:prstGeom>
          <a:noFill/>
          <a:ln w="38100">
            <a:solidFill>
              <a:srgbClr val="58DBBC"/>
            </a:solidFill>
            <a:prstDash val="solid"/>
          </a:ln>
        </p:spPr>
      </p:sp>
      <p:sp>
        <p:nvSpPr>
          <p:cNvPr id="9" name="Shape 7"/>
          <p:cNvSpPr/>
          <p:nvPr/>
        </p:nvSpPr>
        <p:spPr>
          <a:xfrm>
            <a:off x="1554480" y="4572000"/>
            <a:ext cx="457200" cy="0"/>
          </a:xfrm>
          <a:prstGeom prst="line">
            <a:avLst/>
          </a:prstGeom>
          <a:noFill/>
          <a:ln w="38100">
            <a:solidFill>
              <a:srgbClr val="58DBBC"/>
            </a:solidFill>
            <a:prstDash val="solid"/>
          </a:ln>
        </p:spPr>
      </p:sp>
      <p:sp>
        <p:nvSpPr>
          <p:cNvPr id="10" name="Shape 8"/>
          <p:cNvSpPr/>
          <p:nvPr/>
        </p:nvSpPr>
        <p:spPr>
          <a:xfrm>
            <a:off x="2011680" y="4572000"/>
            <a:ext cx="0" cy="640080"/>
          </a:xfrm>
          <a:prstGeom prst="line">
            <a:avLst/>
          </a:prstGeom>
          <a:noFill/>
          <a:ln w="38100">
            <a:solidFill>
              <a:srgbClr val="58DBBC"/>
            </a:solidFill>
            <a:prstDash val="solid"/>
          </a:ln>
        </p:spPr>
      </p:sp>
      <p:sp>
        <p:nvSpPr>
          <p:cNvPr id="11" name="Shape 9"/>
          <p:cNvSpPr/>
          <p:nvPr/>
        </p:nvSpPr>
        <p:spPr>
          <a:xfrm>
            <a:off x="2011680" y="5212080"/>
            <a:ext cx="457200" cy="0"/>
          </a:xfrm>
          <a:prstGeom prst="line">
            <a:avLst/>
          </a:prstGeom>
          <a:noFill/>
          <a:ln w="38100">
            <a:solidFill>
              <a:srgbClr val="58DBBC"/>
            </a:solidFill>
            <a:prstDash val="solid"/>
          </a:ln>
        </p:spPr>
      </p:sp>
      <p:sp>
        <p:nvSpPr>
          <p:cNvPr id="12" name="Shape 10"/>
          <p:cNvSpPr/>
          <p:nvPr/>
        </p:nvSpPr>
        <p:spPr>
          <a:xfrm>
            <a:off x="2468880" y="4572000"/>
            <a:ext cx="0" cy="640080"/>
          </a:xfrm>
          <a:prstGeom prst="line">
            <a:avLst/>
          </a:prstGeom>
          <a:noFill/>
          <a:ln w="38100">
            <a:solidFill>
              <a:srgbClr val="58DBBC"/>
            </a:solidFill>
            <a:prstDash val="solid"/>
          </a:ln>
        </p:spPr>
      </p:sp>
      <p:sp>
        <p:nvSpPr>
          <p:cNvPr id="13" name="Shape 11"/>
          <p:cNvSpPr/>
          <p:nvPr/>
        </p:nvSpPr>
        <p:spPr>
          <a:xfrm>
            <a:off x="2468880" y="4572000"/>
            <a:ext cx="0" cy="0"/>
          </a:xfrm>
          <a:prstGeom prst="line">
            <a:avLst/>
          </a:prstGeom>
          <a:noFill/>
          <a:ln w="38100">
            <a:solidFill>
              <a:srgbClr val="58DBBC"/>
            </a:solidFill>
            <a:prstDash val="solid"/>
          </a:ln>
        </p:spPr>
      </p:sp>
      <p:sp>
        <p:nvSpPr>
          <p:cNvPr id="14" name="Shape 12"/>
          <p:cNvSpPr/>
          <p:nvPr/>
        </p:nvSpPr>
        <p:spPr>
          <a:xfrm>
            <a:off x="2468880" y="4572000"/>
            <a:ext cx="457200" cy="0"/>
          </a:xfrm>
          <a:prstGeom prst="line">
            <a:avLst/>
          </a:prstGeom>
          <a:noFill/>
          <a:ln w="38100">
            <a:solidFill>
              <a:srgbClr val="58DBBC"/>
            </a:solidFill>
            <a:prstDash val="solid"/>
          </a:ln>
        </p:spPr>
      </p:sp>
      <p:sp>
        <p:nvSpPr>
          <p:cNvPr id="15" name="Shape 13"/>
          <p:cNvSpPr/>
          <p:nvPr/>
        </p:nvSpPr>
        <p:spPr>
          <a:xfrm>
            <a:off x="2926080" y="4572000"/>
            <a:ext cx="0" cy="640080"/>
          </a:xfrm>
          <a:prstGeom prst="line">
            <a:avLst/>
          </a:prstGeom>
          <a:noFill/>
          <a:ln w="38100">
            <a:solidFill>
              <a:srgbClr val="58DBBC"/>
            </a:solidFill>
            <a:prstDash val="solid"/>
          </a:ln>
        </p:spPr>
      </p:sp>
      <p:sp>
        <p:nvSpPr>
          <p:cNvPr id="16" name="Shape 14"/>
          <p:cNvSpPr/>
          <p:nvPr/>
        </p:nvSpPr>
        <p:spPr>
          <a:xfrm>
            <a:off x="2926080" y="5212080"/>
            <a:ext cx="457200" cy="0"/>
          </a:xfrm>
          <a:prstGeom prst="line">
            <a:avLst/>
          </a:prstGeom>
          <a:noFill/>
          <a:ln w="38100">
            <a:solidFill>
              <a:srgbClr val="58DBBC"/>
            </a:solidFill>
            <a:prstDash val="solid"/>
          </a:ln>
        </p:spPr>
      </p:sp>
      <p:sp>
        <p:nvSpPr>
          <p:cNvPr id="17" name="Shape 15"/>
          <p:cNvSpPr/>
          <p:nvPr/>
        </p:nvSpPr>
        <p:spPr>
          <a:xfrm flipV="1">
            <a:off x="3611880" y="4572000"/>
            <a:ext cx="914400" cy="640080"/>
          </a:xfrm>
          <a:prstGeom prst="line">
            <a:avLst/>
          </a:prstGeom>
          <a:noFill/>
          <a:ln w="38100">
            <a:solidFill>
              <a:srgbClr val="58DBBC"/>
            </a:solidFill>
            <a:prstDash val="solid"/>
          </a:ln>
        </p:spPr>
      </p:sp>
      <p:sp>
        <p:nvSpPr>
          <p:cNvPr id="18" name="Shape 16"/>
          <p:cNvSpPr/>
          <p:nvPr/>
        </p:nvSpPr>
        <p:spPr>
          <a:xfrm>
            <a:off x="4526280" y="4572000"/>
            <a:ext cx="0" cy="640080"/>
          </a:xfrm>
          <a:prstGeom prst="line">
            <a:avLst/>
          </a:prstGeom>
          <a:noFill/>
          <a:ln w="38100">
            <a:solidFill>
              <a:srgbClr val="58DBBC"/>
            </a:solidFill>
            <a:prstDash val="solid"/>
          </a:ln>
        </p:spPr>
      </p:sp>
      <p:sp>
        <p:nvSpPr>
          <p:cNvPr id="19" name="Shape 17"/>
          <p:cNvSpPr/>
          <p:nvPr/>
        </p:nvSpPr>
        <p:spPr>
          <a:xfrm>
            <a:off x="4526280" y="5212080"/>
            <a:ext cx="0" cy="0"/>
          </a:xfrm>
          <a:prstGeom prst="line">
            <a:avLst/>
          </a:prstGeom>
          <a:noFill/>
          <a:ln w="38100">
            <a:solidFill>
              <a:srgbClr val="58DBBC"/>
            </a:solidFill>
            <a:prstDash val="solid"/>
          </a:ln>
        </p:spPr>
      </p:sp>
      <p:sp>
        <p:nvSpPr>
          <p:cNvPr id="20" name="Shape 18"/>
          <p:cNvSpPr/>
          <p:nvPr/>
        </p:nvSpPr>
        <p:spPr>
          <a:xfrm flipV="1">
            <a:off x="4526280" y="4572000"/>
            <a:ext cx="914400" cy="640080"/>
          </a:xfrm>
          <a:prstGeom prst="line">
            <a:avLst/>
          </a:prstGeom>
          <a:noFill/>
          <a:ln w="38100">
            <a:solidFill>
              <a:srgbClr val="58DBBC"/>
            </a:solidFill>
            <a:prstDash val="solid"/>
          </a:ln>
        </p:spPr>
      </p:sp>
      <p:sp>
        <p:nvSpPr>
          <p:cNvPr id="21" name="Shape 19"/>
          <p:cNvSpPr/>
          <p:nvPr/>
        </p:nvSpPr>
        <p:spPr>
          <a:xfrm>
            <a:off x="5440680" y="4572000"/>
            <a:ext cx="0" cy="640080"/>
          </a:xfrm>
          <a:prstGeom prst="line">
            <a:avLst/>
          </a:prstGeom>
          <a:noFill/>
          <a:ln w="38100">
            <a:solidFill>
              <a:srgbClr val="58DBBC"/>
            </a:solidFill>
            <a:prstDash val="solid"/>
          </a:ln>
        </p:spPr>
      </p:sp>
      <p:sp>
        <p:nvSpPr>
          <p:cNvPr id="22" name="Shape 20"/>
          <p:cNvSpPr/>
          <p:nvPr/>
        </p:nvSpPr>
        <p:spPr>
          <a:xfrm>
            <a:off x="5440680" y="5212080"/>
            <a:ext cx="0" cy="0"/>
          </a:xfrm>
          <a:prstGeom prst="line">
            <a:avLst/>
          </a:prstGeom>
          <a:noFill/>
          <a:ln w="38100">
            <a:solidFill>
              <a:srgbClr val="58DBBC"/>
            </a:solidFill>
            <a:prstDash val="solid"/>
          </a:ln>
        </p:spPr>
      </p:sp>
      <p:sp>
        <p:nvSpPr>
          <p:cNvPr id="23" name="Shape 21"/>
          <p:cNvSpPr/>
          <p:nvPr/>
        </p:nvSpPr>
        <p:spPr>
          <a:xfrm flipV="1">
            <a:off x="5440680" y="4572000"/>
            <a:ext cx="914400" cy="640080"/>
          </a:xfrm>
          <a:prstGeom prst="line">
            <a:avLst/>
          </a:prstGeom>
          <a:noFill/>
          <a:ln w="38100">
            <a:solidFill>
              <a:srgbClr val="58DBBC"/>
            </a:solidFill>
            <a:prstDash val="solid"/>
          </a:ln>
        </p:spPr>
      </p:sp>
      <p:sp>
        <p:nvSpPr>
          <p:cNvPr id="24" name="Shape 22"/>
          <p:cNvSpPr/>
          <p:nvPr/>
        </p:nvSpPr>
        <p:spPr>
          <a:xfrm flipV="1">
            <a:off x="6583680" y="4572000"/>
            <a:ext cx="457200" cy="640080"/>
          </a:xfrm>
          <a:prstGeom prst="line">
            <a:avLst/>
          </a:prstGeom>
          <a:noFill/>
          <a:ln w="38100">
            <a:solidFill>
              <a:srgbClr val="58DBBC"/>
            </a:solidFill>
            <a:prstDash val="solid"/>
          </a:ln>
        </p:spPr>
      </p:sp>
      <p:sp>
        <p:nvSpPr>
          <p:cNvPr id="25" name="Shape 23"/>
          <p:cNvSpPr/>
          <p:nvPr/>
        </p:nvSpPr>
        <p:spPr>
          <a:xfrm>
            <a:off x="7040880" y="4572000"/>
            <a:ext cx="457200" cy="640080"/>
          </a:xfrm>
          <a:prstGeom prst="line">
            <a:avLst/>
          </a:prstGeom>
          <a:noFill/>
          <a:ln w="38100">
            <a:solidFill>
              <a:srgbClr val="58DBBC"/>
            </a:solidFill>
            <a:prstDash val="solid"/>
          </a:ln>
        </p:spPr>
      </p:sp>
      <p:sp>
        <p:nvSpPr>
          <p:cNvPr id="26" name="Shape 24"/>
          <p:cNvSpPr/>
          <p:nvPr/>
        </p:nvSpPr>
        <p:spPr>
          <a:xfrm>
            <a:off x="7498080" y="5212080"/>
            <a:ext cx="0" cy="0"/>
          </a:xfrm>
          <a:prstGeom prst="line">
            <a:avLst/>
          </a:prstGeom>
          <a:noFill/>
          <a:ln w="38100">
            <a:solidFill>
              <a:srgbClr val="58DBBC"/>
            </a:solidFill>
            <a:prstDash val="solid"/>
          </a:ln>
        </p:spPr>
      </p:sp>
      <p:sp>
        <p:nvSpPr>
          <p:cNvPr id="27" name="Shape 25"/>
          <p:cNvSpPr/>
          <p:nvPr/>
        </p:nvSpPr>
        <p:spPr>
          <a:xfrm flipV="1">
            <a:off x="7498080" y="4572000"/>
            <a:ext cx="457200" cy="640080"/>
          </a:xfrm>
          <a:prstGeom prst="line">
            <a:avLst/>
          </a:prstGeom>
          <a:noFill/>
          <a:ln w="38100">
            <a:solidFill>
              <a:srgbClr val="58DBBC"/>
            </a:solidFill>
            <a:prstDash val="solid"/>
          </a:ln>
        </p:spPr>
      </p:sp>
      <p:sp>
        <p:nvSpPr>
          <p:cNvPr id="28" name="Shape 26"/>
          <p:cNvSpPr/>
          <p:nvPr/>
        </p:nvSpPr>
        <p:spPr>
          <a:xfrm>
            <a:off x="7955280" y="4572000"/>
            <a:ext cx="457200" cy="640080"/>
          </a:xfrm>
          <a:prstGeom prst="line">
            <a:avLst/>
          </a:prstGeom>
          <a:noFill/>
          <a:ln w="38100">
            <a:solidFill>
              <a:srgbClr val="58DBBC"/>
            </a:solidFill>
            <a:prstDash val="solid"/>
          </a:ln>
        </p:spPr>
      </p:sp>
      <p:sp>
        <p:nvSpPr>
          <p:cNvPr id="29" name="Shape 27"/>
          <p:cNvSpPr/>
          <p:nvPr/>
        </p:nvSpPr>
        <p:spPr>
          <a:xfrm>
            <a:off x="8412480" y="5212080"/>
            <a:ext cx="0" cy="0"/>
          </a:xfrm>
          <a:prstGeom prst="line">
            <a:avLst/>
          </a:prstGeom>
          <a:noFill/>
          <a:ln w="38100">
            <a:solidFill>
              <a:srgbClr val="58DBBC"/>
            </a:solidFill>
            <a:prstDash val="solid"/>
          </a:ln>
        </p:spPr>
      </p:sp>
      <p:sp>
        <p:nvSpPr>
          <p:cNvPr id="30" name="Shape 28"/>
          <p:cNvSpPr/>
          <p:nvPr/>
        </p:nvSpPr>
        <p:spPr>
          <a:xfrm flipV="1">
            <a:off x="8412480" y="4572000"/>
            <a:ext cx="457200" cy="640080"/>
          </a:xfrm>
          <a:prstGeom prst="line">
            <a:avLst/>
          </a:prstGeom>
          <a:noFill/>
          <a:ln w="38100">
            <a:solidFill>
              <a:srgbClr val="58DBBC"/>
            </a:solidFill>
            <a:prstDash val="solid"/>
          </a:ln>
        </p:spPr>
      </p:sp>
      <p:sp>
        <p:nvSpPr>
          <p:cNvPr id="31" name="Shape 29"/>
          <p:cNvSpPr/>
          <p:nvPr/>
        </p:nvSpPr>
        <p:spPr>
          <a:xfrm>
            <a:off x="8869680" y="4572000"/>
            <a:ext cx="457200" cy="640080"/>
          </a:xfrm>
          <a:prstGeom prst="line">
            <a:avLst/>
          </a:prstGeom>
          <a:noFill/>
          <a:ln w="38100">
            <a:solidFill>
              <a:srgbClr val="58DBBC"/>
            </a:solidFill>
            <a:prstDash val="solid"/>
          </a:ln>
        </p:spPr>
      </p:sp>
      <p:sp>
        <p:nvSpPr>
          <p:cNvPr id="32" name="Shape 30"/>
          <p:cNvSpPr/>
          <p:nvPr/>
        </p:nvSpPr>
        <p:spPr>
          <a:xfrm>
            <a:off x="9555480" y="4700016"/>
            <a:ext cx="163830" cy="0"/>
          </a:xfrm>
          <a:prstGeom prst="line">
            <a:avLst/>
          </a:prstGeom>
          <a:noFill/>
          <a:ln w="38100">
            <a:solidFill>
              <a:srgbClr val="58DBBC"/>
            </a:solidFill>
            <a:prstDash val="solid"/>
          </a:ln>
        </p:spPr>
      </p:sp>
      <p:sp>
        <p:nvSpPr>
          <p:cNvPr id="33" name="Shape 31"/>
          <p:cNvSpPr/>
          <p:nvPr/>
        </p:nvSpPr>
        <p:spPr>
          <a:xfrm>
            <a:off x="9719310" y="4700016"/>
            <a:ext cx="0" cy="448056"/>
          </a:xfrm>
          <a:prstGeom prst="line">
            <a:avLst/>
          </a:prstGeom>
          <a:noFill/>
          <a:ln w="38100">
            <a:solidFill>
              <a:srgbClr val="58DBBC"/>
            </a:solidFill>
            <a:prstDash val="solid"/>
          </a:ln>
        </p:spPr>
      </p:sp>
      <p:sp>
        <p:nvSpPr>
          <p:cNvPr id="34" name="Shape 32"/>
          <p:cNvSpPr/>
          <p:nvPr/>
        </p:nvSpPr>
        <p:spPr>
          <a:xfrm>
            <a:off x="9719310" y="5148072"/>
            <a:ext cx="163830" cy="0"/>
          </a:xfrm>
          <a:prstGeom prst="line">
            <a:avLst/>
          </a:prstGeom>
          <a:noFill/>
          <a:ln w="38100">
            <a:solidFill>
              <a:srgbClr val="58DBBC"/>
            </a:solidFill>
            <a:prstDash val="solid"/>
          </a:ln>
        </p:spPr>
      </p:sp>
      <p:sp>
        <p:nvSpPr>
          <p:cNvPr id="35" name="Shape 33"/>
          <p:cNvSpPr/>
          <p:nvPr/>
        </p:nvSpPr>
        <p:spPr>
          <a:xfrm>
            <a:off x="9883140" y="4796028"/>
            <a:ext cx="0" cy="352044"/>
          </a:xfrm>
          <a:prstGeom prst="line">
            <a:avLst/>
          </a:prstGeom>
          <a:noFill/>
          <a:ln w="38100">
            <a:solidFill>
              <a:srgbClr val="58DBBC"/>
            </a:solidFill>
            <a:prstDash val="solid"/>
          </a:ln>
        </p:spPr>
      </p:sp>
      <p:sp>
        <p:nvSpPr>
          <p:cNvPr id="36" name="Shape 34"/>
          <p:cNvSpPr/>
          <p:nvPr/>
        </p:nvSpPr>
        <p:spPr>
          <a:xfrm>
            <a:off x="9883140" y="4796028"/>
            <a:ext cx="163830" cy="0"/>
          </a:xfrm>
          <a:prstGeom prst="line">
            <a:avLst/>
          </a:prstGeom>
          <a:noFill/>
          <a:ln w="38100">
            <a:solidFill>
              <a:srgbClr val="58DBBC"/>
            </a:solidFill>
            <a:prstDash val="solid"/>
          </a:ln>
        </p:spPr>
      </p:sp>
      <p:sp>
        <p:nvSpPr>
          <p:cNvPr id="37" name="Shape 35"/>
          <p:cNvSpPr/>
          <p:nvPr/>
        </p:nvSpPr>
        <p:spPr>
          <a:xfrm>
            <a:off x="10046970" y="4796028"/>
            <a:ext cx="0" cy="224028"/>
          </a:xfrm>
          <a:prstGeom prst="line">
            <a:avLst/>
          </a:prstGeom>
          <a:noFill/>
          <a:ln w="38100">
            <a:solidFill>
              <a:srgbClr val="58DBBC"/>
            </a:solidFill>
            <a:prstDash val="solid"/>
          </a:ln>
        </p:spPr>
      </p:sp>
      <p:sp>
        <p:nvSpPr>
          <p:cNvPr id="38" name="Shape 36"/>
          <p:cNvSpPr/>
          <p:nvPr/>
        </p:nvSpPr>
        <p:spPr>
          <a:xfrm>
            <a:off x="10046970" y="5020056"/>
            <a:ext cx="163830" cy="0"/>
          </a:xfrm>
          <a:prstGeom prst="line">
            <a:avLst/>
          </a:prstGeom>
          <a:noFill/>
          <a:ln w="38100">
            <a:solidFill>
              <a:srgbClr val="58DBBC"/>
            </a:solidFill>
            <a:prstDash val="solid"/>
          </a:ln>
        </p:spPr>
      </p:sp>
      <p:sp>
        <p:nvSpPr>
          <p:cNvPr id="39" name="Shape 37"/>
          <p:cNvSpPr/>
          <p:nvPr/>
        </p:nvSpPr>
        <p:spPr>
          <a:xfrm>
            <a:off x="10210800" y="4604004"/>
            <a:ext cx="0" cy="416052"/>
          </a:xfrm>
          <a:prstGeom prst="line">
            <a:avLst/>
          </a:prstGeom>
          <a:noFill/>
          <a:ln w="38100">
            <a:solidFill>
              <a:srgbClr val="58DBBC"/>
            </a:solidFill>
            <a:prstDash val="solid"/>
          </a:ln>
        </p:spPr>
      </p:sp>
      <p:sp>
        <p:nvSpPr>
          <p:cNvPr id="40" name="Shape 38"/>
          <p:cNvSpPr/>
          <p:nvPr/>
        </p:nvSpPr>
        <p:spPr>
          <a:xfrm>
            <a:off x="10210800" y="4604004"/>
            <a:ext cx="163830" cy="0"/>
          </a:xfrm>
          <a:prstGeom prst="line">
            <a:avLst/>
          </a:prstGeom>
          <a:noFill/>
          <a:ln w="38100">
            <a:solidFill>
              <a:srgbClr val="58DBBC"/>
            </a:solidFill>
            <a:prstDash val="solid"/>
          </a:ln>
        </p:spPr>
      </p:sp>
      <p:sp>
        <p:nvSpPr>
          <p:cNvPr id="41" name="Shape 39"/>
          <p:cNvSpPr/>
          <p:nvPr/>
        </p:nvSpPr>
        <p:spPr>
          <a:xfrm>
            <a:off x="10374630" y="4604004"/>
            <a:ext cx="0" cy="320040"/>
          </a:xfrm>
          <a:prstGeom prst="line">
            <a:avLst/>
          </a:prstGeom>
          <a:noFill/>
          <a:ln w="38100">
            <a:solidFill>
              <a:srgbClr val="58DBBC"/>
            </a:solidFill>
            <a:prstDash val="solid"/>
          </a:ln>
        </p:spPr>
      </p:sp>
      <p:sp>
        <p:nvSpPr>
          <p:cNvPr id="42" name="Shape 40"/>
          <p:cNvSpPr/>
          <p:nvPr/>
        </p:nvSpPr>
        <p:spPr>
          <a:xfrm>
            <a:off x="10374630" y="4924044"/>
            <a:ext cx="163830" cy="0"/>
          </a:xfrm>
          <a:prstGeom prst="line">
            <a:avLst/>
          </a:prstGeom>
          <a:noFill/>
          <a:ln w="38100">
            <a:solidFill>
              <a:srgbClr val="58DBBC"/>
            </a:solidFill>
            <a:prstDash val="solid"/>
          </a:ln>
        </p:spPr>
      </p:sp>
      <p:sp>
        <p:nvSpPr>
          <p:cNvPr id="43" name="Shape 41"/>
          <p:cNvSpPr/>
          <p:nvPr/>
        </p:nvSpPr>
        <p:spPr>
          <a:xfrm>
            <a:off x="10538460" y="4924044"/>
            <a:ext cx="0" cy="256032"/>
          </a:xfrm>
          <a:prstGeom prst="line">
            <a:avLst/>
          </a:prstGeom>
          <a:noFill/>
          <a:ln w="38100">
            <a:solidFill>
              <a:srgbClr val="58DBBC"/>
            </a:solidFill>
            <a:prstDash val="solid"/>
          </a:ln>
        </p:spPr>
      </p:sp>
      <p:sp>
        <p:nvSpPr>
          <p:cNvPr id="44" name="Shape 42"/>
          <p:cNvSpPr/>
          <p:nvPr/>
        </p:nvSpPr>
        <p:spPr>
          <a:xfrm>
            <a:off x="10538460" y="5180076"/>
            <a:ext cx="163830" cy="0"/>
          </a:xfrm>
          <a:prstGeom prst="line">
            <a:avLst/>
          </a:prstGeom>
          <a:noFill/>
          <a:ln w="38100">
            <a:solidFill>
              <a:srgbClr val="58DBBC"/>
            </a:solidFill>
            <a:prstDash val="solid"/>
          </a:ln>
        </p:spPr>
      </p:sp>
      <p:sp>
        <p:nvSpPr>
          <p:cNvPr id="45" name="Shape 43"/>
          <p:cNvSpPr/>
          <p:nvPr/>
        </p:nvSpPr>
        <p:spPr>
          <a:xfrm>
            <a:off x="10702290" y="4668012"/>
            <a:ext cx="0" cy="512064"/>
          </a:xfrm>
          <a:prstGeom prst="line">
            <a:avLst/>
          </a:prstGeom>
          <a:noFill/>
          <a:ln w="38100">
            <a:solidFill>
              <a:srgbClr val="58DBBC"/>
            </a:solidFill>
            <a:prstDash val="solid"/>
          </a:ln>
        </p:spPr>
      </p:sp>
      <p:sp>
        <p:nvSpPr>
          <p:cNvPr id="46" name="Shape 44"/>
          <p:cNvSpPr/>
          <p:nvPr/>
        </p:nvSpPr>
        <p:spPr>
          <a:xfrm>
            <a:off x="10702290" y="4668012"/>
            <a:ext cx="163830" cy="0"/>
          </a:xfrm>
          <a:prstGeom prst="line">
            <a:avLst/>
          </a:prstGeom>
          <a:noFill/>
          <a:ln w="38100">
            <a:solidFill>
              <a:srgbClr val="58DBBC"/>
            </a:solidFill>
            <a:prstDash val="solid"/>
          </a:ln>
        </p:spPr>
      </p:sp>
      <p:sp>
        <p:nvSpPr>
          <p:cNvPr id="47" name="Shape 45"/>
          <p:cNvSpPr/>
          <p:nvPr/>
        </p:nvSpPr>
        <p:spPr>
          <a:xfrm>
            <a:off x="10866120" y="4668012"/>
            <a:ext cx="0" cy="288036"/>
          </a:xfrm>
          <a:prstGeom prst="line">
            <a:avLst/>
          </a:prstGeom>
          <a:noFill/>
          <a:ln w="38100">
            <a:solidFill>
              <a:srgbClr val="58DBBC"/>
            </a:solidFill>
            <a:prstDash val="solid"/>
          </a:ln>
        </p:spPr>
      </p:sp>
      <p:sp>
        <p:nvSpPr>
          <p:cNvPr id="48" name="Shape 46"/>
          <p:cNvSpPr/>
          <p:nvPr/>
        </p:nvSpPr>
        <p:spPr>
          <a:xfrm>
            <a:off x="10866120" y="4956048"/>
            <a:ext cx="163830" cy="0"/>
          </a:xfrm>
          <a:prstGeom prst="line">
            <a:avLst/>
          </a:prstGeom>
          <a:noFill/>
          <a:ln w="38100">
            <a:solidFill>
              <a:srgbClr val="58DBBC"/>
            </a:solidFill>
            <a:prstDash val="solid"/>
          </a:ln>
        </p:spPr>
      </p:sp>
      <p:sp>
        <p:nvSpPr>
          <p:cNvPr id="49" name="Shape 47"/>
          <p:cNvSpPr/>
          <p:nvPr/>
        </p:nvSpPr>
        <p:spPr>
          <a:xfrm>
            <a:off x="11029950" y="4764024"/>
            <a:ext cx="0" cy="192024"/>
          </a:xfrm>
          <a:prstGeom prst="line">
            <a:avLst/>
          </a:prstGeom>
          <a:noFill/>
          <a:ln w="38100">
            <a:solidFill>
              <a:srgbClr val="58DBBC"/>
            </a:solidFill>
            <a:prstDash val="solid"/>
          </a:ln>
        </p:spPr>
      </p:sp>
      <p:sp>
        <p:nvSpPr>
          <p:cNvPr id="50" name="Shape 48"/>
          <p:cNvSpPr/>
          <p:nvPr/>
        </p:nvSpPr>
        <p:spPr>
          <a:xfrm>
            <a:off x="11029950" y="4764024"/>
            <a:ext cx="163830" cy="0"/>
          </a:xfrm>
          <a:prstGeom prst="line">
            <a:avLst/>
          </a:prstGeom>
          <a:noFill/>
          <a:ln w="38100">
            <a:solidFill>
              <a:srgbClr val="58DBBC"/>
            </a:solidFill>
            <a:prstDash val="solid"/>
          </a:ln>
        </p:spPr>
      </p:sp>
      <p:sp>
        <p:nvSpPr>
          <p:cNvPr id="51" name="Shape 49"/>
          <p:cNvSpPr/>
          <p:nvPr/>
        </p:nvSpPr>
        <p:spPr>
          <a:xfrm>
            <a:off x="11193780" y="4764024"/>
            <a:ext cx="0" cy="320040"/>
          </a:xfrm>
          <a:prstGeom prst="line">
            <a:avLst/>
          </a:prstGeom>
          <a:noFill/>
          <a:ln w="38100">
            <a:solidFill>
              <a:srgbClr val="58DBBC"/>
            </a:solidFill>
            <a:prstDash val="solid"/>
          </a:ln>
        </p:spPr>
      </p:sp>
      <p:sp>
        <p:nvSpPr>
          <p:cNvPr id="52" name="Shape 50"/>
          <p:cNvSpPr/>
          <p:nvPr/>
        </p:nvSpPr>
        <p:spPr>
          <a:xfrm>
            <a:off x="11193780" y="5084064"/>
            <a:ext cx="163830" cy="0"/>
          </a:xfrm>
          <a:prstGeom prst="line">
            <a:avLst/>
          </a:prstGeom>
          <a:noFill/>
          <a:ln w="38100">
            <a:solidFill>
              <a:srgbClr val="58DBBC"/>
            </a:solidFill>
            <a:prstDash val="solid"/>
          </a:ln>
        </p:spPr>
      </p:sp>
      <p:sp>
        <p:nvSpPr>
          <p:cNvPr id="53" name="Shape 51"/>
          <p:cNvSpPr/>
          <p:nvPr/>
        </p:nvSpPr>
        <p:spPr>
          <a:xfrm>
            <a:off x="11357610" y="4860036"/>
            <a:ext cx="0" cy="224028"/>
          </a:xfrm>
          <a:prstGeom prst="line">
            <a:avLst/>
          </a:prstGeom>
          <a:noFill/>
          <a:ln w="38100">
            <a:solidFill>
              <a:srgbClr val="58DBBC"/>
            </a:solidFill>
            <a:prstDash val="solid"/>
          </a:ln>
        </p:spPr>
      </p:sp>
      <p:sp>
        <p:nvSpPr>
          <p:cNvPr id="54" name="Shape 52"/>
          <p:cNvSpPr/>
          <p:nvPr/>
        </p:nvSpPr>
        <p:spPr>
          <a:xfrm>
            <a:off x="11357610" y="4860036"/>
            <a:ext cx="163830" cy="0"/>
          </a:xfrm>
          <a:prstGeom prst="line">
            <a:avLst/>
          </a:prstGeom>
          <a:noFill/>
          <a:ln w="38100">
            <a:solidFill>
              <a:srgbClr val="58DBBC"/>
            </a:solidFill>
            <a:prstDash val="solid"/>
          </a:ln>
        </p:spPr>
      </p:sp>
      <p:sp>
        <p:nvSpPr>
          <p:cNvPr id="55" name="Text 53"/>
          <p:cNvSpPr txBox="1"/>
          <p:nvPr/>
        </p:nvSpPr>
        <p:spPr>
          <a:xfrm>
            <a:off x="640080" y="5760720"/>
            <a:ext cx="10881360" cy="365760"/>
          </a:xfrm>
          <a:prstGeom prst="rect">
            <a:avLst/>
          </a:prstGeom>
          <a:noFill/>
          <a:ln/>
        </p:spPr>
        <p:txBody>
          <a:bodyPr wrap="square" lIns="0" tIns="0" rIns="0" bIns="0" rtlCol="0" anchor="t"/>
          <a:lstStyle/>
          <a:p>
            <a:pPr indent="0" marL="0">
              <a:buNone/>
            </a:pPr>
            <a:r>
              <a:rPr lang="en-US" sz="1400" dirty="0">
                <a:solidFill>
                  <a:schemeClr val="bg2"/>
                </a:solidFill>
                <a:latin typeface="Courier New" pitchFamily="34" charset="0"/>
                <a:ea typeface="Courier New" pitchFamily="34" charset="-122"/>
                <a:cs typeface="Courier New" pitchFamily="34" charset="-120"/>
              </a:rPr>
              <a:t>Run: launch.bat  ·  Rebuild: build.bat  ·  Tests: python tools/run_checks.py</a:t>
            </a:r>
            <a:endParaRPr lang="en-US" sz="1400" dirty="0"/>
          </a:p>
        </p:txBody>
      </p:sp>
    </p:spTree>
  </p:cSld>
  <p:clrMapOvr>
    <a:masterClrMapping/>
  </p:clrMapOvr>
</p:sld>
</file>

<file path=ppt/theme/theme1.xml><?xml version="1.0" encoding="utf-8"?>
<a:theme xmlns:a="http://schemas.openxmlformats.org/drawingml/2006/main" name="Oscilloscope">
  <a:themeElements>
    <a:clrScheme name="Oscilloscope">
      <a:dk1>
        <a:srgbClr val="101820"/>
      </a:dk1>
      <a:lt1>
        <a:srgbClr val="FFFFFF"/>
      </a:lt1>
      <a:dk2>
        <a:srgbClr val="2A3B47"/>
      </a:dk2>
      <a:lt2>
        <a:srgbClr val="EEF3F5"/>
      </a:lt2>
      <a:accent1>
        <a:srgbClr val="13836C"/>
      </a:accent1>
      <a:accent2>
        <a:srgbClr val="58DBBC"/>
      </a:accent2>
      <a:accent3>
        <a:srgbClr val="E8A33D"/>
      </a:accent3>
      <a:accent4>
        <a:srgbClr val="C8483F"/>
      </a:accent4>
      <a:accent5>
        <a:srgbClr val="6B7F8E"/>
      </a:accent5>
      <a:accent6>
        <a:srgbClr val="2C6E91"/>
      </a:accent6>
      <a:hlink>
        <a:srgbClr val="2C6E91"/>
      </a:hlink>
      <a:folHlink>
        <a:srgbClr val="6B7F8E"/>
      </a:folHlink>
    </a:clrScheme>
    <a:fontScheme name="Oscilloscop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Procedural Game Sound Effects in x86-64 Assembly</dc:title>
  <dc:subject>PptxGenJS Presentation</dc:subject>
  <dc:creator>Jose Gian M. Tubera</dc:creator>
  <cp:lastModifiedBy>Jose Gian M. Tubera</cp:lastModifiedBy>
  <cp:revision>1</cp:revision>
  <dcterms:created xsi:type="dcterms:W3CDTF">2026-10-28T00:05:57Z</dcterms:created>
  <dcterms:modified xsi:type="dcterms:W3CDTF">2026-10-28T00:05:57Z</dcterms:modified>
</cp:coreProperties>
</file>